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 internal briefing, not the workshop deck. Goal: make the case for adopting this approach on our team. The workshop is the proof of concept; adoption is the 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number on this slide is verified against the actual warehouse. The 4 answers, the 6.2 spread, and the 7-point gap are all in the ground truth file. This is the slide that establishes credibility — if the audience doesn't believe these are real, nothing else lands.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I-O psychology expertise slide. These aren't generic AI risks — they're specific to people data, and most AI-safety frameworks miss them entirely because they're written for software, not analytics.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point for leadership: this doesn't require engineering resources. Anyone who can write a document can write a skill. The bottleneck is domain knowledge, which our analysts already have.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number, immediately caveat it. The CI excluding zero matters more than the point estimate. The self-caveat at the bottom builds credibility — we're not overselling.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what earns trust. A team that reports its own limitations is a team the organization can rely on. The caveats ARE the credibility.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that this is NOT a technical artifact — it's a document. Anyone who can write a Word doc can write one of these. The I-O expertise is in the Gotchas section, which is domain knowledge that our team uniquely has.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responses are real — captured from a live ablation run, not invented. The point is disclosure, not omniscience. This is the most relatable slide for a non-technical audience.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three are the ones with no software-engineering analogue — they come from I-O psychology and psychometrics, not CS. That's our team's unique contribution. The others are adaptations of software practices.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selling point: Phase 1 costs almost nothing. One analyst, one recurring question, two weeks. If it doesn't work, you've lost two weeks and gained knowledge. If it does, you have measured evidence for Phase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Presenting risks alongside benefits is the same discipline the skills themselves enforce — disclosure, not salesmanship. A supervisor who sees you've thought through what could go wrong trusts the upside more.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connects the workshop (external credibility) to the adoption ask (internal action). The workshop proves the concept works with strangers on a synthetic warehouse — adoption means running the same cycle on our real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on the smallest possible ask: one question, one analyst, two weeks. The downside is two weeks; the upside is a measurable improvement to every answer that question produces going forward. Frame it as an experiment, not a commitment.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3D"/>
        </a:solidFill>
      </p:bgPr>
    </p:bg>
    <p:spTree>
      <p:nvGrpSpPr>
        <p:cNvPr id="1" name=""/>
        <p:cNvGrpSpPr/>
        <p:nvPr/>
      </p:nvGrpSpPr>
      <p:grpSpPr>
        <a:xfrm>
          <a:off x="0" y="0"/>
          <a:ext cx="0" cy="0"/>
          <a:chOff x="0" y="0"/>
          <a:chExt cx="0" cy="0"/>
        </a:xfrm>
      </p:grpSpPr>
      <p:sp>
        <p:nvSpPr>
          <p:cNvPr id="2" name="Shape 0"/>
          <p:cNvSpPr/>
          <p:nvPr/>
        </p:nvSpPr>
        <p:spPr>
          <a:xfrm>
            <a:off x="640080" y="1828800"/>
            <a:ext cx="128016" cy="2286000"/>
          </a:xfrm>
          <a:prstGeom prst="roundRect">
            <a:avLst>
              <a:gd name="adj" fmla="val 50000"/>
            </a:avLst>
          </a:prstGeom>
          <a:solidFill>
            <a:srgbClr val="2563EB"/>
          </a:solidFill>
          <a:ln w="12700">
            <a:solidFill>
              <a:srgbClr val="2563EB"/>
            </a:solidFill>
            <a:prstDash val="solid"/>
          </a:ln>
        </p:spPr>
      </p:sp>
      <p:sp>
        <p:nvSpPr>
          <p:cNvPr id="3" name="Text 1"/>
          <p:cNvSpPr txBox="1"/>
          <p:nvPr/>
        </p:nvSpPr>
        <p:spPr>
          <a:xfrm>
            <a:off x="1051560" y="1828800"/>
            <a:ext cx="8686800" cy="1097280"/>
          </a:xfrm>
          <a:prstGeom prst="rect">
            <a:avLst/>
          </a:prstGeom>
          <a:noFill/>
          <a:ln/>
        </p:spPr>
        <p:txBody>
          <a:bodyPr wrap="square" lIns="0" tIns="0" rIns="0" bIns="0" rtlCol="0" anchor="ctr"/>
          <a:lstStyle/>
          <a:p>
            <a:pPr indent="0" marL="0">
              <a:buNone/>
            </a:pPr>
            <a:r>
              <a:rPr lang="en-US" sz="5200" b="1" dirty="0">
                <a:solidFill>
                  <a:srgbClr val="FFFFFF"/>
                </a:solidFill>
                <a:latin typeface="Cambria" pitchFamily="34" charset="0"/>
                <a:ea typeface="Cambria" pitchFamily="34" charset="-122"/>
                <a:cs typeface="Cambria" pitchFamily="34" charset="-120"/>
              </a:rPr>
              <a:t>Vibe Analytics</a:t>
            </a:r>
            <a:endParaRPr lang="en-US" sz="5200" dirty="0"/>
          </a:p>
        </p:txBody>
      </p:sp>
      <p:sp>
        <p:nvSpPr>
          <p:cNvPr id="4" name="Text 2"/>
          <p:cNvSpPr txBox="1"/>
          <p:nvPr/>
        </p:nvSpPr>
        <p:spPr>
          <a:xfrm>
            <a:off x="1051560" y="2926080"/>
            <a:ext cx="8686800" cy="822960"/>
          </a:xfrm>
          <a:prstGeom prst="rect">
            <a:avLst/>
          </a:prstGeom>
          <a:noFill/>
          <a:ln/>
        </p:spPr>
        <p:txBody>
          <a:bodyPr wrap="square" lIns="0" tIns="0" rIns="0" bIns="0" rtlCol="0" anchor="ctr"/>
          <a:lstStyle/>
          <a:p>
            <a:pPr indent="0" marL="0">
              <a:lnSpc>
                <a:spcPts val="3200"/>
              </a:lnSpc>
              <a:buNone/>
            </a:pPr>
            <a:r>
              <a:rPr lang="en-US" sz="2200" dirty="0">
                <a:solidFill>
                  <a:srgbClr val="CBD5DD"/>
                </a:solidFill>
                <a:latin typeface="Calibri" pitchFamily="34" charset="0"/>
                <a:ea typeface="Calibri" pitchFamily="34" charset="-122"/>
                <a:cs typeface="Calibri" pitchFamily="34" charset="-120"/>
              </a:rPr>
              <a:t>Teaching AI agents to get the answer right,</a:t>
            </a:r>
            <a:endParaRPr lang="en-US" sz="2200" dirty="0"/>
          </a:p>
          <a:p>
            <a:pPr indent="0" marL="0">
              <a:lnSpc>
                <a:spcPts val="3200"/>
              </a:lnSpc>
              <a:buNone/>
            </a:pPr>
            <a:r>
              <a:rPr lang="en-US" sz="2200" dirty="0">
                <a:solidFill>
                  <a:srgbClr val="CBD5DD"/>
                </a:solidFill>
                <a:latin typeface="Calibri" pitchFamily="34" charset="0"/>
                <a:ea typeface="Calibri" pitchFamily="34" charset="-122"/>
                <a:cs typeface="Calibri" pitchFamily="34" charset="-120"/>
              </a:rPr>
              <a:t>not just get an answer</a:t>
            </a:r>
            <a:endParaRPr lang="en-US" sz="2200" dirty="0"/>
          </a:p>
        </p:txBody>
      </p:sp>
      <p:sp>
        <p:nvSpPr>
          <p:cNvPr id="5" name="Text 3"/>
          <p:cNvSpPr txBox="1"/>
          <p:nvPr/>
        </p:nvSpPr>
        <p:spPr>
          <a:xfrm>
            <a:off x="1051560" y="5760720"/>
            <a:ext cx="7315200" cy="365760"/>
          </a:xfrm>
          <a:prstGeom prst="rect">
            <a:avLst/>
          </a:prstGeom>
          <a:noFill/>
          <a:ln/>
        </p:spPr>
        <p:txBody>
          <a:bodyPr wrap="square" lIns="0" tIns="0" rIns="0" bIns="0" rtlCol="0" anchor="ctr"/>
          <a:lstStyle/>
          <a:p>
            <a:pPr indent="0" marL="0">
              <a:buNone/>
            </a:pPr>
            <a:r>
              <a:rPr lang="en-US" sz="1300" dirty="0">
                <a:solidFill>
                  <a:srgbClr val="94A3B8"/>
                </a:solidFill>
                <a:latin typeface="Calibri" pitchFamily="34" charset="0"/>
                <a:ea typeface="Calibri" pitchFamily="34" charset="-122"/>
                <a:cs typeface="Calibri" pitchFamily="34" charset="-120"/>
              </a:rPr>
              <a:t>Rob Stilson  ·  Data Scientist, Agentic AI &amp; People Analytics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256032"/>
            <a:ext cx="10908792" cy="274320"/>
          </a:xfrm>
          <a:prstGeom prst="rect">
            <a:avLst/>
          </a:prstGeom>
          <a:noFill/>
          <a:ln/>
        </p:spPr>
        <p:txBody>
          <a:bodyPr wrap="square" lIns="0" tIns="0" rIns="0" bIns="0" rtlCol="0" anchor="ctr"/>
          <a:lstStyle/>
          <a:p>
            <a:pPr indent="0" marL="0">
              <a:buNone/>
            </a:pPr>
            <a:r>
              <a:rPr lang="en-US" sz="1100" b="1" spc="200" kern="0" dirty="0">
                <a:solidFill>
                  <a:srgbClr val="2563EB"/>
                </a:solidFill>
                <a:latin typeface="Calibri" pitchFamily="34" charset="0"/>
                <a:ea typeface="Calibri" pitchFamily="34" charset="-122"/>
                <a:cs typeface="Calibri" pitchFamily="34" charset="-120"/>
              </a:rPr>
              <a:t>THE PROBLEM</a:t>
            </a:r>
            <a:endParaRPr lang="en-US" sz="1100" dirty="0"/>
          </a:p>
        </p:txBody>
      </p:sp>
      <p:sp>
        <p:nvSpPr>
          <p:cNvPr id="3" name="Text 1"/>
          <p:cNvSpPr txBox="1"/>
          <p:nvPr/>
        </p:nvSpPr>
        <p:spPr>
          <a:xfrm>
            <a:off x="640080" y="457200"/>
            <a:ext cx="10908792" cy="822960"/>
          </a:xfrm>
          <a:prstGeom prst="rect">
            <a:avLst/>
          </a:prstGeom>
          <a:noFill/>
          <a:ln/>
        </p:spPr>
        <p:txBody>
          <a:bodyPr wrap="square" lIns="0" tIns="0" rIns="0" bIns="0" rtlCol="0" anchor="ctr"/>
          <a:lstStyle/>
          <a:p>
            <a:pPr algn="l" indent="0" marL="0">
              <a:buNone/>
            </a:pPr>
            <a:r>
              <a:rPr lang="en-US" sz="3200" b="1" dirty="0">
                <a:solidFill>
                  <a:srgbClr val="1B2A3D"/>
                </a:solidFill>
                <a:latin typeface="Cambria" pitchFamily="34" charset="0"/>
                <a:ea typeface="Cambria" pitchFamily="34" charset="-122"/>
                <a:cs typeface="Cambria" pitchFamily="34" charset="-120"/>
              </a:rPr>
              <a:t>AI agents are already answering HR's questions.</a:t>
            </a:r>
            <a:endParaRPr lang="en-US" sz="3200" dirty="0"/>
          </a:p>
          <a:p>
            <a:pPr algn="l" indent="0" marL="0">
              <a:buNone/>
            </a:pPr>
            <a:r>
              <a:rPr lang="en-US" sz="3200" b="1" dirty="0">
                <a:solidFill>
                  <a:srgbClr val="1B2A3D"/>
                </a:solidFill>
                <a:latin typeface="Cambria" pitchFamily="34" charset="0"/>
                <a:ea typeface="Cambria" pitchFamily="34" charset="-122"/>
                <a:cs typeface="Cambria" pitchFamily="34" charset="-120"/>
              </a:rPr>
              <a:t>They're getting them wrong, quietly.</a:t>
            </a:r>
            <a:endParaRPr lang="en-US" sz="3200" dirty="0"/>
          </a:p>
        </p:txBody>
      </p:sp>
      <p:sp>
        <p:nvSpPr>
          <p:cNvPr id="4" name="Text 2"/>
          <p:cNvSpPr txBox="1"/>
          <p:nvPr/>
        </p:nvSpPr>
        <p:spPr>
          <a:xfrm>
            <a:off x="640080" y="1645920"/>
            <a:ext cx="10908792" cy="731520"/>
          </a:xfrm>
          <a:prstGeom prst="rect">
            <a:avLst/>
          </a:prstGeom>
          <a:noFill/>
          <a:ln/>
        </p:spPr>
        <p:txBody>
          <a:bodyPr wrap="square" lIns="0" tIns="0" rIns="0" bIns="0" rtlCol="0" anchor="ctr"/>
          <a:lstStyle/>
          <a:p>
            <a:pPr indent="0" marL="0">
              <a:buNone/>
            </a:pPr>
            <a:r>
              <a:rPr lang="en-US" sz="1600" dirty="0">
                <a:solidFill>
                  <a:srgbClr val="546678"/>
                </a:solidFill>
                <a:latin typeface="Calibri" pitchFamily="34" charset="0"/>
                <a:ea typeface="Calibri" pitchFamily="34" charset="-122"/>
                <a:cs typeface="Calibri" pitchFamily="34" charset="-120"/>
              </a:rPr>
              <a:t>When a coding agent writes bad code, a test fails. When an analytics agent produces a wrong number, nothing fails — the number looks fine, gets forwarded, and enters a decision.</a:t>
            </a:r>
            <a:endParaRPr lang="en-US" sz="1600" dirty="0"/>
          </a:p>
        </p:txBody>
      </p:sp>
      <p:sp>
        <p:nvSpPr>
          <p:cNvPr id="5" name="Shape 3"/>
          <p:cNvSpPr/>
          <p:nvPr/>
        </p:nvSpPr>
        <p:spPr>
          <a:xfrm>
            <a:off x="640080" y="2651760"/>
            <a:ext cx="3520440" cy="2377440"/>
          </a:xfrm>
          <a:prstGeom prst="roundRect">
            <a:avLst>
              <a:gd name="adj" fmla="val 3077"/>
            </a:avLst>
          </a:prstGeom>
          <a:solidFill>
            <a:srgbClr val="F3F5F7"/>
          </a:solidFill>
          <a:ln w="12700">
            <a:solidFill>
              <a:srgbClr val="F3F5F7"/>
            </a:solidFill>
            <a:prstDash val="solid"/>
          </a:ln>
        </p:spPr>
      </p:sp>
      <p:sp>
        <p:nvSpPr>
          <p:cNvPr id="6" name="Text 4"/>
          <p:cNvSpPr txBox="1"/>
          <p:nvPr/>
        </p:nvSpPr>
        <p:spPr>
          <a:xfrm>
            <a:off x="914400" y="2880360"/>
            <a:ext cx="2971800" cy="457200"/>
          </a:xfrm>
          <a:prstGeom prst="rect">
            <a:avLst/>
          </a:prstGeom>
          <a:noFill/>
          <a:ln/>
        </p:spPr>
        <p:txBody>
          <a:bodyPr wrap="square" lIns="0" tIns="0" rIns="0" bIns="0" rtlCol="0" anchor="ctr"/>
          <a:lstStyle/>
          <a:p>
            <a:pPr indent="0" marL="0">
              <a:buNone/>
            </a:pPr>
            <a:r>
              <a:rPr lang="en-US" sz="2200" b="1" dirty="0">
                <a:solidFill>
                  <a:srgbClr val="E8663C"/>
                </a:solidFill>
                <a:latin typeface="Cambria" pitchFamily="34" charset="0"/>
                <a:ea typeface="Cambria" pitchFamily="34" charset="-122"/>
                <a:cs typeface="Cambria" pitchFamily="34" charset="-120"/>
              </a:rPr>
              <a:t>4 plausible answers</a:t>
            </a:r>
            <a:endParaRPr lang="en-US" sz="2200" dirty="0"/>
          </a:p>
        </p:txBody>
      </p:sp>
      <p:sp>
        <p:nvSpPr>
          <p:cNvPr id="7" name="Text 5"/>
          <p:cNvSpPr txBox="1"/>
          <p:nvPr/>
        </p:nvSpPr>
        <p:spPr>
          <a:xfrm>
            <a:off x="914400" y="3383280"/>
            <a:ext cx="2971800" cy="1371600"/>
          </a:xfrm>
          <a:prstGeom prst="rect">
            <a:avLst/>
          </a:prstGeom>
          <a:noFill/>
          <a:ln/>
        </p:spPr>
        <p:txBody>
          <a:bodyPr wrap="square" lIns="0" tIns="0" rIns="0" bIns="0" rtlCol="0" anchor="ctr"/>
          <a:lstStyle/>
          <a:p>
            <a:pPr indent="0" marL="0">
              <a:buNone/>
            </a:pPr>
            <a:r>
              <a:rPr lang="en-US" sz="1400" dirty="0">
                <a:solidFill>
                  <a:srgbClr val="546678"/>
                </a:solidFill>
                <a:latin typeface="Calibri" pitchFamily="34" charset="0"/>
                <a:ea typeface="Calibri" pitchFamily="34" charset="-122"/>
                <a:cs typeface="Calibri" pitchFamily="34" charset="-120"/>
              </a:rPr>
              <a:t>to 'how many employees do we have' from the same warehouse — each defensible, only one correct</a:t>
            </a:r>
            <a:endParaRPr lang="en-US" sz="1400" dirty="0"/>
          </a:p>
        </p:txBody>
      </p:sp>
      <p:sp>
        <p:nvSpPr>
          <p:cNvPr id="8" name="Shape 6"/>
          <p:cNvSpPr/>
          <p:nvPr/>
        </p:nvSpPr>
        <p:spPr>
          <a:xfrm>
            <a:off x="4544568" y="2651760"/>
            <a:ext cx="3520440" cy="2377440"/>
          </a:xfrm>
          <a:prstGeom prst="roundRect">
            <a:avLst>
              <a:gd name="adj" fmla="val 3077"/>
            </a:avLst>
          </a:prstGeom>
          <a:solidFill>
            <a:srgbClr val="F3F5F7"/>
          </a:solidFill>
          <a:ln w="12700">
            <a:solidFill>
              <a:srgbClr val="F3F5F7"/>
            </a:solidFill>
            <a:prstDash val="solid"/>
          </a:ln>
        </p:spPr>
      </p:sp>
      <p:sp>
        <p:nvSpPr>
          <p:cNvPr id="9" name="Text 7"/>
          <p:cNvSpPr txBox="1"/>
          <p:nvPr/>
        </p:nvSpPr>
        <p:spPr>
          <a:xfrm>
            <a:off x="4818888" y="2880360"/>
            <a:ext cx="2971800" cy="457200"/>
          </a:xfrm>
          <a:prstGeom prst="rect">
            <a:avLst/>
          </a:prstGeom>
          <a:noFill/>
          <a:ln/>
        </p:spPr>
        <p:txBody>
          <a:bodyPr wrap="square" lIns="0" tIns="0" rIns="0" bIns="0" rtlCol="0" anchor="ctr"/>
          <a:lstStyle/>
          <a:p>
            <a:pPr indent="0" marL="0">
              <a:buNone/>
            </a:pPr>
            <a:r>
              <a:rPr lang="en-US" sz="2200" b="1" dirty="0">
                <a:solidFill>
                  <a:srgbClr val="E8663C"/>
                </a:solidFill>
                <a:latin typeface="Cambria" pitchFamily="34" charset="0"/>
                <a:ea typeface="Cambria" pitchFamily="34" charset="-122"/>
                <a:cs typeface="Cambria" pitchFamily="34" charset="-120"/>
              </a:rPr>
              <a:t>6.2-point spread</a:t>
            </a:r>
            <a:endParaRPr lang="en-US" sz="2200" dirty="0"/>
          </a:p>
        </p:txBody>
      </p:sp>
      <p:sp>
        <p:nvSpPr>
          <p:cNvPr id="10" name="Text 8"/>
          <p:cNvSpPr txBox="1"/>
          <p:nvPr/>
        </p:nvSpPr>
        <p:spPr>
          <a:xfrm>
            <a:off x="4818888" y="3383280"/>
            <a:ext cx="2971800" cy="1371600"/>
          </a:xfrm>
          <a:prstGeom prst="rect">
            <a:avLst/>
          </a:prstGeom>
          <a:noFill/>
          <a:ln/>
        </p:spPr>
        <p:txBody>
          <a:bodyPr wrap="square" lIns="0" tIns="0" rIns="0" bIns="0" rtlCol="0" anchor="ctr"/>
          <a:lstStyle/>
          <a:p>
            <a:pPr indent="0" marL="0">
              <a:buNone/>
            </a:pPr>
            <a:r>
              <a:rPr lang="en-US" sz="1400" dirty="0">
                <a:solidFill>
                  <a:srgbClr val="546678"/>
                </a:solidFill>
                <a:latin typeface="Calibri" pitchFamily="34" charset="0"/>
                <a:ea typeface="Calibri" pitchFamily="34" charset="-122"/>
                <a:cs typeface="Calibri" pitchFamily="34" charset="-120"/>
              </a:rPr>
              <a:t>in attrition rate from the same data, depending on which denominator you choose</a:t>
            </a:r>
            <a:endParaRPr lang="en-US" sz="1400" dirty="0"/>
          </a:p>
        </p:txBody>
      </p:sp>
      <p:sp>
        <p:nvSpPr>
          <p:cNvPr id="11" name="Shape 9"/>
          <p:cNvSpPr/>
          <p:nvPr/>
        </p:nvSpPr>
        <p:spPr>
          <a:xfrm>
            <a:off x="8449056" y="2651760"/>
            <a:ext cx="3520440" cy="2377440"/>
          </a:xfrm>
          <a:prstGeom prst="roundRect">
            <a:avLst>
              <a:gd name="adj" fmla="val 3077"/>
            </a:avLst>
          </a:prstGeom>
          <a:solidFill>
            <a:srgbClr val="F3F5F7"/>
          </a:solidFill>
          <a:ln w="12700">
            <a:solidFill>
              <a:srgbClr val="F3F5F7"/>
            </a:solidFill>
            <a:prstDash val="solid"/>
          </a:ln>
        </p:spPr>
      </p:sp>
      <p:sp>
        <p:nvSpPr>
          <p:cNvPr id="12" name="Text 10"/>
          <p:cNvSpPr txBox="1"/>
          <p:nvPr/>
        </p:nvSpPr>
        <p:spPr>
          <a:xfrm>
            <a:off x="8723376" y="2880360"/>
            <a:ext cx="2971800" cy="457200"/>
          </a:xfrm>
          <a:prstGeom prst="rect">
            <a:avLst/>
          </a:prstGeom>
          <a:noFill/>
          <a:ln/>
        </p:spPr>
        <p:txBody>
          <a:bodyPr wrap="square" lIns="0" tIns="0" rIns="0" bIns="0" rtlCol="0" anchor="ctr"/>
          <a:lstStyle/>
          <a:p>
            <a:pPr indent="0" marL="0">
              <a:buNone/>
            </a:pPr>
            <a:r>
              <a:rPr lang="en-US" sz="2200" b="1" dirty="0">
                <a:solidFill>
                  <a:srgbClr val="E8663C"/>
                </a:solidFill>
                <a:latin typeface="Cambria" pitchFamily="34" charset="0"/>
                <a:ea typeface="Cambria" pitchFamily="34" charset="-122"/>
                <a:cs typeface="Cambria" pitchFamily="34" charset="-120"/>
              </a:rPr>
              <a:t>A 7-point gap</a:t>
            </a:r>
            <a:endParaRPr lang="en-US" sz="2200" dirty="0"/>
          </a:p>
        </p:txBody>
      </p:sp>
      <p:sp>
        <p:nvSpPr>
          <p:cNvPr id="13" name="Text 11"/>
          <p:cNvSpPr txBox="1"/>
          <p:nvPr/>
        </p:nvSpPr>
        <p:spPr>
          <a:xfrm>
            <a:off x="8723376" y="3383280"/>
            <a:ext cx="2971800" cy="1371600"/>
          </a:xfrm>
          <a:prstGeom prst="rect">
            <a:avLst/>
          </a:prstGeom>
          <a:noFill/>
          <a:ln/>
        </p:spPr>
        <p:txBody>
          <a:bodyPr wrap="square" lIns="0" tIns="0" rIns="0" bIns="0" rtlCol="0" anchor="ctr"/>
          <a:lstStyle/>
          <a:p>
            <a:pPr indent="0" marL="0">
              <a:buNone/>
            </a:pPr>
            <a:r>
              <a:rPr lang="en-US" sz="1400" dirty="0">
                <a:solidFill>
                  <a:srgbClr val="546678"/>
                </a:solidFill>
                <a:latin typeface="Calibri" pitchFamily="34" charset="0"/>
                <a:ea typeface="Calibri" pitchFamily="34" charset="-122"/>
                <a:cs typeface="Calibri" pitchFamily="34" charset="-120"/>
              </a:rPr>
              <a:t>between program participants and non-participants that looks causal but is entirely selection bias</a:t>
            </a:r>
            <a:endParaRPr lang="en-US" sz="1400" dirty="0"/>
          </a:p>
        </p:txBody>
      </p:sp>
      <p:sp>
        <p:nvSpPr>
          <p:cNvPr id="14" name="Text 12"/>
          <p:cNvSpPr txBox="1"/>
          <p:nvPr/>
        </p:nvSpPr>
        <p:spPr>
          <a:xfrm>
            <a:off x="640080" y="5303520"/>
            <a:ext cx="10908792" cy="457200"/>
          </a:xfrm>
          <a:prstGeom prst="rect">
            <a:avLst/>
          </a:prstGeom>
          <a:noFill/>
          <a:ln/>
        </p:spPr>
        <p:txBody>
          <a:bodyPr wrap="square" lIns="0" tIns="0" rIns="0" bIns="0" rtlCol="0" anchor="ctr"/>
          <a:lstStyle/>
          <a:p>
            <a:pPr indent="0" marL="0">
              <a:buNone/>
            </a:pPr>
            <a:r>
              <a:rPr lang="en-US" sz="1400" i="1" dirty="0">
                <a:solidFill>
                  <a:srgbClr val="94A3B8"/>
                </a:solidFill>
                <a:latin typeface="Calibri" pitchFamily="34" charset="0"/>
                <a:ea typeface="Calibri" pitchFamily="34" charset="-122"/>
                <a:cs typeface="Calibri" pitchFamily="34" charset="-120"/>
              </a:rPr>
              <a:t>These aren't hypothetical — they're from a synthetic warehouse we built with real failure modes, and every one was measured.</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256032"/>
            <a:ext cx="10908792" cy="274320"/>
          </a:xfrm>
          <a:prstGeom prst="rect">
            <a:avLst/>
          </a:prstGeom>
          <a:noFill/>
          <a:ln/>
        </p:spPr>
        <p:txBody>
          <a:bodyPr wrap="square" lIns="0" tIns="0" rIns="0" bIns="0" rtlCol="0" anchor="ctr"/>
          <a:lstStyle/>
          <a:p>
            <a:pPr indent="0" marL="0">
              <a:buNone/>
            </a:pPr>
            <a:r>
              <a:rPr lang="en-US" sz="1100" b="1" spc="200" kern="0" dirty="0">
                <a:solidFill>
                  <a:srgbClr val="2563EB"/>
                </a:solidFill>
                <a:latin typeface="Calibri" pitchFamily="34" charset="0"/>
                <a:ea typeface="Calibri" pitchFamily="34" charset="-122"/>
                <a:cs typeface="Calibri" pitchFamily="34" charset="-120"/>
              </a:rPr>
              <a:t>WHY THIS MATTERS FOR HR</a:t>
            </a:r>
            <a:endParaRPr lang="en-US" sz="1100" dirty="0"/>
          </a:p>
        </p:txBody>
      </p:sp>
      <p:sp>
        <p:nvSpPr>
          <p:cNvPr id="3" name="Text 1"/>
          <p:cNvSpPr txBox="1"/>
          <p:nvPr/>
        </p:nvSpPr>
        <p:spPr>
          <a:xfrm>
            <a:off x="640080" y="457200"/>
            <a:ext cx="10908792" cy="822960"/>
          </a:xfrm>
          <a:prstGeom prst="rect">
            <a:avLst/>
          </a:prstGeom>
          <a:noFill/>
          <a:ln/>
        </p:spPr>
        <p:txBody>
          <a:bodyPr wrap="square" lIns="0" tIns="0" rIns="0" bIns="0" rtlCol="0" anchor="ctr"/>
          <a:lstStyle/>
          <a:p>
            <a:pPr algn="l" indent="0" marL="0">
              <a:buNone/>
            </a:pPr>
            <a:r>
              <a:rPr lang="en-US" sz="2800" b="1" dirty="0">
                <a:solidFill>
                  <a:srgbClr val="1B2A3D"/>
                </a:solidFill>
                <a:latin typeface="Cambria" pitchFamily="34" charset="0"/>
                <a:ea typeface="Cambria" pitchFamily="34" charset="-122"/>
                <a:cs typeface="Cambria" pitchFamily="34" charset="-120"/>
              </a:rPr>
              <a:t>People data has properties that make this worse,</a:t>
            </a:r>
            <a:endParaRPr lang="en-US" sz="2800" dirty="0"/>
          </a:p>
          <a:p>
            <a:pPr algn="l" indent="0" marL="0">
              <a:buNone/>
            </a:pPr>
            <a:r>
              <a:rPr lang="en-US" sz="2800" b="1" dirty="0">
                <a:solidFill>
                  <a:srgbClr val="1B2A3D"/>
                </a:solidFill>
                <a:latin typeface="Cambria" pitchFamily="34" charset="0"/>
                <a:ea typeface="Cambria" pitchFamily="34" charset="-122"/>
                <a:cs typeface="Cambria" pitchFamily="34" charset="-120"/>
              </a:rPr>
              <a:t>not better</a:t>
            </a:r>
            <a:endParaRPr lang="en-US" sz="2800" dirty="0"/>
          </a:p>
        </p:txBody>
      </p:sp>
      <p:sp>
        <p:nvSpPr>
          <p:cNvPr id="4" name="Shape 2"/>
          <p:cNvSpPr/>
          <p:nvPr/>
        </p:nvSpPr>
        <p:spPr>
          <a:xfrm>
            <a:off x="640080" y="1645920"/>
            <a:ext cx="10908792" cy="804672"/>
          </a:xfrm>
          <a:prstGeom prst="roundRect">
            <a:avLst>
              <a:gd name="adj" fmla="val 9091"/>
            </a:avLst>
          </a:prstGeom>
          <a:solidFill>
            <a:srgbClr val="F3F5F7"/>
          </a:solidFill>
          <a:ln w="12700">
            <a:solidFill>
              <a:srgbClr val="F3F5F7"/>
            </a:solidFill>
            <a:prstDash val="solid"/>
          </a:ln>
        </p:spPr>
      </p:sp>
      <p:sp>
        <p:nvSpPr>
          <p:cNvPr id="5" name="Text 3"/>
          <p:cNvSpPr txBox="1"/>
          <p:nvPr/>
        </p:nvSpPr>
        <p:spPr>
          <a:xfrm>
            <a:off x="960120" y="1773936"/>
            <a:ext cx="2926080" cy="365760"/>
          </a:xfrm>
          <a:prstGeom prst="rect">
            <a:avLst/>
          </a:prstGeom>
          <a:noFill/>
          <a:ln/>
        </p:spPr>
        <p:txBody>
          <a:bodyPr wrap="square" lIns="0" tIns="0" rIns="0" bIns="0" rtlCol="0" anchor="ctr"/>
          <a:lstStyle/>
          <a:p>
            <a:pPr indent="0" marL="0">
              <a:buNone/>
            </a:pPr>
            <a:r>
              <a:rPr lang="en-US" sz="1600" b="1" dirty="0">
                <a:solidFill>
                  <a:srgbClr val="1B2A3D"/>
                </a:solidFill>
                <a:latin typeface="Cambria" pitchFamily="34" charset="0"/>
                <a:ea typeface="Cambria" pitchFamily="34" charset="-122"/>
                <a:cs typeface="Cambria" pitchFamily="34" charset="-120"/>
              </a:rPr>
              <a:t>Small denominators</a:t>
            </a:r>
            <a:endParaRPr lang="en-US" sz="1600" dirty="0"/>
          </a:p>
        </p:txBody>
      </p:sp>
      <p:sp>
        <p:nvSpPr>
          <p:cNvPr id="6" name="Text 4"/>
          <p:cNvSpPr txBox="1"/>
          <p:nvPr/>
        </p:nvSpPr>
        <p:spPr>
          <a:xfrm>
            <a:off x="4023360" y="1773936"/>
            <a:ext cx="7315200" cy="548640"/>
          </a:xfrm>
          <a:prstGeom prst="rect">
            <a:avLst/>
          </a:prstGeom>
          <a:noFill/>
          <a:ln/>
        </p:spPr>
        <p:txBody>
          <a:bodyPr wrap="square" lIns="0" tIns="0" rIns="0" bIns="0" rtlCol="0" anchor="ctr"/>
          <a:lstStyle/>
          <a:p>
            <a:pPr indent="0" marL="0">
              <a:buNone/>
            </a:pPr>
            <a:r>
              <a:rPr lang="en-US" sz="1300" dirty="0">
                <a:solidFill>
                  <a:srgbClr val="546678"/>
                </a:solidFill>
                <a:latin typeface="Calibri" pitchFamily="34" charset="0"/>
                <a:ea typeface="Calibri" pitchFamily="34" charset="-122"/>
                <a:cs typeface="Calibri" pitchFamily="34" charset="-120"/>
              </a:rPr>
              <a:t>A manager with 8 reports and 1 departure is '12.5% attrition' — statistically meaningless, but it shows up in a dashboard</a:t>
            </a:r>
            <a:endParaRPr lang="en-US" sz="1300" dirty="0"/>
          </a:p>
        </p:txBody>
      </p:sp>
      <p:sp>
        <p:nvSpPr>
          <p:cNvPr id="7" name="Shape 5"/>
          <p:cNvSpPr/>
          <p:nvPr/>
        </p:nvSpPr>
        <p:spPr>
          <a:xfrm>
            <a:off x="640080" y="2487168"/>
            <a:ext cx="10908792" cy="804672"/>
          </a:xfrm>
          <a:prstGeom prst="roundRect">
            <a:avLst>
              <a:gd name="adj" fmla="val 9091"/>
            </a:avLst>
          </a:prstGeom>
          <a:solidFill>
            <a:srgbClr val="FFFFFF"/>
          </a:solidFill>
          <a:ln w="12700">
            <a:solidFill>
              <a:srgbClr val="FFFFFF"/>
            </a:solidFill>
            <a:prstDash val="solid"/>
          </a:ln>
        </p:spPr>
      </p:sp>
      <p:sp>
        <p:nvSpPr>
          <p:cNvPr id="8" name="Text 6"/>
          <p:cNvSpPr txBox="1"/>
          <p:nvPr/>
        </p:nvSpPr>
        <p:spPr>
          <a:xfrm>
            <a:off x="960120" y="2615184"/>
            <a:ext cx="2926080" cy="365760"/>
          </a:xfrm>
          <a:prstGeom prst="rect">
            <a:avLst/>
          </a:prstGeom>
          <a:noFill/>
          <a:ln/>
        </p:spPr>
        <p:txBody>
          <a:bodyPr wrap="square" lIns="0" tIns="0" rIns="0" bIns="0" rtlCol="0" anchor="ctr"/>
          <a:lstStyle/>
          <a:p>
            <a:pPr indent="0" marL="0">
              <a:buNone/>
            </a:pPr>
            <a:r>
              <a:rPr lang="en-US" sz="1600" b="1" dirty="0">
                <a:solidFill>
                  <a:srgbClr val="1B2A3D"/>
                </a:solidFill>
                <a:latin typeface="Cambria" pitchFamily="34" charset="0"/>
                <a:ea typeface="Cambria" pitchFamily="34" charset="-122"/>
                <a:cs typeface="Cambria" pitchFamily="34" charset="-120"/>
              </a:rPr>
              <a:t>Protected-class sensitivity</a:t>
            </a:r>
            <a:endParaRPr lang="en-US" sz="1600" dirty="0"/>
          </a:p>
        </p:txBody>
      </p:sp>
      <p:sp>
        <p:nvSpPr>
          <p:cNvPr id="9" name="Text 7"/>
          <p:cNvSpPr txBox="1"/>
          <p:nvPr/>
        </p:nvSpPr>
        <p:spPr>
          <a:xfrm>
            <a:off x="4023360" y="2615184"/>
            <a:ext cx="7315200" cy="548640"/>
          </a:xfrm>
          <a:prstGeom prst="rect">
            <a:avLst/>
          </a:prstGeom>
          <a:noFill/>
          <a:ln/>
        </p:spPr>
        <p:txBody>
          <a:bodyPr wrap="square" lIns="0" tIns="0" rIns="0" bIns="0" rtlCol="0" anchor="ctr"/>
          <a:lstStyle/>
          <a:p>
            <a:pPr indent="0" marL="0">
              <a:buNone/>
            </a:pPr>
            <a:r>
              <a:rPr lang="en-US" sz="1300" dirty="0">
                <a:solidFill>
                  <a:srgbClr val="546678"/>
                </a:solidFill>
                <a:latin typeface="Calibri" pitchFamily="34" charset="0"/>
                <a:ea typeface="Calibri" pitchFamily="34" charset="-122"/>
                <a:cs typeface="Calibri" pitchFamily="34" charset="-120"/>
              </a:rPr>
              <a:t>An error in a compensation analysis isn't a correction — it's a compliance exposure</a:t>
            </a:r>
            <a:endParaRPr lang="en-US" sz="1300" dirty="0"/>
          </a:p>
        </p:txBody>
      </p:sp>
      <p:sp>
        <p:nvSpPr>
          <p:cNvPr id="10" name="Shape 8"/>
          <p:cNvSpPr/>
          <p:nvPr/>
        </p:nvSpPr>
        <p:spPr>
          <a:xfrm>
            <a:off x="640080" y="3328416"/>
            <a:ext cx="10908792" cy="804672"/>
          </a:xfrm>
          <a:prstGeom prst="roundRect">
            <a:avLst>
              <a:gd name="adj" fmla="val 9091"/>
            </a:avLst>
          </a:prstGeom>
          <a:solidFill>
            <a:srgbClr val="F3F5F7"/>
          </a:solidFill>
          <a:ln w="12700">
            <a:solidFill>
              <a:srgbClr val="F3F5F7"/>
            </a:solidFill>
            <a:prstDash val="solid"/>
          </a:ln>
        </p:spPr>
      </p:sp>
      <p:sp>
        <p:nvSpPr>
          <p:cNvPr id="11" name="Text 9"/>
          <p:cNvSpPr txBox="1"/>
          <p:nvPr/>
        </p:nvSpPr>
        <p:spPr>
          <a:xfrm>
            <a:off x="960120" y="3456432"/>
            <a:ext cx="2926080" cy="365760"/>
          </a:xfrm>
          <a:prstGeom prst="rect">
            <a:avLst/>
          </a:prstGeom>
          <a:noFill/>
          <a:ln/>
        </p:spPr>
        <p:txBody>
          <a:bodyPr wrap="square" lIns="0" tIns="0" rIns="0" bIns="0" rtlCol="0" anchor="ctr"/>
          <a:lstStyle/>
          <a:p>
            <a:pPr indent="0" marL="0">
              <a:buNone/>
            </a:pPr>
            <a:r>
              <a:rPr lang="en-US" sz="1600" b="1" dirty="0">
                <a:solidFill>
                  <a:srgbClr val="1B2A3D"/>
                </a:solidFill>
                <a:latin typeface="Cambria" pitchFamily="34" charset="0"/>
                <a:ea typeface="Cambria" pitchFamily="34" charset="-122"/>
                <a:cs typeface="Cambria" pitchFamily="34" charset="-120"/>
              </a:rPr>
              <a:t>No compiler for definitions</a:t>
            </a:r>
            <a:endParaRPr lang="en-US" sz="1600" dirty="0"/>
          </a:p>
        </p:txBody>
      </p:sp>
      <p:sp>
        <p:nvSpPr>
          <p:cNvPr id="12" name="Text 10"/>
          <p:cNvSpPr txBox="1"/>
          <p:nvPr/>
        </p:nvSpPr>
        <p:spPr>
          <a:xfrm>
            <a:off x="4023360" y="3456432"/>
            <a:ext cx="7315200" cy="548640"/>
          </a:xfrm>
          <a:prstGeom prst="rect">
            <a:avLst/>
          </a:prstGeom>
          <a:noFill/>
          <a:ln/>
        </p:spPr>
        <p:txBody>
          <a:bodyPr wrap="square" lIns="0" tIns="0" rIns="0" bIns="0" rtlCol="0" anchor="ctr"/>
          <a:lstStyle/>
          <a:p>
            <a:pPr indent="0" marL="0">
              <a:buNone/>
            </a:pPr>
            <a:r>
              <a:rPr lang="en-US" sz="1300" dirty="0">
                <a:solidFill>
                  <a:srgbClr val="546678"/>
                </a:solidFill>
                <a:latin typeface="Calibri" pitchFamily="34" charset="0"/>
                <a:ea typeface="Calibri" pitchFamily="34" charset="-122"/>
                <a:cs typeface="Calibri" pitchFamily="34" charset="-120"/>
              </a:rPr>
              <a:t>'Headcount' means different things in finance, HR, and operations — and nothing enforces consistency</a:t>
            </a:r>
            <a:endParaRPr lang="en-US" sz="1300" dirty="0"/>
          </a:p>
        </p:txBody>
      </p:sp>
      <p:sp>
        <p:nvSpPr>
          <p:cNvPr id="13" name="Shape 11"/>
          <p:cNvSpPr/>
          <p:nvPr/>
        </p:nvSpPr>
        <p:spPr>
          <a:xfrm>
            <a:off x="640080" y="4169664"/>
            <a:ext cx="10908792" cy="804672"/>
          </a:xfrm>
          <a:prstGeom prst="roundRect">
            <a:avLst>
              <a:gd name="adj" fmla="val 9091"/>
            </a:avLst>
          </a:prstGeom>
          <a:solidFill>
            <a:srgbClr val="FFFFFF"/>
          </a:solidFill>
          <a:ln w="12700">
            <a:solidFill>
              <a:srgbClr val="FFFFFF"/>
            </a:solidFill>
            <a:prstDash val="solid"/>
          </a:ln>
        </p:spPr>
      </p:sp>
      <p:sp>
        <p:nvSpPr>
          <p:cNvPr id="14" name="Text 12"/>
          <p:cNvSpPr txBox="1"/>
          <p:nvPr/>
        </p:nvSpPr>
        <p:spPr>
          <a:xfrm>
            <a:off x="960120" y="4297680"/>
            <a:ext cx="2926080" cy="365760"/>
          </a:xfrm>
          <a:prstGeom prst="rect">
            <a:avLst/>
          </a:prstGeom>
          <a:noFill/>
          <a:ln/>
        </p:spPr>
        <p:txBody>
          <a:bodyPr wrap="square" lIns="0" tIns="0" rIns="0" bIns="0" rtlCol="0" anchor="ctr"/>
          <a:lstStyle/>
          <a:p>
            <a:pPr indent="0" marL="0">
              <a:buNone/>
            </a:pPr>
            <a:r>
              <a:rPr lang="en-US" sz="1600" b="1" dirty="0">
                <a:solidFill>
                  <a:srgbClr val="1B2A3D"/>
                </a:solidFill>
                <a:latin typeface="Cambria" pitchFamily="34" charset="0"/>
                <a:ea typeface="Cambria" pitchFamily="34" charset="-122"/>
                <a:cs typeface="Cambria" pitchFamily="34" charset="-120"/>
              </a:rPr>
              <a:t>High-stakes consumers</a:t>
            </a:r>
            <a:endParaRPr lang="en-US" sz="1600" dirty="0"/>
          </a:p>
        </p:txBody>
      </p:sp>
      <p:sp>
        <p:nvSpPr>
          <p:cNvPr id="15" name="Text 13"/>
          <p:cNvSpPr txBox="1"/>
          <p:nvPr/>
        </p:nvSpPr>
        <p:spPr>
          <a:xfrm>
            <a:off x="4023360" y="4297680"/>
            <a:ext cx="7315200" cy="548640"/>
          </a:xfrm>
          <a:prstGeom prst="rect">
            <a:avLst/>
          </a:prstGeom>
          <a:noFill/>
          <a:ln/>
        </p:spPr>
        <p:txBody>
          <a:bodyPr wrap="square" lIns="0" tIns="0" rIns="0" bIns="0" rtlCol="0" anchor="ctr"/>
          <a:lstStyle/>
          <a:p>
            <a:pPr indent="0" marL="0">
              <a:buNone/>
            </a:pPr>
            <a:r>
              <a:rPr lang="en-US" sz="1300" dirty="0">
                <a:solidFill>
                  <a:srgbClr val="546678"/>
                </a:solidFill>
                <a:latin typeface="Calibri" pitchFamily="34" charset="0"/>
                <a:ea typeface="Calibri" pitchFamily="34" charset="-122"/>
                <a:cs typeface="Calibri" pitchFamily="34" charset="-120"/>
              </a:rPr>
              <a:t>The audience for HR numbers is executives and board members, not engineers who'll spot a wrong join</a:t>
            </a:r>
            <a:endParaRPr lang="en-US" sz="1300" dirty="0"/>
          </a:p>
        </p:txBody>
      </p:sp>
      <p:sp>
        <p:nvSpPr>
          <p:cNvPr id="16" name="Shape 14"/>
          <p:cNvSpPr/>
          <p:nvPr/>
        </p:nvSpPr>
        <p:spPr>
          <a:xfrm>
            <a:off x="640080" y="5010912"/>
            <a:ext cx="10908792" cy="804672"/>
          </a:xfrm>
          <a:prstGeom prst="roundRect">
            <a:avLst>
              <a:gd name="adj" fmla="val 9091"/>
            </a:avLst>
          </a:prstGeom>
          <a:solidFill>
            <a:srgbClr val="F3F5F7"/>
          </a:solidFill>
          <a:ln w="12700">
            <a:solidFill>
              <a:srgbClr val="F3F5F7"/>
            </a:solidFill>
            <a:prstDash val="solid"/>
          </a:ln>
        </p:spPr>
      </p:sp>
      <p:sp>
        <p:nvSpPr>
          <p:cNvPr id="17" name="Text 15"/>
          <p:cNvSpPr txBox="1"/>
          <p:nvPr/>
        </p:nvSpPr>
        <p:spPr>
          <a:xfrm>
            <a:off x="960120" y="5138928"/>
            <a:ext cx="2926080" cy="365760"/>
          </a:xfrm>
          <a:prstGeom prst="rect">
            <a:avLst/>
          </a:prstGeom>
          <a:noFill/>
          <a:ln/>
        </p:spPr>
        <p:txBody>
          <a:bodyPr wrap="square" lIns="0" tIns="0" rIns="0" bIns="0" rtlCol="0" anchor="ctr"/>
          <a:lstStyle/>
          <a:p>
            <a:pPr indent="0" marL="0">
              <a:buNone/>
            </a:pPr>
            <a:r>
              <a:rPr lang="en-US" sz="1600" b="1" dirty="0">
                <a:solidFill>
                  <a:srgbClr val="1B2A3D"/>
                </a:solidFill>
                <a:latin typeface="Cambria" pitchFamily="34" charset="0"/>
                <a:ea typeface="Cambria" pitchFamily="34" charset="-122"/>
                <a:cs typeface="Cambria" pitchFamily="34" charset="-120"/>
              </a:rPr>
              <a:t>Causal claims everywhere</a:t>
            </a:r>
            <a:endParaRPr lang="en-US" sz="1600" dirty="0"/>
          </a:p>
        </p:txBody>
      </p:sp>
      <p:sp>
        <p:nvSpPr>
          <p:cNvPr id="18" name="Text 16"/>
          <p:cNvSpPr txBox="1"/>
          <p:nvPr/>
        </p:nvSpPr>
        <p:spPr>
          <a:xfrm>
            <a:off x="4023360" y="5138928"/>
            <a:ext cx="7315200" cy="548640"/>
          </a:xfrm>
          <a:prstGeom prst="rect">
            <a:avLst/>
          </a:prstGeom>
          <a:noFill/>
          <a:ln/>
        </p:spPr>
        <p:txBody>
          <a:bodyPr wrap="square" lIns="0" tIns="0" rIns="0" bIns="0" rtlCol="0" anchor="ctr"/>
          <a:lstStyle/>
          <a:p>
            <a:pPr indent="0" marL="0">
              <a:buNone/>
            </a:pPr>
            <a:r>
              <a:rPr lang="en-US" sz="1300" dirty="0">
                <a:solidFill>
                  <a:srgbClr val="546678"/>
                </a:solidFill>
                <a:latin typeface="Calibri" pitchFamily="34" charset="0"/>
                <a:ea typeface="Calibri" pitchFamily="34" charset="-122"/>
                <a:cs typeface="Calibri" pitchFamily="34" charset="-120"/>
              </a:rPr>
              <a:t>'The leadership program reduced attrition by 7 points' — sounds like evidence, is actually selection bias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256032"/>
            <a:ext cx="10908792" cy="274320"/>
          </a:xfrm>
          <a:prstGeom prst="rect">
            <a:avLst/>
          </a:prstGeom>
          <a:noFill/>
          <a:ln/>
        </p:spPr>
        <p:txBody>
          <a:bodyPr wrap="square" lIns="0" tIns="0" rIns="0" bIns="0" rtlCol="0" anchor="ctr"/>
          <a:lstStyle/>
          <a:p>
            <a:pPr indent="0" marL="0">
              <a:buNone/>
            </a:pPr>
            <a:r>
              <a:rPr lang="en-US" sz="1100" b="1" spc="200" kern="0" dirty="0">
                <a:solidFill>
                  <a:srgbClr val="2563EB"/>
                </a:solidFill>
                <a:latin typeface="Calibri" pitchFamily="34" charset="0"/>
                <a:ea typeface="Calibri" pitchFamily="34" charset="-122"/>
                <a:cs typeface="Calibri" pitchFamily="34" charset="-120"/>
              </a:rPr>
              <a:t>THE APPROACH</a:t>
            </a:r>
            <a:endParaRPr lang="en-US" sz="1100" dirty="0"/>
          </a:p>
        </p:txBody>
      </p:sp>
      <p:sp>
        <p:nvSpPr>
          <p:cNvPr id="3" name="Text 1"/>
          <p:cNvSpPr txBox="1"/>
          <p:nvPr/>
        </p:nvSpPr>
        <p:spPr>
          <a:xfrm>
            <a:off x="640080" y="457200"/>
            <a:ext cx="10908792" cy="822960"/>
          </a:xfrm>
          <a:prstGeom prst="rect">
            <a:avLst/>
          </a:prstGeom>
          <a:noFill/>
          <a:ln/>
        </p:spPr>
        <p:txBody>
          <a:bodyPr wrap="square" lIns="0" tIns="0" rIns="0" bIns="0" rtlCol="0" anchor="ctr"/>
          <a:lstStyle/>
          <a:p>
            <a:pPr algn="l" indent="0" marL="0">
              <a:buNone/>
            </a:pPr>
            <a:r>
              <a:rPr lang="en-US" sz="2800" b="1" dirty="0">
                <a:solidFill>
                  <a:srgbClr val="1B2A3D"/>
                </a:solidFill>
                <a:latin typeface="Cambria" pitchFamily="34" charset="0"/>
                <a:ea typeface="Cambria" pitchFamily="34" charset="-122"/>
                <a:cs typeface="Cambria" pitchFamily="34" charset="-120"/>
              </a:rPr>
              <a:t>Encode analyst judgment in markdown files</a:t>
            </a:r>
            <a:endParaRPr lang="en-US" sz="2800" dirty="0"/>
          </a:p>
          <a:p>
            <a:pPr algn="l" indent="0" marL="0">
              <a:buNone/>
            </a:pPr>
            <a:r>
              <a:rPr lang="en-US" sz="2800" b="1" dirty="0">
                <a:solidFill>
                  <a:srgbClr val="1B2A3D"/>
                </a:solidFill>
                <a:latin typeface="Cambria" pitchFamily="34" charset="0"/>
                <a:ea typeface="Cambria" pitchFamily="34" charset="-122"/>
                <a:cs typeface="Cambria" pitchFamily="34" charset="-120"/>
              </a:rPr>
              <a:t>that agents can follow</a:t>
            </a:r>
            <a:endParaRPr lang="en-US" sz="2800" dirty="0"/>
          </a:p>
        </p:txBody>
      </p:sp>
      <p:sp>
        <p:nvSpPr>
          <p:cNvPr id="4" name="Text 2"/>
          <p:cNvSpPr txBox="1"/>
          <p:nvPr/>
        </p:nvSpPr>
        <p:spPr>
          <a:xfrm>
            <a:off x="640080" y="1645920"/>
            <a:ext cx="10908792" cy="822960"/>
          </a:xfrm>
          <a:prstGeom prst="rect">
            <a:avLst/>
          </a:prstGeom>
          <a:noFill/>
          <a:ln/>
        </p:spPr>
        <p:txBody>
          <a:bodyPr wrap="square" lIns="0" tIns="0" rIns="0" bIns="0" rtlCol="0" anchor="ctr"/>
          <a:lstStyle/>
          <a:p>
            <a:pPr indent="0" marL="0">
              <a:buNone/>
            </a:pPr>
            <a:r>
              <a:rPr lang="en-US" sz="1600" dirty="0">
                <a:solidFill>
                  <a:srgbClr val="546678"/>
                </a:solidFill>
                <a:latin typeface="Calibri" pitchFamily="34" charset="0"/>
                <a:ea typeface="Calibri" pitchFamily="34" charset="-122"/>
                <a:cs typeface="Calibri" pitchFamily="34" charset="-120"/>
              </a:rPr>
              <a:t>A 'skill' is a written reference document — not code, not a plugin, not a model fine-tune. It tells the agent what an experienced analyst would know: which table to trust, which shortcuts are traps, when a number needs a caveat.</a:t>
            </a:r>
            <a:endParaRPr lang="en-US" sz="1600" dirty="0"/>
          </a:p>
        </p:txBody>
      </p:sp>
      <p:sp>
        <p:nvSpPr>
          <p:cNvPr id="5" name="Shape 3"/>
          <p:cNvSpPr/>
          <p:nvPr/>
        </p:nvSpPr>
        <p:spPr>
          <a:xfrm>
            <a:off x="640080" y="2743200"/>
            <a:ext cx="2606040" cy="2560320"/>
          </a:xfrm>
          <a:prstGeom prst="roundRect">
            <a:avLst>
              <a:gd name="adj" fmla="val 2857"/>
            </a:avLst>
          </a:prstGeom>
          <a:solidFill>
            <a:srgbClr val="F3F5F7"/>
          </a:solidFill>
          <a:ln w="12700">
            <a:solidFill>
              <a:srgbClr val="F3F5F7"/>
            </a:solidFill>
            <a:prstDash val="solid"/>
          </a:ln>
        </p:spPr>
      </p:sp>
      <p:sp>
        <p:nvSpPr>
          <p:cNvPr id="6" name="Text 4"/>
          <p:cNvSpPr txBox="1"/>
          <p:nvPr/>
        </p:nvSpPr>
        <p:spPr>
          <a:xfrm>
            <a:off x="822960" y="2926080"/>
            <a:ext cx="2240280" cy="365760"/>
          </a:xfrm>
          <a:prstGeom prst="rect">
            <a:avLst/>
          </a:prstGeom>
          <a:noFill/>
          <a:ln/>
        </p:spPr>
        <p:txBody>
          <a:bodyPr wrap="square" lIns="0" tIns="0" rIns="0" bIns="0" rtlCol="0" anchor="ctr"/>
          <a:lstStyle/>
          <a:p>
            <a:pPr indent="0" marL="0">
              <a:buNone/>
            </a:pPr>
            <a:r>
              <a:rPr lang="en-US" sz="1800" b="1" dirty="0">
                <a:solidFill>
                  <a:srgbClr val="2563EB"/>
                </a:solidFill>
                <a:latin typeface="Cambria" pitchFamily="34" charset="0"/>
                <a:ea typeface="Cambria" pitchFamily="34" charset="-122"/>
                <a:cs typeface="Cambria" pitchFamily="34" charset="-120"/>
              </a:rPr>
              <a:t>Define</a:t>
            </a:r>
            <a:endParaRPr lang="en-US" sz="1800" dirty="0"/>
          </a:p>
        </p:txBody>
      </p:sp>
      <p:sp>
        <p:nvSpPr>
          <p:cNvPr id="7" name="Text 5"/>
          <p:cNvSpPr txBox="1"/>
          <p:nvPr/>
        </p:nvSpPr>
        <p:spPr>
          <a:xfrm>
            <a:off x="822960" y="3337560"/>
            <a:ext cx="2240280" cy="594360"/>
          </a:xfrm>
          <a:prstGeom prst="rect">
            <a:avLst/>
          </a:prstGeom>
          <a:noFill/>
          <a:ln/>
        </p:spPr>
        <p:txBody>
          <a:bodyPr wrap="square" lIns="0" tIns="0" rIns="0" bIns="0" rtlCol="0" anchor="ctr"/>
          <a:lstStyle/>
          <a:p>
            <a:pPr indent="0" marL="0">
              <a:buNone/>
            </a:pPr>
            <a:r>
              <a:rPr lang="en-US" sz="1300" b="1" dirty="0">
                <a:solidFill>
                  <a:srgbClr val="1B2A3D"/>
                </a:solidFill>
                <a:latin typeface="Calibri" pitchFamily="34" charset="0"/>
                <a:ea typeface="Calibri" pitchFamily="34" charset="-122"/>
                <a:cs typeface="Calibri" pitchFamily="34" charset="-120"/>
              </a:rPr>
              <a:t>Spec the question</a:t>
            </a:r>
            <a:endParaRPr lang="en-US" sz="1300" dirty="0"/>
          </a:p>
          <a:p>
            <a:pPr indent="0" marL="0">
              <a:buNone/>
            </a:pPr>
            <a:r>
              <a:rPr lang="en-US" sz="1300" b="1" dirty="0">
                <a:solidFill>
                  <a:srgbClr val="1B2A3D"/>
                </a:solidFill>
                <a:latin typeface="Calibri" pitchFamily="34" charset="0"/>
                <a:ea typeface="Calibri" pitchFamily="34" charset="-122"/>
                <a:cs typeface="Calibri" pitchFamily="34" charset="-120"/>
              </a:rPr>
              <a:t>before querying</a:t>
            </a:r>
            <a:endParaRPr lang="en-US" sz="1300" dirty="0"/>
          </a:p>
        </p:txBody>
      </p:sp>
      <p:sp>
        <p:nvSpPr>
          <p:cNvPr id="8" name="Text 6"/>
          <p:cNvSpPr txBox="1"/>
          <p:nvPr/>
        </p:nvSpPr>
        <p:spPr>
          <a:xfrm>
            <a:off x="822960" y="4023360"/>
            <a:ext cx="2240280" cy="594360"/>
          </a:xfrm>
          <a:prstGeom prst="rect">
            <a:avLst/>
          </a:prstGeom>
          <a:noFill/>
          <a:ln/>
        </p:spPr>
        <p:txBody>
          <a:bodyPr wrap="square" lIns="0" tIns="0" rIns="0" bIns="0" rtlCol="0" anchor="ctr"/>
          <a:lstStyle/>
          <a:p>
            <a:pPr indent="0" marL="0">
              <a:buNone/>
            </a:pPr>
            <a:r>
              <a:rPr lang="en-US" sz="1200" dirty="0">
                <a:solidFill>
                  <a:srgbClr val="546678"/>
                </a:solidFill>
                <a:latin typeface="Calibri" pitchFamily="34" charset="0"/>
                <a:ea typeface="Calibri" pitchFamily="34" charset="-122"/>
                <a:cs typeface="Calibri" pitchFamily="34" charset="-120"/>
              </a:rPr>
              <a:t>Forces the assumptions</a:t>
            </a:r>
            <a:endParaRPr lang="en-US" sz="1200" dirty="0"/>
          </a:p>
          <a:p>
            <a:pPr indent="0" marL="0">
              <a:buNone/>
            </a:pPr>
            <a:r>
              <a:rPr lang="en-US" sz="1200" dirty="0">
                <a:solidFill>
                  <a:srgbClr val="546678"/>
                </a:solidFill>
                <a:latin typeface="Calibri" pitchFamily="34" charset="0"/>
                <a:ea typeface="Calibri" pitchFamily="34" charset="-122"/>
                <a:cs typeface="Calibri" pitchFamily="34" charset="-120"/>
              </a:rPr>
              <a:t>into the open</a:t>
            </a:r>
            <a:endParaRPr lang="en-US" sz="1200" dirty="0"/>
          </a:p>
        </p:txBody>
      </p:sp>
      <p:sp>
        <p:nvSpPr>
          <p:cNvPr id="9" name="Shape 7"/>
          <p:cNvSpPr/>
          <p:nvPr/>
        </p:nvSpPr>
        <p:spPr>
          <a:xfrm>
            <a:off x="3474720" y="2743200"/>
            <a:ext cx="2606040" cy="2560320"/>
          </a:xfrm>
          <a:prstGeom prst="roundRect">
            <a:avLst>
              <a:gd name="adj" fmla="val 2857"/>
            </a:avLst>
          </a:prstGeom>
          <a:solidFill>
            <a:srgbClr val="F3F5F7"/>
          </a:solidFill>
          <a:ln w="12700">
            <a:solidFill>
              <a:srgbClr val="F3F5F7"/>
            </a:solidFill>
            <a:prstDash val="solid"/>
          </a:ln>
        </p:spPr>
      </p:sp>
      <p:sp>
        <p:nvSpPr>
          <p:cNvPr id="10" name="Text 8"/>
          <p:cNvSpPr txBox="1"/>
          <p:nvPr/>
        </p:nvSpPr>
        <p:spPr>
          <a:xfrm>
            <a:off x="3657600" y="2926080"/>
            <a:ext cx="2240280" cy="365760"/>
          </a:xfrm>
          <a:prstGeom prst="rect">
            <a:avLst/>
          </a:prstGeom>
          <a:noFill/>
          <a:ln/>
        </p:spPr>
        <p:txBody>
          <a:bodyPr wrap="square" lIns="0" tIns="0" rIns="0" bIns="0" rtlCol="0" anchor="ctr"/>
          <a:lstStyle/>
          <a:p>
            <a:pPr indent="0" marL="0">
              <a:buNone/>
            </a:pPr>
            <a:r>
              <a:rPr lang="en-US" sz="1800" b="1" dirty="0">
                <a:solidFill>
                  <a:srgbClr val="2563EB"/>
                </a:solidFill>
                <a:latin typeface="Cambria" pitchFamily="34" charset="0"/>
                <a:ea typeface="Cambria" pitchFamily="34" charset="-122"/>
                <a:cs typeface="Cambria" pitchFamily="34" charset="-120"/>
              </a:rPr>
              <a:t>Build</a:t>
            </a:r>
            <a:endParaRPr lang="en-US" sz="1800" dirty="0"/>
          </a:p>
        </p:txBody>
      </p:sp>
      <p:sp>
        <p:nvSpPr>
          <p:cNvPr id="11" name="Text 9"/>
          <p:cNvSpPr txBox="1"/>
          <p:nvPr/>
        </p:nvSpPr>
        <p:spPr>
          <a:xfrm>
            <a:off x="3657600" y="3337560"/>
            <a:ext cx="2240280" cy="594360"/>
          </a:xfrm>
          <a:prstGeom prst="rect">
            <a:avLst/>
          </a:prstGeom>
          <a:noFill/>
          <a:ln/>
        </p:spPr>
        <p:txBody>
          <a:bodyPr wrap="square" lIns="0" tIns="0" rIns="0" bIns="0" rtlCol="0" anchor="ctr"/>
          <a:lstStyle/>
          <a:p>
            <a:pPr indent="0" marL="0">
              <a:buNone/>
            </a:pPr>
            <a:r>
              <a:rPr lang="en-US" sz="1300" b="1" dirty="0">
                <a:solidFill>
                  <a:srgbClr val="1B2A3D"/>
                </a:solidFill>
                <a:latin typeface="Calibri" pitchFamily="34" charset="0"/>
                <a:ea typeface="Calibri" pitchFamily="34" charset="-122"/>
                <a:cs typeface="Calibri" pitchFamily="34" charset="-120"/>
              </a:rPr>
              <a:t>Write the reference doc</a:t>
            </a:r>
            <a:endParaRPr lang="en-US" sz="1300" dirty="0"/>
          </a:p>
          <a:p>
            <a:pPr indent="0" marL="0">
              <a:buNone/>
            </a:pPr>
            <a:r>
              <a:rPr lang="en-US" sz="1300" b="1" dirty="0">
                <a:solidFill>
                  <a:srgbClr val="1B2A3D"/>
                </a:solidFill>
                <a:latin typeface="Calibri" pitchFamily="34" charset="0"/>
                <a:ea typeface="Calibri" pitchFamily="34" charset="-122"/>
                <a:cs typeface="Calibri" pitchFamily="34" charset="-120"/>
              </a:rPr>
              <a:t>for the domain</a:t>
            </a:r>
            <a:endParaRPr lang="en-US" sz="1300" dirty="0"/>
          </a:p>
        </p:txBody>
      </p:sp>
      <p:sp>
        <p:nvSpPr>
          <p:cNvPr id="12" name="Text 10"/>
          <p:cNvSpPr txBox="1"/>
          <p:nvPr/>
        </p:nvSpPr>
        <p:spPr>
          <a:xfrm>
            <a:off x="3657600" y="4023360"/>
            <a:ext cx="2240280" cy="594360"/>
          </a:xfrm>
          <a:prstGeom prst="rect">
            <a:avLst/>
          </a:prstGeom>
          <a:noFill/>
          <a:ln/>
        </p:spPr>
        <p:txBody>
          <a:bodyPr wrap="square" lIns="0" tIns="0" rIns="0" bIns="0" rtlCol="0" anchor="ctr"/>
          <a:lstStyle/>
          <a:p>
            <a:pPr indent="0" marL="0">
              <a:buNone/>
            </a:pPr>
            <a:r>
              <a:rPr lang="en-US" sz="1200" dirty="0">
                <a:solidFill>
                  <a:srgbClr val="546678"/>
                </a:solidFill>
                <a:latin typeface="Calibri" pitchFamily="34" charset="0"/>
                <a:ea typeface="Calibri" pitchFamily="34" charset="-122"/>
                <a:cs typeface="Calibri" pitchFamily="34" charset="-120"/>
              </a:rPr>
              <a:t>The 'gotchas' section is</a:t>
            </a:r>
            <a:endParaRPr lang="en-US" sz="1200" dirty="0"/>
          </a:p>
          <a:p>
            <a:pPr indent="0" marL="0">
              <a:buNone/>
            </a:pPr>
            <a:r>
              <a:rPr lang="en-US" sz="1200" dirty="0">
                <a:solidFill>
                  <a:srgbClr val="546678"/>
                </a:solidFill>
                <a:latin typeface="Calibri" pitchFamily="34" charset="0"/>
                <a:ea typeface="Calibri" pitchFamily="34" charset="-122"/>
                <a:cs typeface="Calibri" pitchFamily="34" charset="-120"/>
              </a:rPr>
              <a:t>what models can't infer</a:t>
            </a:r>
            <a:endParaRPr lang="en-US" sz="1200" dirty="0"/>
          </a:p>
        </p:txBody>
      </p:sp>
      <p:sp>
        <p:nvSpPr>
          <p:cNvPr id="13" name="Shape 11"/>
          <p:cNvSpPr/>
          <p:nvPr/>
        </p:nvSpPr>
        <p:spPr>
          <a:xfrm>
            <a:off x="6309360" y="2743200"/>
            <a:ext cx="2606040" cy="2560320"/>
          </a:xfrm>
          <a:prstGeom prst="roundRect">
            <a:avLst>
              <a:gd name="adj" fmla="val 2857"/>
            </a:avLst>
          </a:prstGeom>
          <a:solidFill>
            <a:srgbClr val="F3F5F7"/>
          </a:solidFill>
          <a:ln w="12700">
            <a:solidFill>
              <a:srgbClr val="F3F5F7"/>
            </a:solidFill>
            <a:prstDash val="solid"/>
          </a:ln>
        </p:spPr>
      </p:sp>
      <p:sp>
        <p:nvSpPr>
          <p:cNvPr id="14" name="Text 12"/>
          <p:cNvSpPr txBox="1"/>
          <p:nvPr/>
        </p:nvSpPr>
        <p:spPr>
          <a:xfrm>
            <a:off x="6492240" y="2926080"/>
            <a:ext cx="2240280" cy="365760"/>
          </a:xfrm>
          <a:prstGeom prst="rect">
            <a:avLst/>
          </a:prstGeom>
          <a:noFill/>
          <a:ln/>
        </p:spPr>
        <p:txBody>
          <a:bodyPr wrap="square" lIns="0" tIns="0" rIns="0" bIns="0" rtlCol="0" anchor="ctr"/>
          <a:lstStyle/>
          <a:p>
            <a:pPr indent="0" marL="0">
              <a:buNone/>
            </a:pPr>
            <a:r>
              <a:rPr lang="en-US" sz="1800" b="1" dirty="0">
                <a:solidFill>
                  <a:srgbClr val="2563EB"/>
                </a:solidFill>
                <a:latin typeface="Cambria" pitchFamily="34" charset="0"/>
                <a:ea typeface="Cambria" pitchFamily="34" charset="-122"/>
                <a:cs typeface="Cambria" pitchFamily="34" charset="-120"/>
              </a:rPr>
              <a:t>Validate</a:t>
            </a:r>
            <a:endParaRPr lang="en-US" sz="1800" dirty="0"/>
          </a:p>
        </p:txBody>
      </p:sp>
      <p:sp>
        <p:nvSpPr>
          <p:cNvPr id="15" name="Text 13"/>
          <p:cNvSpPr txBox="1"/>
          <p:nvPr/>
        </p:nvSpPr>
        <p:spPr>
          <a:xfrm>
            <a:off x="6492240" y="3337560"/>
            <a:ext cx="2240280" cy="594360"/>
          </a:xfrm>
          <a:prstGeom prst="rect">
            <a:avLst/>
          </a:prstGeom>
          <a:noFill/>
          <a:ln/>
        </p:spPr>
        <p:txBody>
          <a:bodyPr wrap="square" lIns="0" tIns="0" rIns="0" bIns="0" rtlCol="0" anchor="ctr"/>
          <a:lstStyle/>
          <a:p>
            <a:pPr indent="0" marL="0">
              <a:buNone/>
            </a:pPr>
            <a:r>
              <a:rPr lang="en-US" sz="1300" b="1" dirty="0">
                <a:solidFill>
                  <a:srgbClr val="1B2A3D"/>
                </a:solidFill>
                <a:latin typeface="Calibri" pitchFamily="34" charset="0"/>
                <a:ea typeface="Calibri" pitchFamily="34" charset="-122"/>
                <a:cs typeface="Calibri" pitchFamily="34" charset="-120"/>
              </a:rPr>
              <a:t>Write evals before</a:t>
            </a:r>
            <a:endParaRPr lang="en-US" sz="1300" dirty="0"/>
          </a:p>
          <a:p>
            <a:pPr indent="0" marL="0">
              <a:buNone/>
            </a:pPr>
            <a:r>
              <a:rPr lang="en-US" sz="1300" b="1" dirty="0">
                <a:solidFill>
                  <a:srgbClr val="1B2A3D"/>
                </a:solidFill>
                <a:latin typeface="Calibri" pitchFamily="34" charset="0"/>
                <a:ea typeface="Calibri" pitchFamily="34" charset="-122"/>
                <a:cs typeface="Calibri" pitchFamily="34" charset="-120"/>
              </a:rPr>
              <a:t>the skill exists</a:t>
            </a:r>
            <a:endParaRPr lang="en-US" sz="1300" dirty="0"/>
          </a:p>
        </p:txBody>
      </p:sp>
      <p:sp>
        <p:nvSpPr>
          <p:cNvPr id="16" name="Text 14"/>
          <p:cNvSpPr txBox="1"/>
          <p:nvPr/>
        </p:nvSpPr>
        <p:spPr>
          <a:xfrm>
            <a:off x="6492240" y="4023360"/>
            <a:ext cx="2240280" cy="594360"/>
          </a:xfrm>
          <a:prstGeom prst="rect">
            <a:avLst/>
          </a:prstGeom>
          <a:noFill/>
          <a:ln/>
        </p:spPr>
        <p:txBody>
          <a:bodyPr wrap="square" lIns="0" tIns="0" rIns="0" bIns="0" rtlCol="0" anchor="ctr"/>
          <a:lstStyle/>
          <a:p>
            <a:pPr indent="0" marL="0">
              <a:buNone/>
            </a:pPr>
            <a:r>
              <a:rPr lang="en-US" sz="1200" dirty="0">
                <a:solidFill>
                  <a:srgbClr val="546678"/>
                </a:solidFill>
                <a:latin typeface="Calibri" pitchFamily="34" charset="0"/>
                <a:ea typeface="Calibri" pitchFamily="34" charset="-122"/>
                <a:cs typeface="Calibri" pitchFamily="34" charset="-120"/>
              </a:rPr>
              <a:t>Objective, checkable</a:t>
            </a:r>
            <a:endParaRPr lang="en-US" sz="1200" dirty="0"/>
          </a:p>
          <a:p>
            <a:pPr indent="0" marL="0">
              <a:buNone/>
            </a:pPr>
            <a:r>
              <a:rPr lang="en-US" sz="1200" dirty="0">
                <a:solidFill>
                  <a:srgbClr val="546678"/>
                </a:solidFill>
                <a:latin typeface="Calibri" pitchFamily="34" charset="0"/>
                <a:ea typeface="Calibri" pitchFamily="34" charset="-122"/>
                <a:cs typeface="Calibri" pitchFamily="34" charset="-120"/>
              </a:rPr>
              <a:t>assertions</a:t>
            </a:r>
            <a:endParaRPr lang="en-US" sz="1200" dirty="0"/>
          </a:p>
        </p:txBody>
      </p:sp>
      <p:sp>
        <p:nvSpPr>
          <p:cNvPr id="17" name="Shape 15"/>
          <p:cNvSpPr/>
          <p:nvPr/>
        </p:nvSpPr>
        <p:spPr>
          <a:xfrm>
            <a:off x="9144000" y="2743200"/>
            <a:ext cx="2606040" cy="2560320"/>
          </a:xfrm>
          <a:prstGeom prst="roundRect">
            <a:avLst>
              <a:gd name="adj" fmla="val 2857"/>
            </a:avLst>
          </a:prstGeom>
          <a:solidFill>
            <a:srgbClr val="F3F5F7"/>
          </a:solidFill>
          <a:ln w="12700">
            <a:solidFill>
              <a:srgbClr val="F3F5F7"/>
            </a:solidFill>
            <a:prstDash val="solid"/>
          </a:ln>
        </p:spPr>
      </p:sp>
      <p:sp>
        <p:nvSpPr>
          <p:cNvPr id="18" name="Text 16"/>
          <p:cNvSpPr txBox="1"/>
          <p:nvPr/>
        </p:nvSpPr>
        <p:spPr>
          <a:xfrm>
            <a:off x="9326880" y="2926080"/>
            <a:ext cx="2240280" cy="365760"/>
          </a:xfrm>
          <a:prstGeom prst="rect">
            <a:avLst/>
          </a:prstGeom>
          <a:noFill/>
          <a:ln/>
        </p:spPr>
        <p:txBody>
          <a:bodyPr wrap="square" lIns="0" tIns="0" rIns="0" bIns="0" rtlCol="0" anchor="ctr"/>
          <a:lstStyle/>
          <a:p>
            <a:pPr indent="0" marL="0">
              <a:buNone/>
            </a:pPr>
            <a:r>
              <a:rPr lang="en-US" sz="1800" b="1" dirty="0">
                <a:solidFill>
                  <a:srgbClr val="2563EB"/>
                </a:solidFill>
                <a:latin typeface="Cambria" pitchFamily="34" charset="0"/>
                <a:ea typeface="Cambria" pitchFamily="34" charset="-122"/>
                <a:cs typeface="Cambria" pitchFamily="34" charset="-120"/>
              </a:rPr>
              <a:t>Measure</a:t>
            </a:r>
            <a:endParaRPr lang="en-US" sz="1800" dirty="0"/>
          </a:p>
        </p:txBody>
      </p:sp>
      <p:sp>
        <p:nvSpPr>
          <p:cNvPr id="19" name="Text 17"/>
          <p:cNvSpPr txBox="1"/>
          <p:nvPr/>
        </p:nvSpPr>
        <p:spPr>
          <a:xfrm>
            <a:off x="9326880" y="3337560"/>
            <a:ext cx="2240280" cy="594360"/>
          </a:xfrm>
          <a:prstGeom prst="rect">
            <a:avLst/>
          </a:prstGeom>
          <a:noFill/>
          <a:ln/>
        </p:spPr>
        <p:txBody>
          <a:bodyPr wrap="square" lIns="0" tIns="0" rIns="0" bIns="0" rtlCol="0" anchor="ctr"/>
          <a:lstStyle/>
          <a:p>
            <a:pPr indent="0" marL="0">
              <a:buNone/>
            </a:pPr>
            <a:r>
              <a:rPr lang="en-US" sz="1300" b="1" dirty="0">
                <a:solidFill>
                  <a:srgbClr val="1B2A3D"/>
                </a:solidFill>
                <a:latin typeface="Calibri" pitchFamily="34" charset="0"/>
                <a:ea typeface="Calibri" pitchFamily="34" charset="-122"/>
                <a:cs typeface="Calibri" pitchFamily="34" charset="-120"/>
              </a:rPr>
              <a:t>Run baseline vs. skill</a:t>
            </a:r>
            <a:endParaRPr lang="en-US" sz="1300" dirty="0"/>
          </a:p>
          <a:p>
            <a:pPr indent="0" marL="0">
              <a:buNone/>
            </a:pPr>
            <a:r>
              <a:rPr lang="en-US" sz="1300" b="1" dirty="0">
                <a:solidFill>
                  <a:srgbClr val="1B2A3D"/>
                </a:solidFill>
                <a:latin typeface="Calibri" pitchFamily="34" charset="0"/>
                <a:ea typeface="Calibri" pitchFamily="34" charset="-122"/>
                <a:cs typeface="Calibri" pitchFamily="34" charset="-120"/>
              </a:rPr>
              <a:t>and compare</a:t>
            </a:r>
            <a:endParaRPr lang="en-US" sz="1300" dirty="0"/>
          </a:p>
        </p:txBody>
      </p:sp>
      <p:sp>
        <p:nvSpPr>
          <p:cNvPr id="20" name="Text 18"/>
          <p:cNvSpPr txBox="1"/>
          <p:nvPr/>
        </p:nvSpPr>
        <p:spPr>
          <a:xfrm>
            <a:off x="9326880" y="4023360"/>
            <a:ext cx="2240280" cy="594360"/>
          </a:xfrm>
          <a:prstGeom prst="rect">
            <a:avLst/>
          </a:prstGeom>
          <a:noFill/>
          <a:ln/>
        </p:spPr>
        <p:txBody>
          <a:bodyPr wrap="square" lIns="0" tIns="0" rIns="0" bIns="0" rtlCol="0" anchor="ctr"/>
          <a:lstStyle/>
          <a:p>
            <a:pPr indent="0" marL="0">
              <a:buNone/>
            </a:pPr>
            <a:r>
              <a:rPr lang="en-US" sz="1200" dirty="0">
                <a:solidFill>
                  <a:srgbClr val="546678"/>
                </a:solidFill>
                <a:latin typeface="Calibri" pitchFamily="34" charset="0"/>
                <a:ea typeface="Calibri" pitchFamily="34" charset="-122"/>
                <a:cs typeface="Calibri" pitchFamily="34" charset="-120"/>
              </a:rPr>
              <a:t>The delta is the</a:t>
            </a:r>
            <a:endParaRPr lang="en-US" sz="1200" dirty="0"/>
          </a:p>
          <a:p>
            <a:pPr indent="0" marL="0">
              <a:buNone/>
            </a:pPr>
            <a:r>
              <a:rPr lang="en-US" sz="1200" dirty="0">
                <a:solidFill>
                  <a:srgbClr val="546678"/>
                </a:solidFill>
                <a:latin typeface="Calibri" pitchFamily="34" charset="0"/>
                <a:ea typeface="Calibri" pitchFamily="34" charset="-122"/>
                <a:cs typeface="Calibri" pitchFamily="34" charset="-120"/>
              </a:rPr>
              <a:t>evidence</a:t>
            </a:r>
            <a:endParaRPr lang="en-US" sz="1200" dirty="0"/>
          </a:p>
        </p:txBody>
      </p:sp>
      <p:sp>
        <p:nvSpPr>
          <p:cNvPr id="21" name="Text 19"/>
          <p:cNvSpPr txBox="1"/>
          <p:nvPr/>
        </p:nvSpPr>
        <p:spPr>
          <a:xfrm>
            <a:off x="640080" y="5577840"/>
            <a:ext cx="10908792" cy="548640"/>
          </a:xfrm>
          <a:prstGeom prst="rect">
            <a:avLst/>
          </a:prstGeom>
          <a:noFill/>
          <a:ln/>
        </p:spPr>
        <p:txBody>
          <a:bodyPr wrap="square" lIns="0" tIns="0" rIns="0" bIns="0" rtlCol="0" anchor="ctr"/>
          <a:lstStyle/>
          <a:p>
            <a:pPr indent="0" marL="0">
              <a:buNone/>
            </a:pPr>
            <a:r>
              <a:rPr lang="en-US" sz="1500" b="1" i="1" dirty="0">
                <a:solidFill>
                  <a:srgbClr val="1B2A3D"/>
                </a:solidFill>
                <a:latin typeface="Cambria" pitchFamily="34" charset="0"/>
                <a:ea typeface="Cambria" pitchFamily="34" charset="-122"/>
                <a:cs typeface="Cambria" pitchFamily="34" charset="-120"/>
              </a:rPr>
              <a:t>The compound step: every stakeholder correction becomes a doc edit and a new eval. The system gets smarter every time it's wrong — but only if someone captures the correction.</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B2A3D"/>
        </a:solidFill>
      </p:bgPr>
    </p:bg>
    <p:spTree>
      <p:nvGrpSpPr>
        <p:cNvPr id="1" name=""/>
        <p:cNvGrpSpPr/>
        <p:nvPr/>
      </p:nvGrpSpPr>
      <p:grpSpPr>
        <a:xfrm>
          <a:off x="0" y="0"/>
          <a:ext cx="0" cy="0"/>
          <a:chOff x="0" y="0"/>
          <a:chExt cx="0" cy="0"/>
        </a:xfrm>
      </p:grpSpPr>
      <p:sp>
        <p:nvSpPr>
          <p:cNvPr id="2" name="Text 0"/>
          <p:cNvSpPr txBox="1"/>
          <p:nvPr/>
        </p:nvSpPr>
        <p:spPr>
          <a:xfrm>
            <a:off x="640080" y="256032"/>
            <a:ext cx="10908792" cy="274320"/>
          </a:xfrm>
          <a:prstGeom prst="rect">
            <a:avLst/>
          </a:prstGeom>
          <a:noFill/>
          <a:ln/>
        </p:spPr>
        <p:txBody>
          <a:bodyPr wrap="square" lIns="0" tIns="0" rIns="0" bIns="0" rtlCol="0" anchor="ctr"/>
          <a:lstStyle/>
          <a:p>
            <a:pPr indent="0" marL="0">
              <a:buNone/>
            </a:pPr>
            <a:r>
              <a:rPr lang="en-US" sz="1100" b="1" spc="200" kern="0" dirty="0">
                <a:solidFill>
                  <a:srgbClr val="2563EB"/>
                </a:solidFill>
                <a:latin typeface="Calibri" pitchFamily="34" charset="0"/>
                <a:ea typeface="Calibri" pitchFamily="34" charset="-122"/>
                <a:cs typeface="Calibri" pitchFamily="34" charset="-120"/>
              </a:rPr>
              <a:t>MEASURED RESULTS</a:t>
            </a:r>
            <a:endParaRPr lang="en-US" sz="1100" dirty="0"/>
          </a:p>
        </p:txBody>
      </p:sp>
      <p:sp>
        <p:nvSpPr>
          <p:cNvPr id="3" name="Text 1"/>
          <p:cNvSpPr txBox="1"/>
          <p:nvPr/>
        </p:nvSpPr>
        <p:spPr>
          <a:xfrm>
            <a:off x="640080" y="457200"/>
            <a:ext cx="10908792" cy="822960"/>
          </a:xfrm>
          <a:prstGeom prst="rect">
            <a:avLst/>
          </a:prstGeom>
          <a:noFill/>
          <a:ln/>
        </p:spPr>
        <p:txBody>
          <a:bodyPr wrap="square" lIns="0" tIns="0" rIns="0" bIns="0" rtlCol="0" anchor="ctr"/>
          <a:lstStyle/>
          <a:p>
            <a:pPr algn="l" indent="0" marL="0">
              <a:buNone/>
            </a:pPr>
            <a:r>
              <a:rPr lang="en-US" sz="3000" b="1" dirty="0">
                <a:solidFill>
                  <a:srgbClr val="FFFFFF"/>
                </a:solidFill>
                <a:latin typeface="Cambria" pitchFamily="34" charset="0"/>
                <a:ea typeface="Cambria" pitchFamily="34" charset="-122"/>
                <a:cs typeface="Cambria" pitchFamily="34" charset="-120"/>
              </a:rPr>
              <a:t>56% to 84%, across every domain we tested</a:t>
            </a:r>
            <a:endParaRPr lang="en-US" sz="3000" dirty="0"/>
          </a:p>
        </p:txBody>
      </p:sp>
      <p:sp>
        <p:nvSpPr>
          <p:cNvPr id="4" name="Text 2"/>
          <p:cNvSpPr txBox="1"/>
          <p:nvPr/>
        </p:nvSpPr>
        <p:spPr>
          <a:xfrm>
            <a:off x="640080" y="1371600"/>
            <a:ext cx="10908792" cy="320040"/>
          </a:xfrm>
          <a:prstGeom prst="rect">
            <a:avLst/>
          </a:prstGeom>
          <a:noFill/>
          <a:ln/>
        </p:spPr>
        <p:txBody>
          <a:bodyPr wrap="square" lIns="0" tIns="0" rIns="0" bIns="0" rtlCol="0" anchor="ctr"/>
          <a:lstStyle/>
          <a:p>
            <a:pPr indent="0" marL="0">
              <a:buNone/>
            </a:pPr>
            <a:r>
              <a:rPr lang="en-US" sz="1300" dirty="0">
                <a:solidFill>
                  <a:srgbClr val="94A3B8"/>
                </a:solidFill>
                <a:latin typeface="Calibri" pitchFamily="34" charset="0"/>
                <a:ea typeface="Calibri" pitchFamily="34" charset="-122"/>
                <a:cs typeface="Calibri" pitchFamily="34" charset="-120"/>
              </a:rPr>
              <a:t>Eval-assertion pass rate, claude-sonnet-5, 29 evals, 3 repeats each</a:t>
            </a:r>
            <a:endParaRPr lang="en-US" sz="1300" dirty="0"/>
          </a:p>
        </p:txBody>
      </p:sp>
      <p:sp>
        <p:nvSpPr>
          <p:cNvPr id="5" name="Shape 3"/>
          <p:cNvSpPr/>
          <p:nvPr/>
        </p:nvSpPr>
        <p:spPr>
          <a:xfrm>
            <a:off x="640080" y="1920240"/>
            <a:ext cx="8686800" cy="502920"/>
          </a:xfrm>
          <a:prstGeom prst="roundRect">
            <a:avLst>
              <a:gd name="adj" fmla="val 14545"/>
            </a:avLst>
          </a:prstGeom>
          <a:solidFill>
            <a:srgbClr val="253B50"/>
          </a:solidFill>
          <a:ln w="12700">
            <a:solidFill>
              <a:srgbClr val="253B50"/>
            </a:solidFill>
            <a:prstDash val="solid"/>
          </a:ln>
        </p:spPr>
      </p:sp>
      <p:sp>
        <p:nvSpPr>
          <p:cNvPr id="6" name="Text 4"/>
          <p:cNvSpPr txBox="1"/>
          <p:nvPr/>
        </p:nvSpPr>
        <p:spPr>
          <a:xfrm>
            <a:off x="960120" y="2011680"/>
            <a:ext cx="5943600" cy="320040"/>
          </a:xfrm>
          <a:prstGeom prst="rect">
            <a:avLst/>
          </a:prstGeom>
          <a:noFill/>
          <a:ln/>
        </p:spPr>
        <p:txBody>
          <a:bodyPr wrap="square" lIns="0" tIns="0" rIns="0" bIns="0" rtlCol="0" anchor="ctr"/>
          <a:lstStyle/>
          <a:p>
            <a:pPr indent="0" marL="0">
              <a:buNone/>
            </a:pPr>
            <a:r>
              <a:rPr lang="en-US" sz="1500" dirty="0">
                <a:solidFill>
                  <a:srgbClr val="CBD5DD"/>
                </a:solidFill>
                <a:latin typeface="Calibri" pitchFamily="34" charset="0"/>
                <a:ea typeface="Calibri" pitchFamily="34" charset="-122"/>
                <a:cs typeface="Calibri" pitchFamily="34" charset="-120"/>
              </a:rPr>
              <a:t>Uncertainty reporting</a:t>
            </a:r>
            <a:endParaRPr lang="en-US" sz="1500" dirty="0"/>
          </a:p>
        </p:txBody>
      </p:sp>
      <p:sp>
        <p:nvSpPr>
          <p:cNvPr id="7" name="Text 5"/>
          <p:cNvSpPr txBox="1"/>
          <p:nvPr/>
        </p:nvSpPr>
        <p:spPr>
          <a:xfrm>
            <a:off x="7223760" y="1975104"/>
            <a:ext cx="1828800" cy="384048"/>
          </a:xfrm>
          <a:prstGeom prst="rect">
            <a:avLst/>
          </a:prstGeom>
          <a:noFill/>
          <a:ln/>
        </p:spPr>
        <p:txBody>
          <a:bodyPr wrap="square" lIns="0" tIns="0" rIns="0" bIns="0" rtlCol="0" anchor="ctr"/>
          <a:lstStyle/>
          <a:p>
            <a:pPr algn="r" indent="0" marL="0">
              <a:buNone/>
            </a:pPr>
            <a:r>
              <a:rPr lang="en-US" sz="2200" b="1" dirty="0">
                <a:solidFill>
                  <a:srgbClr val="16864E"/>
                </a:solidFill>
                <a:latin typeface="Cambria" pitchFamily="34" charset="0"/>
                <a:ea typeface="Cambria" pitchFamily="34" charset="-122"/>
                <a:cs typeface="Cambria" pitchFamily="34" charset="-120"/>
              </a:rPr>
              <a:t>+50</a:t>
            </a:r>
            <a:endParaRPr lang="en-US" sz="2200" dirty="0"/>
          </a:p>
        </p:txBody>
      </p:sp>
      <p:sp>
        <p:nvSpPr>
          <p:cNvPr id="8" name="Shape 6"/>
          <p:cNvSpPr/>
          <p:nvPr/>
        </p:nvSpPr>
        <p:spPr>
          <a:xfrm>
            <a:off x="640080" y="2468880"/>
            <a:ext cx="8686800" cy="502920"/>
          </a:xfrm>
          <a:prstGeom prst="roundRect">
            <a:avLst>
              <a:gd name="adj" fmla="val 14545"/>
            </a:avLst>
          </a:prstGeom>
          <a:solidFill>
            <a:srgbClr val="1B2A3D"/>
          </a:solidFill>
          <a:ln w="12700">
            <a:solidFill>
              <a:srgbClr val="1B2A3D"/>
            </a:solidFill>
            <a:prstDash val="solid"/>
          </a:ln>
        </p:spPr>
      </p:sp>
      <p:sp>
        <p:nvSpPr>
          <p:cNvPr id="9" name="Text 7"/>
          <p:cNvSpPr txBox="1"/>
          <p:nvPr/>
        </p:nvSpPr>
        <p:spPr>
          <a:xfrm>
            <a:off x="960120" y="2560320"/>
            <a:ext cx="5943600" cy="320040"/>
          </a:xfrm>
          <a:prstGeom prst="rect">
            <a:avLst/>
          </a:prstGeom>
          <a:noFill/>
          <a:ln/>
        </p:spPr>
        <p:txBody>
          <a:bodyPr wrap="square" lIns="0" tIns="0" rIns="0" bIns="0" rtlCol="0" anchor="ctr"/>
          <a:lstStyle/>
          <a:p>
            <a:pPr indent="0" marL="0">
              <a:buNone/>
            </a:pPr>
            <a:r>
              <a:rPr lang="en-US" sz="1500" dirty="0">
                <a:solidFill>
                  <a:srgbClr val="CBD5DD"/>
                </a:solidFill>
                <a:latin typeface="Calibri" pitchFamily="34" charset="0"/>
                <a:ea typeface="Calibri" pitchFamily="34" charset="-122"/>
                <a:cs typeface="Calibri" pitchFamily="34" charset="-120"/>
              </a:rPr>
              <a:t>Provenance &amp; source tracking</a:t>
            </a:r>
            <a:endParaRPr lang="en-US" sz="1500" dirty="0"/>
          </a:p>
        </p:txBody>
      </p:sp>
      <p:sp>
        <p:nvSpPr>
          <p:cNvPr id="10" name="Text 8"/>
          <p:cNvSpPr txBox="1"/>
          <p:nvPr/>
        </p:nvSpPr>
        <p:spPr>
          <a:xfrm>
            <a:off x="7223760" y="2523744"/>
            <a:ext cx="1828800" cy="384048"/>
          </a:xfrm>
          <a:prstGeom prst="rect">
            <a:avLst/>
          </a:prstGeom>
          <a:noFill/>
          <a:ln/>
        </p:spPr>
        <p:txBody>
          <a:bodyPr wrap="square" lIns="0" tIns="0" rIns="0" bIns="0" rtlCol="0" anchor="ctr"/>
          <a:lstStyle/>
          <a:p>
            <a:pPr algn="r" indent="0" marL="0">
              <a:buNone/>
            </a:pPr>
            <a:r>
              <a:rPr lang="en-US" sz="2200" b="1" dirty="0">
                <a:solidFill>
                  <a:srgbClr val="16864E"/>
                </a:solidFill>
                <a:latin typeface="Cambria" pitchFamily="34" charset="0"/>
                <a:ea typeface="Cambria" pitchFamily="34" charset="-122"/>
                <a:cs typeface="Cambria" pitchFamily="34" charset="-120"/>
              </a:rPr>
              <a:t>+42</a:t>
            </a:r>
            <a:endParaRPr lang="en-US" sz="2200" dirty="0"/>
          </a:p>
        </p:txBody>
      </p:sp>
      <p:sp>
        <p:nvSpPr>
          <p:cNvPr id="11" name="Shape 9"/>
          <p:cNvSpPr/>
          <p:nvPr/>
        </p:nvSpPr>
        <p:spPr>
          <a:xfrm>
            <a:off x="640080" y="3017520"/>
            <a:ext cx="8686800" cy="502920"/>
          </a:xfrm>
          <a:prstGeom prst="roundRect">
            <a:avLst>
              <a:gd name="adj" fmla="val 14545"/>
            </a:avLst>
          </a:prstGeom>
          <a:solidFill>
            <a:srgbClr val="253B50"/>
          </a:solidFill>
          <a:ln w="12700">
            <a:solidFill>
              <a:srgbClr val="253B50"/>
            </a:solidFill>
            <a:prstDash val="solid"/>
          </a:ln>
        </p:spPr>
      </p:sp>
      <p:sp>
        <p:nvSpPr>
          <p:cNvPr id="12" name="Text 10"/>
          <p:cNvSpPr txBox="1"/>
          <p:nvPr/>
        </p:nvSpPr>
        <p:spPr>
          <a:xfrm>
            <a:off x="960120" y="3108960"/>
            <a:ext cx="5943600" cy="320040"/>
          </a:xfrm>
          <a:prstGeom prst="rect">
            <a:avLst/>
          </a:prstGeom>
          <a:noFill/>
          <a:ln/>
        </p:spPr>
        <p:txBody>
          <a:bodyPr wrap="square" lIns="0" tIns="0" rIns="0" bIns="0" rtlCol="0" anchor="ctr"/>
          <a:lstStyle/>
          <a:p>
            <a:pPr indent="0" marL="0">
              <a:buNone/>
            </a:pPr>
            <a:r>
              <a:rPr lang="en-US" sz="1500" dirty="0">
                <a:solidFill>
                  <a:srgbClr val="CBD5DD"/>
                </a:solidFill>
                <a:latin typeface="Calibri" pitchFamily="34" charset="0"/>
                <a:ea typeface="Calibri" pitchFamily="34" charset="-122"/>
                <a:cs typeface="Calibri" pitchFamily="34" charset="-120"/>
              </a:rPr>
              <a:t>Warehouse navigation</a:t>
            </a:r>
            <a:endParaRPr lang="en-US" sz="1500" dirty="0"/>
          </a:p>
        </p:txBody>
      </p:sp>
      <p:sp>
        <p:nvSpPr>
          <p:cNvPr id="13" name="Text 11"/>
          <p:cNvSpPr txBox="1"/>
          <p:nvPr/>
        </p:nvSpPr>
        <p:spPr>
          <a:xfrm>
            <a:off x="7223760" y="3072384"/>
            <a:ext cx="1828800" cy="384048"/>
          </a:xfrm>
          <a:prstGeom prst="rect">
            <a:avLst/>
          </a:prstGeom>
          <a:noFill/>
          <a:ln/>
        </p:spPr>
        <p:txBody>
          <a:bodyPr wrap="square" lIns="0" tIns="0" rIns="0" bIns="0" rtlCol="0" anchor="ctr"/>
          <a:lstStyle/>
          <a:p>
            <a:pPr algn="r" indent="0" marL="0">
              <a:buNone/>
            </a:pPr>
            <a:r>
              <a:rPr lang="en-US" sz="2200" b="1" dirty="0">
                <a:solidFill>
                  <a:srgbClr val="16864E"/>
                </a:solidFill>
                <a:latin typeface="Cambria" pitchFamily="34" charset="0"/>
                <a:ea typeface="Cambria" pitchFamily="34" charset="-122"/>
                <a:cs typeface="Cambria" pitchFamily="34" charset="-120"/>
              </a:rPr>
              <a:t>+23</a:t>
            </a:r>
            <a:endParaRPr lang="en-US" sz="2200" dirty="0"/>
          </a:p>
        </p:txBody>
      </p:sp>
      <p:sp>
        <p:nvSpPr>
          <p:cNvPr id="14" name="Shape 12"/>
          <p:cNvSpPr/>
          <p:nvPr/>
        </p:nvSpPr>
        <p:spPr>
          <a:xfrm>
            <a:off x="640080" y="3566160"/>
            <a:ext cx="8686800" cy="502920"/>
          </a:xfrm>
          <a:prstGeom prst="roundRect">
            <a:avLst>
              <a:gd name="adj" fmla="val 14545"/>
            </a:avLst>
          </a:prstGeom>
          <a:solidFill>
            <a:srgbClr val="1B2A3D"/>
          </a:solidFill>
          <a:ln w="12700">
            <a:solidFill>
              <a:srgbClr val="1B2A3D"/>
            </a:solidFill>
            <a:prstDash val="solid"/>
          </a:ln>
        </p:spPr>
      </p:sp>
      <p:sp>
        <p:nvSpPr>
          <p:cNvPr id="15" name="Text 13"/>
          <p:cNvSpPr txBox="1"/>
          <p:nvPr/>
        </p:nvSpPr>
        <p:spPr>
          <a:xfrm>
            <a:off x="960120" y="3657600"/>
            <a:ext cx="5943600" cy="320040"/>
          </a:xfrm>
          <a:prstGeom prst="rect">
            <a:avLst/>
          </a:prstGeom>
          <a:noFill/>
          <a:ln/>
        </p:spPr>
        <p:txBody>
          <a:bodyPr wrap="square" lIns="0" tIns="0" rIns="0" bIns="0" rtlCol="0" anchor="ctr"/>
          <a:lstStyle/>
          <a:p>
            <a:pPr indent="0" marL="0">
              <a:buNone/>
            </a:pPr>
            <a:r>
              <a:rPr lang="en-US" sz="1500" dirty="0">
                <a:solidFill>
                  <a:srgbClr val="CBD5DD"/>
                </a:solidFill>
                <a:latin typeface="Calibri" pitchFamily="34" charset="0"/>
                <a:ea typeface="Calibri" pitchFamily="34" charset="-122"/>
                <a:cs typeface="Calibri" pitchFamily="34" charset="-120"/>
              </a:rPr>
              <a:t>Question intake &amp; scoping</a:t>
            </a:r>
            <a:endParaRPr lang="en-US" sz="1500" dirty="0"/>
          </a:p>
        </p:txBody>
      </p:sp>
      <p:sp>
        <p:nvSpPr>
          <p:cNvPr id="16" name="Text 14"/>
          <p:cNvSpPr txBox="1"/>
          <p:nvPr/>
        </p:nvSpPr>
        <p:spPr>
          <a:xfrm>
            <a:off x="7223760" y="3621024"/>
            <a:ext cx="1828800" cy="384048"/>
          </a:xfrm>
          <a:prstGeom prst="rect">
            <a:avLst/>
          </a:prstGeom>
          <a:noFill/>
          <a:ln/>
        </p:spPr>
        <p:txBody>
          <a:bodyPr wrap="square" lIns="0" tIns="0" rIns="0" bIns="0" rtlCol="0" anchor="ctr"/>
          <a:lstStyle/>
          <a:p>
            <a:pPr algn="r" indent="0" marL="0">
              <a:buNone/>
            </a:pPr>
            <a:r>
              <a:rPr lang="en-US" sz="2200" b="1" dirty="0">
                <a:solidFill>
                  <a:srgbClr val="16864E"/>
                </a:solidFill>
                <a:latin typeface="Cambria" pitchFamily="34" charset="0"/>
                <a:ea typeface="Cambria" pitchFamily="34" charset="-122"/>
                <a:cs typeface="Cambria" pitchFamily="34" charset="-120"/>
              </a:rPr>
              <a:t>+21</a:t>
            </a:r>
            <a:endParaRPr lang="en-US" sz="2200" dirty="0"/>
          </a:p>
        </p:txBody>
      </p:sp>
      <p:sp>
        <p:nvSpPr>
          <p:cNvPr id="17" name="Shape 15"/>
          <p:cNvSpPr/>
          <p:nvPr/>
        </p:nvSpPr>
        <p:spPr>
          <a:xfrm>
            <a:off x="640080" y="4114800"/>
            <a:ext cx="8686800" cy="502920"/>
          </a:xfrm>
          <a:prstGeom prst="roundRect">
            <a:avLst>
              <a:gd name="adj" fmla="val 14545"/>
            </a:avLst>
          </a:prstGeom>
          <a:solidFill>
            <a:srgbClr val="253B50"/>
          </a:solidFill>
          <a:ln w="12700">
            <a:solidFill>
              <a:srgbClr val="253B50"/>
            </a:solidFill>
            <a:prstDash val="solid"/>
          </a:ln>
        </p:spPr>
      </p:sp>
      <p:sp>
        <p:nvSpPr>
          <p:cNvPr id="18" name="Text 16"/>
          <p:cNvSpPr txBox="1"/>
          <p:nvPr/>
        </p:nvSpPr>
        <p:spPr>
          <a:xfrm>
            <a:off x="960120" y="4206240"/>
            <a:ext cx="5943600" cy="320040"/>
          </a:xfrm>
          <a:prstGeom prst="rect">
            <a:avLst/>
          </a:prstGeom>
          <a:noFill/>
          <a:ln/>
        </p:spPr>
        <p:txBody>
          <a:bodyPr wrap="square" lIns="0" tIns="0" rIns="0" bIns="0" rtlCol="0" anchor="ctr"/>
          <a:lstStyle/>
          <a:p>
            <a:pPr indent="0" marL="0">
              <a:buNone/>
            </a:pPr>
            <a:r>
              <a:rPr lang="en-US" sz="1500" dirty="0">
                <a:solidFill>
                  <a:srgbClr val="CBD5DD"/>
                </a:solidFill>
                <a:latin typeface="Calibri" pitchFamily="34" charset="0"/>
                <a:ea typeface="Calibri" pitchFamily="34" charset="-122"/>
                <a:cs typeface="Calibri" pitchFamily="34" charset="-120"/>
              </a:rPr>
              <a:t>SQL review &amp; validation</a:t>
            </a:r>
            <a:endParaRPr lang="en-US" sz="1500" dirty="0"/>
          </a:p>
        </p:txBody>
      </p:sp>
      <p:sp>
        <p:nvSpPr>
          <p:cNvPr id="19" name="Text 17"/>
          <p:cNvSpPr txBox="1"/>
          <p:nvPr/>
        </p:nvSpPr>
        <p:spPr>
          <a:xfrm>
            <a:off x="7223760" y="4169664"/>
            <a:ext cx="1828800" cy="384048"/>
          </a:xfrm>
          <a:prstGeom prst="rect">
            <a:avLst/>
          </a:prstGeom>
          <a:noFill/>
          <a:ln/>
        </p:spPr>
        <p:txBody>
          <a:bodyPr wrap="square" lIns="0" tIns="0" rIns="0" bIns="0" rtlCol="0" anchor="ctr"/>
          <a:lstStyle/>
          <a:p>
            <a:pPr algn="r" indent="0" marL="0">
              <a:buNone/>
            </a:pPr>
            <a:r>
              <a:rPr lang="en-US" sz="2200" b="1" dirty="0">
                <a:solidFill>
                  <a:srgbClr val="16864E"/>
                </a:solidFill>
                <a:latin typeface="Cambria" pitchFamily="34" charset="0"/>
                <a:ea typeface="Cambria" pitchFamily="34" charset="-122"/>
                <a:cs typeface="Cambria" pitchFamily="34" charset="-120"/>
              </a:rPr>
              <a:t>+18</a:t>
            </a:r>
            <a:endParaRPr lang="en-US" sz="2200" dirty="0"/>
          </a:p>
        </p:txBody>
      </p:sp>
      <p:sp>
        <p:nvSpPr>
          <p:cNvPr id="20" name="Shape 18"/>
          <p:cNvSpPr/>
          <p:nvPr/>
        </p:nvSpPr>
        <p:spPr>
          <a:xfrm>
            <a:off x="640080" y="4663440"/>
            <a:ext cx="8686800" cy="502920"/>
          </a:xfrm>
          <a:prstGeom prst="roundRect">
            <a:avLst>
              <a:gd name="adj" fmla="val 14545"/>
            </a:avLst>
          </a:prstGeom>
          <a:solidFill>
            <a:srgbClr val="1B2A3D"/>
          </a:solidFill>
          <a:ln w="12700">
            <a:solidFill>
              <a:srgbClr val="1B2A3D"/>
            </a:solidFill>
            <a:prstDash val="solid"/>
          </a:ln>
        </p:spPr>
      </p:sp>
      <p:sp>
        <p:nvSpPr>
          <p:cNvPr id="21" name="Text 19"/>
          <p:cNvSpPr txBox="1"/>
          <p:nvPr/>
        </p:nvSpPr>
        <p:spPr>
          <a:xfrm>
            <a:off x="960120" y="4754880"/>
            <a:ext cx="5943600" cy="320040"/>
          </a:xfrm>
          <a:prstGeom prst="rect">
            <a:avLst/>
          </a:prstGeom>
          <a:noFill/>
          <a:ln/>
        </p:spPr>
        <p:txBody>
          <a:bodyPr wrap="square" lIns="0" tIns="0" rIns="0" bIns="0" rtlCol="0" anchor="ctr"/>
          <a:lstStyle/>
          <a:p>
            <a:pPr indent="0" marL="0">
              <a:buNone/>
            </a:pPr>
            <a:r>
              <a:rPr lang="en-US" sz="1500" dirty="0">
                <a:solidFill>
                  <a:srgbClr val="CBD5DD"/>
                </a:solidFill>
                <a:latin typeface="Calibri" pitchFamily="34" charset="0"/>
                <a:ea typeface="Calibri" pitchFamily="34" charset="-122"/>
                <a:cs typeface="Calibri" pitchFamily="34" charset="-120"/>
              </a:rPr>
              <a:t>Causal claim guardrails</a:t>
            </a:r>
            <a:endParaRPr lang="en-US" sz="1500" dirty="0"/>
          </a:p>
        </p:txBody>
      </p:sp>
      <p:sp>
        <p:nvSpPr>
          <p:cNvPr id="22" name="Text 20"/>
          <p:cNvSpPr txBox="1"/>
          <p:nvPr/>
        </p:nvSpPr>
        <p:spPr>
          <a:xfrm>
            <a:off x="7223760" y="4718304"/>
            <a:ext cx="1828800" cy="384048"/>
          </a:xfrm>
          <a:prstGeom prst="rect">
            <a:avLst/>
          </a:prstGeom>
          <a:noFill/>
          <a:ln/>
        </p:spPr>
        <p:txBody>
          <a:bodyPr wrap="square" lIns="0" tIns="0" rIns="0" bIns="0" rtlCol="0" anchor="ctr"/>
          <a:lstStyle/>
          <a:p>
            <a:pPr algn="r" indent="0" marL="0">
              <a:buNone/>
            </a:pPr>
            <a:r>
              <a:rPr lang="en-US" sz="2200" b="1" dirty="0">
                <a:solidFill>
                  <a:srgbClr val="16864E"/>
                </a:solidFill>
                <a:latin typeface="Cambria" pitchFamily="34" charset="0"/>
                <a:ea typeface="Cambria" pitchFamily="34" charset="-122"/>
                <a:cs typeface="Cambria" pitchFamily="34" charset="-120"/>
              </a:rPr>
              <a:t>+13</a:t>
            </a:r>
            <a:endParaRPr lang="en-US" sz="2200" dirty="0"/>
          </a:p>
        </p:txBody>
      </p:sp>
      <p:sp>
        <p:nvSpPr>
          <p:cNvPr id="23" name="Shape 21"/>
          <p:cNvSpPr/>
          <p:nvPr/>
        </p:nvSpPr>
        <p:spPr>
          <a:xfrm>
            <a:off x="9966960" y="1920240"/>
            <a:ext cx="2194560" cy="3383280"/>
          </a:xfrm>
          <a:prstGeom prst="roundRect">
            <a:avLst>
              <a:gd name="adj" fmla="val 3333"/>
            </a:avLst>
          </a:prstGeom>
          <a:solidFill>
            <a:srgbClr val="253B50"/>
          </a:solidFill>
          <a:ln w="12700">
            <a:solidFill>
              <a:srgbClr val="253B50"/>
            </a:solidFill>
            <a:prstDash val="solid"/>
          </a:ln>
        </p:spPr>
      </p:sp>
      <p:sp>
        <p:nvSpPr>
          <p:cNvPr id="24" name="Text 22"/>
          <p:cNvSpPr txBox="1"/>
          <p:nvPr/>
        </p:nvSpPr>
        <p:spPr>
          <a:xfrm>
            <a:off x="10104120" y="2103120"/>
            <a:ext cx="1920240" cy="274320"/>
          </a:xfrm>
          <a:prstGeom prst="rect">
            <a:avLst/>
          </a:prstGeom>
          <a:noFill/>
          <a:ln/>
        </p:spPr>
        <p:txBody>
          <a:bodyPr wrap="square" lIns="0" tIns="0" rIns="0" bIns="0" rtlCol="0" anchor="ctr"/>
          <a:lstStyle/>
          <a:p>
            <a:pPr algn="ctr" indent="0" marL="0">
              <a:buNone/>
            </a:pPr>
            <a:r>
              <a:rPr lang="en-US" sz="1200" dirty="0">
                <a:solidFill>
                  <a:srgbClr val="94A3B8"/>
                </a:solidFill>
                <a:latin typeface="Calibri" pitchFamily="34" charset="0"/>
                <a:ea typeface="Calibri" pitchFamily="34" charset="-122"/>
                <a:cs typeface="Calibri" pitchFamily="34" charset="-120"/>
              </a:rPr>
              <a:t>Mean</a:t>
            </a:r>
            <a:endParaRPr lang="en-US" sz="1200" dirty="0"/>
          </a:p>
        </p:txBody>
      </p:sp>
      <p:sp>
        <p:nvSpPr>
          <p:cNvPr id="25" name="Text 23"/>
          <p:cNvSpPr txBox="1"/>
          <p:nvPr/>
        </p:nvSpPr>
        <p:spPr>
          <a:xfrm>
            <a:off x="10104120" y="2468880"/>
            <a:ext cx="1920240" cy="731520"/>
          </a:xfrm>
          <a:prstGeom prst="rect">
            <a:avLst/>
          </a:prstGeom>
          <a:noFill/>
          <a:ln/>
        </p:spPr>
        <p:txBody>
          <a:bodyPr wrap="square" lIns="0" tIns="0" rIns="0" bIns="0" rtlCol="0" anchor="ctr"/>
          <a:lstStyle/>
          <a:p>
            <a:pPr algn="ctr" indent="0" marL="0">
              <a:buNone/>
            </a:pPr>
            <a:r>
              <a:rPr lang="en-US" sz="4600" b="1" dirty="0">
                <a:solidFill>
                  <a:srgbClr val="16864E"/>
                </a:solidFill>
                <a:latin typeface="Cambria" pitchFamily="34" charset="0"/>
                <a:ea typeface="Cambria" pitchFamily="34" charset="-122"/>
                <a:cs typeface="Cambria" pitchFamily="34" charset="-120"/>
              </a:rPr>
              <a:t>+28</a:t>
            </a:r>
            <a:endParaRPr lang="en-US" sz="4600" dirty="0"/>
          </a:p>
        </p:txBody>
      </p:sp>
      <p:sp>
        <p:nvSpPr>
          <p:cNvPr id="26" name="Text 24"/>
          <p:cNvSpPr txBox="1"/>
          <p:nvPr/>
        </p:nvSpPr>
        <p:spPr>
          <a:xfrm>
            <a:off x="10104120" y="3200400"/>
            <a:ext cx="1920240" cy="274320"/>
          </a:xfrm>
          <a:prstGeom prst="rect">
            <a:avLst/>
          </a:prstGeom>
          <a:noFill/>
          <a:ln/>
        </p:spPr>
        <p:txBody>
          <a:bodyPr wrap="square" lIns="0" tIns="0" rIns="0" bIns="0" rtlCol="0" anchor="ctr"/>
          <a:lstStyle/>
          <a:p>
            <a:pPr algn="ctr" indent="0" marL="0">
              <a:buNone/>
            </a:pPr>
            <a:r>
              <a:rPr lang="en-US" sz="1400" dirty="0">
                <a:solidFill>
                  <a:srgbClr val="16864E"/>
                </a:solidFill>
                <a:latin typeface="Calibri" pitchFamily="34" charset="0"/>
                <a:ea typeface="Calibri" pitchFamily="34" charset="-122"/>
                <a:cs typeface="Calibri" pitchFamily="34" charset="-120"/>
              </a:rPr>
              <a:t>points</a:t>
            </a:r>
            <a:endParaRPr lang="en-US" sz="1400" dirty="0"/>
          </a:p>
        </p:txBody>
      </p:sp>
      <p:sp>
        <p:nvSpPr>
          <p:cNvPr id="27" name="Text 25"/>
          <p:cNvSpPr txBox="1"/>
          <p:nvPr/>
        </p:nvSpPr>
        <p:spPr>
          <a:xfrm>
            <a:off x="10104120" y="3749040"/>
            <a:ext cx="1920240" cy="914400"/>
          </a:xfrm>
          <a:prstGeom prst="rect">
            <a:avLst/>
          </a:prstGeom>
          <a:noFill/>
          <a:ln/>
        </p:spPr>
        <p:txBody>
          <a:bodyPr wrap="square" lIns="0" tIns="0" rIns="0" bIns="0" rtlCol="0" anchor="ctr"/>
          <a:lstStyle/>
          <a:p>
            <a:pPr algn="ctr" indent="0" marL="0">
              <a:buNone/>
            </a:pPr>
            <a:r>
              <a:rPr lang="en-US" sz="1200" dirty="0">
                <a:solidFill>
                  <a:srgbClr val="94A3B8"/>
                </a:solidFill>
                <a:latin typeface="Calibri" pitchFamily="34" charset="0"/>
                <a:ea typeface="Calibri" pitchFamily="34" charset="-122"/>
                <a:cs typeface="Calibri" pitchFamily="34" charset="-120"/>
              </a:rPr>
              <a:t>95% CI</a:t>
            </a:r>
            <a:endParaRPr lang="en-US" sz="1200" dirty="0"/>
          </a:p>
          <a:p>
            <a:pPr algn="ctr" indent="0" marL="0">
              <a:buNone/>
            </a:pPr>
            <a:r>
              <a:rPr lang="en-US" sz="1200" dirty="0">
                <a:solidFill>
                  <a:srgbClr val="94A3B8"/>
                </a:solidFill>
                <a:latin typeface="Calibri" pitchFamily="34" charset="0"/>
                <a:ea typeface="Calibri" pitchFamily="34" charset="-122"/>
                <a:cs typeface="Calibri" pitchFamily="34" charset="-120"/>
              </a:rPr>
              <a:t>+12 to +44</a:t>
            </a:r>
            <a:endParaRPr lang="en-US" sz="1200" dirty="0"/>
          </a:p>
          <a:p>
            <a:pPr algn="ctr" indent="0" marL="0">
              <a:buNone/>
            </a:pPr>
            <a:r>
              <a:rPr lang="en-US" sz="1200" dirty="0">
                <a:solidFill>
                  <a:srgbClr val="94A3B8"/>
                </a:solidFill>
                <a:latin typeface="Calibri" pitchFamily="34" charset="0"/>
                <a:ea typeface="Calibri" pitchFamily="34" charset="-122"/>
                <a:cs typeface="Calibri" pitchFamily="34" charset="-120"/>
              </a:rPr>
              <a:t>p = 0.009</a:t>
            </a:r>
            <a:endParaRPr lang="en-US" sz="1200" dirty="0"/>
          </a:p>
        </p:txBody>
      </p:sp>
      <p:sp>
        <p:nvSpPr>
          <p:cNvPr id="28" name="Text 26"/>
          <p:cNvSpPr txBox="1"/>
          <p:nvPr/>
        </p:nvSpPr>
        <p:spPr>
          <a:xfrm>
            <a:off x="640080" y="5623560"/>
            <a:ext cx="10908792" cy="457200"/>
          </a:xfrm>
          <a:prstGeom prst="rect">
            <a:avLst/>
          </a:prstGeom>
          <a:noFill/>
          <a:ln/>
        </p:spPr>
        <p:txBody>
          <a:bodyPr wrap="square" lIns="0" tIns="0" rIns="0" bIns="0" rtlCol="0" anchor="ctr"/>
          <a:lstStyle/>
          <a:p>
            <a:pPr indent="0" marL="0">
              <a:buNone/>
            </a:pPr>
            <a:r>
              <a:rPr lang="en-US" sz="1200" i="1" dirty="0">
                <a:solidFill>
                  <a:srgbClr val="94A3B8"/>
                </a:solidFill>
                <a:latin typeface="Calibri" pitchFamily="34" charset="0"/>
                <a:ea typeface="Calibri" pitchFamily="34" charset="-122"/>
                <a:cs typeface="Calibri" pitchFamily="34" charset="-120"/>
              </a:rPr>
              <a:t>Single model, single session, authors' own evals — the weakest form of evidence that counts as evidence. But it's real measurement, not a claim.</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256032"/>
            <a:ext cx="10908792" cy="274320"/>
          </a:xfrm>
          <a:prstGeom prst="rect">
            <a:avLst/>
          </a:prstGeom>
          <a:noFill/>
          <a:ln/>
        </p:spPr>
        <p:txBody>
          <a:bodyPr wrap="square" lIns="0" tIns="0" rIns="0" bIns="0" rtlCol="0" anchor="ctr"/>
          <a:lstStyle/>
          <a:p>
            <a:pPr indent="0" marL="0">
              <a:buNone/>
            </a:pPr>
            <a:r>
              <a:rPr lang="en-US" sz="1100" b="1" spc="200" kern="0" dirty="0">
                <a:solidFill>
                  <a:srgbClr val="2563EB"/>
                </a:solidFill>
                <a:latin typeface="Calibri" pitchFamily="34" charset="0"/>
                <a:ea typeface="Calibri" pitchFamily="34" charset="-122"/>
                <a:cs typeface="Calibri" pitchFamily="34" charset="-120"/>
              </a:rPr>
              <a:t>HONEST CAVEATS</a:t>
            </a:r>
            <a:endParaRPr lang="en-US" sz="1100" dirty="0"/>
          </a:p>
        </p:txBody>
      </p:sp>
      <p:sp>
        <p:nvSpPr>
          <p:cNvPr id="3" name="Text 1"/>
          <p:cNvSpPr txBox="1"/>
          <p:nvPr/>
        </p:nvSpPr>
        <p:spPr>
          <a:xfrm>
            <a:off x="640080" y="457200"/>
            <a:ext cx="10908792" cy="822960"/>
          </a:xfrm>
          <a:prstGeom prst="rect">
            <a:avLst/>
          </a:prstGeom>
          <a:noFill/>
          <a:ln/>
        </p:spPr>
        <p:txBody>
          <a:bodyPr wrap="square" lIns="0" tIns="0" rIns="0" bIns="0" rtlCol="0" anchor="ctr"/>
          <a:lstStyle/>
          <a:p>
            <a:pPr algn="l" indent="0" marL="0">
              <a:buNone/>
            </a:pPr>
            <a:r>
              <a:rPr lang="en-US" sz="2800" b="1" dirty="0">
                <a:solidFill>
                  <a:srgbClr val="1B2A3D"/>
                </a:solidFill>
                <a:latin typeface="Cambria" pitchFamily="34" charset="0"/>
                <a:ea typeface="Cambria" pitchFamily="34" charset="-122"/>
                <a:cs typeface="Cambria" pitchFamily="34" charset="-120"/>
              </a:rPr>
              <a:t>Three things we report alongside the number</a:t>
            </a:r>
            <a:endParaRPr lang="en-US" sz="2800" dirty="0"/>
          </a:p>
        </p:txBody>
      </p:sp>
      <p:sp>
        <p:nvSpPr>
          <p:cNvPr id="4" name="Shape 2"/>
          <p:cNvSpPr/>
          <p:nvPr/>
        </p:nvSpPr>
        <p:spPr>
          <a:xfrm>
            <a:off x="640080" y="1554480"/>
            <a:ext cx="10908792" cy="1234440"/>
          </a:xfrm>
          <a:prstGeom prst="roundRect">
            <a:avLst>
              <a:gd name="adj" fmla="val 5926"/>
            </a:avLst>
          </a:prstGeom>
          <a:solidFill>
            <a:srgbClr val="F3F5F7"/>
          </a:solidFill>
          <a:ln w="12700">
            <a:solidFill>
              <a:srgbClr val="F3F5F7"/>
            </a:solidFill>
            <a:prstDash val="solid"/>
          </a:ln>
        </p:spPr>
      </p:sp>
      <p:sp>
        <p:nvSpPr>
          <p:cNvPr id="5" name="Text 3"/>
          <p:cNvSpPr txBox="1"/>
          <p:nvPr/>
        </p:nvSpPr>
        <p:spPr>
          <a:xfrm>
            <a:off x="1005840" y="1737360"/>
            <a:ext cx="10177272" cy="365760"/>
          </a:xfrm>
          <a:prstGeom prst="rect">
            <a:avLst/>
          </a:prstGeom>
          <a:noFill/>
          <a:ln/>
        </p:spPr>
        <p:txBody>
          <a:bodyPr wrap="square" lIns="0" tIns="0" rIns="0" bIns="0" rtlCol="0" anchor="ctr"/>
          <a:lstStyle/>
          <a:p>
            <a:pPr indent="0" marL="0">
              <a:buNone/>
            </a:pPr>
            <a:r>
              <a:rPr lang="en-US" sz="1900" b="1" dirty="0">
                <a:solidFill>
                  <a:srgbClr val="E8663C"/>
                </a:solidFill>
                <a:latin typeface="Cambria" pitchFamily="34" charset="0"/>
                <a:ea typeface="Cambria" pitchFamily="34" charset="-122"/>
                <a:cs typeface="Cambria" pitchFamily="34" charset="-120"/>
              </a:rPr>
              <a:t>Skills over-fire</a:t>
            </a:r>
            <a:endParaRPr lang="en-US" sz="1900" dirty="0"/>
          </a:p>
        </p:txBody>
      </p:sp>
      <p:sp>
        <p:nvSpPr>
          <p:cNvPr id="6" name="Text 4"/>
          <p:cNvSpPr txBox="1"/>
          <p:nvPr/>
        </p:nvSpPr>
        <p:spPr>
          <a:xfrm>
            <a:off x="1005840" y="2148840"/>
            <a:ext cx="10177272" cy="502920"/>
          </a:xfrm>
          <a:prstGeom prst="rect">
            <a:avLst/>
          </a:prstGeom>
          <a:noFill/>
          <a:ln/>
        </p:spPr>
        <p:txBody>
          <a:bodyPr wrap="square" lIns="0" tIns="0" rIns="0" bIns="0" rtlCol="0" anchor="ctr"/>
          <a:lstStyle/>
          <a:p>
            <a:pPr indent="0" marL="0">
              <a:buNone/>
            </a:pPr>
            <a:r>
              <a:rPr lang="en-US" sz="1400" dirty="0">
                <a:solidFill>
                  <a:srgbClr val="546678"/>
                </a:solidFill>
                <a:latin typeface="Calibri" pitchFamily="34" charset="0"/>
                <a:ea typeface="Calibri" pitchFamily="34" charset="-122"/>
                <a:cs typeface="Calibri" pitchFamily="34" charset="-120"/>
              </a:rPr>
              <a:t>Negative-test pass rate fell from 87% to 70%. Skills sometimes add process where none is needed — that's a real cost, not noise.</a:t>
            </a:r>
            <a:endParaRPr lang="en-US" sz="1400" dirty="0"/>
          </a:p>
        </p:txBody>
      </p:sp>
      <p:sp>
        <p:nvSpPr>
          <p:cNvPr id="7" name="Shape 5"/>
          <p:cNvSpPr/>
          <p:nvPr/>
        </p:nvSpPr>
        <p:spPr>
          <a:xfrm>
            <a:off x="640080" y="2880360"/>
            <a:ext cx="10908792" cy="1234440"/>
          </a:xfrm>
          <a:prstGeom prst="roundRect">
            <a:avLst>
              <a:gd name="adj" fmla="val 5926"/>
            </a:avLst>
          </a:prstGeom>
          <a:solidFill>
            <a:srgbClr val="F3F5F7"/>
          </a:solidFill>
          <a:ln w="12700">
            <a:solidFill>
              <a:srgbClr val="F3F5F7"/>
            </a:solidFill>
            <a:prstDash val="solid"/>
          </a:ln>
        </p:spPr>
      </p:sp>
      <p:sp>
        <p:nvSpPr>
          <p:cNvPr id="8" name="Text 6"/>
          <p:cNvSpPr txBox="1"/>
          <p:nvPr/>
        </p:nvSpPr>
        <p:spPr>
          <a:xfrm>
            <a:off x="1005840" y="3063240"/>
            <a:ext cx="10177272" cy="365760"/>
          </a:xfrm>
          <a:prstGeom prst="rect">
            <a:avLst/>
          </a:prstGeom>
          <a:noFill/>
          <a:ln/>
        </p:spPr>
        <p:txBody>
          <a:bodyPr wrap="square" lIns="0" tIns="0" rIns="0" bIns="0" rtlCol="0" anchor="ctr"/>
          <a:lstStyle/>
          <a:p>
            <a:pPr indent="0" marL="0">
              <a:buNone/>
            </a:pPr>
            <a:r>
              <a:rPr lang="en-US" sz="1900" b="1" dirty="0">
                <a:solidFill>
                  <a:srgbClr val="2563EB"/>
                </a:solidFill>
                <a:latin typeface="Cambria" pitchFamily="34" charset="0"/>
                <a:ea typeface="Cambria" pitchFamily="34" charset="-122"/>
                <a:cs typeface="Cambria" pitchFamily="34" charset="-120"/>
              </a:rPr>
              <a:t>Loading strategy matters more than content</a:t>
            </a:r>
            <a:endParaRPr lang="en-US" sz="1900" dirty="0"/>
          </a:p>
        </p:txBody>
      </p:sp>
      <p:sp>
        <p:nvSpPr>
          <p:cNvPr id="9" name="Text 7"/>
          <p:cNvSpPr txBox="1"/>
          <p:nvPr/>
        </p:nvSpPr>
        <p:spPr>
          <a:xfrm>
            <a:off x="1005840" y="3474720"/>
            <a:ext cx="10177272" cy="502920"/>
          </a:xfrm>
          <a:prstGeom prst="rect">
            <a:avLst/>
          </a:prstGeom>
          <a:noFill/>
          <a:ln/>
        </p:spPr>
        <p:txBody>
          <a:bodyPr wrap="square" lIns="0" tIns="0" rIns="0" bIns="0" rtlCol="0" anchor="ctr"/>
          <a:lstStyle/>
          <a:p>
            <a:pPr indent="0" marL="0">
              <a:buNone/>
            </a:pPr>
            <a:r>
              <a:rPr lang="en-US" sz="1400" dirty="0">
                <a:solidFill>
                  <a:srgbClr val="546678"/>
                </a:solidFill>
                <a:latin typeface="Calibri" pitchFamily="34" charset="0"/>
                <a:ea typeface="Calibri" pitchFamily="34" charset="-122"/>
                <a:cs typeface="Calibri" pitchFamily="34" charset="-120"/>
              </a:rPr>
              <a:t>Same skills loaded differently: +28 (one at a time) vs nearly identical accuracy when all loaded at once — but discipline degrades. Routing is the hard problem.</a:t>
            </a:r>
            <a:endParaRPr lang="en-US" sz="1400" dirty="0"/>
          </a:p>
        </p:txBody>
      </p:sp>
      <p:sp>
        <p:nvSpPr>
          <p:cNvPr id="10" name="Shape 8"/>
          <p:cNvSpPr/>
          <p:nvPr/>
        </p:nvSpPr>
        <p:spPr>
          <a:xfrm>
            <a:off x="640080" y="4206240"/>
            <a:ext cx="10908792" cy="1234440"/>
          </a:xfrm>
          <a:prstGeom prst="roundRect">
            <a:avLst>
              <a:gd name="adj" fmla="val 5926"/>
            </a:avLst>
          </a:prstGeom>
          <a:solidFill>
            <a:srgbClr val="F3F5F7"/>
          </a:solidFill>
          <a:ln w="12700">
            <a:solidFill>
              <a:srgbClr val="F3F5F7"/>
            </a:solidFill>
            <a:prstDash val="solid"/>
          </a:ln>
        </p:spPr>
      </p:sp>
      <p:sp>
        <p:nvSpPr>
          <p:cNvPr id="11" name="Text 9"/>
          <p:cNvSpPr txBox="1"/>
          <p:nvPr/>
        </p:nvSpPr>
        <p:spPr>
          <a:xfrm>
            <a:off x="1005840" y="4389120"/>
            <a:ext cx="10177272" cy="365760"/>
          </a:xfrm>
          <a:prstGeom prst="rect">
            <a:avLst/>
          </a:prstGeom>
          <a:noFill/>
          <a:ln/>
        </p:spPr>
        <p:txBody>
          <a:bodyPr wrap="square" lIns="0" tIns="0" rIns="0" bIns="0" rtlCol="0" anchor="ctr"/>
          <a:lstStyle/>
          <a:p>
            <a:pPr indent="0" marL="0">
              <a:buNone/>
            </a:pPr>
            <a:r>
              <a:rPr lang="en-US" sz="1900" b="1" dirty="0">
                <a:solidFill>
                  <a:srgbClr val="546678"/>
                </a:solidFill>
                <a:latin typeface="Cambria" pitchFamily="34" charset="0"/>
                <a:ea typeface="Cambria" pitchFamily="34" charset="-122"/>
                <a:cs typeface="Cambria" pitchFamily="34" charset="-120"/>
              </a:rPr>
              <a:t>It's one run on synthetic data</a:t>
            </a:r>
            <a:endParaRPr lang="en-US" sz="1900" dirty="0"/>
          </a:p>
        </p:txBody>
      </p:sp>
      <p:sp>
        <p:nvSpPr>
          <p:cNvPr id="12" name="Text 10"/>
          <p:cNvSpPr txBox="1"/>
          <p:nvPr/>
        </p:nvSpPr>
        <p:spPr>
          <a:xfrm>
            <a:off x="1005840" y="4800600"/>
            <a:ext cx="10177272" cy="502920"/>
          </a:xfrm>
          <a:prstGeom prst="rect">
            <a:avLst/>
          </a:prstGeom>
          <a:noFill/>
          <a:ln/>
        </p:spPr>
        <p:txBody>
          <a:bodyPr wrap="square" lIns="0" tIns="0" rIns="0" bIns="0" rtlCol="0" anchor="ctr"/>
          <a:lstStyle/>
          <a:p>
            <a:pPr indent="0" marL="0">
              <a:buNone/>
            </a:pPr>
            <a:r>
              <a:rPr lang="en-US" sz="1400" dirty="0">
                <a:solidFill>
                  <a:srgbClr val="546678"/>
                </a:solidFill>
                <a:latin typeface="Calibri" pitchFamily="34" charset="0"/>
                <a:ea typeface="Calibri" pitchFamily="34" charset="-122"/>
                <a:cs typeface="Calibri" pitchFamily="34" charset="-120"/>
              </a:rPr>
              <a:t>A single session by the skills' own author is the weakest form of evidence that counts. Independent validation would be worth more than another skill.</a:t>
            </a:r>
            <a:endParaRPr lang="en-US" sz="1400" dirty="0"/>
          </a:p>
        </p:txBody>
      </p:sp>
      <p:sp>
        <p:nvSpPr>
          <p:cNvPr id="13" name="Text 11"/>
          <p:cNvSpPr txBox="1"/>
          <p:nvPr/>
        </p:nvSpPr>
        <p:spPr>
          <a:xfrm>
            <a:off x="640080" y="5669280"/>
            <a:ext cx="10908792" cy="411480"/>
          </a:xfrm>
          <a:prstGeom prst="rect">
            <a:avLst/>
          </a:prstGeom>
          <a:noFill/>
          <a:ln/>
        </p:spPr>
        <p:txBody>
          <a:bodyPr wrap="square" lIns="0" tIns="0" rIns="0" bIns="0" rtlCol="0" anchor="ctr"/>
          <a:lstStyle/>
          <a:p>
            <a:pPr indent="0" marL="0">
              <a:buNone/>
            </a:pPr>
            <a:r>
              <a:rPr lang="en-US" sz="1500" i="1" dirty="0">
                <a:solidFill>
                  <a:srgbClr val="1B2A3D"/>
                </a:solidFill>
                <a:latin typeface="Cambria" pitchFamily="34" charset="0"/>
                <a:ea typeface="Cambria" pitchFamily="34" charset="-122"/>
                <a:cs typeface="Cambria" pitchFamily="34" charset="-120"/>
              </a:rPr>
              <a:t>We report these because the workshop teaches this exact discipline — presenting caveats alongside results, not burying them.</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256032"/>
            <a:ext cx="10908792" cy="274320"/>
          </a:xfrm>
          <a:prstGeom prst="rect">
            <a:avLst/>
          </a:prstGeom>
          <a:noFill/>
          <a:ln/>
        </p:spPr>
        <p:txBody>
          <a:bodyPr wrap="square" lIns="0" tIns="0" rIns="0" bIns="0" rtlCol="0" anchor="ctr"/>
          <a:lstStyle/>
          <a:p>
            <a:pPr indent="0" marL="0">
              <a:buNone/>
            </a:pPr>
            <a:r>
              <a:rPr lang="en-US" sz="1100" b="1" spc="200" kern="0" dirty="0">
                <a:solidFill>
                  <a:srgbClr val="2563EB"/>
                </a:solidFill>
                <a:latin typeface="Calibri" pitchFamily="34" charset="0"/>
                <a:ea typeface="Calibri" pitchFamily="34" charset="-122"/>
                <a:cs typeface="Calibri" pitchFamily="34" charset="-120"/>
              </a:rPr>
              <a:t>WHAT IT LOOKS LIKE IN PRACTICE</a:t>
            </a:r>
            <a:endParaRPr lang="en-US" sz="1100" dirty="0"/>
          </a:p>
        </p:txBody>
      </p:sp>
      <p:sp>
        <p:nvSpPr>
          <p:cNvPr id="3" name="Text 1"/>
          <p:cNvSpPr txBox="1"/>
          <p:nvPr/>
        </p:nvSpPr>
        <p:spPr>
          <a:xfrm>
            <a:off x="640080" y="457200"/>
            <a:ext cx="10908792" cy="822960"/>
          </a:xfrm>
          <a:prstGeom prst="rect">
            <a:avLst/>
          </a:prstGeom>
          <a:noFill/>
          <a:ln/>
        </p:spPr>
        <p:txBody>
          <a:bodyPr wrap="square" lIns="0" tIns="0" rIns="0" bIns="0" rtlCol="0" anchor="ctr"/>
          <a:lstStyle/>
          <a:p>
            <a:pPr algn="l" indent="0" marL="0">
              <a:buNone/>
            </a:pPr>
            <a:r>
              <a:rPr lang="en-US" sz="2800" b="1" dirty="0">
                <a:solidFill>
                  <a:srgbClr val="1B2A3D"/>
                </a:solidFill>
                <a:latin typeface="Cambria" pitchFamily="34" charset="0"/>
                <a:ea typeface="Cambria" pitchFamily="34" charset="-122"/>
                <a:cs typeface="Cambria" pitchFamily="34" charset="-120"/>
              </a:rPr>
              <a:t>A markdown file anyone on the team can write</a:t>
            </a:r>
            <a:endParaRPr lang="en-US" sz="2800" dirty="0"/>
          </a:p>
        </p:txBody>
      </p:sp>
      <p:sp>
        <p:nvSpPr>
          <p:cNvPr id="4" name="Shape 2"/>
          <p:cNvSpPr/>
          <p:nvPr/>
        </p:nvSpPr>
        <p:spPr>
          <a:xfrm>
            <a:off x="640080" y="1554480"/>
            <a:ext cx="10908792" cy="4389120"/>
          </a:xfrm>
          <a:prstGeom prst="roundRect">
            <a:avLst>
              <a:gd name="adj" fmla="val 1667"/>
            </a:avLst>
          </a:prstGeom>
          <a:solidFill>
            <a:srgbClr val="F8F9FB"/>
          </a:solidFill>
          <a:ln w="12700">
            <a:solidFill>
              <a:srgbClr val="F8F9FB"/>
            </a:solidFill>
            <a:prstDash val="solid"/>
          </a:ln>
        </p:spPr>
      </p:sp>
      <p:sp>
        <p:nvSpPr>
          <p:cNvPr id="5" name="Text 3"/>
          <p:cNvSpPr txBox="1"/>
          <p:nvPr/>
        </p:nvSpPr>
        <p:spPr>
          <a:xfrm>
            <a:off x="1097280" y="1737360"/>
            <a:ext cx="5486400" cy="365760"/>
          </a:xfrm>
          <a:prstGeom prst="rect">
            <a:avLst/>
          </a:prstGeom>
          <a:noFill/>
          <a:ln/>
        </p:spPr>
        <p:txBody>
          <a:bodyPr wrap="square" lIns="0" tIns="0" rIns="0" bIns="0" rtlCol="0" anchor="ctr"/>
          <a:lstStyle/>
          <a:p>
            <a:pPr indent="0" marL="0">
              <a:buNone/>
            </a:pPr>
            <a:r>
              <a:rPr lang="en-US" sz="1600" b="1" dirty="0">
                <a:solidFill>
                  <a:srgbClr val="1B2A3D"/>
                </a:solidFill>
                <a:latin typeface="Consolas" pitchFamily="34" charset="0"/>
                <a:ea typeface="Consolas" pitchFamily="34" charset="-122"/>
                <a:cs typeface="Consolas" pitchFamily="34" charset="-120"/>
              </a:rPr>
              <a:t>Attrition — Reference</a:t>
            </a:r>
            <a:endParaRPr lang="en-US" sz="1600" dirty="0"/>
          </a:p>
        </p:txBody>
      </p:sp>
      <p:sp>
        <p:nvSpPr>
          <p:cNvPr id="6" name="Text 4"/>
          <p:cNvSpPr txBox="1"/>
          <p:nvPr/>
        </p:nvSpPr>
        <p:spPr>
          <a:xfrm>
            <a:off x="1097280" y="2240280"/>
            <a:ext cx="3200400" cy="320040"/>
          </a:xfrm>
          <a:prstGeom prst="rect">
            <a:avLst/>
          </a:prstGeom>
          <a:noFill/>
          <a:ln/>
        </p:spPr>
        <p:txBody>
          <a:bodyPr wrap="square" lIns="0" tIns="0" rIns="0" bIns="0" rtlCol="0" anchor="ctr"/>
          <a:lstStyle/>
          <a:p>
            <a:pPr indent="0" marL="0">
              <a:buNone/>
            </a:pPr>
            <a:r>
              <a:rPr lang="en-US" sz="1400" b="1" dirty="0">
                <a:solidFill>
                  <a:srgbClr val="1B2A3D"/>
                </a:solidFill>
                <a:latin typeface="Cambria" pitchFamily="34" charset="0"/>
                <a:ea typeface="Cambria" pitchFamily="34" charset="-122"/>
                <a:cs typeface="Cambria" pitchFamily="34" charset="-120"/>
              </a:rPr>
              <a:t>Quick Reference</a:t>
            </a:r>
            <a:endParaRPr lang="en-US" sz="1400" dirty="0"/>
          </a:p>
        </p:txBody>
      </p:sp>
      <p:sp>
        <p:nvSpPr>
          <p:cNvPr id="7" name="Text 5"/>
          <p:cNvSpPr txBox="1"/>
          <p:nvPr/>
        </p:nvSpPr>
        <p:spPr>
          <a:xfrm>
            <a:off x="4389120" y="2258568"/>
            <a:ext cx="6858000" cy="320040"/>
          </a:xfrm>
          <a:prstGeom prst="rect">
            <a:avLst/>
          </a:prstGeom>
          <a:noFill/>
          <a:ln/>
        </p:spPr>
        <p:txBody>
          <a:bodyPr wrap="square" lIns="0" tIns="0" rIns="0" bIns="0" rtlCol="0" anchor="ctr"/>
          <a:lstStyle/>
          <a:p>
            <a:pPr indent="0" marL="0">
              <a:buNone/>
            </a:pPr>
            <a:r>
              <a:rPr lang="en-US" sz="1200" dirty="0">
                <a:solidFill>
                  <a:srgbClr val="546678"/>
                </a:solidFill>
                <a:latin typeface="Calibri" pitchFamily="34" charset="0"/>
                <a:ea typeface="Calibri" pitchFamily="34" charset="-122"/>
                <a:cs typeface="Calibri" pitchFamily="34" charset="-120"/>
              </a:rPr>
              <a:t>Which table, what grain, person key, standard filter</a:t>
            </a:r>
            <a:endParaRPr lang="en-US" sz="1200" dirty="0"/>
          </a:p>
        </p:txBody>
      </p:sp>
      <p:sp>
        <p:nvSpPr>
          <p:cNvPr id="8" name="Text 6"/>
          <p:cNvSpPr txBox="1"/>
          <p:nvPr/>
        </p:nvSpPr>
        <p:spPr>
          <a:xfrm>
            <a:off x="1097280" y="2743200"/>
            <a:ext cx="3200400" cy="320040"/>
          </a:xfrm>
          <a:prstGeom prst="rect">
            <a:avLst/>
          </a:prstGeom>
          <a:noFill/>
          <a:ln/>
        </p:spPr>
        <p:txBody>
          <a:bodyPr wrap="square" lIns="0" tIns="0" rIns="0" bIns="0" rtlCol="0" anchor="ctr"/>
          <a:lstStyle/>
          <a:p>
            <a:pPr indent="0" marL="0">
              <a:buNone/>
            </a:pPr>
            <a:r>
              <a:rPr lang="en-US" sz="1400" b="1" dirty="0">
                <a:solidFill>
                  <a:srgbClr val="1B2A3D"/>
                </a:solidFill>
                <a:latin typeface="Cambria" pitchFamily="34" charset="0"/>
                <a:ea typeface="Cambria" pitchFamily="34" charset="-122"/>
                <a:cs typeface="Cambria" pitchFamily="34" charset="-120"/>
              </a:rPr>
              <a:t>Required Filters</a:t>
            </a:r>
            <a:endParaRPr lang="en-US" sz="1400" dirty="0"/>
          </a:p>
        </p:txBody>
      </p:sp>
      <p:sp>
        <p:nvSpPr>
          <p:cNvPr id="9" name="Text 7"/>
          <p:cNvSpPr txBox="1"/>
          <p:nvPr/>
        </p:nvSpPr>
        <p:spPr>
          <a:xfrm>
            <a:off x="4389120" y="2761488"/>
            <a:ext cx="6858000" cy="320040"/>
          </a:xfrm>
          <a:prstGeom prst="rect">
            <a:avLst/>
          </a:prstGeom>
          <a:noFill/>
          <a:ln/>
        </p:spPr>
        <p:txBody>
          <a:bodyPr wrap="square" lIns="0" tIns="0" rIns="0" bIns="0" rtlCol="0" anchor="ctr"/>
          <a:lstStyle/>
          <a:p>
            <a:pPr indent="0" marL="0">
              <a:buNone/>
            </a:pPr>
            <a:r>
              <a:rPr lang="en-US" sz="1200" dirty="0">
                <a:solidFill>
                  <a:srgbClr val="546678"/>
                </a:solidFill>
                <a:latin typeface="Calibri" pitchFamily="34" charset="0"/>
                <a:ea typeface="Calibri" pitchFamily="34" charset="-122"/>
                <a:cs typeface="Calibri" pitchFamily="34" charset="-120"/>
              </a:rPr>
              <a:t>What happens if omitted — quantified, not guessed</a:t>
            </a:r>
            <a:endParaRPr lang="en-US" sz="1200" dirty="0"/>
          </a:p>
        </p:txBody>
      </p:sp>
      <p:sp>
        <p:nvSpPr>
          <p:cNvPr id="10" name="Text 8"/>
          <p:cNvSpPr txBox="1"/>
          <p:nvPr/>
        </p:nvSpPr>
        <p:spPr>
          <a:xfrm>
            <a:off x="1097280" y="3246120"/>
            <a:ext cx="3200400" cy="320040"/>
          </a:xfrm>
          <a:prstGeom prst="rect">
            <a:avLst/>
          </a:prstGeom>
          <a:noFill/>
          <a:ln/>
        </p:spPr>
        <p:txBody>
          <a:bodyPr wrap="square" lIns="0" tIns="0" rIns="0" bIns="0" rtlCol="0" anchor="ctr"/>
          <a:lstStyle/>
          <a:p>
            <a:pPr indent="0" marL="0">
              <a:buNone/>
            </a:pPr>
            <a:r>
              <a:rPr lang="en-US" sz="1400" b="1" dirty="0">
                <a:solidFill>
                  <a:srgbClr val="E8663C"/>
                </a:solidFill>
                <a:latin typeface="Cambria" pitchFamily="34" charset="0"/>
                <a:ea typeface="Cambria" pitchFamily="34" charset="-122"/>
                <a:cs typeface="Cambria" pitchFamily="34" charset="-120"/>
              </a:rPr>
              <a:t>Gotchas ⚠</a:t>
            </a:r>
            <a:endParaRPr lang="en-US" sz="1400" dirty="0"/>
          </a:p>
        </p:txBody>
      </p:sp>
      <p:sp>
        <p:nvSpPr>
          <p:cNvPr id="11" name="Text 9"/>
          <p:cNvSpPr txBox="1"/>
          <p:nvPr/>
        </p:nvSpPr>
        <p:spPr>
          <a:xfrm>
            <a:off x="4389120" y="3264408"/>
            <a:ext cx="6858000" cy="320040"/>
          </a:xfrm>
          <a:prstGeom prst="rect">
            <a:avLst/>
          </a:prstGeom>
          <a:noFill/>
          <a:ln/>
        </p:spPr>
        <p:txBody>
          <a:bodyPr wrap="square" lIns="0" tIns="0" rIns="0" bIns="0" rtlCol="0" anchor="ctr"/>
          <a:lstStyle/>
          <a:p>
            <a:pPr indent="0" marL="0">
              <a:buNone/>
            </a:pPr>
            <a:r>
              <a:rPr lang="en-US" sz="1200" dirty="0">
                <a:solidFill>
                  <a:srgbClr val="546678"/>
                </a:solidFill>
                <a:latin typeface="Calibri" pitchFamily="34" charset="0"/>
                <a:ea typeface="Calibri" pitchFamily="34" charset="-122"/>
                <a:cs typeface="Calibri" pitchFamily="34" charset="-120"/>
              </a:rPr>
              <a:t>Three denominator choices produce a 6.2-point spread in attrition rate — the only section a model cannot generate</a:t>
            </a:r>
            <a:endParaRPr lang="en-US" sz="1200" dirty="0"/>
          </a:p>
        </p:txBody>
      </p:sp>
      <p:sp>
        <p:nvSpPr>
          <p:cNvPr id="12" name="Text 10"/>
          <p:cNvSpPr txBox="1"/>
          <p:nvPr/>
        </p:nvSpPr>
        <p:spPr>
          <a:xfrm>
            <a:off x="1097280" y="3840480"/>
            <a:ext cx="3200400" cy="320040"/>
          </a:xfrm>
          <a:prstGeom prst="rect">
            <a:avLst/>
          </a:prstGeom>
          <a:noFill/>
          <a:ln/>
        </p:spPr>
        <p:txBody>
          <a:bodyPr wrap="square" lIns="0" tIns="0" rIns="0" bIns="0" rtlCol="0" anchor="ctr"/>
          <a:lstStyle/>
          <a:p>
            <a:pPr indent="0" marL="0">
              <a:buNone/>
            </a:pPr>
            <a:r>
              <a:rPr lang="en-US" sz="1400" b="1" dirty="0">
                <a:solidFill>
                  <a:srgbClr val="1B2A3D"/>
                </a:solidFill>
                <a:latin typeface="Cambria" pitchFamily="34" charset="0"/>
                <a:ea typeface="Cambria" pitchFamily="34" charset="-122"/>
                <a:cs typeface="Cambria" pitchFamily="34" charset="-120"/>
              </a:rPr>
              <a:t>Measures</a:t>
            </a:r>
            <a:endParaRPr lang="en-US" sz="1400" dirty="0"/>
          </a:p>
        </p:txBody>
      </p:sp>
      <p:sp>
        <p:nvSpPr>
          <p:cNvPr id="13" name="Text 11"/>
          <p:cNvSpPr txBox="1"/>
          <p:nvPr/>
        </p:nvSpPr>
        <p:spPr>
          <a:xfrm>
            <a:off x="4389120" y="3858768"/>
            <a:ext cx="6858000" cy="320040"/>
          </a:xfrm>
          <a:prstGeom prst="rect">
            <a:avLst/>
          </a:prstGeom>
          <a:noFill/>
          <a:ln/>
        </p:spPr>
        <p:txBody>
          <a:bodyPr wrap="square" lIns="0" tIns="0" rIns="0" bIns="0" rtlCol="0" anchor="ctr"/>
          <a:lstStyle/>
          <a:p>
            <a:pPr indent="0" marL="0">
              <a:buNone/>
            </a:pPr>
            <a:r>
              <a:rPr lang="en-US" sz="1200" dirty="0">
                <a:solidFill>
                  <a:srgbClr val="546678"/>
                </a:solidFill>
                <a:latin typeface="Calibri" pitchFamily="34" charset="0"/>
                <a:ea typeface="Calibri" pitchFamily="34" charset="-122"/>
                <a:cs typeface="Calibri" pitchFamily="34" charset="-120"/>
              </a:rPr>
              <a:t>Named definition with explicit numerator and denominator</a:t>
            </a:r>
            <a:endParaRPr lang="en-US" sz="1200" dirty="0"/>
          </a:p>
        </p:txBody>
      </p:sp>
      <p:sp>
        <p:nvSpPr>
          <p:cNvPr id="14" name="Text 12"/>
          <p:cNvSpPr txBox="1"/>
          <p:nvPr/>
        </p:nvSpPr>
        <p:spPr>
          <a:xfrm>
            <a:off x="1097280" y="4343400"/>
            <a:ext cx="3200400" cy="320040"/>
          </a:xfrm>
          <a:prstGeom prst="rect">
            <a:avLst/>
          </a:prstGeom>
          <a:noFill/>
          <a:ln/>
        </p:spPr>
        <p:txBody>
          <a:bodyPr wrap="square" lIns="0" tIns="0" rIns="0" bIns="0" rtlCol="0" anchor="ctr"/>
          <a:lstStyle/>
          <a:p>
            <a:pPr indent="0" marL="0">
              <a:buNone/>
            </a:pPr>
            <a:r>
              <a:rPr lang="en-US" sz="1400" b="1" dirty="0">
                <a:solidFill>
                  <a:srgbClr val="1B2A3D"/>
                </a:solidFill>
                <a:latin typeface="Cambria" pitchFamily="34" charset="0"/>
                <a:ea typeface="Cambria" pitchFamily="34" charset="-122"/>
                <a:cs typeface="Cambria" pitchFamily="34" charset="-120"/>
              </a:rPr>
              <a:t>Query Patterns</a:t>
            </a:r>
            <a:endParaRPr lang="en-US" sz="1400" dirty="0"/>
          </a:p>
        </p:txBody>
      </p:sp>
      <p:sp>
        <p:nvSpPr>
          <p:cNvPr id="15" name="Text 13"/>
          <p:cNvSpPr txBox="1"/>
          <p:nvPr/>
        </p:nvSpPr>
        <p:spPr>
          <a:xfrm>
            <a:off x="4389120" y="4361688"/>
            <a:ext cx="6858000" cy="320040"/>
          </a:xfrm>
          <a:prstGeom prst="rect">
            <a:avLst/>
          </a:prstGeom>
          <a:noFill/>
          <a:ln/>
        </p:spPr>
        <p:txBody>
          <a:bodyPr wrap="square" lIns="0" tIns="0" rIns="0" bIns="0" rtlCol="0" anchor="ctr"/>
          <a:lstStyle/>
          <a:p>
            <a:pPr indent="0" marL="0">
              <a:buNone/>
            </a:pPr>
            <a:r>
              <a:rPr lang="en-US" sz="1200" dirty="0">
                <a:solidFill>
                  <a:srgbClr val="546678"/>
                </a:solidFill>
                <a:latin typeface="Calibri" pitchFamily="34" charset="0"/>
                <a:ea typeface="Calibri" pitchFamily="34" charset="-122"/>
                <a:cs typeface="Calibri" pitchFamily="34" charset="-120"/>
              </a:rPr>
              <a:t>Copy-pasteable SQL that runs as written, verified against the warehouse</a:t>
            </a:r>
            <a:endParaRPr lang="en-US" sz="1200" dirty="0"/>
          </a:p>
        </p:txBody>
      </p:sp>
      <p:sp>
        <p:nvSpPr>
          <p:cNvPr id="16" name="Text 14"/>
          <p:cNvSpPr txBox="1"/>
          <p:nvPr/>
        </p:nvSpPr>
        <p:spPr>
          <a:xfrm>
            <a:off x="1097280" y="4846320"/>
            <a:ext cx="3200400" cy="320040"/>
          </a:xfrm>
          <a:prstGeom prst="rect">
            <a:avLst/>
          </a:prstGeom>
          <a:noFill/>
          <a:ln/>
        </p:spPr>
        <p:txBody>
          <a:bodyPr wrap="square" lIns="0" tIns="0" rIns="0" bIns="0" rtlCol="0" anchor="ctr"/>
          <a:lstStyle/>
          <a:p>
            <a:pPr indent="0" marL="0">
              <a:buNone/>
            </a:pPr>
            <a:r>
              <a:rPr lang="en-US" sz="1400" b="1" dirty="0">
                <a:solidFill>
                  <a:srgbClr val="1B2A3D"/>
                </a:solidFill>
                <a:latin typeface="Cambria" pitchFamily="34" charset="0"/>
                <a:ea typeface="Cambria" pitchFamily="34" charset="-122"/>
                <a:cs typeface="Cambria" pitchFamily="34" charset="-120"/>
              </a:rPr>
              <a:t>Escalate, Don't Guess</a:t>
            </a:r>
            <a:endParaRPr lang="en-US" sz="1400" dirty="0"/>
          </a:p>
        </p:txBody>
      </p:sp>
      <p:sp>
        <p:nvSpPr>
          <p:cNvPr id="17" name="Text 15"/>
          <p:cNvSpPr txBox="1"/>
          <p:nvPr/>
        </p:nvSpPr>
        <p:spPr>
          <a:xfrm>
            <a:off x="4389120" y="4864608"/>
            <a:ext cx="6858000" cy="320040"/>
          </a:xfrm>
          <a:prstGeom prst="rect">
            <a:avLst/>
          </a:prstGeom>
          <a:noFill/>
          <a:ln/>
        </p:spPr>
        <p:txBody>
          <a:bodyPr wrap="square" lIns="0" tIns="0" rIns="0" bIns="0" rtlCol="0" anchor="ctr"/>
          <a:lstStyle/>
          <a:p>
            <a:pPr indent="0" marL="0">
              <a:buNone/>
            </a:pPr>
            <a:r>
              <a:rPr lang="en-US" sz="1200" dirty="0">
                <a:solidFill>
                  <a:srgbClr val="546678"/>
                </a:solidFill>
                <a:latin typeface="Calibri" pitchFamily="34" charset="0"/>
                <a:ea typeface="Calibri" pitchFamily="34" charset="-122"/>
                <a:cs typeface="Calibri" pitchFamily="34" charset="-120"/>
              </a:rPr>
              <a:t>Questions that should route to a human, not an agent</a:t>
            </a:r>
            <a:endParaRPr lang="en-US" sz="1200" dirty="0"/>
          </a:p>
        </p:txBody>
      </p:sp>
      <p:sp>
        <p:nvSpPr>
          <p:cNvPr id="18" name="Text 16"/>
          <p:cNvSpPr txBox="1"/>
          <p:nvPr/>
        </p:nvSpPr>
        <p:spPr>
          <a:xfrm>
            <a:off x="640080" y="6080760"/>
            <a:ext cx="10908792" cy="411480"/>
          </a:xfrm>
          <a:prstGeom prst="rect">
            <a:avLst/>
          </a:prstGeom>
          <a:noFill/>
          <a:ln/>
        </p:spPr>
        <p:txBody>
          <a:bodyPr wrap="square" lIns="0" tIns="0" rIns="0" bIns="0" rtlCol="0" anchor="ctr"/>
          <a:lstStyle/>
          <a:p>
            <a:pPr indent="0" marL="0">
              <a:buNone/>
            </a:pPr>
            <a:r>
              <a:rPr lang="en-US" sz="1300" i="1" dirty="0">
                <a:solidFill>
                  <a:srgbClr val="94A3B8"/>
                </a:solidFill>
                <a:latin typeface="Calibri" pitchFamily="34" charset="0"/>
                <a:ea typeface="Calibri" pitchFamily="34" charset="-122"/>
                <a:cs typeface="Calibri" pitchFamily="34" charset="-120"/>
              </a:rPr>
              <a:t>The Gotchas section is the whole point. It captures what an experienced analyst knows and a model doesn't — and it's the section that moved the number from 56% to 84%.</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256032"/>
            <a:ext cx="10908792" cy="274320"/>
          </a:xfrm>
          <a:prstGeom prst="rect">
            <a:avLst/>
          </a:prstGeom>
          <a:noFill/>
          <a:ln/>
        </p:spPr>
        <p:txBody>
          <a:bodyPr wrap="square" lIns="0" tIns="0" rIns="0" bIns="0" rtlCol="0" anchor="ctr"/>
          <a:lstStyle/>
          <a:p>
            <a:pPr indent="0" marL="0">
              <a:buNone/>
            </a:pPr>
            <a:r>
              <a:rPr lang="en-US" sz="1100" b="1" spc="200" kern="0" dirty="0">
                <a:solidFill>
                  <a:srgbClr val="2563EB"/>
                </a:solidFill>
                <a:latin typeface="Calibri" pitchFamily="34" charset="0"/>
                <a:ea typeface="Calibri" pitchFamily="34" charset="-122"/>
                <a:cs typeface="Calibri" pitchFamily="34" charset="-120"/>
              </a:rPr>
              <a:t>A REAL EXAMPLE</a:t>
            </a:r>
            <a:endParaRPr lang="en-US" sz="1100" dirty="0"/>
          </a:p>
        </p:txBody>
      </p:sp>
      <p:sp>
        <p:nvSpPr>
          <p:cNvPr id="3" name="Text 1"/>
          <p:cNvSpPr txBox="1"/>
          <p:nvPr/>
        </p:nvSpPr>
        <p:spPr>
          <a:xfrm>
            <a:off x="640080" y="457200"/>
            <a:ext cx="10908792" cy="822960"/>
          </a:xfrm>
          <a:prstGeom prst="rect">
            <a:avLst/>
          </a:prstGeom>
          <a:noFill/>
          <a:ln/>
        </p:spPr>
        <p:txBody>
          <a:bodyPr wrap="square" lIns="0" tIns="0" rIns="0" bIns="0" rtlCol="0" anchor="ctr"/>
          <a:lstStyle/>
          <a:p>
            <a:pPr algn="l" indent="0" marL="0">
              <a:buNone/>
            </a:pPr>
            <a:r>
              <a:rPr lang="en-US" sz="2800" b="1" dirty="0">
                <a:solidFill>
                  <a:srgbClr val="1B2A3D"/>
                </a:solidFill>
                <a:latin typeface="Cambria" pitchFamily="34" charset="0"/>
                <a:ea typeface="Cambria" pitchFamily="34" charset="-122"/>
                <a:cs typeface="Cambria" pitchFamily="34" charset="-120"/>
              </a:rPr>
              <a:t>Same question, same data — skill off, then on</a:t>
            </a:r>
            <a:endParaRPr lang="en-US" sz="2800" dirty="0"/>
          </a:p>
        </p:txBody>
      </p:sp>
      <p:sp>
        <p:nvSpPr>
          <p:cNvPr id="4" name="Text 2"/>
          <p:cNvSpPr txBox="1"/>
          <p:nvPr/>
        </p:nvSpPr>
        <p:spPr>
          <a:xfrm>
            <a:off x="640080" y="1371600"/>
            <a:ext cx="10908792" cy="365760"/>
          </a:xfrm>
          <a:prstGeom prst="rect">
            <a:avLst/>
          </a:prstGeom>
          <a:noFill/>
          <a:ln/>
        </p:spPr>
        <p:txBody>
          <a:bodyPr wrap="square" lIns="0" tIns="0" rIns="0" bIns="0" rtlCol="0" anchor="ctr"/>
          <a:lstStyle/>
          <a:p>
            <a:pPr indent="0" marL="0">
              <a:buNone/>
            </a:pPr>
            <a:r>
              <a:rPr lang="en-US" sz="1600" i="1" dirty="0">
                <a:solidFill>
                  <a:srgbClr val="546678"/>
                </a:solidFill>
                <a:latin typeface="Cambria" pitchFamily="34" charset="0"/>
                <a:ea typeface="Cambria" pitchFamily="34" charset="-122"/>
                <a:cs typeface="Cambria" pitchFamily="34" charset="-120"/>
              </a:rPr>
              <a:t>"How many employees do we have? Just give me the number, I'm in a hurry."</a:t>
            </a:r>
            <a:endParaRPr lang="en-US" sz="1600" dirty="0"/>
          </a:p>
        </p:txBody>
      </p:sp>
      <p:sp>
        <p:nvSpPr>
          <p:cNvPr id="5" name="Shape 3"/>
          <p:cNvSpPr/>
          <p:nvPr/>
        </p:nvSpPr>
        <p:spPr>
          <a:xfrm>
            <a:off x="640080" y="1965960"/>
            <a:ext cx="5074920" cy="2468880"/>
          </a:xfrm>
          <a:prstGeom prst="roundRect">
            <a:avLst>
              <a:gd name="adj" fmla="val 2963"/>
            </a:avLst>
          </a:prstGeom>
          <a:solidFill>
            <a:srgbClr val="FDF2EF"/>
          </a:solidFill>
          <a:ln w="12700">
            <a:solidFill>
              <a:srgbClr val="FDF2EF"/>
            </a:solidFill>
            <a:prstDash val="solid"/>
          </a:ln>
        </p:spPr>
      </p:sp>
      <p:sp>
        <p:nvSpPr>
          <p:cNvPr id="6" name="Text 4"/>
          <p:cNvSpPr txBox="1"/>
          <p:nvPr/>
        </p:nvSpPr>
        <p:spPr>
          <a:xfrm>
            <a:off x="960120" y="2148840"/>
            <a:ext cx="4434840" cy="320040"/>
          </a:xfrm>
          <a:prstGeom prst="rect">
            <a:avLst/>
          </a:prstGeom>
          <a:noFill/>
          <a:ln/>
        </p:spPr>
        <p:txBody>
          <a:bodyPr wrap="square" lIns="0" tIns="0" rIns="0" bIns="0" rtlCol="0" anchor="ctr"/>
          <a:lstStyle/>
          <a:p>
            <a:pPr indent="0" marL="0">
              <a:buNone/>
            </a:pPr>
            <a:r>
              <a:rPr lang="en-US" sz="1700" b="1" dirty="0">
                <a:solidFill>
                  <a:srgbClr val="E8663C"/>
                </a:solidFill>
                <a:latin typeface="Cambria" pitchFamily="34" charset="0"/>
                <a:ea typeface="Cambria" pitchFamily="34" charset="-122"/>
                <a:cs typeface="Cambria" pitchFamily="34" charset="-120"/>
              </a:rPr>
              <a:t>Without the skill</a:t>
            </a:r>
            <a:endParaRPr lang="en-US" sz="1700" dirty="0"/>
          </a:p>
        </p:txBody>
      </p:sp>
      <p:sp>
        <p:nvSpPr>
          <p:cNvPr id="7" name="Text 5"/>
          <p:cNvSpPr txBox="1"/>
          <p:nvPr/>
        </p:nvSpPr>
        <p:spPr>
          <a:xfrm>
            <a:off x="960120" y="2560320"/>
            <a:ext cx="4434840" cy="365760"/>
          </a:xfrm>
          <a:prstGeom prst="rect">
            <a:avLst/>
          </a:prstGeom>
          <a:noFill/>
          <a:ln/>
        </p:spPr>
        <p:txBody>
          <a:bodyPr wrap="square" lIns="0" tIns="0" rIns="0" bIns="0" rtlCol="0" anchor="ctr"/>
          <a:lstStyle/>
          <a:p>
            <a:pPr indent="0" marL="0">
              <a:buNone/>
            </a:pPr>
            <a:r>
              <a:rPr lang="en-US" sz="1500" b="1" dirty="0">
                <a:solidFill>
                  <a:srgbClr val="E8663C"/>
                </a:solidFill>
                <a:latin typeface="Consolas" pitchFamily="34" charset="0"/>
                <a:ea typeface="Consolas" pitchFamily="34" charset="-122"/>
                <a:cs typeface="Consolas" pitchFamily="34" charset="-120"/>
              </a:rPr>
              <a:t>"4,368 active employees."</a:t>
            </a:r>
            <a:endParaRPr lang="en-US" sz="1500" dirty="0"/>
          </a:p>
        </p:txBody>
      </p:sp>
      <p:sp>
        <p:nvSpPr>
          <p:cNvPr id="8" name="Text 6"/>
          <p:cNvSpPr txBox="1"/>
          <p:nvPr/>
        </p:nvSpPr>
        <p:spPr>
          <a:xfrm>
            <a:off x="960120" y="3108960"/>
            <a:ext cx="4434840" cy="914400"/>
          </a:xfrm>
          <a:prstGeom prst="rect">
            <a:avLst/>
          </a:prstGeom>
          <a:noFill/>
          <a:ln/>
        </p:spPr>
        <p:txBody>
          <a:bodyPr wrap="square" lIns="0" tIns="0" rIns="0" bIns="0" rtlCol="0" anchor="ctr"/>
          <a:lstStyle/>
          <a:p>
            <a:pPr indent="0" marL="0">
              <a:buNone/>
            </a:pPr>
            <a:r>
              <a:rPr lang="en-US" sz="1200" dirty="0">
                <a:solidFill>
                  <a:srgbClr val="8C4430"/>
                </a:solidFill>
                <a:latin typeface="Calibri" pitchFamily="34" charset="0"/>
                <a:ea typeface="Calibri" pitchFamily="34" charset="-122"/>
                <a:cs typeface="Calibri" pitchFamily="34" charset="-120"/>
              </a:rPr>
              <a:t>No source. No population stated. No confidence. Includes contractors and interns. Looks fine, gets forwarded.</a:t>
            </a:r>
            <a:endParaRPr lang="en-US" sz="1200" dirty="0"/>
          </a:p>
        </p:txBody>
      </p:sp>
      <p:sp>
        <p:nvSpPr>
          <p:cNvPr id="9" name="Shape 7"/>
          <p:cNvSpPr/>
          <p:nvPr/>
        </p:nvSpPr>
        <p:spPr>
          <a:xfrm>
            <a:off x="6172200" y="1965960"/>
            <a:ext cx="5074920" cy="2468880"/>
          </a:xfrm>
          <a:prstGeom prst="roundRect">
            <a:avLst>
              <a:gd name="adj" fmla="val 2963"/>
            </a:avLst>
          </a:prstGeom>
          <a:solidFill>
            <a:srgbClr val="EFF8F5"/>
          </a:solidFill>
          <a:ln w="12700">
            <a:solidFill>
              <a:srgbClr val="EFF8F5"/>
            </a:solidFill>
            <a:prstDash val="solid"/>
          </a:ln>
        </p:spPr>
      </p:sp>
      <p:sp>
        <p:nvSpPr>
          <p:cNvPr id="10" name="Text 8"/>
          <p:cNvSpPr txBox="1"/>
          <p:nvPr/>
        </p:nvSpPr>
        <p:spPr>
          <a:xfrm>
            <a:off x="6492240" y="2148840"/>
            <a:ext cx="4434840" cy="320040"/>
          </a:xfrm>
          <a:prstGeom prst="rect">
            <a:avLst/>
          </a:prstGeom>
          <a:noFill/>
          <a:ln/>
        </p:spPr>
        <p:txBody>
          <a:bodyPr wrap="square" lIns="0" tIns="0" rIns="0" bIns="0" rtlCol="0" anchor="ctr"/>
          <a:lstStyle/>
          <a:p>
            <a:pPr indent="0" marL="0">
              <a:buNone/>
            </a:pPr>
            <a:r>
              <a:rPr lang="en-US" sz="1700" b="1" dirty="0">
                <a:solidFill>
                  <a:srgbClr val="16864E"/>
                </a:solidFill>
                <a:latin typeface="Cambria" pitchFamily="34" charset="0"/>
                <a:ea typeface="Cambria" pitchFamily="34" charset="-122"/>
                <a:cs typeface="Cambria" pitchFamily="34" charset="-120"/>
              </a:rPr>
              <a:t>With the skill</a:t>
            </a:r>
            <a:endParaRPr lang="en-US" sz="1700" dirty="0"/>
          </a:p>
        </p:txBody>
      </p:sp>
      <p:sp>
        <p:nvSpPr>
          <p:cNvPr id="11" name="Text 9"/>
          <p:cNvSpPr txBox="1"/>
          <p:nvPr/>
        </p:nvSpPr>
        <p:spPr>
          <a:xfrm>
            <a:off x="6492240" y="2514600"/>
            <a:ext cx="4434840" cy="502920"/>
          </a:xfrm>
          <a:prstGeom prst="rect">
            <a:avLst/>
          </a:prstGeom>
          <a:noFill/>
          <a:ln/>
        </p:spPr>
        <p:txBody>
          <a:bodyPr wrap="square" lIns="0" tIns="0" rIns="0" bIns="0" rtlCol="0" anchor="ctr"/>
          <a:lstStyle/>
          <a:p>
            <a:pPr indent="0" marL="0">
              <a:buNone/>
            </a:pPr>
            <a:r>
              <a:rPr lang="en-US" sz="1300" b="1" dirty="0">
                <a:solidFill>
                  <a:srgbClr val="16864E"/>
                </a:solidFill>
                <a:latin typeface="Consolas" pitchFamily="34" charset="0"/>
                <a:ea typeface="Consolas" pitchFamily="34" charset="-122"/>
                <a:cs typeface="Consolas" pitchFamily="34" charset="-120"/>
              </a:rPr>
              <a:t>"4,368 active workers (of which 3,647</a:t>
            </a:r>
            <a:endParaRPr lang="en-US" sz="1300" dirty="0"/>
          </a:p>
          <a:p>
            <a:pPr indent="0" marL="0">
              <a:buNone/>
            </a:pPr>
            <a:r>
              <a:rPr lang="en-US" sz="1300" b="1" dirty="0">
                <a:solidFill>
                  <a:srgbClr val="16864E"/>
                </a:solidFill>
                <a:latin typeface="Consolas" pitchFamily="34" charset="0"/>
                <a:ea typeface="Consolas" pitchFamily="34" charset="-122"/>
                <a:cs typeface="Consolas" pitchFamily="34" charset="-120"/>
              </a:rPr>
              <a:t>are Regular employees)"</a:t>
            </a:r>
            <a:endParaRPr lang="en-US" sz="1300" dirty="0"/>
          </a:p>
        </p:txBody>
      </p:sp>
      <p:sp>
        <p:nvSpPr>
          <p:cNvPr id="12" name="Text 10"/>
          <p:cNvSpPr txBox="1"/>
          <p:nvPr/>
        </p:nvSpPr>
        <p:spPr>
          <a:xfrm>
            <a:off x="6492240" y="3154680"/>
            <a:ext cx="4434840" cy="914400"/>
          </a:xfrm>
          <a:prstGeom prst="rect">
            <a:avLst/>
          </a:prstGeom>
          <a:noFill/>
          <a:ln/>
        </p:spPr>
        <p:txBody>
          <a:bodyPr wrap="square" lIns="0" tIns="0" rIns="0" bIns="0" rtlCol="0" anchor="ctr"/>
          <a:lstStyle/>
          <a:p>
            <a:pPr indent="0" marL="0">
              <a:buNone/>
            </a:pPr>
            <a:r>
              <a:rPr lang="en-US" sz="1200" dirty="0">
                <a:solidFill>
                  <a:srgbClr val="1F5F4C"/>
                </a:solidFill>
                <a:latin typeface="Calibri" pitchFamily="34" charset="0"/>
                <a:ea typeface="Calibri" pitchFamily="34" charset="-122"/>
                <a:cs typeface="Calibri" pitchFamily="34" charset="-120"/>
              </a:rPr>
              <a:t>Source table named. Population stated. Open assumption disclosed: interpreted as all worker types, flags 3,647 as the alternative. Catchable in 10 seconds.</a:t>
            </a:r>
            <a:endParaRPr lang="en-US" sz="1200" dirty="0"/>
          </a:p>
        </p:txBody>
      </p:sp>
      <p:sp>
        <p:nvSpPr>
          <p:cNvPr id="13" name="Text 11"/>
          <p:cNvSpPr txBox="1"/>
          <p:nvPr/>
        </p:nvSpPr>
        <p:spPr>
          <a:xfrm>
            <a:off x="640080" y="4663440"/>
            <a:ext cx="10908792" cy="457200"/>
          </a:xfrm>
          <a:prstGeom prst="rect">
            <a:avLst/>
          </a:prstGeom>
          <a:noFill/>
          <a:ln/>
        </p:spPr>
        <p:txBody>
          <a:bodyPr wrap="square" lIns="0" tIns="0" rIns="0" bIns="0" rtlCol="0" anchor="ctr"/>
          <a:lstStyle/>
          <a:p>
            <a:pPr indent="0" marL="0">
              <a:buNone/>
            </a:pPr>
            <a:r>
              <a:rPr lang="en-US" sz="1600" b="1" i="1" dirty="0">
                <a:solidFill>
                  <a:srgbClr val="1B2A3D"/>
                </a:solidFill>
                <a:latin typeface="Cambria" pitchFamily="34" charset="0"/>
                <a:ea typeface="Cambria" pitchFamily="34" charset="-122"/>
                <a:cs typeface="Cambria" pitchFamily="34" charset="-120"/>
              </a:rPr>
              <a:t>The skill didn't magically get the right answer. It disclosed what it assumed — so a human can catch the error in seconds, not weeks.</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256032"/>
            <a:ext cx="10908792" cy="274320"/>
          </a:xfrm>
          <a:prstGeom prst="rect">
            <a:avLst/>
          </a:prstGeom>
          <a:noFill/>
          <a:ln/>
        </p:spPr>
        <p:txBody>
          <a:bodyPr wrap="square" lIns="0" tIns="0" rIns="0" bIns="0" rtlCol="0" anchor="ctr"/>
          <a:lstStyle/>
          <a:p>
            <a:pPr indent="0" marL="0">
              <a:buNone/>
            </a:pPr>
            <a:r>
              <a:rPr lang="en-US" sz="1100" b="1" spc="200" kern="0" dirty="0">
                <a:solidFill>
                  <a:srgbClr val="2563EB"/>
                </a:solidFill>
                <a:latin typeface="Calibri" pitchFamily="34" charset="0"/>
                <a:ea typeface="Calibri" pitchFamily="34" charset="-122"/>
                <a:cs typeface="Calibri" pitchFamily="34" charset="-120"/>
              </a:rPr>
              <a:t>WHAT WE'VE BUILT SO FAR</a:t>
            </a:r>
            <a:endParaRPr lang="en-US" sz="1100" dirty="0"/>
          </a:p>
        </p:txBody>
      </p:sp>
      <p:sp>
        <p:nvSpPr>
          <p:cNvPr id="3" name="Text 1"/>
          <p:cNvSpPr txBox="1"/>
          <p:nvPr/>
        </p:nvSpPr>
        <p:spPr>
          <a:xfrm>
            <a:off x="640080" y="457200"/>
            <a:ext cx="10908792" cy="822960"/>
          </a:xfrm>
          <a:prstGeom prst="rect">
            <a:avLst/>
          </a:prstGeom>
          <a:noFill/>
          <a:ln/>
        </p:spPr>
        <p:txBody>
          <a:bodyPr wrap="square" lIns="0" tIns="0" rIns="0" bIns="0" rtlCol="0" anchor="ctr"/>
          <a:lstStyle/>
          <a:p>
            <a:pPr algn="l" indent="0" marL="0">
              <a:buNone/>
            </a:pPr>
            <a:r>
              <a:rPr lang="en-US" sz="2800" b="1" dirty="0">
                <a:solidFill>
                  <a:srgbClr val="1B2A3D"/>
                </a:solidFill>
                <a:latin typeface="Cambria" pitchFamily="34" charset="0"/>
                <a:ea typeface="Cambria" pitchFamily="34" charset="-122"/>
                <a:cs typeface="Cambria" pitchFamily="34" charset="-120"/>
              </a:rPr>
              <a:t>Six domains with specific HR guardrails</a:t>
            </a:r>
            <a:endParaRPr lang="en-US" sz="2800" dirty="0"/>
          </a:p>
        </p:txBody>
      </p:sp>
      <p:sp>
        <p:nvSpPr>
          <p:cNvPr id="4" name="Shape 2"/>
          <p:cNvSpPr/>
          <p:nvPr/>
        </p:nvSpPr>
        <p:spPr>
          <a:xfrm>
            <a:off x="640080" y="1508760"/>
            <a:ext cx="10908792" cy="1325880"/>
          </a:xfrm>
          <a:prstGeom prst="roundRect">
            <a:avLst>
              <a:gd name="adj" fmla="val 5517"/>
            </a:avLst>
          </a:prstGeom>
          <a:solidFill>
            <a:srgbClr val="F3F5F7"/>
          </a:solidFill>
          <a:ln w="12700">
            <a:solidFill>
              <a:srgbClr val="F3F5F7"/>
            </a:solidFill>
            <a:prstDash val="solid"/>
          </a:ln>
        </p:spPr>
      </p:sp>
      <p:sp>
        <p:nvSpPr>
          <p:cNvPr id="5" name="Text 3"/>
          <p:cNvSpPr txBox="1"/>
          <p:nvPr/>
        </p:nvSpPr>
        <p:spPr>
          <a:xfrm>
            <a:off x="1005840" y="1645920"/>
            <a:ext cx="4572000" cy="320040"/>
          </a:xfrm>
          <a:prstGeom prst="rect">
            <a:avLst/>
          </a:prstGeom>
          <a:noFill/>
          <a:ln/>
        </p:spPr>
        <p:txBody>
          <a:bodyPr wrap="square" lIns="0" tIns="0" rIns="0" bIns="0" rtlCol="0" anchor="ctr"/>
          <a:lstStyle/>
          <a:p>
            <a:pPr indent="0" marL="0">
              <a:buNone/>
            </a:pPr>
            <a:r>
              <a:rPr lang="en-US" sz="1700" b="1" dirty="0">
                <a:solidFill>
                  <a:srgbClr val="1B2A3D"/>
                </a:solidFill>
                <a:latin typeface="Cambria" pitchFamily="34" charset="0"/>
                <a:ea typeface="Cambria" pitchFamily="34" charset="-122"/>
                <a:cs typeface="Cambria" pitchFamily="34" charset="-120"/>
              </a:rPr>
              <a:t>Causal claim guardrails</a:t>
            </a:r>
            <a:endParaRPr lang="en-US" sz="1700" dirty="0"/>
          </a:p>
        </p:txBody>
      </p:sp>
      <p:sp>
        <p:nvSpPr>
          <p:cNvPr id="6" name="Text 4"/>
          <p:cNvSpPr txBox="1"/>
          <p:nvPr/>
        </p:nvSpPr>
        <p:spPr>
          <a:xfrm>
            <a:off x="1005840" y="2011680"/>
            <a:ext cx="7772400" cy="502920"/>
          </a:xfrm>
          <a:prstGeom prst="rect">
            <a:avLst/>
          </a:prstGeom>
          <a:noFill/>
          <a:ln/>
        </p:spPr>
        <p:txBody>
          <a:bodyPr wrap="square" lIns="0" tIns="0" rIns="0" bIns="0" rtlCol="0" anchor="ctr"/>
          <a:lstStyle/>
          <a:p>
            <a:pPr indent="0" marL="0">
              <a:buNone/>
            </a:pPr>
            <a:r>
              <a:rPr lang="en-US" sz="1200" dirty="0">
                <a:solidFill>
                  <a:srgbClr val="546678"/>
                </a:solidFill>
                <a:latin typeface="Calibri" pitchFamily="34" charset="0"/>
                <a:ea typeface="Calibri" pitchFamily="34" charset="-122"/>
                <a:cs typeface="Calibri" pitchFamily="34" charset="-120"/>
              </a:rPr>
              <a:t>Prevents 'the program reduced attrition' claims from observational data. Requires randomization or quasi-experimental design before licensing causal language.</a:t>
            </a:r>
            <a:endParaRPr lang="en-US" sz="1200" dirty="0"/>
          </a:p>
        </p:txBody>
      </p:sp>
      <p:sp>
        <p:nvSpPr>
          <p:cNvPr id="7" name="Text 5"/>
          <p:cNvSpPr txBox="1"/>
          <p:nvPr/>
        </p:nvSpPr>
        <p:spPr>
          <a:xfrm>
            <a:off x="1005840" y="2514600"/>
            <a:ext cx="7772400" cy="228600"/>
          </a:xfrm>
          <a:prstGeom prst="rect">
            <a:avLst/>
          </a:prstGeom>
          <a:noFill/>
          <a:ln/>
        </p:spPr>
        <p:txBody>
          <a:bodyPr wrap="square" lIns="0" tIns="0" rIns="0" bIns="0" rtlCol="0" anchor="ctr"/>
          <a:lstStyle/>
          <a:p>
            <a:pPr indent="0" marL="0">
              <a:buNone/>
            </a:pPr>
            <a:r>
              <a:rPr lang="en-US" sz="900" dirty="0">
                <a:solidFill>
                  <a:srgbClr val="94A3B8"/>
                </a:solidFill>
                <a:latin typeface="Consolas" pitchFamily="34" charset="0"/>
                <a:ea typeface="Consolas" pitchFamily="34" charset="-122"/>
                <a:cs typeface="Consolas" pitchFamily="34" charset="-120"/>
              </a:rPr>
              <a:t>Selection bias · Immortal time bias · Reverse causality</a:t>
            </a:r>
            <a:endParaRPr lang="en-US" sz="900" dirty="0"/>
          </a:p>
        </p:txBody>
      </p:sp>
      <p:sp>
        <p:nvSpPr>
          <p:cNvPr id="8" name="Shape 6"/>
          <p:cNvSpPr/>
          <p:nvPr/>
        </p:nvSpPr>
        <p:spPr>
          <a:xfrm>
            <a:off x="640080" y="2926080"/>
            <a:ext cx="10908792" cy="1325880"/>
          </a:xfrm>
          <a:prstGeom prst="roundRect">
            <a:avLst>
              <a:gd name="adj" fmla="val 5517"/>
            </a:avLst>
          </a:prstGeom>
          <a:solidFill>
            <a:srgbClr val="F3F5F7"/>
          </a:solidFill>
          <a:ln w="12700">
            <a:solidFill>
              <a:srgbClr val="F3F5F7"/>
            </a:solidFill>
            <a:prstDash val="solid"/>
          </a:ln>
        </p:spPr>
      </p:sp>
      <p:sp>
        <p:nvSpPr>
          <p:cNvPr id="9" name="Text 7"/>
          <p:cNvSpPr txBox="1"/>
          <p:nvPr/>
        </p:nvSpPr>
        <p:spPr>
          <a:xfrm>
            <a:off x="1005840" y="3063240"/>
            <a:ext cx="4572000" cy="320040"/>
          </a:xfrm>
          <a:prstGeom prst="rect">
            <a:avLst/>
          </a:prstGeom>
          <a:noFill/>
          <a:ln/>
        </p:spPr>
        <p:txBody>
          <a:bodyPr wrap="square" lIns="0" tIns="0" rIns="0" bIns="0" rtlCol="0" anchor="ctr"/>
          <a:lstStyle/>
          <a:p>
            <a:pPr indent="0" marL="0">
              <a:buNone/>
            </a:pPr>
            <a:r>
              <a:rPr lang="en-US" sz="1700" b="1" dirty="0">
                <a:solidFill>
                  <a:srgbClr val="1B2A3D"/>
                </a:solidFill>
                <a:latin typeface="Cambria" pitchFamily="34" charset="0"/>
                <a:ea typeface="Cambria" pitchFamily="34" charset="-122"/>
                <a:cs typeface="Cambria" pitchFamily="34" charset="-120"/>
              </a:rPr>
              <a:t>Uncertainty reporting</a:t>
            </a:r>
            <a:endParaRPr lang="en-US" sz="1700" dirty="0"/>
          </a:p>
        </p:txBody>
      </p:sp>
      <p:sp>
        <p:nvSpPr>
          <p:cNvPr id="10" name="Text 8"/>
          <p:cNvSpPr txBox="1"/>
          <p:nvPr/>
        </p:nvSpPr>
        <p:spPr>
          <a:xfrm>
            <a:off x="1005840" y="3429000"/>
            <a:ext cx="7772400" cy="502920"/>
          </a:xfrm>
          <a:prstGeom prst="rect">
            <a:avLst/>
          </a:prstGeom>
          <a:noFill/>
          <a:ln/>
        </p:spPr>
        <p:txBody>
          <a:bodyPr wrap="square" lIns="0" tIns="0" rIns="0" bIns="0" rtlCol="0" anchor="ctr"/>
          <a:lstStyle/>
          <a:p>
            <a:pPr indent="0" marL="0">
              <a:buNone/>
            </a:pPr>
            <a:r>
              <a:rPr lang="en-US" sz="1200" dirty="0">
                <a:solidFill>
                  <a:srgbClr val="546678"/>
                </a:solidFill>
                <a:latin typeface="Calibri" pitchFamily="34" charset="0"/>
                <a:ea typeface="Calibri" pitchFamily="34" charset="-122"/>
                <a:cs typeface="Calibri" pitchFamily="34" charset="-120"/>
              </a:rPr>
              <a:t>Wilson intervals at small n, small-cell suppression, multiplicity correction. The statistical guard most analytics dashboards lack.</a:t>
            </a:r>
            <a:endParaRPr lang="en-US" sz="1200" dirty="0"/>
          </a:p>
        </p:txBody>
      </p:sp>
      <p:sp>
        <p:nvSpPr>
          <p:cNvPr id="11" name="Text 9"/>
          <p:cNvSpPr txBox="1"/>
          <p:nvPr/>
        </p:nvSpPr>
        <p:spPr>
          <a:xfrm>
            <a:off x="1005840" y="3931920"/>
            <a:ext cx="7772400" cy="228600"/>
          </a:xfrm>
          <a:prstGeom prst="rect">
            <a:avLst/>
          </a:prstGeom>
          <a:noFill/>
          <a:ln/>
        </p:spPr>
        <p:txBody>
          <a:bodyPr wrap="square" lIns="0" tIns="0" rIns="0" bIns="0" rtlCol="0" anchor="ctr"/>
          <a:lstStyle/>
          <a:p>
            <a:pPr indent="0" marL="0">
              <a:buNone/>
            </a:pPr>
            <a:r>
              <a:rPr lang="en-US" sz="900" dirty="0">
                <a:solidFill>
                  <a:srgbClr val="94A3B8"/>
                </a:solidFill>
                <a:latin typeface="Consolas" pitchFamily="34" charset="0"/>
                <a:ea typeface="Consolas" pitchFamily="34" charset="-122"/>
                <a:cs typeface="Consolas" pitchFamily="34" charset="-120"/>
              </a:rPr>
              <a:t>Wald vs Wilson · Complementary disclosure · 40 managers = 40 comparisons</a:t>
            </a:r>
            <a:endParaRPr lang="en-US" sz="900" dirty="0"/>
          </a:p>
        </p:txBody>
      </p:sp>
      <p:sp>
        <p:nvSpPr>
          <p:cNvPr id="12" name="Shape 10"/>
          <p:cNvSpPr/>
          <p:nvPr/>
        </p:nvSpPr>
        <p:spPr>
          <a:xfrm>
            <a:off x="640080" y="4343400"/>
            <a:ext cx="10908792" cy="1325880"/>
          </a:xfrm>
          <a:prstGeom prst="roundRect">
            <a:avLst>
              <a:gd name="adj" fmla="val 5517"/>
            </a:avLst>
          </a:prstGeom>
          <a:solidFill>
            <a:srgbClr val="F3F5F7"/>
          </a:solidFill>
          <a:ln w="12700">
            <a:solidFill>
              <a:srgbClr val="F3F5F7"/>
            </a:solidFill>
            <a:prstDash val="solid"/>
          </a:ln>
        </p:spPr>
      </p:sp>
      <p:sp>
        <p:nvSpPr>
          <p:cNvPr id="13" name="Text 11"/>
          <p:cNvSpPr txBox="1"/>
          <p:nvPr/>
        </p:nvSpPr>
        <p:spPr>
          <a:xfrm>
            <a:off x="1005840" y="4480560"/>
            <a:ext cx="4572000" cy="320040"/>
          </a:xfrm>
          <a:prstGeom prst="rect">
            <a:avLst/>
          </a:prstGeom>
          <a:noFill/>
          <a:ln/>
        </p:spPr>
        <p:txBody>
          <a:bodyPr wrap="square" lIns="0" tIns="0" rIns="0" bIns="0" rtlCol="0" anchor="ctr"/>
          <a:lstStyle/>
          <a:p>
            <a:pPr indent="0" marL="0">
              <a:buNone/>
            </a:pPr>
            <a:r>
              <a:rPr lang="en-US" sz="1700" b="1" dirty="0">
                <a:solidFill>
                  <a:srgbClr val="1B2A3D"/>
                </a:solidFill>
                <a:latin typeface="Cambria" pitchFamily="34" charset="0"/>
                <a:ea typeface="Cambria" pitchFamily="34" charset="-122"/>
                <a:cs typeface="Cambria" pitchFamily="34" charset="-120"/>
              </a:rPr>
              <a:t>Provenance footer</a:t>
            </a:r>
            <a:endParaRPr lang="en-US" sz="1700" dirty="0"/>
          </a:p>
        </p:txBody>
      </p:sp>
      <p:sp>
        <p:nvSpPr>
          <p:cNvPr id="14" name="Text 12"/>
          <p:cNvSpPr txBox="1"/>
          <p:nvPr/>
        </p:nvSpPr>
        <p:spPr>
          <a:xfrm>
            <a:off x="1005840" y="4846320"/>
            <a:ext cx="7772400" cy="502920"/>
          </a:xfrm>
          <a:prstGeom prst="rect">
            <a:avLst/>
          </a:prstGeom>
          <a:noFill/>
          <a:ln/>
        </p:spPr>
        <p:txBody>
          <a:bodyPr wrap="square" lIns="0" tIns="0" rIns="0" bIns="0" rtlCol="0" anchor="ctr"/>
          <a:lstStyle/>
          <a:p>
            <a:pPr indent="0" marL="0">
              <a:buNone/>
            </a:pPr>
            <a:r>
              <a:rPr lang="en-US" sz="1200" dirty="0">
                <a:solidFill>
                  <a:srgbClr val="546678"/>
                </a:solidFill>
                <a:latin typeface="Calibri" pitchFamily="34" charset="0"/>
                <a:ea typeface="Calibri" pitchFamily="34" charset="-122"/>
                <a:cs typeface="Calibri" pitchFamily="34" charset="-120"/>
              </a:rPr>
              <a:t>Every delivered number carries its source, confidence, freshness, and open assumptions. The reader can judge trustworthiness without re-running the query.</a:t>
            </a:r>
            <a:endParaRPr lang="en-US" sz="1200" dirty="0"/>
          </a:p>
        </p:txBody>
      </p:sp>
      <p:sp>
        <p:nvSpPr>
          <p:cNvPr id="15" name="Text 13"/>
          <p:cNvSpPr txBox="1"/>
          <p:nvPr/>
        </p:nvSpPr>
        <p:spPr>
          <a:xfrm>
            <a:off x="1005840" y="5349240"/>
            <a:ext cx="7772400" cy="228600"/>
          </a:xfrm>
          <a:prstGeom prst="rect">
            <a:avLst/>
          </a:prstGeom>
          <a:noFill/>
          <a:ln/>
        </p:spPr>
        <p:txBody>
          <a:bodyPr wrap="square" lIns="0" tIns="0" rIns="0" bIns="0" rtlCol="0" anchor="ctr"/>
          <a:lstStyle/>
          <a:p>
            <a:pPr indent="0" marL="0">
              <a:buNone/>
            </a:pPr>
            <a:r>
              <a:rPr lang="en-US" sz="900" dirty="0">
                <a:solidFill>
                  <a:srgbClr val="94A3B8"/>
                </a:solidFill>
                <a:latin typeface="Consolas" pitchFamily="34" charset="0"/>
                <a:ea typeface="Consolas" pitchFamily="34" charset="-122"/>
                <a:cs typeface="Consolas" pitchFamily="34" charset="-120"/>
              </a:rPr>
              <a:t>Source tier · Population stated · Assumptions disclosed</a:t>
            </a:r>
            <a:endParaRPr lang="en-US" sz="900" dirty="0"/>
          </a:p>
        </p:txBody>
      </p:sp>
      <p:sp>
        <p:nvSpPr>
          <p:cNvPr id="16" name="Text 14"/>
          <p:cNvSpPr txBox="1"/>
          <p:nvPr/>
        </p:nvSpPr>
        <p:spPr>
          <a:xfrm>
            <a:off x="640080" y="5852160"/>
            <a:ext cx="10908792" cy="320040"/>
          </a:xfrm>
          <a:prstGeom prst="rect">
            <a:avLst/>
          </a:prstGeom>
          <a:noFill/>
          <a:ln/>
        </p:spPr>
        <p:txBody>
          <a:bodyPr wrap="square" lIns="0" tIns="0" rIns="0" bIns="0" rtlCol="0" anchor="ctr"/>
          <a:lstStyle/>
          <a:p>
            <a:pPr indent="0" marL="0">
              <a:buNone/>
            </a:pPr>
            <a:r>
              <a:rPr lang="en-US" sz="1200" dirty="0">
                <a:solidFill>
                  <a:srgbClr val="94A3B8"/>
                </a:solidFill>
                <a:latin typeface="Calibri" pitchFamily="34" charset="0"/>
                <a:ea typeface="Calibri" pitchFamily="34" charset="-122"/>
                <a:cs typeface="Calibri" pitchFamily="34" charset="-120"/>
              </a:rPr>
              <a:t>+ question intake, warehouse navigation, adversarial SQL review, correction harvesting, skill freshness checking</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256032"/>
            <a:ext cx="10908792" cy="274320"/>
          </a:xfrm>
          <a:prstGeom prst="rect">
            <a:avLst/>
          </a:prstGeom>
          <a:noFill/>
          <a:ln/>
        </p:spPr>
        <p:txBody>
          <a:bodyPr wrap="square" lIns="0" tIns="0" rIns="0" bIns="0" rtlCol="0" anchor="ctr"/>
          <a:lstStyle/>
          <a:p>
            <a:pPr indent="0" marL="0">
              <a:buNone/>
            </a:pPr>
            <a:r>
              <a:rPr lang="en-US" sz="1100" b="1" spc="200" kern="0" dirty="0">
                <a:solidFill>
                  <a:srgbClr val="2563EB"/>
                </a:solidFill>
                <a:latin typeface="Calibri" pitchFamily="34" charset="0"/>
                <a:ea typeface="Calibri" pitchFamily="34" charset="-122"/>
                <a:cs typeface="Calibri" pitchFamily="34" charset="-120"/>
              </a:rPr>
              <a:t>WHAT ADOPTION LOOKS LIKE</a:t>
            </a:r>
            <a:endParaRPr lang="en-US" sz="1100" dirty="0"/>
          </a:p>
        </p:txBody>
      </p:sp>
      <p:sp>
        <p:nvSpPr>
          <p:cNvPr id="3" name="Text 1"/>
          <p:cNvSpPr txBox="1"/>
          <p:nvPr/>
        </p:nvSpPr>
        <p:spPr>
          <a:xfrm>
            <a:off x="640080" y="457200"/>
            <a:ext cx="10908792" cy="822960"/>
          </a:xfrm>
          <a:prstGeom prst="rect">
            <a:avLst/>
          </a:prstGeom>
          <a:noFill/>
          <a:ln/>
        </p:spPr>
        <p:txBody>
          <a:bodyPr wrap="square" lIns="0" tIns="0" rIns="0" bIns="0" rtlCol="0" anchor="ctr"/>
          <a:lstStyle/>
          <a:p>
            <a:pPr algn="l" indent="0" marL="0">
              <a:buNone/>
            </a:pPr>
            <a:r>
              <a:rPr lang="en-US" sz="2800" b="1" dirty="0">
                <a:solidFill>
                  <a:srgbClr val="1B2A3D"/>
                </a:solidFill>
                <a:latin typeface="Cambria" pitchFamily="34" charset="0"/>
                <a:ea typeface="Cambria" pitchFamily="34" charset="-122"/>
                <a:cs typeface="Cambria" pitchFamily="34" charset="-120"/>
              </a:rPr>
              <a:t>Start small, measure, then expand</a:t>
            </a:r>
            <a:endParaRPr lang="en-US" sz="2800" dirty="0"/>
          </a:p>
        </p:txBody>
      </p:sp>
      <p:sp>
        <p:nvSpPr>
          <p:cNvPr id="4" name="Shape 2"/>
          <p:cNvSpPr/>
          <p:nvPr/>
        </p:nvSpPr>
        <p:spPr>
          <a:xfrm>
            <a:off x="640080" y="1508760"/>
            <a:ext cx="640080" cy="822960"/>
          </a:xfrm>
          <a:prstGeom prst="roundRect">
            <a:avLst>
              <a:gd name="adj" fmla="val 11429"/>
            </a:avLst>
          </a:prstGeom>
          <a:solidFill>
            <a:srgbClr val="2563EB"/>
          </a:solidFill>
          <a:ln w="12700">
            <a:solidFill>
              <a:srgbClr val="2563EB"/>
            </a:solidFill>
            <a:prstDash val="solid"/>
          </a:ln>
        </p:spPr>
      </p:sp>
      <p:sp>
        <p:nvSpPr>
          <p:cNvPr id="5" name="Text 3"/>
          <p:cNvSpPr txBox="1"/>
          <p:nvPr/>
        </p:nvSpPr>
        <p:spPr>
          <a:xfrm>
            <a:off x="731520" y="1709928"/>
            <a:ext cx="457200" cy="41148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6" name="Text 4"/>
          <p:cNvSpPr txBox="1"/>
          <p:nvPr/>
        </p:nvSpPr>
        <p:spPr>
          <a:xfrm>
            <a:off x="1508760" y="1581912"/>
            <a:ext cx="6217920" cy="320040"/>
          </a:xfrm>
          <a:prstGeom prst="rect">
            <a:avLst/>
          </a:prstGeom>
          <a:noFill/>
          <a:ln/>
        </p:spPr>
        <p:txBody>
          <a:bodyPr wrap="square" lIns="0" tIns="0" rIns="0" bIns="0" rtlCol="0" anchor="ctr"/>
          <a:lstStyle/>
          <a:p>
            <a:pPr indent="0" marL="0">
              <a:buNone/>
            </a:pPr>
            <a:r>
              <a:rPr lang="en-US" sz="1600" b="1" dirty="0">
                <a:solidFill>
                  <a:srgbClr val="1B2A3D"/>
                </a:solidFill>
                <a:latin typeface="Cambria" pitchFamily="34" charset="0"/>
                <a:ea typeface="Cambria" pitchFamily="34" charset="-122"/>
                <a:cs typeface="Cambria" pitchFamily="34" charset="-120"/>
              </a:rPr>
              <a:t>Pick one recurring question</a:t>
            </a:r>
            <a:endParaRPr lang="en-US" sz="1600" dirty="0"/>
          </a:p>
        </p:txBody>
      </p:sp>
      <p:sp>
        <p:nvSpPr>
          <p:cNvPr id="7" name="Text 5"/>
          <p:cNvSpPr txBox="1"/>
          <p:nvPr/>
        </p:nvSpPr>
        <p:spPr>
          <a:xfrm>
            <a:off x="1508760" y="1920240"/>
            <a:ext cx="6217920" cy="411480"/>
          </a:xfrm>
          <a:prstGeom prst="rect">
            <a:avLst/>
          </a:prstGeom>
          <a:noFill/>
          <a:ln/>
        </p:spPr>
        <p:txBody>
          <a:bodyPr wrap="square" lIns="0" tIns="0" rIns="0" bIns="0" rtlCol="0" anchor="ctr"/>
          <a:lstStyle/>
          <a:p>
            <a:pPr indent="0" marL="0">
              <a:buNone/>
            </a:pPr>
            <a:r>
              <a:rPr lang="en-US" sz="1200" dirty="0">
                <a:solidFill>
                  <a:srgbClr val="546678"/>
                </a:solidFill>
                <a:latin typeface="Calibri" pitchFamily="34" charset="0"/>
                <a:ea typeface="Calibri" pitchFamily="34" charset="-122"/>
                <a:cs typeface="Calibri" pitchFamily="34" charset="-120"/>
              </a:rPr>
              <a:t>Something the team answers monthly — attrition, headcount, comp benchmarks. Write the reference doc for it.</a:t>
            </a:r>
            <a:endParaRPr lang="en-US" sz="1200" dirty="0"/>
          </a:p>
        </p:txBody>
      </p:sp>
      <p:sp>
        <p:nvSpPr>
          <p:cNvPr id="8" name="Text 6"/>
          <p:cNvSpPr txBox="1"/>
          <p:nvPr/>
        </p:nvSpPr>
        <p:spPr>
          <a:xfrm>
            <a:off x="8138160" y="1645920"/>
            <a:ext cx="1463040" cy="274320"/>
          </a:xfrm>
          <a:prstGeom prst="rect">
            <a:avLst/>
          </a:prstGeom>
          <a:noFill/>
          <a:ln/>
        </p:spPr>
        <p:txBody>
          <a:bodyPr wrap="square" lIns="0" tIns="0" rIns="0" bIns="0" rtlCol="0" anchor="ctr"/>
          <a:lstStyle/>
          <a:p>
            <a:pPr indent="0" marL="0">
              <a:buNone/>
            </a:pPr>
            <a:r>
              <a:rPr lang="en-US" sz="1200" b="1" dirty="0">
                <a:solidFill>
                  <a:srgbClr val="2563EB"/>
                </a:solidFill>
                <a:latin typeface="Calibri" pitchFamily="34" charset="0"/>
                <a:ea typeface="Calibri" pitchFamily="34" charset="-122"/>
                <a:cs typeface="Calibri" pitchFamily="34" charset="-120"/>
              </a:rPr>
              <a:t>1–2 weeks</a:t>
            </a:r>
            <a:endParaRPr lang="en-US" sz="1200" dirty="0"/>
          </a:p>
        </p:txBody>
      </p:sp>
      <p:sp>
        <p:nvSpPr>
          <p:cNvPr id="9" name="Text 7"/>
          <p:cNvSpPr txBox="1"/>
          <p:nvPr/>
        </p:nvSpPr>
        <p:spPr>
          <a:xfrm>
            <a:off x="8138160" y="1965960"/>
            <a:ext cx="1463040" cy="27432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One analyst</a:t>
            </a:r>
            <a:endParaRPr lang="en-US" sz="1100" dirty="0"/>
          </a:p>
        </p:txBody>
      </p:sp>
      <p:sp>
        <p:nvSpPr>
          <p:cNvPr id="10" name="Shape 8"/>
          <p:cNvSpPr/>
          <p:nvPr/>
        </p:nvSpPr>
        <p:spPr>
          <a:xfrm>
            <a:off x="640080" y="2514600"/>
            <a:ext cx="640080" cy="822960"/>
          </a:xfrm>
          <a:prstGeom prst="roundRect">
            <a:avLst>
              <a:gd name="adj" fmla="val 11429"/>
            </a:avLst>
          </a:prstGeom>
          <a:solidFill>
            <a:srgbClr val="2563EB"/>
          </a:solidFill>
          <a:ln w="12700">
            <a:solidFill>
              <a:srgbClr val="2563EB"/>
            </a:solidFill>
            <a:prstDash val="solid"/>
          </a:ln>
        </p:spPr>
      </p:sp>
      <p:sp>
        <p:nvSpPr>
          <p:cNvPr id="11" name="Text 9"/>
          <p:cNvSpPr txBox="1"/>
          <p:nvPr/>
        </p:nvSpPr>
        <p:spPr>
          <a:xfrm>
            <a:off x="731520" y="2715768"/>
            <a:ext cx="457200" cy="41148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2" name="Text 10"/>
          <p:cNvSpPr txBox="1"/>
          <p:nvPr/>
        </p:nvSpPr>
        <p:spPr>
          <a:xfrm>
            <a:off x="1508760" y="2587752"/>
            <a:ext cx="6217920" cy="320040"/>
          </a:xfrm>
          <a:prstGeom prst="rect">
            <a:avLst/>
          </a:prstGeom>
          <a:noFill/>
          <a:ln/>
        </p:spPr>
        <p:txBody>
          <a:bodyPr wrap="square" lIns="0" tIns="0" rIns="0" bIns="0" rtlCol="0" anchor="ctr"/>
          <a:lstStyle/>
          <a:p>
            <a:pPr indent="0" marL="0">
              <a:buNone/>
            </a:pPr>
            <a:r>
              <a:rPr lang="en-US" sz="1600" b="1" dirty="0">
                <a:solidFill>
                  <a:srgbClr val="1B2A3D"/>
                </a:solidFill>
                <a:latin typeface="Cambria" pitchFamily="34" charset="0"/>
                <a:ea typeface="Cambria" pitchFamily="34" charset="-122"/>
                <a:cs typeface="Cambria" pitchFamily="34" charset="-120"/>
              </a:rPr>
              <a:t>Build the eval and measure</a:t>
            </a:r>
            <a:endParaRPr lang="en-US" sz="1600" dirty="0"/>
          </a:p>
        </p:txBody>
      </p:sp>
      <p:sp>
        <p:nvSpPr>
          <p:cNvPr id="13" name="Text 11"/>
          <p:cNvSpPr txBox="1"/>
          <p:nvPr/>
        </p:nvSpPr>
        <p:spPr>
          <a:xfrm>
            <a:off x="1508760" y="2926080"/>
            <a:ext cx="6217920" cy="411480"/>
          </a:xfrm>
          <a:prstGeom prst="rect">
            <a:avLst/>
          </a:prstGeom>
          <a:noFill/>
          <a:ln/>
        </p:spPr>
        <p:txBody>
          <a:bodyPr wrap="square" lIns="0" tIns="0" rIns="0" bIns="0" rtlCol="0" anchor="ctr"/>
          <a:lstStyle/>
          <a:p>
            <a:pPr indent="0" marL="0">
              <a:buNone/>
            </a:pPr>
            <a:r>
              <a:rPr lang="en-US" sz="1200" dirty="0">
                <a:solidFill>
                  <a:srgbClr val="546678"/>
                </a:solidFill>
                <a:latin typeface="Calibri" pitchFamily="34" charset="0"/>
                <a:ea typeface="Calibri" pitchFamily="34" charset="-122"/>
                <a:cs typeface="Calibri" pitchFamily="34" charset="-120"/>
              </a:rPr>
              <a:t>Run baseline vs. skill, document the delta. This is the evidence for expanding.</a:t>
            </a:r>
            <a:endParaRPr lang="en-US" sz="1200" dirty="0"/>
          </a:p>
        </p:txBody>
      </p:sp>
      <p:sp>
        <p:nvSpPr>
          <p:cNvPr id="14" name="Text 12"/>
          <p:cNvSpPr txBox="1"/>
          <p:nvPr/>
        </p:nvSpPr>
        <p:spPr>
          <a:xfrm>
            <a:off x="8138160" y="2651760"/>
            <a:ext cx="1463040" cy="274320"/>
          </a:xfrm>
          <a:prstGeom prst="rect">
            <a:avLst/>
          </a:prstGeom>
          <a:noFill/>
          <a:ln/>
        </p:spPr>
        <p:txBody>
          <a:bodyPr wrap="square" lIns="0" tIns="0" rIns="0" bIns="0" rtlCol="0" anchor="ctr"/>
          <a:lstStyle/>
          <a:p>
            <a:pPr indent="0" marL="0">
              <a:buNone/>
            </a:pPr>
            <a:r>
              <a:rPr lang="en-US" sz="1200" b="1" dirty="0">
                <a:solidFill>
                  <a:srgbClr val="2563EB"/>
                </a:solidFill>
                <a:latin typeface="Calibri" pitchFamily="34" charset="0"/>
                <a:ea typeface="Calibri" pitchFamily="34" charset="-122"/>
                <a:cs typeface="Calibri" pitchFamily="34" charset="-120"/>
              </a:rPr>
              <a:t>1 week</a:t>
            </a:r>
            <a:endParaRPr lang="en-US" sz="1200" dirty="0"/>
          </a:p>
        </p:txBody>
      </p:sp>
      <p:sp>
        <p:nvSpPr>
          <p:cNvPr id="15" name="Text 13"/>
          <p:cNvSpPr txBox="1"/>
          <p:nvPr/>
        </p:nvSpPr>
        <p:spPr>
          <a:xfrm>
            <a:off x="8138160" y="2971800"/>
            <a:ext cx="1463040" cy="27432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One analyst</a:t>
            </a:r>
            <a:endParaRPr lang="en-US" sz="1100" dirty="0"/>
          </a:p>
        </p:txBody>
      </p:sp>
      <p:sp>
        <p:nvSpPr>
          <p:cNvPr id="16" name="Shape 14"/>
          <p:cNvSpPr/>
          <p:nvPr/>
        </p:nvSpPr>
        <p:spPr>
          <a:xfrm>
            <a:off x="640080" y="3520440"/>
            <a:ext cx="640080" cy="822960"/>
          </a:xfrm>
          <a:prstGeom prst="roundRect">
            <a:avLst>
              <a:gd name="adj" fmla="val 11429"/>
            </a:avLst>
          </a:prstGeom>
          <a:solidFill>
            <a:srgbClr val="2563EB"/>
          </a:solidFill>
          <a:ln w="12700">
            <a:solidFill>
              <a:srgbClr val="2563EB"/>
            </a:solidFill>
            <a:prstDash val="solid"/>
          </a:ln>
        </p:spPr>
      </p:sp>
      <p:sp>
        <p:nvSpPr>
          <p:cNvPr id="17" name="Text 15"/>
          <p:cNvSpPr txBox="1"/>
          <p:nvPr/>
        </p:nvSpPr>
        <p:spPr>
          <a:xfrm>
            <a:off x="731520" y="3721608"/>
            <a:ext cx="457200" cy="41148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18" name="Text 16"/>
          <p:cNvSpPr txBox="1"/>
          <p:nvPr/>
        </p:nvSpPr>
        <p:spPr>
          <a:xfrm>
            <a:off x="1508760" y="3593592"/>
            <a:ext cx="6217920" cy="320040"/>
          </a:xfrm>
          <a:prstGeom prst="rect">
            <a:avLst/>
          </a:prstGeom>
          <a:noFill/>
          <a:ln/>
        </p:spPr>
        <p:txBody>
          <a:bodyPr wrap="square" lIns="0" tIns="0" rIns="0" bIns="0" rtlCol="0" anchor="ctr"/>
          <a:lstStyle/>
          <a:p>
            <a:pPr indent="0" marL="0">
              <a:buNone/>
            </a:pPr>
            <a:r>
              <a:rPr lang="en-US" sz="1600" b="1" dirty="0">
                <a:solidFill>
                  <a:srgbClr val="1B2A3D"/>
                </a:solidFill>
                <a:latin typeface="Cambria" pitchFamily="34" charset="0"/>
                <a:ea typeface="Cambria" pitchFamily="34" charset="-122"/>
                <a:cs typeface="Cambria" pitchFamily="34" charset="-120"/>
              </a:rPr>
              <a:t>Operationalize for the team</a:t>
            </a:r>
            <a:endParaRPr lang="en-US" sz="1600" dirty="0"/>
          </a:p>
        </p:txBody>
      </p:sp>
      <p:sp>
        <p:nvSpPr>
          <p:cNvPr id="19" name="Text 17"/>
          <p:cNvSpPr txBox="1"/>
          <p:nvPr/>
        </p:nvSpPr>
        <p:spPr>
          <a:xfrm>
            <a:off x="1508760" y="3931920"/>
            <a:ext cx="6217920" cy="411480"/>
          </a:xfrm>
          <a:prstGeom prst="rect">
            <a:avLst/>
          </a:prstGeom>
          <a:noFill/>
          <a:ln/>
        </p:spPr>
        <p:txBody>
          <a:bodyPr wrap="square" lIns="0" tIns="0" rIns="0" bIns="0" rtlCol="0" anchor="ctr"/>
          <a:lstStyle/>
          <a:p>
            <a:pPr indent="0" marL="0">
              <a:buNone/>
            </a:pPr>
            <a:r>
              <a:rPr lang="en-US" sz="1200" dirty="0">
                <a:solidFill>
                  <a:srgbClr val="546678"/>
                </a:solidFill>
                <a:latin typeface="Calibri" pitchFamily="34" charset="0"/>
                <a:ea typeface="Calibri" pitchFamily="34" charset="-122"/>
                <a:cs typeface="Calibri" pitchFamily="34" charset="-120"/>
              </a:rPr>
              <a:t>Reference doc goes in the repo, correction harvesting starts, provenance footer becomes standard.</a:t>
            </a:r>
            <a:endParaRPr lang="en-US" sz="1200" dirty="0"/>
          </a:p>
        </p:txBody>
      </p:sp>
      <p:sp>
        <p:nvSpPr>
          <p:cNvPr id="20" name="Text 18"/>
          <p:cNvSpPr txBox="1"/>
          <p:nvPr/>
        </p:nvSpPr>
        <p:spPr>
          <a:xfrm>
            <a:off x="8138160" y="3657600"/>
            <a:ext cx="1463040" cy="274320"/>
          </a:xfrm>
          <a:prstGeom prst="rect">
            <a:avLst/>
          </a:prstGeom>
          <a:noFill/>
          <a:ln/>
        </p:spPr>
        <p:txBody>
          <a:bodyPr wrap="square" lIns="0" tIns="0" rIns="0" bIns="0" rtlCol="0" anchor="ctr"/>
          <a:lstStyle/>
          <a:p>
            <a:pPr indent="0" marL="0">
              <a:buNone/>
            </a:pPr>
            <a:r>
              <a:rPr lang="en-US" sz="1200" b="1" dirty="0">
                <a:solidFill>
                  <a:srgbClr val="2563EB"/>
                </a:solidFill>
                <a:latin typeface="Calibri" pitchFamily="34" charset="0"/>
                <a:ea typeface="Calibri" pitchFamily="34" charset="-122"/>
                <a:cs typeface="Calibri" pitchFamily="34" charset="-120"/>
              </a:rPr>
              <a:t>2–4 weeks</a:t>
            </a:r>
            <a:endParaRPr lang="en-US" sz="1200" dirty="0"/>
          </a:p>
        </p:txBody>
      </p:sp>
      <p:sp>
        <p:nvSpPr>
          <p:cNvPr id="21" name="Text 19"/>
          <p:cNvSpPr txBox="1"/>
          <p:nvPr/>
        </p:nvSpPr>
        <p:spPr>
          <a:xfrm>
            <a:off x="8138160" y="3977640"/>
            <a:ext cx="1463040" cy="27432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Team adoption</a:t>
            </a:r>
            <a:endParaRPr lang="en-US" sz="1100" dirty="0"/>
          </a:p>
        </p:txBody>
      </p:sp>
      <p:sp>
        <p:nvSpPr>
          <p:cNvPr id="22" name="Shape 20"/>
          <p:cNvSpPr/>
          <p:nvPr/>
        </p:nvSpPr>
        <p:spPr>
          <a:xfrm>
            <a:off x="640080" y="4526280"/>
            <a:ext cx="640080" cy="822960"/>
          </a:xfrm>
          <a:prstGeom prst="roundRect">
            <a:avLst>
              <a:gd name="adj" fmla="val 11429"/>
            </a:avLst>
          </a:prstGeom>
          <a:solidFill>
            <a:srgbClr val="2563EB"/>
          </a:solidFill>
          <a:ln w="12700">
            <a:solidFill>
              <a:srgbClr val="2563EB"/>
            </a:solidFill>
            <a:prstDash val="solid"/>
          </a:ln>
        </p:spPr>
      </p:sp>
      <p:sp>
        <p:nvSpPr>
          <p:cNvPr id="23" name="Text 21"/>
          <p:cNvSpPr txBox="1"/>
          <p:nvPr/>
        </p:nvSpPr>
        <p:spPr>
          <a:xfrm>
            <a:off x="731520" y="4727448"/>
            <a:ext cx="457200" cy="41148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4</a:t>
            </a:r>
            <a:endParaRPr lang="en-US" sz="2400" dirty="0"/>
          </a:p>
        </p:txBody>
      </p:sp>
      <p:sp>
        <p:nvSpPr>
          <p:cNvPr id="24" name="Text 22"/>
          <p:cNvSpPr txBox="1"/>
          <p:nvPr/>
        </p:nvSpPr>
        <p:spPr>
          <a:xfrm>
            <a:off x="1508760" y="4599432"/>
            <a:ext cx="6217920" cy="320040"/>
          </a:xfrm>
          <a:prstGeom prst="rect">
            <a:avLst/>
          </a:prstGeom>
          <a:noFill/>
          <a:ln/>
        </p:spPr>
        <p:txBody>
          <a:bodyPr wrap="square" lIns="0" tIns="0" rIns="0" bIns="0" rtlCol="0" anchor="ctr"/>
          <a:lstStyle/>
          <a:p>
            <a:pPr indent="0" marL="0">
              <a:buNone/>
            </a:pPr>
            <a:r>
              <a:rPr lang="en-US" sz="1600" b="1" dirty="0">
                <a:solidFill>
                  <a:srgbClr val="1B2A3D"/>
                </a:solidFill>
                <a:latin typeface="Cambria" pitchFamily="34" charset="0"/>
                <a:ea typeface="Cambria" pitchFamily="34" charset="-122"/>
                <a:cs typeface="Cambria" pitchFamily="34" charset="-120"/>
              </a:rPr>
              <a:t>Expand to adjacent domains</a:t>
            </a:r>
            <a:endParaRPr lang="en-US" sz="1600" dirty="0"/>
          </a:p>
        </p:txBody>
      </p:sp>
      <p:sp>
        <p:nvSpPr>
          <p:cNvPr id="25" name="Text 23"/>
          <p:cNvSpPr txBox="1"/>
          <p:nvPr/>
        </p:nvSpPr>
        <p:spPr>
          <a:xfrm>
            <a:off x="1508760" y="4937760"/>
            <a:ext cx="6217920" cy="411480"/>
          </a:xfrm>
          <a:prstGeom prst="rect">
            <a:avLst/>
          </a:prstGeom>
          <a:noFill/>
          <a:ln/>
        </p:spPr>
        <p:txBody>
          <a:bodyPr wrap="square" lIns="0" tIns="0" rIns="0" bIns="0" rtlCol="0" anchor="ctr"/>
          <a:lstStyle/>
          <a:p>
            <a:pPr indent="0" marL="0">
              <a:buNone/>
            </a:pPr>
            <a:r>
              <a:rPr lang="en-US" sz="1200" dirty="0">
                <a:solidFill>
                  <a:srgbClr val="546678"/>
                </a:solidFill>
                <a:latin typeface="Calibri" pitchFamily="34" charset="0"/>
                <a:ea typeface="Calibri" pitchFamily="34" charset="-122"/>
                <a:cs typeface="Calibri" pitchFamily="34" charset="-120"/>
              </a:rPr>
              <a:t>Each new domain follows the same cycle. The compound effect accelerates — new skills are faster because the workflow is learned.</a:t>
            </a:r>
            <a:endParaRPr lang="en-US" sz="1200" dirty="0"/>
          </a:p>
        </p:txBody>
      </p:sp>
      <p:sp>
        <p:nvSpPr>
          <p:cNvPr id="26" name="Text 24"/>
          <p:cNvSpPr txBox="1"/>
          <p:nvPr/>
        </p:nvSpPr>
        <p:spPr>
          <a:xfrm>
            <a:off x="8138160" y="4663440"/>
            <a:ext cx="1463040" cy="274320"/>
          </a:xfrm>
          <a:prstGeom prst="rect">
            <a:avLst/>
          </a:prstGeom>
          <a:noFill/>
          <a:ln/>
        </p:spPr>
        <p:txBody>
          <a:bodyPr wrap="square" lIns="0" tIns="0" rIns="0" bIns="0" rtlCol="0" anchor="ctr"/>
          <a:lstStyle/>
          <a:p>
            <a:pPr indent="0" marL="0">
              <a:buNone/>
            </a:pPr>
            <a:r>
              <a:rPr lang="en-US" sz="1200" b="1" dirty="0">
                <a:solidFill>
                  <a:srgbClr val="2563EB"/>
                </a:solidFill>
                <a:latin typeface="Calibri" pitchFamily="34" charset="0"/>
                <a:ea typeface="Calibri" pitchFamily="34" charset="-122"/>
                <a:cs typeface="Calibri" pitchFamily="34" charset="-120"/>
              </a:rPr>
              <a:t>Ongoing</a:t>
            </a:r>
            <a:endParaRPr lang="en-US" sz="1200" dirty="0"/>
          </a:p>
        </p:txBody>
      </p:sp>
      <p:sp>
        <p:nvSpPr>
          <p:cNvPr id="27" name="Text 25"/>
          <p:cNvSpPr txBox="1"/>
          <p:nvPr/>
        </p:nvSpPr>
        <p:spPr>
          <a:xfrm>
            <a:off x="8138160" y="4983480"/>
            <a:ext cx="1463040" cy="27432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Team + stakeholders</a:t>
            </a:r>
            <a:endParaRPr lang="en-US" sz="1100" dirty="0"/>
          </a:p>
        </p:txBody>
      </p:sp>
      <p:sp>
        <p:nvSpPr>
          <p:cNvPr id="28" name="Text 26"/>
          <p:cNvSpPr txBox="1"/>
          <p:nvPr/>
        </p:nvSpPr>
        <p:spPr>
          <a:xfrm>
            <a:off x="640080" y="5669280"/>
            <a:ext cx="10908792" cy="411480"/>
          </a:xfrm>
          <a:prstGeom prst="rect">
            <a:avLst/>
          </a:prstGeom>
          <a:noFill/>
          <a:ln/>
        </p:spPr>
        <p:txBody>
          <a:bodyPr wrap="square" lIns="0" tIns="0" rIns="0" bIns="0" rtlCol="0" anchor="ctr"/>
          <a:lstStyle/>
          <a:p>
            <a:pPr indent="0" marL="0">
              <a:buNone/>
            </a:pPr>
            <a:r>
              <a:rPr lang="en-US" sz="1500" i="1" dirty="0">
                <a:solidFill>
                  <a:srgbClr val="1B2A3D"/>
                </a:solidFill>
                <a:latin typeface="Cambria" pitchFamily="34" charset="0"/>
                <a:ea typeface="Cambria" pitchFamily="34" charset="-122"/>
                <a:cs typeface="Cambria" pitchFamily="34" charset="-120"/>
              </a:rPr>
              <a:t>Phase 1 takes one person, one question, and about two weeks — no infrastructure, no vendor, no model training.</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256032"/>
            <a:ext cx="10908792" cy="274320"/>
          </a:xfrm>
          <a:prstGeom prst="rect">
            <a:avLst/>
          </a:prstGeom>
          <a:noFill/>
          <a:ln/>
        </p:spPr>
        <p:txBody>
          <a:bodyPr wrap="square" lIns="0" tIns="0" rIns="0" bIns="0" rtlCol="0" anchor="ctr"/>
          <a:lstStyle/>
          <a:p>
            <a:pPr indent="0" marL="0">
              <a:buNone/>
            </a:pPr>
            <a:r>
              <a:rPr lang="en-US" sz="1100" b="1" spc="200" kern="0" dirty="0">
                <a:solidFill>
                  <a:srgbClr val="2563EB"/>
                </a:solidFill>
                <a:latin typeface="Calibri" pitchFamily="34" charset="0"/>
                <a:ea typeface="Calibri" pitchFamily="34" charset="-122"/>
                <a:cs typeface="Calibri" pitchFamily="34" charset="-120"/>
              </a:rPr>
              <a:t>COST AND RISK</a:t>
            </a:r>
            <a:endParaRPr lang="en-US" sz="1100" dirty="0"/>
          </a:p>
        </p:txBody>
      </p:sp>
      <p:sp>
        <p:nvSpPr>
          <p:cNvPr id="3" name="Text 1"/>
          <p:cNvSpPr txBox="1"/>
          <p:nvPr/>
        </p:nvSpPr>
        <p:spPr>
          <a:xfrm>
            <a:off x="640080" y="457200"/>
            <a:ext cx="10908792" cy="822960"/>
          </a:xfrm>
          <a:prstGeom prst="rect">
            <a:avLst/>
          </a:prstGeom>
          <a:noFill/>
          <a:ln/>
        </p:spPr>
        <p:txBody>
          <a:bodyPr wrap="square" lIns="0" tIns="0" rIns="0" bIns="0" rtlCol="0" anchor="ctr"/>
          <a:lstStyle/>
          <a:p>
            <a:pPr algn="l" indent="0" marL="0">
              <a:buNone/>
            </a:pPr>
            <a:r>
              <a:rPr lang="en-US" sz="2800" b="1" dirty="0">
                <a:solidFill>
                  <a:srgbClr val="1B2A3D"/>
                </a:solidFill>
                <a:latin typeface="Cambria" pitchFamily="34" charset="0"/>
                <a:ea typeface="Cambria" pitchFamily="34" charset="-122"/>
                <a:cs typeface="Cambria" pitchFamily="34" charset="-120"/>
              </a:rPr>
              <a:t>What it takes, and what could go wrong</a:t>
            </a:r>
            <a:endParaRPr lang="en-US" sz="2800" dirty="0"/>
          </a:p>
        </p:txBody>
      </p:sp>
      <p:sp>
        <p:nvSpPr>
          <p:cNvPr id="4" name="Shape 2"/>
          <p:cNvSpPr/>
          <p:nvPr/>
        </p:nvSpPr>
        <p:spPr>
          <a:xfrm>
            <a:off x="640080" y="1554480"/>
            <a:ext cx="5074920" cy="3840480"/>
          </a:xfrm>
          <a:prstGeom prst="roundRect">
            <a:avLst>
              <a:gd name="adj" fmla="val 1905"/>
            </a:avLst>
          </a:prstGeom>
          <a:solidFill>
            <a:srgbClr val="EFF8F5"/>
          </a:solidFill>
          <a:ln w="12700">
            <a:solidFill>
              <a:srgbClr val="EFF8F5"/>
            </a:solidFill>
            <a:prstDash val="solid"/>
          </a:ln>
        </p:spPr>
      </p:sp>
      <p:sp>
        <p:nvSpPr>
          <p:cNvPr id="5" name="Text 3"/>
          <p:cNvSpPr txBox="1"/>
          <p:nvPr/>
        </p:nvSpPr>
        <p:spPr>
          <a:xfrm>
            <a:off x="1005840" y="1737360"/>
            <a:ext cx="4389120" cy="365760"/>
          </a:xfrm>
          <a:prstGeom prst="rect">
            <a:avLst/>
          </a:prstGeom>
          <a:noFill/>
          <a:ln/>
        </p:spPr>
        <p:txBody>
          <a:bodyPr wrap="square" lIns="0" tIns="0" rIns="0" bIns="0" rtlCol="0" anchor="ctr"/>
          <a:lstStyle/>
          <a:p>
            <a:pPr indent="0" marL="0">
              <a:buNone/>
            </a:pPr>
            <a:r>
              <a:rPr lang="en-US" sz="1900" b="1" dirty="0">
                <a:solidFill>
                  <a:srgbClr val="16864E"/>
                </a:solidFill>
                <a:latin typeface="Cambria" pitchFamily="34" charset="0"/>
                <a:ea typeface="Cambria" pitchFamily="34" charset="-122"/>
                <a:cs typeface="Cambria" pitchFamily="34" charset="-120"/>
              </a:rPr>
              <a:t>What it takes</a:t>
            </a:r>
            <a:endParaRPr lang="en-US" sz="1900" dirty="0"/>
          </a:p>
        </p:txBody>
      </p:sp>
      <p:sp>
        <p:nvSpPr>
          <p:cNvPr id="6" name="Text 4"/>
          <p:cNvSpPr txBox="1"/>
          <p:nvPr/>
        </p:nvSpPr>
        <p:spPr>
          <a:xfrm>
            <a:off x="1005840" y="2240280"/>
            <a:ext cx="4389120" cy="2743200"/>
          </a:xfrm>
          <a:prstGeom prst="rect">
            <a:avLst/>
          </a:prstGeom>
          <a:noFill/>
          <a:ln/>
        </p:spPr>
        <p:txBody>
          <a:bodyPr wrap="square" lIns="0" tIns="0" rIns="0" bIns="0" rtlCol="0" anchor="ctr"/>
          <a:lstStyle/>
          <a:p>
            <a:pPr marL="342900" indent="-342900">
              <a:spcAft>
                <a:spcPts val="800"/>
              </a:spcAft>
              <a:buSzPct val="100000"/>
              <a:buChar char="•"/>
            </a:pPr>
            <a:r>
              <a:rPr lang="en-US" sz="1300" dirty="0">
                <a:solidFill>
                  <a:srgbClr val="1F5F4C"/>
                </a:solidFill>
                <a:latin typeface="Calibri" pitchFamily="34" charset="0"/>
                <a:ea typeface="Calibri" pitchFamily="34" charset="-122"/>
                <a:cs typeface="Calibri" pitchFamily="34" charset="-120"/>
              </a:rPr>
              <a:t>Analyst time — 2 weeks for first domain, faster after that</a:t>
            </a:r>
            <a:endParaRPr lang="en-US" sz="1300" dirty="0"/>
          </a:p>
          <a:p>
            <a:pPr marL="342900" indent="-342900">
              <a:spcAft>
                <a:spcPts val="800"/>
              </a:spcAft>
              <a:buSzPct val="100000"/>
              <a:buChar char="•"/>
            </a:pPr>
            <a:r>
              <a:rPr lang="en-US" sz="1300" dirty="0">
                <a:solidFill>
                  <a:srgbClr val="1F5F4C"/>
                </a:solidFill>
                <a:latin typeface="Calibri" pitchFamily="34" charset="0"/>
                <a:ea typeface="Calibri" pitchFamily="34" charset="-122"/>
                <a:cs typeface="Calibri" pitchFamily="34" charset="-120"/>
              </a:rPr>
              <a:t>API costs — approximately $5–15 per ablation run</a:t>
            </a:r>
            <a:endParaRPr lang="en-US" sz="1300" dirty="0"/>
          </a:p>
          <a:p>
            <a:pPr marL="342900" indent="-342900">
              <a:spcAft>
                <a:spcPts val="800"/>
              </a:spcAft>
              <a:buSzPct val="100000"/>
              <a:buChar char="•"/>
            </a:pPr>
            <a:r>
              <a:rPr lang="en-US" sz="1300" dirty="0">
                <a:solidFill>
                  <a:srgbClr val="1F5F4C"/>
                </a:solidFill>
                <a:latin typeface="Calibri" pitchFamily="34" charset="0"/>
                <a:ea typeface="Calibri" pitchFamily="34" charset="-122"/>
                <a:cs typeface="Calibri" pitchFamily="34" charset="-120"/>
              </a:rPr>
              <a:t>No infrastructure — files in a git repo, no server</a:t>
            </a:r>
            <a:endParaRPr lang="en-US" sz="1300" dirty="0"/>
          </a:p>
          <a:p>
            <a:pPr marL="342900" indent="-342900">
              <a:spcAft>
                <a:spcPts val="800"/>
              </a:spcAft>
              <a:buSzPct val="100000"/>
              <a:buChar char="•"/>
            </a:pPr>
            <a:r>
              <a:rPr lang="en-US" sz="1300" dirty="0">
                <a:solidFill>
                  <a:srgbClr val="1F5F4C"/>
                </a:solidFill>
                <a:latin typeface="Calibri" pitchFamily="34" charset="0"/>
                <a:ea typeface="Calibri" pitchFamily="34" charset="-122"/>
                <a:cs typeface="Calibri" pitchFamily="34" charset="-120"/>
              </a:rPr>
              <a:t>No vendor — open source, MIT licensed</a:t>
            </a:r>
            <a:endParaRPr lang="en-US" sz="1300" dirty="0"/>
          </a:p>
          <a:p>
            <a:pPr marL="342900" indent="-342900">
              <a:spcAft>
                <a:spcPts val="800"/>
              </a:spcAft>
              <a:buSzPct val="100000"/>
              <a:buChar char="•"/>
            </a:pPr>
            <a:r>
              <a:rPr lang="en-US" sz="1300" dirty="0">
                <a:solidFill>
                  <a:srgbClr val="1F5F4C"/>
                </a:solidFill>
                <a:latin typeface="Calibri" pitchFamily="34" charset="0"/>
                <a:ea typeface="Calibri" pitchFamily="34" charset="-122"/>
                <a:cs typeface="Calibri" pitchFamily="34" charset="-120"/>
              </a:rPr>
              <a:t>No model training or fine-tuning — works with any capable LLM</a:t>
            </a:r>
            <a:endParaRPr lang="en-US" sz="1300" dirty="0"/>
          </a:p>
        </p:txBody>
      </p:sp>
      <p:sp>
        <p:nvSpPr>
          <p:cNvPr id="7" name="Shape 5"/>
          <p:cNvSpPr/>
          <p:nvPr/>
        </p:nvSpPr>
        <p:spPr>
          <a:xfrm>
            <a:off x="6172200" y="1554480"/>
            <a:ext cx="5074920" cy="3840480"/>
          </a:xfrm>
          <a:prstGeom prst="roundRect">
            <a:avLst>
              <a:gd name="adj" fmla="val 1905"/>
            </a:avLst>
          </a:prstGeom>
          <a:solidFill>
            <a:srgbClr val="FDF2EF"/>
          </a:solidFill>
          <a:ln w="12700">
            <a:solidFill>
              <a:srgbClr val="FDF2EF"/>
            </a:solidFill>
            <a:prstDash val="solid"/>
          </a:ln>
        </p:spPr>
      </p:sp>
      <p:sp>
        <p:nvSpPr>
          <p:cNvPr id="8" name="Text 6"/>
          <p:cNvSpPr txBox="1"/>
          <p:nvPr/>
        </p:nvSpPr>
        <p:spPr>
          <a:xfrm>
            <a:off x="6537960" y="1737360"/>
            <a:ext cx="4389120" cy="365760"/>
          </a:xfrm>
          <a:prstGeom prst="rect">
            <a:avLst/>
          </a:prstGeom>
          <a:noFill/>
          <a:ln/>
        </p:spPr>
        <p:txBody>
          <a:bodyPr wrap="square" lIns="0" tIns="0" rIns="0" bIns="0" rtlCol="0" anchor="ctr"/>
          <a:lstStyle/>
          <a:p>
            <a:pPr indent="0" marL="0">
              <a:buNone/>
            </a:pPr>
            <a:r>
              <a:rPr lang="en-US" sz="1900" b="1" dirty="0">
                <a:solidFill>
                  <a:srgbClr val="E8663C"/>
                </a:solidFill>
                <a:latin typeface="Cambria" pitchFamily="34" charset="0"/>
                <a:ea typeface="Cambria" pitchFamily="34" charset="-122"/>
                <a:cs typeface="Cambria" pitchFamily="34" charset="-120"/>
              </a:rPr>
              <a:t>What could go wrong</a:t>
            </a:r>
            <a:endParaRPr lang="en-US" sz="1900" dirty="0"/>
          </a:p>
        </p:txBody>
      </p:sp>
      <p:sp>
        <p:nvSpPr>
          <p:cNvPr id="9" name="Text 7"/>
          <p:cNvSpPr txBox="1"/>
          <p:nvPr/>
        </p:nvSpPr>
        <p:spPr>
          <a:xfrm>
            <a:off x="6537960" y="2240280"/>
            <a:ext cx="4389120" cy="2743200"/>
          </a:xfrm>
          <a:prstGeom prst="rect">
            <a:avLst/>
          </a:prstGeom>
          <a:noFill/>
          <a:ln/>
        </p:spPr>
        <p:txBody>
          <a:bodyPr wrap="square" lIns="0" tIns="0" rIns="0" bIns="0" rtlCol="0" anchor="ctr"/>
          <a:lstStyle/>
          <a:p>
            <a:pPr marL="342900" indent="-342900">
              <a:spcAft>
                <a:spcPts val="800"/>
              </a:spcAft>
              <a:buSzPct val="100000"/>
              <a:buChar char="•"/>
            </a:pPr>
            <a:r>
              <a:rPr lang="en-US" sz="1300" dirty="0">
                <a:solidFill>
                  <a:srgbClr val="8C4430"/>
                </a:solidFill>
                <a:latin typeface="Calibri" pitchFamily="34" charset="0"/>
                <a:ea typeface="Calibri" pitchFamily="34" charset="-122"/>
                <a:cs typeface="Calibri" pitchFamily="34" charset="-120"/>
              </a:rPr>
              <a:t>Skills go stale if nobody owns them — unmaintained docs are worse than no docs</a:t>
            </a:r>
            <a:endParaRPr lang="en-US" sz="1300" dirty="0"/>
          </a:p>
          <a:p>
            <a:pPr marL="342900" indent="-342900">
              <a:spcAft>
                <a:spcPts val="800"/>
              </a:spcAft>
              <a:buSzPct val="100000"/>
              <a:buChar char="•"/>
            </a:pPr>
            <a:r>
              <a:rPr lang="en-US" sz="1300" dirty="0">
                <a:solidFill>
                  <a:srgbClr val="8C4430"/>
                </a:solidFill>
                <a:latin typeface="Calibri" pitchFamily="34" charset="0"/>
                <a:ea typeface="Calibri" pitchFamily="34" charset="-122"/>
                <a:cs typeface="Calibri" pitchFamily="34" charset="-120"/>
              </a:rPr>
              <a:t>Over-firing — skills can add unnecessary process to clean queries (we measured this at -17 pts on negative tests)</a:t>
            </a:r>
            <a:endParaRPr lang="en-US" sz="1300" dirty="0"/>
          </a:p>
          <a:p>
            <a:pPr marL="342900" indent="-342900">
              <a:spcAft>
                <a:spcPts val="800"/>
              </a:spcAft>
              <a:buSzPct val="100000"/>
              <a:buChar char="•"/>
            </a:pPr>
            <a:r>
              <a:rPr lang="en-US" sz="1300" dirty="0">
                <a:solidFill>
                  <a:srgbClr val="8C4430"/>
                </a:solidFill>
                <a:latin typeface="Calibri" pitchFamily="34" charset="0"/>
                <a:ea typeface="Calibri" pitchFamily="34" charset="-122"/>
                <a:cs typeface="Calibri" pitchFamily="34" charset="-120"/>
              </a:rPr>
              <a:t>False confidence — a measured +28 on synthetic data is not proof it works on production data</a:t>
            </a:r>
            <a:endParaRPr lang="en-US" sz="1300" dirty="0"/>
          </a:p>
          <a:p>
            <a:pPr marL="342900" indent="-342900">
              <a:spcAft>
                <a:spcPts val="800"/>
              </a:spcAft>
              <a:buSzPct val="100000"/>
              <a:buChar char="•"/>
            </a:pPr>
            <a:r>
              <a:rPr lang="en-US" sz="1300" dirty="0">
                <a:solidFill>
                  <a:srgbClr val="8C4430"/>
                </a:solidFill>
                <a:latin typeface="Calibri" pitchFamily="34" charset="0"/>
                <a:ea typeface="Calibri" pitchFamily="34" charset="-122"/>
                <a:cs typeface="Calibri" pitchFamily="34" charset="-120"/>
              </a:rPr>
              <a:t>Adoption friction — analysts need to write docs, not just write queries</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256032"/>
            <a:ext cx="10908792" cy="274320"/>
          </a:xfrm>
          <a:prstGeom prst="rect">
            <a:avLst/>
          </a:prstGeom>
          <a:noFill/>
          <a:ln/>
        </p:spPr>
        <p:txBody>
          <a:bodyPr wrap="square" lIns="0" tIns="0" rIns="0" bIns="0" rtlCol="0" anchor="ctr"/>
          <a:lstStyle/>
          <a:p>
            <a:pPr indent="0" marL="0">
              <a:buNone/>
            </a:pPr>
            <a:r>
              <a:rPr lang="en-US" sz="1100" b="1" spc="200" kern="0" dirty="0">
                <a:solidFill>
                  <a:srgbClr val="2563EB"/>
                </a:solidFill>
                <a:latin typeface="Calibri" pitchFamily="34" charset="0"/>
                <a:ea typeface="Calibri" pitchFamily="34" charset="-122"/>
                <a:cs typeface="Calibri" pitchFamily="34" charset="-120"/>
              </a:rPr>
              <a:t>THE PROOF OF CONCEPT</a:t>
            </a:r>
            <a:endParaRPr lang="en-US" sz="1100" dirty="0"/>
          </a:p>
        </p:txBody>
      </p:sp>
      <p:sp>
        <p:nvSpPr>
          <p:cNvPr id="3" name="Text 1"/>
          <p:cNvSpPr txBox="1"/>
          <p:nvPr/>
        </p:nvSpPr>
        <p:spPr>
          <a:xfrm>
            <a:off x="640080" y="457200"/>
            <a:ext cx="10908792" cy="822960"/>
          </a:xfrm>
          <a:prstGeom prst="rect">
            <a:avLst/>
          </a:prstGeom>
          <a:noFill/>
          <a:ln/>
        </p:spPr>
        <p:txBody>
          <a:bodyPr wrap="square" lIns="0" tIns="0" rIns="0" bIns="0" rtlCol="0" anchor="ctr"/>
          <a:lstStyle/>
          <a:p>
            <a:pPr algn="l" indent="0" marL="0">
              <a:buNone/>
            </a:pPr>
            <a:r>
              <a:rPr lang="en-US" sz="2800" b="1" dirty="0">
                <a:solidFill>
                  <a:srgbClr val="1B2A3D"/>
                </a:solidFill>
                <a:latin typeface="Cambria" pitchFamily="34" charset="0"/>
                <a:ea typeface="Cambria" pitchFamily="34" charset="-122"/>
                <a:cs typeface="Cambria" pitchFamily="34" charset="-120"/>
              </a:rPr>
              <a:t>A 3-hour conference workshop on September 29</a:t>
            </a:r>
            <a:endParaRPr lang="en-US" sz="2800" dirty="0"/>
          </a:p>
        </p:txBody>
      </p:sp>
      <p:sp>
        <p:nvSpPr>
          <p:cNvPr id="4" name="Text 2"/>
          <p:cNvSpPr txBox="1"/>
          <p:nvPr/>
        </p:nvSpPr>
        <p:spPr>
          <a:xfrm>
            <a:off x="640080" y="1463040"/>
            <a:ext cx="10908792" cy="640080"/>
          </a:xfrm>
          <a:prstGeom prst="rect">
            <a:avLst/>
          </a:prstGeom>
          <a:noFill/>
          <a:ln/>
        </p:spPr>
        <p:txBody>
          <a:bodyPr wrap="square" lIns="0" tIns="0" rIns="0" bIns="0" rtlCol="0" anchor="ctr"/>
          <a:lstStyle/>
          <a:p>
            <a:pPr indent="0" marL="0">
              <a:buNone/>
            </a:pPr>
            <a:r>
              <a:rPr lang="en-US" sz="1600" dirty="0">
                <a:solidFill>
                  <a:srgbClr val="546678"/>
                </a:solidFill>
                <a:latin typeface="Calibri" pitchFamily="34" charset="0"/>
                <a:ea typeface="Calibri" pitchFamily="34" charset="-122"/>
                <a:cs typeface="Calibri" pitchFamily="34" charset="-120"/>
              </a:rPr>
              <a:t>Participants write a real skill, test it against a real warehouse, and measure whether it helped — in one session. The workshop is simultaneously the training and the validation.</a:t>
            </a:r>
            <a:endParaRPr lang="en-US" sz="1600" dirty="0"/>
          </a:p>
        </p:txBody>
      </p:sp>
      <p:sp>
        <p:nvSpPr>
          <p:cNvPr id="5" name="Shape 3"/>
          <p:cNvSpPr/>
          <p:nvPr/>
        </p:nvSpPr>
        <p:spPr>
          <a:xfrm>
            <a:off x="640080" y="2377440"/>
            <a:ext cx="2606040" cy="1828800"/>
          </a:xfrm>
          <a:prstGeom prst="roundRect">
            <a:avLst>
              <a:gd name="adj" fmla="val 4000"/>
            </a:avLst>
          </a:prstGeom>
          <a:solidFill>
            <a:srgbClr val="F3F5F7"/>
          </a:solidFill>
          <a:ln w="12700">
            <a:solidFill>
              <a:srgbClr val="F3F5F7"/>
            </a:solidFill>
            <a:prstDash val="solid"/>
          </a:ln>
        </p:spPr>
      </p:sp>
      <p:sp>
        <p:nvSpPr>
          <p:cNvPr id="6" name="Text 4"/>
          <p:cNvSpPr txBox="1"/>
          <p:nvPr/>
        </p:nvSpPr>
        <p:spPr>
          <a:xfrm>
            <a:off x="777240" y="2514600"/>
            <a:ext cx="2331720" cy="822960"/>
          </a:xfrm>
          <a:prstGeom prst="rect">
            <a:avLst/>
          </a:prstGeom>
          <a:noFill/>
          <a:ln/>
        </p:spPr>
        <p:txBody>
          <a:bodyPr wrap="square" lIns="0" tIns="0" rIns="0" bIns="0" rtlCol="0" anchor="ctr"/>
          <a:lstStyle/>
          <a:p>
            <a:pPr algn="ctr" indent="0" marL="0">
              <a:buNone/>
            </a:pPr>
            <a:r>
              <a:rPr lang="en-US" sz="5200" b="1" dirty="0">
                <a:solidFill>
                  <a:srgbClr val="2563EB"/>
                </a:solidFill>
                <a:latin typeface="Cambria" pitchFamily="34" charset="0"/>
                <a:ea typeface="Cambria" pitchFamily="34" charset="-122"/>
                <a:cs typeface="Cambria" pitchFamily="34" charset="-120"/>
              </a:rPr>
              <a:t>11</a:t>
            </a:r>
            <a:endParaRPr lang="en-US" sz="5200" dirty="0"/>
          </a:p>
        </p:txBody>
      </p:sp>
      <p:sp>
        <p:nvSpPr>
          <p:cNvPr id="7" name="Text 5"/>
          <p:cNvSpPr txBox="1"/>
          <p:nvPr/>
        </p:nvSpPr>
        <p:spPr>
          <a:xfrm>
            <a:off x="777240" y="3337560"/>
            <a:ext cx="2331720" cy="640080"/>
          </a:xfrm>
          <a:prstGeom prst="rect">
            <a:avLst/>
          </a:prstGeom>
          <a:noFill/>
          <a:ln/>
        </p:spPr>
        <p:txBody>
          <a:bodyPr wrap="square" lIns="0" tIns="0" rIns="0" bIns="0" rtlCol="0" anchor="ctr"/>
          <a:lstStyle/>
          <a:p>
            <a:pPr algn="ctr" indent="0" marL="0">
              <a:buNone/>
            </a:pPr>
            <a:r>
              <a:rPr lang="en-US" sz="1200" dirty="0">
                <a:solidFill>
                  <a:srgbClr val="546678"/>
                </a:solidFill>
                <a:latin typeface="Calibri" pitchFamily="34" charset="0"/>
                <a:ea typeface="Calibri" pitchFamily="34" charset="-122"/>
                <a:cs typeface="Calibri" pitchFamily="34" charset="-120"/>
              </a:rPr>
              <a:t>skills built</a:t>
            </a:r>
            <a:endParaRPr lang="en-US" sz="1200" dirty="0"/>
          </a:p>
        </p:txBody>
      </p:sp>
      <p:sp>
        <p:nvSpPr>
          <p:cNvPr id="8" name="Shape 6"/>
          <p:cNvSpPr/>
          <p:nvPr/>
        </p:nvSpPr>
        <p:spPr>
          <a:xfrm>
            <a:off x="3474720" y="2377440"/>
            <a:ext cx="2606040" cy="1828800"/>
          </a:xfrm>
          <a:prstGeom prst="roundRect">
            <a:avLst>
              <a:gd name="adj" fmla="val 4000"/>
            </a:avLst>
          </a:prstGeom>
          <a:solidFill>
            <a:srgbClr val="F3F5F7"/>
          </a:solidFill>
          <a:ln w="12700">
            <a:solidFill>
              <a:srgbClr val="F3F5F7"/>
            </a:solidFill>
            <a:prstDash val="solid"/>
          </a:ln>
        </p:spPr>
      </p:sp>
      <p:sp>
        <p:nvSpPr>
          <p:cNvPr id="9" name="Text 7"/>
          <p:cNvSpPr txBox="1"/>
          <p:nvPr/>
        </p:nvSpPr>
        <p:spPr>
          <a:xfrm>
            <a:off x="3611880" y="2514600"/>
            <a:ext cx="2331720" cy="822960"/>
          </a:xfrm>
          <a:prstGeom prst="rect">
            <a:avLst/>
          </a:prstGeom>
          <a:noFill/>
          <a:ln/>
        </p:spPr>
        <p:txBody>
          <a:bodyPr wrap="square" lIns="0" tIns="0" rIns="0" bIns="0" rtlCol="0" anchor="ctr"/>
          <a:lstStyle/>
          <a:p>
            <a:pPr algn="ctr" indent="0" marL="0">
              <a:buNone/>
            </a:pPr>
            <a:r>
              <a:rPr lang="en-US" sz="5200" b="1" dirty="0">
                <a:solidFill>
                  <a:srgbClr val="2563EB"/>
                </a:solidFill>
                <a:latin typeface="Cambria" pitchFamily="34" charset="0"/>
                <a:ea typeface="Cambria" pitchFamily="34" charset="-122"/>
                <a:cs typeface="Cambria" pitchFamily="34" charset="-120"/>
              </a:rPr>
              <a:t>44</a:t>
            </a:r>
            <a:endParaRPr lang="en-US" sz="5200" dirty="0"/>
          </a:p>
        </p:txBody>
      </p:sp>
      <p:sp>
        <p:nvSpPr>
          <p:cNvPr id="10" name="Text 8"/>
          <p:cNvSpPr txBox="1"/>
          <p:nvPr/>
        </p:nvSpPr>
        <p:spPr>
          <a:xfrm>
            <a:off x="3611880" y="3337560"/>
            <a:ext cx="2331720" cy="640080"/>
          </a:xfrm>
          <a:prstGeom prst="rect">
            <a:avLst/>
          </a:prstGeom>
          <a:noFill/>
          <a:ln/>
        </p:spPr>
        <p:txBody>
          <a:bodyPr wrap="square" lIns="0" tIns="0" rIns="0" bIns="0" rtlCol="0" anchor="ctr"/>
          <a:lstStyle/>
          <a:p>
            <a:pPr algn="ctr" indent="0" marL="0">
              <a:buNone/>
            </a:pPr>
            <a:r>
              <a:rPr lang="en-US" sz="1200" dirty="0">
                <a:solidFill>
                  <a:srgbClr val="546678"/>
                </a:solidFill>
                <a:latin typeface="Calibri" pitchFamily="34" charset="0"/>
                <a:ea typeface="Calibri" pitchFamily="34" charset="-122"/>
                <a:cs typeface="Calibri" pitchFamily="34" charset="-120"/>
              </a:rPr>
              <a:t>warehouse tables</a:t>
            </a:r>
            <a:endParaRPr lang="en-US" sz="1200" dirty="0"/>
          </a:p>
          <a:p>
            <a:pPr algn="ctr" indent="0" marL="0">
              <a:buNone/>
            </a:pPr>
            <a:r>
              <a:rPr lang="en-US" sz="1200" dirty="0">
                <a:solidFill>
                  <a:srgbClr val="546678"/>
                </a:solidFill>
                <a:latin typeface="Calibri" pitchFamily="34" charset="0"/>
                <a:ea typeface="Calibri" pitchFamily="34" charset="-122"/>
                <a:cs typeface="Calibri" pitchFamily="34" charset="-120"/>
              </a:rPr>
              <a:t>(16 real, 28 decoys)</a:t>
            </a:r>
            <a:endParaRPr lang="en-US" sz="1200" dirty="0"/>
          </a:p>
        </p:txBody>
      </p:sp>
      <p:sp>
        <p:nvSpPr>
          <p:cNvPr id="11" name="Shape 9"/>
          <p:cNvSpPr/>
          <p:nvPr/>
        </p:nvSpPr>
        <p:spPr>
          <a:xfrm>
            <a:off x="6309360" y="2377440"/>
            <a:ext cx="2606040" cy="1828800"/>
          </a:xfrm>
          <a:prstGeom prst="roundRect">
            <a:avLst>
              <a:gd name="adj" fmla="val 4000"/>
            </a:avLst>
          </a:prstGeom>
          <a:solidFill>
            <a:srgbClr val="F3F5F7"/>
          </a:solidFill>
          <a:ln w="12700">
            <a:solidFill>
              <a:srgbClr val="F3F5F7"/>
            </a:solidFill>
            <a:prstDash val="solid"/>
          </a:ln>
        </p:spPr>
      </p:sp>
      <p:sp>
        <p:nvSpPr>
          <p:cNvPr id="12" name="Text 10"/>
          <p:cNvSpPr txBox="1"/>
          <p:nvPr/>
        </p:nvSpPr>
        <p:spPr>
          <a:xfrm>
            <a:off x="6446520" y="2514600"/>
            <a:ext cx="2331720" cy="822960"/>
          </a:xfrm>
          <a:prstGeom prst="rect">
            <a:avLst/>
          </a:prstGeom>
          <a:noFill/>
          <a:ln/>
        </p:spPr>
        <p:txBody>
          <a:bodyPr wrap="square" lIns="0" tIns="0" rIns="0" bIns="0" rtlCol="0" anchor="ctr"/>
          <a:lstStyle/>
          <a:p>
            <a:pPr algn="ctr" indent="0" marL="0">
              <a:buNone/>
            </a:pPr>
            <a:r>
              <a:rPr lang="en-US" sz="5200" b="1" dirty="0">
                <a:solidFill>
                  <a:srgbClr val="2563EB"/>
                </a:solidFill>
                <a:latin typeface="Cambria" pitchFamily="34" charset="0"/>
                <a:ea typeface="Cambria" pitchFamily="34" charset="-122"/>
                <a:cs typeface="Cambria" pitchFamily="34" charset="-120"/>
              </a:rPr>
              <a:t>29</a:t>
            </a:r>
            <a:endParaRPr lang="en-US" sz="5200" dirty="0"/>
          </a:p>
        </p:txBody>
      </p:sp>
      <p:sp>
        <p:nvSpPr>
          <p:cNvPr id="13" name="Text 11"/>
          <p:cNvSpPr txBox="1"/>
          <p:nvPr/>
        </p:nvSpPr>
        <p:spPr>
          <a:xfrm>
            <a:off x="6446520" y="3337560"/>
            <a:ext cx="2331720" cy="640080"/>
          </a:xfrm>
          <a:prstGeom prst="rect">
            <a:avLst/>
          </a:prstGeom>
          <a:noFill/>
          <a:ln/>
        </p:spPr>
        <p:txBody>
          <a:bodyPr wrap="square" lIns="0" tIns="0" rIns="0" bIns="0" rtlCol="0" anchor="ctr"/>
          <a:lstStyle/>
          <a:p>
            <a:pPr algn="ctr" indent="0" marL="0">
              <a:buNone/>
            </a:pPr>
            <a:r>
              <a:rPr lang="en-US" sz="1200" dirty="0">
                <a:solidFill>
                  <a:srgbClr val="546678"/>
                </a:solidFill>
                <a:latin typeface="Calibri" pitchFamily="34" charset="0"/>
                <a:ea typeface="Calibri" pitchFamily="34" charset="-122"/>
                <a:cs typeface="Calibri" pitchFamily="34" charset="-120"/>
              </a:rPr>
              <a:t>evals with</a:t>
            </a:r>
            <a:endParaRPr lang="en-US" sz="1200" dirty="0"/>
          </a:p>
          <a:p>
            <a:pPr algn="ctr" indent="0" marL="0">
              <a:buNone/>
            </a:pPr>
            <a:r>
              <a:rPr lang="en-US" sz="1200" dirty="0">
                <a:solidFill>
                  <a:srgbClr val="546678"/>
                </a:solidFill>
                <a:latin typeface="Calibri" pitchFamily="34" charset="0"/>
                <a:ea typeface="Calibri" pitchFamily="34" charset="-122"/>
                <a:cs typeface="Calibri" pitchFamily="34" charset="-120"/>
              </a:rPr>
              <a:t>measured results</a:t>
            </a:r>
            <a:endParaRPr lang="en-US" sz="1200" dirty="0"/>
          </a:p>
        </p:txBody>
      </p:sp>
      <p:sp>
        <p:nvSpPr>
          <p:cNvPr id="14" name="Shape 12"/>
          <p:cNvSpPr/>
          <p:nvPr/>
        </p:nvSpPr>
        <p:spPr>
          <a:xfrm>
            <a:off x="9144000" y="2377440"/>
            <a:ext cx="2606040" cy="1828800"/>
          </a:xfrm>
          <a:prstGeom prst="roundRect">
            <a:avLst>
              <a:gd name="adj" fmla="val 4000"/>
            </a:avLst>
          </a:prstGeom>
          <a:solidFill>
            <a:srgbClr val="F3F5F7"/>
          </a:solidFill>
          <a:ln w="12700">
            <a:solidFill>
              <a:srgbClr val="F3F5F7"/>
            </a:solidFill>
            <a:prstDash val="solid"/>
          </a:ln>
        </p:spPr>
      </p:sp>
      <p:sp>
        <p:nvSpPr>
          <p:cNvPr id="15" name="Text 13"/>
          <p:cNvSpPr txBox="1"/>
          <p:nvPr/>
        </p:nvSpPr>
        <p:spPr>
          <a:xfrm>
            <a:off x="9281160" y="2514600"/>
            <a:ext cx="2331720" cy="822960"/>
          </a:xfrm>
          <a:prstGeom prst="rect">
            <a:avLst/>
          </a:prstGeom>
          <a:noFill/>
          <a:ln/>
        </p:spPr>
        <p:txBody>
          <a:bodyPr wrap="square" lIns="0" tIns="0" rIns="0" bIns="0" rtlCol="0" anchor="ctr"/>
          <a:lstStyle/>
          <a:p>
            <a:pPr algn="ctr" indent="0" marL="0">
              <a:buNone/>
            </a:pPr>
            <a:r>
              <a:rPr lang="en-US" sz="5200" b="1" dirty="0">
                <a:solidFill>
                  <a:srgbClr val="2563EB"/>
                </a:solidFill>
                <a:latin typeface="Cambria" pitchFamily="34" charset="0"/>
                <a:ea typeface="Cambria" pitchFamily="34" charset="-122"/>
                <a:cs typeface="Cambria" pitchFamily="34" charset="-120"/>
              </a:rPr>
              <a:t>3</a:t>
            </a:r>
            <a:endParaRPr lang="en-US" sz="5200" dirty="0"/>
          </a:p>
        </p:txBody>
      </p:sp>
      <p:sp>
        <p:nvSpPr>
          <p:cNvPr id="16" name="Text 14"/>
          <p:cNvSpPr txBox="1"/>
          <p:nvPr/>
        </p:nvSpPr>
        <p:spPr>
          <a:xfrm>
            <a:off x="9281160" y="3337560"/>
            <a:ext cx="2331720" cy="640080"/>
          </a:xfrm>
          <a:prstGeom prst="rect">
            <a:avLst/>
          </a:prstGeom>
          <a:noFill/>
          <a:ln/>
        </p:spPr>
        <p:txBody>
          <a:bodyPr wrap="square" lIns="0" tIns="0" rIns="0" bIns="0" rtlCol="0" anchor="ctr"/>
          <a:lstStyle/>
          <a:p>
            <a:pPr algn="ctr" indent="0" marL="0">
              <a:buNone/>
            </a:pPr>
            <a:r>
              <a:rPr lang="en-US" sz="1200" dirty="0">
                <a:solidFill>
                  <a:srgbClr val="546678"/>
                </a:solidFill>
                <a:latin typeface="Calibri" pitchFamily="34" charset="0"/>
                <a:ea typeface="Calibri" pitchFamily="34" charset="-122"/>
                <a:cs typeface="Calibri" pitchFamily="34" charset="-120"/>
              </a:rPr>
              <a:t>domains with full</a:t>
            </a:r>
            <a:endParaRPr lang="en-US" sz="1200" dirty="0"/>
          </a:p>
          <a:p>
            <a:pPr algn="ctr" indent="0" marL="0">
              <a:buNone/>
            </a:pPr>
            <a:r>
              <a:rPr lang="en-US" sz="1200" dirty="0">
                <a:solidFill>
                  <a:srgbClr val="546678"/>
                </a:solidFill>
                <a:latin typeface="Calibri" pitchFamily="34" charset="0"/>
                <a:ea typeface="Calibri" pitchFamily="34" charset="-122"/>
                <a:cs typeface="Calibri" pitchFamily="34" charset="-120"/>
              </a:rPr>
              <a:t>facilitator guides</a:t>
            </a:r>
            <a:endParaRPr lang="en-US" sz="1200" dirty="0"/>
          </a:p>
        </p:txBody>
      </p:sp>
      <p:sp>
        <p:nvSpPr>
          <p:cNvPr id="17" name="Text 15"/>
          <p:cNvSpPr txBox="1"/>
          <p:nvPr/>
        </p:nvSpPr>
        <p:spPr>
          <a:xfrm>
            <a:off x="640080" y="4572000"/>
            <a:ext cx="10908792" cy="320040"/>
          </a:xfrm>
          <a:prstGeom prst="rect">
            <a:avLst/>
          </a:prstGeom>
          <a:noFill/>
          <a:ln/>
        </p:spPr>
        <p:txBody>
          <a:bodyPr wrap="square" lIns="0" tIns="0" rIns="0" bIns="0" rtlCol="0" anchor="ctr"/>
          <a:lstStyle/>
          <a:p>
            <a:pPr indent="0" marL="0">
              <a:buNone/>
            </a:pPr>
            <a:r>
              <a:rPr lang="en-US" sz="1400" b="1" dirty="0">
                <a:solidFill>
                  <a:srgbClr val="1B2A3D"/>
                </a:solidFill>
                <a:latin typeface="Calibri" pitchFamily="34" charset="0"/>
                <a:ea typeface="Calibri" pitchFamily="34" charset="-122"/>
                <a:cs typeface="Calibri" pitchFamily="34" charset="-120"/>
              </a:rPr>
              <a:t>Everything is open source at github.com/RobStilson/analytics-skills — MIT licensed, ready to fork for internal use.</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B2A3D"/>
        </a:solidFill>
      </p:bgPr>
    </p:bg>
    <p:spTree>
      <p:nvGrpSpPr>
        <p:cNvPr id="1" name=""/>
        <p:cNvGrpSpPr/>
        <p:nvPr/>
      </p:nvGrpSpPr>
      <p:grpSpPr>
        <a:xfrm>
          <a:off x="0" y="0"/>
          <a:ext cx="0" cy="0"/>
          <a:chOff x="0" y="0"/>
          <a:chExt cx="0" cy="0"/>
        </a:xfrm>
      </p:grpSpPr>
      <p:sp>
        <p:nvSpPr>
          <p:cNvPr id="2" name="Shape 0"/>
          <p:cNvSpPr/>
          <p:nvPr/>
        </p:nvSpPr>
        <p:spPr>
          <a:xfrm>
            <a:off x="640080" y="1645920"/>
            <a:ext cx="128016" cy="3291840"/>
          </a:xfrm>
          <a:prstGeom prst="roundRect">
            <a:avLst>
              <a:gd name="adj" fmla="val 50000"/>
            </a:avLst>
          </a:prstGeom>
          <a:solidFill>
            <a:srgbClr val="2563EB"/>
          </a:solidFill>
          <a:ln w="12700">
            <a:solidFill>
              <a:srgbClr val="2563EB"/>
            </a:solidFill>
            <a:prstDash val="solid"/>
          </a:ln>
        </p:spPr>
      </p:sp>
      <p:sp>
        <p:nvSpPr>
          <p:cNvPr id="3" name="Text 1"/>
          <p:cNvSpPr txBox="1"/>
          <p:nvPr/>
        </p:nvSpPr>
        <p:spPr>
          <a:xfrm>
            <a:off x="1051560" y="1600200"/>
            <a:ext cx="9144000" cy="64008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The recommendation</a:t>
            </a:r>
            <a:endParaRPr lang="en-US" sz="3600" dirty="0"/>
          </a:p>
        </p:txBody>
      </p:sp>
      <p:sp>
        <p:nvSpPr>
          <p:cNvPr id="4" name="Text 2"/>
          <p:cNvSpPr txBox="1"/>
          <p:nvPr/>
        </p:nvSpPr>
        <p:spPr>
          <a:xfrm>
            <a:off x="1051560" y="2423160"/>
            <a:ext cx="9601200" cy="2560320"/>
          </a:xfrm>
          <a:prstGeom prst="rect">
            <a:avLst/>
          </a:prstGeom>
          <a:noFill/>
          <a:ln/>
        </p:spPr>
        <p:txBody>
          <a:bodyPr wrap="square" lIns="0" tIns="0" rIns="0" bIns="0" rtlCol="0" anchor="ctr"/>
          <a:lstStyle/>
          <a:p>
            <a:pPr marL="342900" indent="-342900">
              <a:spcAft>
                <a:spcPts val="1400"/>
              </a:spcAft>
              <a:buSzPct val="100000"/>
              <a:buChar char="•"/>
            </a:pPr>
            <a:r>
              <a:rPr lang="en-US" sz="1800" dirty="0">
                <a:solidFill>
                  <a:srgbClr val="CBD5DD"/>
                </a:solidFill>
                <a:latin typeface="Calibri" pitchFamily="34" charset="0"/>
                <a:ea typeface="Calibri" pitchFamily="34" charset="-122"/>
                <a:cs typeface="Calibri" pitchFamily="34" charset="-120"/>
              </a:rPr>
              <a:t>Pick one recurring People Analytics question this quarter</a:t>
            </a:r>
            <a:endParaRPr lang="en-US" sz="1800" dirty="0"/>
          </a:p>
          <a:p>
            <a:pPr marL="342900" indent="-342900">
              <a:spcAft>
                <a:spcPts val="1400"/>
              </a:spcAft>
              <a:buSzPct val="100000"/>
              <a:buChar char="•"/>
            </a:pPr>
            <a:r>
              <a:rPr lang="en-US" sz="1800" dirty="0">
                <a:solidFill>
                  <a:srgbClr val="CBD5DD"/>
                </a:solidFill>
                <a:latin typeface="Calibri" pitchFamily="34" charset="0"/>
                <a:ea typeface="Calibri" pitchFamily="34" charset="-122"/>
                <a:cs typeface="Calibri" pitchFamily="34" charset="-120"/>
              </a:rPr>
              <a:t>Write the reference doc — I'll lead it, one analyst, two weeks</a:t>
            </a:r>
            <a:endParaRPr lang="en-US" sz="1800" dirty="0"/>
          </a:p>
          <a:p>
            <a:pPr marL="342900" indent="-342900">
              <a:spcAft>
                <a:spcPts val="1400"/>
              </a:spcAft>
              <a:buSzPct val="100000"/>
              <a:buChar char="•"/>
            </a:pPr>
            <a:r>
              <a:rPr lang="en-US" sz="1800" dirty="0">
                <a:solidFill>
                  <a:srgbClr val="CBD5DD"/>
                </a:solidFill>
                <a:latin typeface="Calibri" pitchFamily="34" charset="0"/>
                <a:ea typeface="Calibri" pitchFamily="34" charset="-122"/>
                <a:cs typeface="Calibri" pitchFamily="34" charset="-120"/>
              </a:rPr>
              <a:t>Measure the before and after — real evals, not subjective assessment</a:t>
            </a:r>
            <a:endParaRPr lang="en-US" sz="1800" dirty="0"/>
          </a:p>
          <a:p>
            <a:pPr marL="342900" indent="-342900">
              <a:spcAft>
                <a:spcPts val="1400"/>
              </a:spcAft>
              <a:buSzPct val="100000"/>
              <a:buChar char="•"/>
            </a:pPr>
            <a:r>
              <a:rPr lang="en-US" sz="1800" dirty="0">
                <a:solidFill>
                  <a:srgbClr val="CBD5DD"/>
                </a:solidFill>
                <a:latin typeface="Calibri" pitchFamily="34" charset="0"/>
                <a:ea typeface="Calibri" pitchFamily="34" charset="-122"/>
                <a:cs typeface="Calibri" pitchFamily="34" charset="-120"/>
              </a:rPr>
              <a:t>If it works on our data, expand to the next domain</a:t>
            </a:r>
            <a:endParaRPr lang="en-US" sz="1800" dirty="0"/>
          </a:p>
          <a:p>
            <a:pPr marL="342900" indent="-342900">
              <a:spcAft>
                <a:spcPts val="1400"/>
              </a:spcAft>
              <a:buSzPct val="100000"/>
              <a:buChar char="•"/>
            </a:pPr>
            <a:r>
              <a:rPr lang="en-US" sz="1800" dirty="0">
                <a:solidFill>
                  <a:srgbClr val="CBD5DD"/>
                </a:solidFill>
                <a:latin typeface="Calibri" pitchFamily="34" charset="0"/>
                <a:ea typeface="Calibri" pitchFamily="34" charset="-122"/>
                <a:cs typeface="Calibri" pitchFamily="34" charset="-120"/>
              </a:rPr>
              <a:t>If it doesn't, we've lost two weeks and learned something real</a:t>
            </a:r>
            <a:endParaRPr lang="en-US" sz="1800" dirty="0"/>
          </a:p>
        </p:txBody>
      </p:sp>
      <p:sp>
        <p:nvSpPr>
          <p:cNvPr id="5" name="Text 3"/>
          <p:cNvSpPr txBox="1"/>
          <p:nvPr/>
        </p:nvSpPr>
        <p:spPr>
          <a:xfrm>
            <a:off x="1051560" y="5303520"/>
            <a:ext cx="9144000" cy="411480"/>
          </a:xfrm>
          <a:prstGeom prst="rect">
            <a:avLst/>
          </a:prstGeom>
          <a:noFill/>
          <a:ln/>
        </p:spPr>
        <p:txBody>
          <a:bodyPr wrap="square" lIns="0" tIns="0" rIns="0" bIns="0" rtlCol="0" anchor="ctr"/>
          <a:lstStyle/>
          <a:p>
            <a:pPr indent="0" marL="0">
              <a:buNone/>
            </a:pPr>
            <a:r>
              <a:rPr lang="en-US" sz="2000" i="1" dirty="0">
                <a:solidFill>
                  <a:srgbClr val="94A3B8"/>
                </a:solidFill>
                <a:latin typeface="Cambria" pitchFamily="34" charset="0"/>
                <a:ea typeface="Cambria" pitchFamily="34" charset="-122"/>
                <a:cs typeface="Cambria" pitchFamily="34" charset="-120"/>
              </a:rPr>
              <a:t>The workshop validates the method. Adoption validates the value.</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Vibe Analytics — Executive Briefing</dc:title>
  <dc:subject>PptxGenJS Presentation</dc:subject>
  <dc:creator>Rob Stilson</dc:creator>
  <cp:lastModifiedBy>Rob Stilson</cp:lastModifiedBy>
  <cp:revision>1</cp:revision>
  <dcterms:created xsi:type="dcterms:W3CDTF">2026-08-31T17:37:50Z</dcterms:created>
  <dcterms:modified xsi:type="dcterms:W3CDTF">2026-08-31T17:37:50Z</dcterms:modified>
</cp:coreProperties>
</file>