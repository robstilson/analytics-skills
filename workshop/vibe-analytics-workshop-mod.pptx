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2.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60" r:id="rId4"/>
    <p:sldMasterId id="2147483661"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4.xml"/><Relationship Id="rId11" Type="http://schemas.openxmlformats.org/officeDocument/2006/relationships/slide" Target="slides/slide5.xml"/><Relationship Id="rId22" Type="http://schemas.openxmlformats.org/officeDocument/2006/relationships/slide" Target="slides/slide16.xml"/><Relationship Id="rId10" Type="http://schemas.openxmlformats.org/officeDocument/2006/relationships/slide" Target="slides/slide4.xml"/><Relationship Id="rId21" Type="http://schemas.openxmlformats.org/officeDocument/2006/relationships/slide" Target="slides/slide15.xml"/><Relationship Id="rId13" Type="http://schemas.openxmlformats.org/officeDocument/2006/relationships/slide" Target="slides/slide7.xml"/><Relationship Id="rId24" Type="http://schemas.openxmlformats.org/officeDocument/2006/relationships/slide" Target="slides/slide18.xml"/><Relationship Id="rId12" Type="http://schemas.openxmlformats.org/officeDocument/2006/relationships/slide" Target="slides/slide6.xml"/><Relationship Id="rId23" Type="http://schemas.openxmlformats.org/officeDocument/2006/relationships/slide" Target="slides/slide17.xml"/><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3.xml"/><Relationship Id="rId15" Type="http://schemas.openxmlformats.org/officeDocument/2006/relationships/slide" Target="slides/slide9.xml"/><Relationship Id="rId14" Type="http://schemas.openxmlformats.org/officeDocument/2006/relationships/slide" Target="slides/slide8.xml"/><Relationship Id="rId17" Type="http://schemas.openxmlformats.org/officeDocument/2006/relationships/slide" Target="slides/slide11.xml"/><Relationship Id="rId16" Type="http://schemas.openxmlformats.org/officeDocument/2006/relationships/slide" Target="slides/slide10.xml"/><Relationship Id="rId5" Type="http://schemas.openxmlformats.org/officeDocument/2006/relationships/slideMaster" Target="slideMasters/slideMaster2.xml"/><Relationship Id="rId19" Type="http://schemas.openxmlformats.org/officeDocument/2006/relationships/slide" Target="slides/slide13.xml"/><Relationship Id="rId6" Type="http://schemas.openxmlformats.org/officeDocument/2006/relationships/notesMaster" Target="notesMasters/notesMaster1.xml"/><Relationship Id="rId18" Type="http://schemas.openxmlformats.org/officeDocument/2006/relationships/slide" Target="slides/slide12.xml"/><Relationship Id="rId7" Type="http://schemas.openxmlformats.org/officeDocument/2006/relationships/slide" Target="slides/slide1.xml"/><Relationship Id="rId8"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 name="Shape 52"/>
        <p:cNvGrpSpPr/>
        <p:nvPr/>
      </p:nvGrpSpPr>
      <p:grpSpPr>
        <a:xfrm>
          <a:off x="0" y="0"/>
          <a:ext cx="0" cy="0"/>
          <a:chOff x="0" y="0"/>
          <a:chExt cx="0" cy="0"/>
        </a:xfrm>
      </p:grpSpPr>
      <p:sp>
        <p:nvSpPr>
          <p:cNvPr id="53" name="Google Shape;53;g38b926ca763_2_2:notes"/>
          <p:cNvSpPr/>
          <p:nvPr>
            <p:ph idx="2" type="sldImg"/>
          </p:nvPr>
        </p:nvSpPr>
        <p:spPr>
          <a:xfrm>
            <a:off x="685800" y="857250"/>
            <a:ext cx="5486400" cy="2314575"/>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4" name="Google Shape;54;g38b926ca763_2_2:notes"/>
          <p:cNvSpPr txBox="1"/>
          <p:nvPr>
            <p:ph idx="1" type="body"/>
          </p:nvPr>
        </p:nvSpPr>
        <p:spPr>
          <a:xfrm>
            <a:off x="685800" y="3300413"/>
            <a:ext cx="5486400" cy="2700338"/>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
              <a:t>Open with the promise: everyone leaves with a working skill in their own repo, and a measured before/after from a real warehouse. Set expectation that we will run one workflow end to end rather than skim five.</a:t>
            </a:r>
            <a:endParaRPr/>
          </a:p>
        </p:txBody>
      </p:sp>
      <p:sp>
        <p:nvSpPr>
          <p:cNvPr id="55" name="Google Shape;55;g38b926ca763_2_2:notes"/>
          <p:cNvSpPr txBox="1"/>
          <p:nvPr>
            <p:ph idx="12" type="sldNum"/>
          </p:nvPr>
        </p:nvSpPr>
        <p:spPr>
          <a:xfrm>
            <a:off x="3884613" y="6513910"/>
            <a:ext cx="2971800" cy="34409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
              <a:t>‹#›</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 name="Shape 62"/>
        <p:cNvGrpSpPr/>
        <p:nvPr/>
      </p:nvGrpSpPr>
      <p:grpSpPr>
        <a:xfrm>
          <a:off x="0" y="0"/>
          <a:ext cx="0" cy="0"/>
          <a:chOff x="0" y="0"/>
          <a:chExt cx="0" cy="0"/>
        </a:xfrm>
      </p:grpSpPr>
      <p:sp>
        <p:nvSpPr>
          <p:cNvPr id="63" name="Google Shape;63;g38b926ca763_2_12:notes"/>
          <p:cNvSpPr/>
          <p:nvPr>
            <p:ph idx="2" type="sldImg"/>
          </p:nvPr>
        </p:nvSpPr>
        <p:spPr>
          <a:xfrm>
            <a:off x="685800" y="857250"/>
            <a:ext cx="5486400" cy="2314575"/>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4" name="Google Shape;64;g38b926ca763_2_12:notes"/>
          <p:cNvSpPr txBox="1"/>
          <p:nvPr>
            <p:ph idx="1" type="body"/>
          </p:nvPr>
        </p:nvSpPr>
        <p:spPr>
          <a:xfrm>
            <a:off x="685800" y="3300413"/>
            <a:ext cx="5486400" cy="2700338"/>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
              <a:t>This is the framing that earns permission for everything else. Ask the room: who has shipped a number that was wrong and nobody noticed for weeks? Most hands go up.</a:t>
            </a:r>
            <a:endParaRPr/>
          </a:p>
        </p:txBody>
      </p:sp>
      <p:sp>
        <p:nvSpPr>
          <p:cNvPr id="65" name="Google Shape;65;g38b926ca763_2_12:notes"/>
          <p:cNvSpPr txBox="1"/>
          <p:nvPr>
            <p:ph idx="12" type="sldNum"/>
          </p:nvPr>
        </p:nvSpPr>
        <p:spPr>
          <a:xfrm>
            <a:off x="3884613" y="6513910"/>
            <a:ext cx="2971800" cy="34409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6" name="Shape 76"/>
        <p:cNvGrpSpPr/>
        <p:nvPr/>
      </p:nvGrpSpPr>
      <p:grpSpPr>
        <a:xfrm>
          <a:off x="0" y="0"/>
          <a:ext cx="0" cy="0"/>
          <a:chOff x="0" y="0"/>
          <a:chExt cx="0" cy="0"/>
        </a:xfrm>
      </p:grpSpPr>
      <p:sp>
        <p:nvSpPr>
          <p:cNvPr id="77" name="Google Shape;77;g38b926ca763_0_0:notes"/>
          <p:cNvSpPr/>
          <p:nvPr>
            <p:ph idx="2" type="sldImg"/>
          </p:nvPr>
        </p:nvSpPr>
        <p:spPr>
          <a:xfrm>
            <a:off x="685800" y="857250"/>
            <a:ext cx="5486400" cy="23145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8" name="Google Shape;78;g38b926ca763_0_0:notes"/>
          <p:cNvSpPr txBox="1"/>
          <p:nvPr>
            <p:ph idx="1" type="body"/>
          </p:nvPr>
        </p:nvSpPr>
        <p:spPr>
          <a:xfrm>
            <a:off x="685800" y="3300413"/>
            <a:ext cx="5486400" cy="27003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
              <a:t>They went on the same journey that we are go on today and leave us with the lesson that even once this is implemented, it will need attention.</a:t>
            </a:r>
            <a:endParaRPr/>
          </a:p>
        </p:txBody>
      </p:sp>
      <p:sp>
        <p:nvSpPr>
          <p:cNvPr id="79" name="Google Shape;79;g38b926ca763_0_0:notes"/>
          <p:cNvSpPr txBox="1"/>
          <p:nvPr>
            <p:ph idx="12" type="sldNum"/>
          </p:nvPr>
        </p:nvSpPr>
        <p:spPr>
          <a:xfrm>
            <a:off x="3884613" y="6513910"/>
            <a:ext cx="2971800" cy="3441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 name="Shape 84"/>
        <p:cNvGrpSpPr/>
        <p:nvPr/>
      </p:nvGrpSpPr>
      <p:grpSpPr>
        <a:xfrm>
          <a:off x="0" y="0"/>
          <a:ext cx="0" cy="0"/>
          <a:chOff x="0" y="0"/>
          <a:chExt cx="0" cy="0"/>
        </a:xfrm>
      </p:grpSpPr>
      <p:sp>
        <p:nvSpPr>
          <p:cNvPr id="85" name="Google Shape;85;g38b926ca763_2_25:notes"/>
          <p:cNvSpPr/>
          <p:nvPr>
            <p:ph idx="2" type="sldImg"/>
          </p:nvPr>
        </p:nvSpPr>
        <p:spPr>
          <a:xfrm>
            <a:off x="685800" y="857250"/>
            <a:ext cx="5486400" cy="2314575"/>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6" name="Google Shape;86;g38b926ca763_2_25:notes"/>
          <p:cNvSpPr txBox="1"/>
          <p:nvPr>
            <p:ph idx="1" type="body"/>
          </p:nvPr>
        </p:nvSpPr>
        <p:spPr>
          <a:xfrm>
            <a:off x="685800" y="3300413"/>
            <a:ext cx="5486400" cy="2700338"/>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
              <a:t>The first three are tractable with better routing. The fourth is why provenance and review exist. Everything in the pack attacks at least one of these.</a:t>
            </a:r>
            <a:endParaRPr/>
          </a:p>
        </p:txBody>
      </p:sp>
      <p:sp>
        <p:nvSpPr>
          <p:cNvPr id="87" name="Google Shape;87;g38b926ca763_2_25:notes"/>
          <p:cNvSpPr txBox="1"/>
          <p:nvPr>
            <p:ph idx="12" type="sldNum"/>
          </p:nvPr>
        </p:nvSpPr>
        <p:spPr>
          <a:xfrm>
            <a:off x="3884613" y="6513910"/>
            <a:ext cx="2971800" cy="34409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 name="Shape 103"/>
        <p:cNvGrpSpPr/>
        <p:nvPr/>
      </p:nvGrpSpPr>
      <p:grpSpPr>
        <a:xfrm>
          <a:off x="0" y="0"/>
          <a:ext cx="0" cy="0"/>
          <a:chOff x="0" y="0"/>
          <a:chExt cx="0" cy="0"/>
        </a:xfrm>
      </p:grpSpPr>
      <p:sp>
        <p:nvSpPr>
          <p:cNvPr id="104" name="Google Shape;104;g38b926ca763_2_43:notes"/>
          <p:cNvSpPr/>
          <p:nvPr>
            <p:ph idx="2" type="sldImg"/>
          </p:nvPr>
        </p:nvSpPr>
        <p:spPr>
          <a:xfrm>
            <a:off x="685800" y="857250"/>
            <a:ext cx="5486400" cy="2314575"/>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5" name="Google Shape;105;g38b926ca763_2_43:notes"/>
          <p:cNvSpPr txBox="1"/>
          <p:nvPr>
            <p:ph idx="1" type="body"/>
          </p:nvPr>
        </p:nvSpPr>
        <p:spPr>
          <a:xfrm>
            <a:off x="685800" y="3300413"/>
            <a:ext cx="5486400" cy="2700338"/>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
              <a:t>Credit Every's compound engineering for the loop shape. The fourth step is what separates this from ordinary AI-assisted work. A stakeholder correction is a labeled error diagnosed for free by someone with domain authority — throwing it away after patching the answer wastes the best signal you get.</a:t>
            </a:r>
            <a:endParaRPr/>
          </a:p>
        </p:txBody>
      </p:sp>
      <p:sp>
        <p:nvSpPr>
          <p:cNvPr id="106" name="Google Shape;106;g38b926ca763_2_43:notes"/>
          <p:cNvSpPr txBox="1"/>
          <p:nvPr>
            <p:ph idx="12" type="sldNum"/>
          </p:nvPr>
        </p:nvSpPr>
        <p:spPr>
          <a:xfrm>
            <a:off x="3884613" y="6513910"/>
            <a:ext cx="2971800" cy="34409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2" name="Shape 132"/>
        <p:cNvGrpSpPr/>
        <p:nvPr/>
      </p:nvGrpSpPr>
      <p:grpSpPr>
        <a:xfrm>
          <a:off x="0" y="0"/>
          <a:ext cx="0" cy="0"/>
          <a:chOff x="0" y="0"/>
          <a:chExt cx="0" cy="0"/>
        </a:xfrm>
      </p:grpSpPr>
      <p:sp>
        <p:nvSpPr>
          <p:cNvPr id="133" name="Google Shape;133;g38b926ca763_2_71:notes"/>
          <p:cNvSpPr/>
          <p:nvPr>
            <p:ph idx="2" type="sldImg"/>
          </p:nvPr>
        </p:nvSpPr>
        <p:spPr>
          <a:xfrm>
            <a:off x="685800" y="857250"/>
            <a:ext cx="5486400" cy="2314575"/>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4" name="Google Shape;134;g38b926ca763_2_71:notes"/>
          <p:cNvSpPr txBox="1"/>
          <p:nvPr>
            <p:ph idx="1" type="body"/>
          </p:nvPr>
        </p:nvSpPr>
        <p:spPr>
          <a:xfrm>
            <a:off x="685800" y="3300413"/>
            <a:ext cx="5486400" cy="2700338"/>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
              <a:t>This is the moment the room relaxes. Most arrive expecting to write Python. The hard part is domain knowledge, which they already have and have never written down.</a:t>
            </a:r>
            <a:endParaRPr/>
          </a:p>
        </p:txBody>
      </p:sp>
      <p:sp>
        <p:nvSpPr>
          <p:cNvPr id="135" name="Google Shape;135;g38b926ca763_2_71:notes"/>
          <p:cNvSpPr txBox="1"/>
          <p:nvPr>
            <p:ph idx="12" type="sldNum"/>
          </p:nvPr>
        </p:nvSpPr>
        <p:spPr>
          <a:xfrm>
            <a:off x="3884613" y="6513910"/>
            <a:ext cx="2971800" cy="34409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9" name="Shape 149"/>
        <p:cNvGrpSpPr/>
        <p:nvPr/>
      </p:nvGrpSpPr>
      <p:grpSpPr>
        <a:xfrm>
          <a:off x="0" y="0"/>
          <a:ext cx="0" cy="0"/>
          <a:chOff x="0" y="0"/>
          <a:chExt cx="0" cy="0"/>
        </a:xfrm>
      </p:grpSpPr>
      <p:sp>
        <p:nvSpPr>
          <p:cNvPr id="150" name="Google Shape;150;g38b926ca763_2_87:notes"/>
          <p:cNvSpPr/>
          <p:nvPr>
            <p:ph idx="2" type="sldImg"/>
          </p:nvPr>
        </p:nvSpPr>
        <p:spPr>
          <a:xfrm>
            <a:off x="685800" y="857250"/>
            <a:ext cx="5486400" cy="2314575"/>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1" name="Google Shape;151;g38b926ca763_2_87:notes"/>
          <p:cNvSpPr txBox="1"/>
          <p:nvPr>
            <p:ph idx="1" type="body"/>
          </p:nvPr>
        </p:nvSpPr>
        <p:spPr>
          <a:xfrm>
            <a:off x="685800" y="3300413"/>
            <a:ext cx="5486400" cy="2700338"/>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
              <a:t>The expense-justification line: they leave as a named contributor to an open-source pack, not with a certificate of attendance.</a:t>
            </a:r>
            <a:endParaRPr/>
          </a:p>
        </p:txBody>
      </p:sp>
      <p:sp>
        <p:nvSpPr>
          <p:cNvPr id="152" name="Google Shape;152;g38b926ca763_2_87:notes"/>
          <p:cNvSpPr txBox="1"/>
          <p:nvPr>
            <p:ph idx="12" type="sldNum"/>
          </p:nvPr>
        </p:nvSpPr>
        <p:spPr>
          <a:xfrm>
            <a:off x="3884613" y="6513910"/>
            <a:ext cx="2971800" cy="34409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0" name="Shape 170"/>
        <p:cNvGrpSpPr/>
        <p:nvPr/>
      </p:nvGrpSpPr>
      <p:grpSpPr>
        <a:xfrm>
          <a:off x="0" y="0"/>
          <a:ext cx="0" cy="0"/>
          <a:chOff x="0" y="0"/>
          <a:chExt cx="0" cy="0"/>
        </a:xfrm>
      </p:grpSpPr>
      <p:sp>
        <p:nvSpPr>
          <p:cNvPr id="171" name="Google Shape;171;g38b926ca763_2_107:notes"/>
          <p:cNvSpPr/>
          <p:nvPr>
            <p:ph idx="2" type="sldImg"/>
          </p:nvPr>
        </p:nvSpPr>
        <p:spPr>
          <a:xfrm>
            <a:off x="685800" y="857250"/>
            <a:ext cx="5486400" cy="2314575"/>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2" name="Google Shape;172;g38b926ca763_2_107:notes"/>
          <p:cNvSpPr txBox="1"/>
          <p:nvPr>
            <p:ph idx="1" type="body"/>
          </p:nvPr>
        </p:nvSpPr>
        <p:spPr>
          <a:xfrm>
            <a:off x="685800" y="3300413"/>
            <a:ext cx="5486400" cy="2700338"/>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
              <a:t>One DuckDB file, no server, works offline. Reproducible from a fixed seed. Participants get no reference docs — writing one is the exercise.</a:t>
            </a:r>
            <a:endParaRPr/>
          </a:p>
        </p:txBody>
      </p:sp>
      <p:sp>
        <p:nvSpPr>
          <p:cNvPr id="173" name="Google Shape;173;g38b926ca763_2_107:notes"/>
          <p:cNvSpPr txBox="1"/>
          <p:nvPr>
            <p:ph idx="12" type="sldNum"/>
          </p:nvPr>
        </p:nvSpPr>
        <p:spPr>
          <a:xfrm>
            <a:off x="3884613" y="6513910"/>
            <a:ext cx="2971800" cy="34409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3" name="Shape 193"/>
        <p:cNvGrpSpPr/>
        <p:nvPr/>
      </p:nvGrpSpPr>
      <p:grpSpPr>
        <a:xfrm>
          <a:off x="0" y="0"/>
          <a:ext cx="0" cy="0"/>
          <a:chOff x="0" y="0"/>
          <a:chExt cx="0" cy="0"/>
        </a:xfrm>
      </p:grpSpPr>
      <p:sp>
        <p:nvSpPr>
          <p:cNvPr id="194" name="Google Shape;194;g38b926ca763_2_129:notes"/>
          <p:cNvSpPr/>
          <p:nvPr>
            <p:ph idx="2" type="sldImg"/>
          </p:nvPr>
        </p:nvSpPr>
        <p:spPr>
          <a:xfrm>
            <a:off x="685800" y="857250"/>
            <a:ext cx="5486400" cy="2314575"/>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5" name="Google Shape;195;g38b926ca763_2_129:notes"/>
          <p:cNvSpPr txBox="1"/>
          <p:nvPr>
            <p:ph idx="1" type="body"/>
          </p:nvPr>
        </p:nvSpPr>
        <p:spPr>
          <a:xfrm>
            <a:off x="685800" y="3300413"/>
            <a:ext cx="5486400" cy="2700338"/>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
              <a:t>Show the actual response text from results/baseline.json next to results/skills.json. Real output beats any abstract argument. Caveat honestly: one slice, one run.</a:t>
            </a:r>
            <a:endParaRPr/>
          </a:p>
        </p:txBody>
      </p:sp>
      <p:sp>
        <p:nvSpPr>
          <p:cNvPr id="196" name="Google Shape;196;g38b926ca763_2_129:notes"/>
          <p:cNvSpPr txBox="1"/>
          <p:nvPr>
            <p:ph idx="12" type="sldNum"/>
          </p:nvPr>
        </p:nvSpPr>
        <p:spPr>
          <a:xfrm>
            <a:off x="3884613" y="6513910"/>
            <a:ext cx="2971800" cy="34409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 name="Shape 210"/>
        <p:cNvGrpSpPr/>
        <p:nvPr/>
      </p:nvGrpSpPr>
      <p:grpSpPr>
        <a:xfrm>
          <a:off x="0" y="0"/>
          <a:ext cx="0" cy="0"/>
          <a:chOff x="0" y="0"/>
          <a:chExt cx="0" cy="0"/>
        </a:xfrm>
      </p:grpSpPr>
      <p:sp>
        <p:nvSpPr>
          <p:cNvPr id="211" name="Google Shape;211;g38b926ca763_2_145:notes"/>
          <p:cNvSpPr/>
          <p:nvPr>
            <p:ph idx="2" type="sldImg"/>
          </p:nvPr>
        </p:nvSpPr>
        <p:spPr>
          <a:xfrm>
            <a:off x="685800" y="857250"/>
            <a:ext cx="5486400" cy="2314575"/>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2" name="Google Shape;212;g38b926ca763_2_145:notes"/>
          <p:cNvSpPr txBox="1"/>
          <p:nvPr>
            <p:ph idx="1" type="body"/>
          </p:nvPr>
        </p:nvSpPr>
        <p:spPr>
          <a:xfrm>
            <a:off x="685800" y="3300413"/>
            <a:ext cx="5486400" cy="2700338"/>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
              <a:t>This is the I-O contribution. A software engineer would not think to write down immortal time bias or why Wald intervals fail exactly where workforce data lives.</a:t>
            </a:r>
            <a:endParaRPr/>
          </a:p>
        </p:txBody>
      </p:sp>
      <p:sp>
        <p:nvSpPr>
          <p:cNvPr id="213" name="Google Shape;213;g38b926ca763_2_145:notes"/>
          <p:cNvSpPr txBox="1"/>
          <p:nvPr>
            <p:ph idx="12" type="sldNum"/>
          </p:nvPr>
        </p:nvSpPr>
        <p:spPr>
          <a:xfrm>
            <a:off x="3884613" y="6513910"/>
            <a:ext cx="2971800" cy="34409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
              <a:t>‹#›</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5" name="Shape 225"/>
        <p:cNvGrpSpPr/>
        <p:nvPr/>
      </p:nvGrpSpPr>
      <p:grpSpPr>
        <a:xfrm>
          <a:off x="0" y="0"/>
          <a:ext cx="0" cy="0"/>
          <a:chOff x="0" y="0"/>
          <a:chExt cx="0" cy="0"/>
        </a:xfrm>
      </p:grpSpPr>
      <p:sp>
        <p:nvSpPr>
          <p:cNvPr id="226" name="Google Shape;226;g38b926ca763_2_159:notes"/>
          <p:cNvSpPr/>
          <p:nvPr>
            <p:ph idx="2" type="sldImg"/>
          </p:nvPr>
        </p:nvSpPr>
        <p:spPr>
          <a:xfrm>
            <a:off x="685800" y="857250"/>
            <a:ext cx="5486400" cy="2314575"/>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7" name="Google Shape;227;g38b926ca763_2_159:notes"/>
          <p:cNvSpPr txBox="1"/>
          <p:nvPr>
            <p:ph idx="1" type="body"/>
          </p:nvPr>
        </p:nvSpPr>
        <p:spPr>
          <a:xfrm>
            <a:off x="685800" y="3300413"/>
            <a:ext cx="5486400" cy="2700338"/>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
              <a:t>Sections are ordered by how much each reduces wrong answers. If someone runs out of time at minute 30, the parts they finished are the parts that mattered. The Gotchas prompt is the one that unlocks the room — everyone has twenty of these in their head.</a:t>
            </a:r>
            <a:endParaRPr/>
          </a:p>
        </p:txBody>
      </p:sp>
      <p:sp>
        <p:nvSpPr>
          <p:cNvPr id="228" name="Google Shape;228;g38b926ca763_2_159:notes"/>
          <p:cNvSpPr txBox="1"/>
          <p:nvPr>
            <p:ph idx="12" type="sldNum"/>
          </p:nvPr>
        </p:nvSpPr>
        <p:spPr>
          <a:xfrm>
            <a:off x="3884613" y="6513910"/>
            <a:ext cx="2971800" cy="34409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3" name="Shape 253"/>
        <p:cNvGrpSpPr/>
        <p:nvPr/>
      </p:nvGrpSpPr>
      <p:grpSpPr>
        <a:xfrm>
          <a:off x="0" y="0"/>
          <a:ext cx="0" cy="0"/>
          <a:chOff x="0" y="0"/>
          <a:chExt cx="0" cy="0"/>
        </a:xfrm>
      </p:grpSpPr>
      <p:sp>
        <p:nvSpPr>
          <p:cNvPr id="254" name="Google Shape;254;g38b926ca763_2_186:notes"/>
          <p:cNvSpPr/>
          <p:nvPr>
            <p:ph idx="2" type="sldImg"/>
          </p:nvPr>
        </p:nvSpPr>
        <p:spPr>
          <a:xfrm>
            <a:off x="685800" y="857250"/>
            <a:ext cx="5486400" cy="2314575"/>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5" name="Google Shape;255;g38b926ca763_2_186:notes"/>
          <p:cNvSpPr txBox="1"/>
          <p:nvPr>
            <p:ph idx="1" type="body"/>
          </p:nvPr>
        </p:nvSpPr>
        <p:spPr>
          <a:xfrm>
            <a:off x="685800" y="3300413"/>
            <a:ext cx="5486400" cy="2700338"/>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
              <a:t>Evals-before-skill is the TDD analogy and it earns credibility with a rigorous audience. Nobody gets to claim their skill 'feels better'.</a:t>
            </a:r>
            <a:endParaRPr/>
          </a:p>
        </p:txBody>
      </p:sp>
      <p:sp>
        <p:nvSpPr>
          <p:cNvPr id="256" name="Google Shape;256;g38b926ca763_2_186:notes"/>
          <p:cNvSpPr txBox="1"/>
          <p:nvPr>
            <p:ph idx="12" type="sldNum"/>
          </p:nvPr>
        </p:nvSpPr>
        <p:spPr>
          <a:xfrm>
            <a:off x="3884613" y="6513910"/>
            <a:ext cx="2971800" cy="34409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g38b926ca763_2_207:notes"/>
          <p:cNvSpPr/>
          <p:nvPr>
            <p:ph idx="2" type="sldImg"/>
          </p:nvPr>
        </p:nvSpPr>
        <p:spPr>
          <a:xfrm>
            <a:off x="685800" y="857250"/>
            <a:ext cx="5486400" cy="2314575"/>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7" name="Google Shape;277;g38b926ca763_2_207:notes"/>
          <p:cNvSpPr txBox="1"/>
          <p:nvPr>
            <p:ph idx="1" type="body"/>
          </p:nvPr>
        </p:nvSpPr>
        <p:spPr>
          <a:xfrm>
            <a:off x="685800" y="3300413"/>
            <a:ext cx="5486400" cy="2700338"/>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
              <a:t>Lead with the number, then immediately give the caveats on the next slide. The mean and median agree (+28.2 / +27.8), so it is not one outlier carrying the result. Say plainly that this is one run by the people who wrote the skills.</a:t>
            </a:r>
            <a:endParaRPr/>
          </a:p>
        </p:txBody>
      </p:sp>
      <p:sp>
        <p:nvSpPr>
          <p:cNvPr id="278" name="Google Shape;278;g38b926ca763_2_207:notes"/>
          <p:cNvSpPr txBox="1"/>
          <p:nvPr>
            <p:ph idx="12" type="sldNum"/>
          </p:nvPr>
        </p:nvSpPr>
        <p:spPr>
          <a:xfrm>
            <a:off x="3884613" y="6513910"/>
            <a:ext cx="2971800" cy="34409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4" name="Shape 314"/>
        <p:cNvGrpSpPr/>
        <p:nvPr/>
      </p:nvGrpSpPr>
      <p:grpSpPr>
        <a:xfrm>
          <a:off x="0" y="0"/>
          <a:ext cx="0" cy="0"/>
          <a:chOff x="0" y="0"/>
          <a:chExt cx="0" cy="0"/>
        </a:xfrm>
      </p:grpSpPr>
      <p:sp>
        <p:nvSpPr>
          <p:cNvPr id="315" name="Google Shape;315;g38b926ca763_2_245:notes"/>
          <p:cNvSpPr/>
          <p:nvPr>
            <p:ph idx="2" type="sldImg"/>
          </p:nvPr>
        </p:nvSpPr>
        <p:spPr>
          <a:xfrm>
            <a:off x="685800" y="857250"/>
            <a:ext cx="5486400" cy="2314575"/>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16" name="Google Shape;316;g38b926ca763_2_245:notes"/>
          <p:cNvSpPr txBox="1"/>
          <p:nvPr>
            <p:ph idx="1" type="body"/>
          </p:nvPr>
        </p:nvSpPr>
        <p:spPr>
          <a:xfrm>
            <a:off x="685800" y="3300413"/>
            <a:ext cx="5486400" cy="2700338"/>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
              <a:t>This slide is the point of the workshop. Anyone can report +28. Reporting +28 alongside the over-firing cost, the non-random missing data, and a sensitivity analysis is what makes it trustworthy. Note that the censoring problem here is exactly pattern 2 in analysis-patterns.md — we hit it in our own measurement.</a:t>
            </a:r>
            <a:endParaRPr/>
          </a:p>
        </p:txBody>
      </p:sp>
      <p:sp>
        <p:nvSpPr>
          <p:cNvPr id="317" name="Google Shape;317;g38b926ca763_2_245:notes"/>
          <p:cNvSpPr txBox="1"/>
          <p:nvPr>
            <p:ph idx="12" type="sldNum"/>
          </p:nvPr>
        </p:nvSpPr>
        <p:spPr>
          <a:xfrm>
            <a:off x="3884613" y="6513910"/>
            <a:ext cx="2971800" cy="34409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0" name="Shape 330"/>
        <p:cNvGrpSpPr/>
        <p:nvPr/>
      </p:nvGrpSpPr>
      <p:grpSpPr>
        <a:xfrm>
          <a:off x="0" y="0"/>
          <a:ext cx="0" cy="0"/>
          <a:chOff x="0" y="0"/>
          <a:chExt cx="0" cy="0"/>
        </a:xfrm>
      </p:grpSpPr>
      <p:sp>
        <p:nvSpPr>
          <p:cNvPr id="331" name="Google Shape;331;g38b926ca763_2_260:notes"/>
          <p:cNvSpPr/>
          <p:nvPr>
            <p:ph idx="2" type="sldImg"/>
          </p:nvPr>
        </p:nvSpPr>
        <p:spPr>
          <a:xfrm>
            <a:off x="685800" y="857250"/>
            <a:ext cx="5486400" cy="2314575"/>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32" name="Google Shape;332;g38b926ca763_2_260:notes"/>
          <p:cNvSpPr txBox="1"/>
          <p:nvPr>
            <p:ph idx="1" type="body"/>
          </p:nvPr>
        </p:nvSpPr>
        <p:spPr>
          <a:xfrm>
            <a:off x="685800" y="3300413"/>
            <a:ext cx="5486400" cy="2700338"/>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
              <a:t>This is the sharper, more defensible version of the routing argument. The earlier broken run suggested loading everything tanks accuracy outright (-9) -- that was a harness bug, not a finding. The clean isolation shows something more interesting and more true: raw task performance barely moves, but the agent's judgment about when a rule applies degrades measurably, and it burns more of its own turn budget doing so. That is a better argument for a thin router than a scarier, less accurate one would have been.</a:t>
            </a:r>
            <a:endParaRPr/>
          </a:p>
        </p:txBody>
      </p:sp>
      <p:sp>
        <p:nvSpPr>
          <p:cNvPr id="333" name="Google Shape;333;g38b926ca763_2_260:notes"/>
          <p:cNvSpPr txBox="1"/>
          <p:nvPr>
            <p:ph idx="12" type="sldNum"/>
          </p:nvPr>
        </p:nvSpPr>
        <p:spPr>
          <a:xfrm>
            <a:off x="3884613" y="6513910"/>
            <a:ext cx="2971800" cy="34409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4" name="Shape 354"/>
        <p:cNvGrpSpPr/>
        <p:nvPr/>
      </p:nvGrpSpPr>
      <p:grpSpPr>
        <a:xfrm>
          <a:off x="0" y="0"/>
          <a:ext cx="0" cy="0"/>
          <a:chOff x="0" y="0"/>
          <a:chExt cx="0" cy="0"/>
        </a:xfrm>
      </p:grpSpPr>
      <p:sp>
        <p:nvSpPr>
          <p:cNvPr id="355" name="Google Shape;355;g38b926ca763_2_283:notes"/>
          <p:cNvSpPr/>
          <p:nvPr>
            <p:ph idx="2" type="sldImg"/>
          </p:nvPr>
        </p:nvSpPr>
        <p:spPr>
          <a:xfrm>
            <a:off x="685800" y="857250"/>
            <a:ext cx="5486400" cy="2314575"/>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56" name="Google Shape;356;g38b926ca763_2_283:notes"/>
          <p:cNvSpPr txBox="1"/>
          <p:nvPr>
            <p:ph idx="1" type="body"/>
          </p:nvPr>
        </p:nvSpPr>
        <p:spPr>
          <a:xfrm>
            <a:off x="685800" y="3300413"/>
            <a:ext cx="5486400" cy="2700338"/>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
              <a:t>These happened while building the pack whose entire purpose is preventing them. That is not embarrassing, it is the point — the failure mode is structural, not a matter of care. Tell this story; it lands harder than any abstract warning.</a:t>
            </a:r>
            <a:endParaRPr/>
          </a:p>
        </p:txBody>
      </p:sp>
      <p:sp>
        <p:nvSpPr>
          <p:cNvPr id="357" name="Google Shape;357;g38b926ca763_2_283:notes"/>
          <p:cNvSpPr txBox="1"/>
          <p:nvPr>
            <p:ph idx="12" type="sldNum"/>
          </p:nvPr>
        </p:nvSpPr>
        <p:spPr>
          <a:xfrm>
            <a:off x="3884613" y="6513910"/>
            <a:ext cx="2971800" cy="34409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
              <a:t>‹#›</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7" name="Shape 377"/>
        <p:cNvGrpSpPr/>
        <p:nvPr/>
      </p:nvGrpSpPr>
      <p:grpSpPr>
        <a:xfrm>
          <a:off x="0" y="0"/>
          <a:ext cx="0" cy="0"/>
          <a:chOff x="0" y="0"/>
          <a:chExt cx="0" cy="0"/>
        </a:xfrm>
      </p:grpSpPr>
      <p:sp>
        <p:nvSpPr>
          <p:cNvPr id="378" name="Google Shape;378;g38b926ca763_2_305:notes"/>
          <p:cNvSpPr/>
          <p:nvPr>
            <p:ph idx="2" type="sldImg"/>
          </p:nvPr>
        </p:nvSpPr>
        <p:spPr>
          <a:xfrm>
            <a:off x="685800" y="857250"/>
            <a:ext cx="5486400" cy="2314575"/>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79" name="Google Shape;379;g38b926ca763_2_305:notes"/>
          <p:cNvSpPr txBox="1"/>
          <p:nvPr>
            <p:ph idx="1" type="body"/>
          </p:nvPr>
        </p:nvSpPr>
        <p:spPr>
          <a:xfrm>
            <a:off x="685800" y="3300413"/>
            <a:ext cx="5486400" cy="2700338"/>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
              <a:t>One workflow end to end. Everything else ships as reference material they take home. Depth over coverage.</a:t>
            </a:r>
            <a:endParaRPr/>
          </a:p>
        </p:txBody>
      </p:sp>
      <p:sp>
        <p:nvSpPr>
          <p:cNvPr id="380" name="Google Shape;380;g38b926ca763_2_305:notes"/>
          <p:cNvSpPr txBox="1"/>
          <p:nvPr>
            <p:ph idx="12" type="sldNum"/>
          </p:nvPr>
        </p:nvSpPr>
        <p:spPr>
          <a:xfrm>
            <a:off x="3884613" y="6513910"/>
            <a:ext cx="2971800" cy="34409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
              <a:t>‹#›</a:t>
            </a:fld>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6" name="Shape 416"/>
        <p:cNvGrpSpPr/>
        <p:nvPr/>
      </p:nvGrpSpPr>
      <p:grpSpPr>
        <a:xfrm>
          <a:off x="0" y="0"/>
          <a:ext cx="0" cy="0"/>
          <a:chOff x="0" y="0"/>
          <a:chExt cx="0" cy="0"/>
        </a:xfrm>
      </p:grpSpPr>
      <p:sp>
        <p:nvSpPr>
          <p:cNvPr id="417" name="Google Shape;417;g38b926ca763_2_343:notes"/>
          <p:cNvSpPr/>
          <p:nvPr>
            <p:ph idx="2" type="sldImg"/>
          </p:nvPr>
        </p:nvSpPr>
        <p:spPr>
          <a:xfrm>
            <a:off x="685800" y="857250"/>
            <a:ext cx="5486400" cy="2314575"/>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18" name="Google Shape;418;g38b926ca763_2_343:notes"/>
          <p:cNvSpPr txBox="1"/>
          <p:nvPr>
            <p:ph idx="1" type="body"/>
          </p:nvPr>
        </p:nvSpPr>
        <p:spPr>
          <a:xfrm>
            <a:off x="685800" y="3300413"/>
            <a:ext cx="5486400" cy="2700338"/>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
              <a:t>Close on the habit, not the artifact. The skills will go stale; the discipline of verifying instead of eyeballing is what survives.</a:t>
            </a:r>
            <a:endParaRPr/>
          </a:p>
        </p:txBody>
      </p:sp>
      <p:sp>
        <p:nvSpPr>
          <p:cNvPr id="419" name="Google Shape;419;g38b926ca763_2_343:notes"/>
          <p:cNvSpPr txBox="1"/>
          <p:nvPr>
            <p:ph idx="12" type="sldNum"/>
          </p:nvPr>
        </p:nvSpPr>
        <p:spPr>
          <a:xfrm>
            <a:off x="3884613" y="6513910"/>
            <a:ext cx="2971800" cy="34409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
              <a:t>‹#›</a:t>
            </a:fld>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51" name="Shape 51"/>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theme" Target="../theme/theme3.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 name="Shape 50"/>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59" r:id="rId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22303C"/>
        </a:solidFill>
      </p:bgPr>
    </p:bg>
    <p:spTree>
      <p:nvGrpSpPr>
        <p:cNvPr id="56" name="Shape 56"/>
        <p:cNvGrpSpPr/>
        <p:nvPr/>
      </p:nvGrpSpPr>
      <p:grpSpPr>
        <a:xfrm>
          <a:off x="0" y="0"/>
          <a:ext cx="0" cy="0"/>
          <a:chOff x="0" y="0"/>
          <a:chExt cx="0" cy="0"/>
        </a:xfrm>
      </p:grpSpPr>
      <p:sp>
        <p:nvSpPr>
          <p:cNvPr id="57" name="Google Shape;57;p15"/>
          <p:cNvSpPr/>
          <p:nvPr/>
        </p:nvSpPr>
        <p:spPr>
          <a:xfrm>
            <a:off x="480060" y="1371600"/>
            <a:ext cx="96012" cy="1714500"/>
          </a:xfrm>
          <a:prstGeom prst="roundRect">
            <a:avLst>
              <a:gd fmla="val 50000" name="adj"/>
            </a:avLst>
          </a:prstGeom>
          <a:solidFill>
            <a:srgbClr val="E8663C"/>
          </a:solidFill>
          <a:ln cap="flat" cmpd="sng" w="12700">
            <a:solidFill>
              <a:srgbClr val="E8663C"/>
            </a:solidFill>
            <a:prstDash val="solid"/>
            <a:round/>
            <a:headEnd len="sm" w="sm" type="none"/>
            <a:tailEnd len="sm" w="sm" type="none"/>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58" name="Google Shape;58;p15"/>
          <p:cNvSpPr/>
          <p:nvPr/>
        </p:nvSpPr>
        <p:spPr>
          <a:xfrm>
            <a:off x="788670" y="1371600"/>
            <a:ext cx="6515100" cy="8915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4400"/>
              <a:buFont typeface="Cambria"/>
              <a:buNone/>
            </a:pPr>
            <a:r>
              <a:rPr b="1" i="0" lang="en" sz="4400" u="none" cap="none" strike="noStrike">
                <a:solidFill>
                  <a:srgbClr val="FFFFFF"/>
                </a:solidFill>
                <a:latin typeface="Cambria"/>
                <a:ea typeface="Cambria"/>
                <a:cs typeface="Cambria"/>
                <a:sym typeface="Cambria"/>
              </a:rPr>
              <a:t>Vibe Analytics</a:t>
            </a:r>
            <a:endParaRPr b="0" i="0" sz="4400" u="none" cap="none" strike="noStrike">
              <a:solidFill>
                <a:schemeClr val="dk1"/>
              </a:solidFill>
              <a:latin typeface="Calibri"/>
              <a:ea typeface="Calibri"/>
              <a:cs typeface="Calibri"/>
              <a:sym typeface="Calibri"/>
            </a:endParaRPr>
          </a:p>
        </p:txBody>
      </p:sp>
      <p:sp>
        <p:nvSpPr>
          <p:cNvPr id="59" name="Google Shape;59;p15"/>
          <p:cNvSpPr/>
          <p:nvPr/>
        </p:nvSpPr>
        <p:spPr>
          <a:xfrm>
            <a:off x="788670" y="2263140"/>
            <a:ext cx="6515100" cy="4114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BD5DD"/>
              </a:buClr>
              <a:buSzPts val="1700"/>
              <a:buFont typeface="Calibri"/>
              <a:buNone/>
            </a:pPr>
            <a:r>
              <a:rPr b="0" i="0" lang="en" sz="1700" u="none" cap="none" strike="noStrike">
                <a:solidFill>
                  <a:srgbClr val="CBD5DD"/>
                </a:solidFill>
                <a:latin typeface="Calibri"/>
                <a:ea typeface="Calibri"/>
                <a:cs typeface="Calibri"/>
                <a:sym typeface="Calibri"/>
              </a:rPr>
              <a:t>Reimagining the analytics lifecycle in an AI era</a:t>
            </a:r>
            <a:endParaRPr b="0" i="0" sz="1700" u="none" cap="none" strike="noStrike">
              <a:solidFill>
                <a:schemeClr val="dk1"/>
              </a:solidFill>
              <a:latin typeface="Calibri"/>
              <a:ea typeface="Calibri"/>
              <a:cs typeface="Calibri"/>
              <a:sym typeface="Calibri"/>
            </a:endParaRPr>
          </a:p>
        </p:txBody>
      </p:sp>
      <p:sp>
        <p:nvSpPr>
          <p:cNvPr id="60" name="Google Shape;60;p15"/>
          <p:cNvSpPr/>
          <p:nvPr/>
        </p:nvSpPr>
        <p:spPr>
          <a:xfrm>
            <a:off x="788670" y="2777490"/>
            <a:ext cx="75438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8A99A8"/>
              </a:buClr>
              <a:buSzPts val="1100"/>
              <a:buFont typeface="Calibri"/>
              <a:buNone/>
            </a:pPr>
            <a:r>
              <a:rPr b="0" i="0" lang="en" sz="1100" u="none" cap="none" strike="noStrike">
                <a:solidFill>
                  <a:srgbClr val="8A99A8"/>
                </a:solidFill>
                <a:latin typeface="Calibri"/>
                <a:ea typeface="Calibri"/>
                <a:cs typeface="Calibri"/>
                <a:sym typeface="Calibri"/>
              </a:rPr>
              <a:t>Define  →  Build  →  Validate  →  Operationalize  →  Monitor  →  Compound</a:t>
            </a:r>
            <a:endParaRPr b="0" i="0" sz="1100" u="none" cap="none" strike="noStrike">
              <a:solidFill>
                <a:schemeClr val="dk1"/>
              </a:solidFill>
              <a:latin typeface="Calibri"/>
              <a:ea typeface="Calibri"/>
              <a:cs typeface="Calibri"/>
              <a:sym typeface="Calibri"/>
            </a:endParaRPr>
          </a:p>
        </p:txBody>
      </p:sp>
      <p:sp>
        <p:nvSpPr>
          <p:cNvPr id="61" name="Google Shape;61;p15"/>
          <p:cNvSpPr/>
          <p:nvPr/>
        </p:nvSpPr>
        <p:spPr>
          <a:xfrm>
            <a:off x="788670" y="4320540"/>
            <a:ext cx="54864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8A99A8"/>
              </a:buClr>
              <a:buSzPts val="1000"/>
              <a:buFont typeface="Calibri"/>
              <a:buNone/>
            </a:pPr>
            <a:r>
              <a:rPr b="0" i="0" lang="en" sz="1000" u="none" cap="none" strike="noStrike">
                <a:solidFill>
                  <a:srgbClr val="8A99A8"/>
                </a:solidFill>
                <a:latin typeface="Calibri"/>
                <a:ea typeface="Calibri"/>
                <a:cs typeface="Calibri"/>
                <a:sym typeface="Calibri"/>
              </a:rPr>
              <a:t>3-hour hands-on workshop</a:t>
            </a:r>
            <a:endParaRPr b="0" i="0" sz="1000" u="none" cap="none" strike="noStrike">
              <a:solidFill>
                <a:schemeClr val="dk1"/>
              </a:solidFill>
              <a:latin typeface="Calibri"/>
              <a:ea typeface="Calibri"/>
              <a:cs typeface="Calibri"/>
              <a:sym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6" name="Shape 66"/>
        <p:cNvGrpSpPr/>
        <p:nvPr/>
      </p:nvGrpSpPr>
      <p:grpSpPr>
        <a:xfrm>
          <a:off x="0" y="0"/>
          <a:ext cx="0" cy="0"/>
          <a:chOff x="0" y="0"/>
          <a:chExt cx="0" cy="0"/>
        </a:xfrm>
      </p:grpSpPr>
      <p:sp>
        <p:nvSpPr>
          <p:cNvPr id="67" name="Google Shape;67;p16"/>
          <p:cNvSpPr/>
          <p:nvPr/>
        </p:nvSpPr>
        <p:spPr>
          <a:xfrm>
            <a:off x="480060" y="192024"/>
            <a:ext cx="8181594" cy="2057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663C"/>
              </a:buClr>
              <a:buSzPts val="800"/>
              <a:buFont typeface="Calibri"/>
              <a:buNone/>
            </a:pPr>
            <a:r>
              <a:rPr b="1" i="0" lang="en" sz="800" u="none" cap="none" strike="noStrike">
                <a:solidFill>
                  <a:srgbClr val="E8663C"/>
                </a:solidFill>
                <a:latin typeface="Calibri"/>
                <a:ea typeface="Calibri"/>
                <a:cs typeface="Calibri"/>
                <a:sym typeface="Calibri"/>
              </a:rPr>
              <a:t>THE PREMISE</a:t>
            </a:r>
            <a:endParaRPr b="0" i="0" sz="800" u="none" cap="none" strike="noStrike">
              <a:solidFill>
                <a:schemeClr val="dk1"/>
              </a:solidFill>
              <a:latin typeface="Calibri"/>
              <a:ea typeface="Calibri"/>
              <a:cs typeface="Calibri"/>
              <a:sym typeface="Calibri"/>
            </a:endParaRPr>
          </a:p>
        </p:txBody>
      </p:sp>
      <p:sp>
        <p:nvSpPr>
          <p:cNvPr id="68" name="Google Shape;68;p16"/>
          <p:cNvSpPr/>
          <p:nvPr/>
        </p:nvSpPr>
        <p:spPr>
          <a:xfrm>
            <a:off x="480060" y="342900"/>
            <a:ext cx="8181594" cy="6172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2303C"/>
              </a:buClr>
              <a:buSzPts val="2600"/>
              <a:buFont typeface="Cambria"/>
              <a:buNone/>
            </a:pPr>
            <a:r>
              <a:rPr b="1" i="0" lang="en" sz="2600" u="none" cap="none" strike="noStrike">
                <a:solidFill>
                  <a:srgbClr val="22303C"/>
                </a:solidFill>
                <a:latin typeface="Cambria"/>
                <a:ea typeface="Cambria"/>
                <a:cs typeface="Cambria"/>
                <a:sym typeface="Cambria"/>
              </a:rPr>
              <a:t>Coding agents worked first for a structural reason</a:t>
            </a:r>
            <a:endParaRPr b="0" i="0" sz="2600" u="none" cap="none" strike="noStrike">
              <a:solidFill>
                <a:schemeClr val="dk1"/>
              </a:solidFill>
              <a:latin typeface="Calibri"/>
              <a:ea typeface="Calibri"/>
              <a:cs typeface="Calibri"/>
              <a:sym typeface="Calibri"/>
            </a:endParaRPr>
          </a:p>
        </p:txBody>
      </p:sp>
      <p:sp>
        <p:nvSpPr>
          <p:cNvPr id="69" name="Google Shape;69;p16"/>
          <p:cNvSpPr/>
          <p:nvPr/>
        </p:nvSpPr>
        <p:spPr>
          <a:xfrm>
            <a:off x="480060" y="1200150"/>
            <a:ext cx="3806190" cy="2674620"/>
          </a:xfrm>
          <a:prstGeom prst="roundRect">
            <a:avLst>
              <a:gd fmla="val 2051" name="adj"/>
            </a:avLst>
          </a:prstGeom>
          <a:solidFill>
            <a:srgbClr val="F2F4F6"/>
          </a:solidFill>
          <a:ln cap="flat" cmpd="sng" w="12700">
            <a:solidFill>
              <a:srgbClr val="F2F4F6"/>
            </a:solidFill>
            <a:prstDash val="solid"/>
            <a:round/>
            <a:headEnd len="sm" w="sm" type="none"/>
            <a:tailEnd len="sm" w="sm" type="none"/>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70" name="Google Shape;70;p16"/>
          <p:cNvSpPr/>
          <p:nvPr/>
        </p:nvSpPr>
        <p:spPr>
          <a:xfrm>
            <a:off x="754380" y="1371600"/>
            <a:ext cx="325755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2303C"/>
              </a:buClr>
              <a:buSzPts val="1700"/>
              <a:buFont typeface="Cambria"/>
              <a:buNone/>
            </a:pPr>
            <a:r>
              <a:rPr b="1" i="0" lang="en" sz="1700" u="none" cap="none" strike="noStrike">
                <a:solidFill>
                  <a:srgbClr val="22303C"/>
                </a:solidFill>
                <a:latin typeface="Cambria"/>
                <a:ea typeface="Cambria"/>
                <a:cs typeface="Cambria"/>
                <a:sym typeface="Cambria"/>
              </a:rPr>
              <a:t>Software</a:t>
            </a:r>
            <a:endParaRPr b="0" i="0" sz="1700" u="none" cap="none" strike="noStrike">
              <a:solidFill>
                <a:schemeClr val="dk1"/>
              </a:solidFill>
              <a:latin typeface="Calibri"/>
              <a:ea typeface="Calibri"/>
              <a:cs typeface="Calibri"/>
              <a:sym typeface="Calibri"/>
            </a:endParaRPr>
          </a:p>
        </p:txBody>
      </p:sp>
      <p:sp>
        <p:nvSpPr>
          <p:cNvPr id="71" name="Google Shape;71;p16"/>
          <p:cNvSpPr/>
          <p:nvPr/>
        </p:nvSpPr>
        <p:spPr>
          <a:xfrm>
            <a:off x="754380" y="1783080"/>
            <a:ext cx="3257550" cy="1920240"/>
          </a:xfrm>
          <a:prstGeom prst="rect">
            <a:avLst/>
          </a:prstGeom>
          <a:noFill/>
          <a:ln>
            <a:noFill/>
          </a:ln>
        </p:spPr>
        <p:txBody>
          <a:bodyPr anchorCtr="0" anchor="ctr" bIns="0" lIns="0" spcFirstLastPara="1" rIns="0" wrap="square" tIns="0">
            <a:noAutofit/>
          </a:bodyPr>
          <a:lstStyle/>
          <a:p>
            <a:pPr indent="-247650" lvl="0" marL="254000" marR="0" rtl="0" algn="l">
              <a:spcBef>
                <a:spcPts val="0"/>
              </a:spcBef>
              <a:spcAft>
                <a:spcPts val="0"/>
              </a:spcAft>
              <a:buClr>
                <a:srgbClr val="5A6B7A"/>
              </a:buClr>
              <a:buSzPts val="1100"/>
              <a:buFont typeface="Calibri"/>
              <a:buChar char="•"/>
            </a:pPr>
            <a:r>
              <a:rPr b="0" i="0" lang="en" sz="1100" u="none" cap="none" strike="noStrike">
                <a:solidFill>
                  <a:srgbClr val="5A6B7A"/>
                </a:solidFill>
                <a:latin typeface="Calibri"/>
                <a:ea typeface="Calibri"/>
                <a:cs typeface="Calibri"/>
                <a:sym typeface="Calibri"/>
              </a:rPr>
              <a:t>Open-ended solution space</a:t>
            </a:r>
            <a:endParaRPr b="0" i="0" sz="1100" u="none" cap="none" strike="noStrike">
              <a:solidFill>
                <a:schemeClr val="dk1"/>
              </a:solidFill>
              <a:latin typeface="Calibri"/>
              <a:ea typeface="Calibri"/>
              <a:cs typeface="Calibri"/>
              <a:sym typeface="Calibri"/>
            </a:endParaRPr>
          </a:p>
          <a:p>
            <a:pPr indent="-247650" lvl="0" marL="254000" marR="0" rtl="0" algn="l">
              <a:spcBef>
                <a:spcPts val="800"/>
              </a:spcBef>
              <a:spcAft>
                <a:spcPts val="0"/>
              </a:spcAft>
              <a:buClr>
                <a:srgbClr val="5A6B7A"/>
              </a:buClr>
              <a:buSzPts val="1100"/>
              <a:buFont typeface="Calibri"/>
              <a:buChar char="•"/>
            </a:pPr>
            <a:r>
              <a:rPr b="0" i="0" lang="en" sz="1100" u="none" cap="none" strike="noStrike">
                <a:solidFill>
                  <a:srgbClr val="5A6B7A"/>
                </a:solidFill>
                <a:latin typeface="Calibri"/>
                <a:ea typeface="Calibri"/>
                <a:cs typeface="Calibri"/>
                <a:sym typeface="Calibri"/>
              </a:rPr>
              <a:t>Many valid answers</a:t>
            </a:r>
            <a:endParaRPr b="0" i="0" sz="1100" u="none" cap="none" strike="noStrike">
              <a:solidFill>
                <a:schemeClr val="dk1"/>
              </a:solidFill>
              <a:latin typeface="Calibri"/>
              <a:ea typeface="Calibri"/>
              <a:cs typeface="Calibri"/>
              <a:sym typeface="Calibri"/>
            </a:endParaRPr>
          </a:p>
          <a:p>
            <a:pPr indent="-247650" lvl="0" marL="254000" marR="0" rtl="0" algn="l">
              <a:spcBef>
                <a:spcPts val="800"/>
              </a:spcBef>
              <a:spcAft>
                <a:spcPts val="0"/>
              </a:spcAft>
              <a:buClr>
                <a:srgbClr val="5A6B7A"/>
              </a:buClr>
              <a:buSzPts val="1100"/>
              <a:buFont typeface="Calibri"/>
              <a:buChar char="•"/>
            </a:pPr>
            <a:r>
              <a:rPr b="0" i="0" lang="en" sz="1100" u="none" cap="none" strike="noStrike">
                <a:solidFill>
                  <a:srgbClr val="5A6B7A"/>
                </a:solidFill>
                <a:latin typeface="Calibri"/>
                <a:ea typeface="Calibri"/>
                <a:cs typeface="Calibri"/>
                <a:sym typeface="Calibri"/>
              </a:rPr>
              <a:t>Tests, types, compilers catch errors</a:t>
            </a:r>
            <a:endParaRPr b="0" i="0" sz="1100" u="none" cap="none" strike="noStrike">
              <a:solidFill>
                <a:schemeClr val="dk1"/>
              </a:solidFill>
              <a:latin typeface="Calibri"/>
              <a:ea typeface="Calibri"/>
              <a:cs typeface="Calibri"/>
              <a:sym typeface="Calibri"/>
            </a:endParaRPr>
          </a:p>
          <a:p>
            <a:pPr indent="-247650" lvl="0" marL="254000" marR="0" rtl="0" algn="l">
              <a:spcBef>
                <a:spcPts val="800"/>
              </a:spcBef>
              <a:spcAft>
                <a:spcPts val="0"/>
              </a:spcAft>
              <a:buClr>
                <a:srgbClr val="5A6B7A"/>
              </a:buClr>
              <a:buSzPts val="1100"/>
              <a:buFont typeface="Calibri"/>
              <a:buChar char="•"/>
            </a:pPr>
            <a:r>
              <a:rPr b="0" i="0" lang="en" sz="1100" u="none" cap="none" strike="noStrike">
                <a:solidFill>
                  <a:srgbClr val="5A6B7A"/>
                </a:solidFill>
                <a:latin typeface="Calibri"/>
                <a:ea typeface="Calibri"/>
                <a:cs typeface="Calibri"/>
                <a:sym typeface="Calibri"/>
              </a:rPr>
              <a:t>Wrong code usually fails loudly</a:t>
            </a:r>
            <a:endParaRPr b="0" i="0" sz="1100" u="none" cap="none" strike="noStrike">
              <a:solidFill>
                <a:schemeClr val="dk1"/>
              </a:solidFill>
              <a:latin typeface="Calibri"/>
              <a:ea typeface="Calibri"/>
              <a:cs typeface="Calibri"/>
              <a:sym typeface="Calibri"/>
            </a:endParaRPr>
          </a:p>
        </p:txBody>
      </p:sp>
      <p:sp>
        <p:nvSpPr>
          <p:cNvPr id="72" name="Google Shape;72;p16"/>
          <p:cNvSpPr/>
          <p:nvPr/>
        </p:nvSpPr>
        <p:spPr>
          <a:xfrm>
            <a:off x="4629150" y="1200150"/>
            <a:ext cx="3806190" cy="2674620"/>
          </a:xfrm>
          <a:prstGeom prst="roundRect">
            <a:avLst>
              <a:gd fmla="val 2051" name="adj"/>
            </a:avLst>
          </a:prstGeom>
          <a:solidFill>
            <a:srgbClr val="FBEDE8"/>
          </a:solidFill>
          <a:ln cap="flat" cmpd="sng" w="12700">
            <a:solidFill>
              <a:srgbClr val="FBEDE8"/>
            </a:solidFill>
            <a:prstDash val="solid"/>
            <a:round/>
            <a:headEnd len="sm" w="sm" type="none"/>
            <a:tailEnd len="sm" w="sm" type="none"/>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73" name="Google Shape;73;p16"/>
          <p:cNvSpPr/>
          <p:nvPr/>
        </p:nvSpPr>
        <p:spPr>
          <a:xfrm>
            <a:off x="4903470" y="1371600"/>
            <a:ext cx="325755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663C"/>
              </a:buClr>
              <a:buSzPts val="1700"/>
              <a:buFont typeface="Cambria"/>
              <a:buNone/>
            </a:pPr>
            <a:r>
              <a:rPr b="1" i="0" lang="en" sz="1700" u="none" cap="none" strike="noStrike">
                <a:solidFill>
                  <a:srgbClr val="E8663C"/>
                </a:solidFill>
                <a:latin typeface="Cambria"/>
                <a:ea typeface="Cambria"/>
                <a:cs typeface="Cambria"/>
                <a:sym typeface="Cambria"/>
              </a:rPr>
              <a:t>Analytics</a:t>
            </a:r>
            <a:endParaRPr b="0" i="0" sz="1700" u="none" cap="none" strike="noStrike">
              <a:solidFill>
                <a:schemeClr val="dk1"/>
              </a:solidFill>
              <a:latin typeface="Calibri"/>
              <a:ea typeface="Calibri"/>
              <a:cs typeface="Calibri"/>
              <a:sym typeface="Calibri"/>
            </a:endParaRPr>
          </a:p>
        </p:txBody>
      </p:sp>
      <p:sp>
        <p:nvSpPr>
          <p:cNvPr id="74" name="Google Shape;74;p16"/>
          <p:cNvSpPr/>
          <p:nvPr/>
        </p:nvSpPr>
        <p:spPr>
          <a:xfrm>
            <a:off x="4903470" y="1783080"/>
            <a:ext cx="3257550" cy="1920240"/>
          </a:xfrm>
          <a:prstGeom prst="rect">
            <a:avLst/>
          </a:prstGeom>
          <a:noFill/>
          <a:ln>
            <a:noFill/>
          </a:ln>
        </p:spPr>
        <p:txBody>
          <a:bodyPr anchorCtr="0" anchor="ctr" bIns="0" lIns="0" spcFirstLastPara="1" rIns="0" wrap="square" tIns="0">
            <a:noAutofit/>
          </a:bodyPr>
          <a:lstStyle/>
          <a:p>
            <a:pPr indent="-247650" lvl="0" marL="254000" marR="0" rtl="0" algn="l">
              <a:spcBef>
                <a:spcPts val="0"/>
              </a:spcBef>
              <a:spcAft>
                <a:spcPts val="0"/>
              </a:spcAft>
              <a:buClr>
                <a:srgbClr val="8C4430"/>
              </a:buClr>
              <a:buSzPts val="1100"/>
              <a:buFont typeface="Calibri"/>
              <a:buChar char="•"/>
            </a:pPr>
            <a:r>
              <a:rPr b="0" i="0" lang="en" sz="1100" u="none" cap="none" strike="noStrike">
                <a:solidFill>
                  <a:srgbClr val="8C4430"/>
                </a:solidFill>
                <a:latin typeface="Calibri"/>
                <a:ea typeface="Calibri"/>
                <a:cs typeface="Calibri"/>
                <a:sym typeface="Calibri"/>
              </a:rPr>
              <a:t>Usually one correct answer</a:t>
            </a:r>
            <a:endParaRPr b="0" i="0" sz="1100" u="none" cap="none" strike="noStrike">
              <a:solidFill>
                <a:schemeClr val="dk1"/>
              </a:solidFill>
              <a:latin typeface="Calibri"/>
              <a:ea typeface="Calibri"/>
              <a:cs typeface="Calibri"/>
              <a:sym typeface="Calibri"/>
            </a:endParaRPr>
          </a:p>
          <a:p>
            <a:pPr indent="-247650" lvl="0" marL="254000" marR="0" rtl="0" algn="l">
              <a:spcBef>
                <a:spcPts val="800"/>
              </a:spcBef>
              <a:spcAft>
                <a:spcPts val="0"/>
              </a:spcAft>
              <a:buClr>
                <a:srgbClr val="8C4430"/>
              </a:buClr>
              <a:buSzPts val="1100"/>
              <a:buFont typeface="Calibri"/>
              <a:buChar char="•"/>
            </a:pPr>
            <a:r>
              <a:rPr b="0" i="0" lang="en" sz="1100" u="none" cap="none" strike="noStrike">
                <a:solidFill>
                  <a:srgbClr val="8C4430"/>
                </a:solidFill>
                <a:latin typeface="Calibri"/>
                <a:ea typeface="Calibri"/>
                <a:cs typeface="Calibri"/>
                <a:sym typeface="Calibri"/>
              </a:rPr>
              <a:t>From one correct source</a:t>
            </a:r>
            <a:endParaRPr b="0" i="0" sz="1100" u="none" cap="none" strike="noStrike">
              <a:solidFill>
                <a:schemeClr val="dk1"/>
              </a:solidFill>
              <a:latin typeface="Calibri"/>
              <a:ea typeface="Calibri"/>
              <a:cs typeface="Calibri"/>
              <a:sym typeface="Calibri"/>
            </a:endParaRPr>
          </a:p>
          <a:p>
            <a:pPr indent="-247650" lvl="0" marL="254000" marR="0" rtl="0" algn="l">
              <a:spcBef>
                <a:spcPts val="800"/>
              </a:spcBef>
              <a:spcAft>
                <a:spcPts val="0"/>
              </a:spcAft>
              <a:buClr>
                <a:srgbClr val="8C4430"/>
              </a:buClr>
              <a:buSzPts val="1100"/>
              <a:buFont typeface="Calibri"/>
              <a:buChar char="•"/>
            </a:pPr>
            <a:r>
              <a:rPr b="0" i="0" lang="en" sz="1100" u="none" cap="none" strike="noStrike">
                <a:solidFill>
                  <a:srgbClr val="8C4430"/>
                </a:solidFill>
                <a:latin typeface="Calibri"/>
                <a:ea typeface="Calibri"/>
                <a:cs typeface="Calibri"/>
                <a:sym typeface="Calibri"/>
              </a:rPr>
              <a:t>No deterministic way to prove it</a:t>
            </a:r>
            <a:endParaRPr b="0" i="0" sz="1100" u="none" cap="none" strike="noStrike">
              <a:solidFill>
                <a:schemeClr val="dk1"/>
              </a:solidFill>
              <a:latin typeface="Calibri"/>
              <a:ea typeface="Calibri"/>
              <a:cs typeface="Calibri"/>
              <a:sym typeface="Calibri"/>
            </a:endParaRPr>
          </a:p>
          <a:p>
            <a:pPr indent="-247650" lvl="0" marL="254000" marR="0" rtl="0" algn="l">
              <a:spcBef>
                <a:spcPts val="800"/>
              </a:spcBef>
              <a:spcAft>
                <a:spcPts val="0"/>
              </a:spcAft>
              <a:buClr>
                <a:srgbClr val="8C4430"/>
              </a:buClr>
              <a:buSzPts val="1100"/>
              <a:buFont typeface="Calibri"/>
              <a:buChar char="•"/>
            </a:pPr>
            <a:r>
              <a:rPr b="0" i="0" lang="en" sz="1100" u="none" cap="none" strike="noStrike">
                <a:solidFill>
                  <a:srgbClr val="8C4430"/>
                </a:solidFill>
                <a:latin typeface="Calibri"/>
                <a:ea typeface="Calibri"/>
                <a:cs typeface="Calibri"/>
                <a:sym typeface="Calibri"/>
              </a:rPr>
              <a:t>Wrong queries run cleanly</a:t>
            </a:r>
            <a:endParaRPr b="0" i="0" sz="1100" u="none" cap="none" strike="noStrike">
              <a:solidFill>
                <a:schemeClr val="dk1"/>
              </a:solidFill>
              <a:latin typeface="Calibri"/>
              <a:ea typeface="Calibri"/>
              <a:cs typeface="Calibri"/>
              <a:sym typeface="Calibri"/>
            </a:endParaRPr>
          </a:p>
        </p:txBody>
      </p:sp>
      <p:sp>
        <p:nvSpPr>
          <p:cNvPr id="75" name="Google Shape;75;p16"/>
          <p:cNvSpPr/>
          <p:nvPr/>
        </p:nvSpPr>
        <p:spPr>
          <a:xfrm>
            <a:off x="480060" y="4080510"/>
            <a:ext cx="8181594" cy="342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2303C"/>
              </a:buClr>
              <a:buSzPts val="1400"/>
              <a:buFont typeface="Cambria"/>
              <a:buNone/>
            </a:pPr>
            <a:r>
              <a:rPr b="1" i="1" lang="en" sz="1400" u="none" cap="none" strike="noStrike">
                <a:solidFill>
                  <a:srgbClr val="22303C"/>
                </a:solidFill>
                <a:latin typeface="Cambria"/>
                <a:ea typeface="Cambria"/>
                <a:cs typeface="Cambria"/>
                <a:sym typeface="Cambria"/>
              </a:rPr>
              <a:t>Data is not software. Skills written for software development do not transfer.</a:t>
            </a:r>
            <a:endParaRPr b="0" i="0" sz="1400" u="none" cap="none" strike="noStrike">
              <a:solidFill>
                <a:schemeClr val="dk1"/>
              </a:solidFill>
              <a:latin typeface="Calibri"/>
              <a:ea typeface="Calibri"/>
              <a:cs typeface="Calibri"/>
              <a:sym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0" name="Shape 80"/>
        <p:cNvGrpSpPr/>
        <p:nvPr/>
      </p:nvGrpSpPr>
      <p:grpSpPr>
        <a:xfrm>
          <a:off x="0" y="0"/>
          <a:ext cx="0" cy="0"/>
          <a:chOff x="0" y="0"/>
          <a:chExt cx="0" cy="0"/>
        </a:xfrm>
      </p:grpSpPr>
      <p:sp>
        <p:nvSpPr>
          <p:cNvPr id="81" name="Google Shape;81;p17"/>
          <p:cNvSpPr/>
          <p:nvPr/>
        </p:nvSpPr>
        <p:spPr>
          <a:xfrm>
            <a:off x="480060" y="192024"/>
            <a:ext cx="8181600" cy="205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663C"/>
              </a:buClr>
              <a:buSzPts val="800"/>
              <a:buFont typeface="Calibri"/>
              <a:buNone/>
            </a:pPr>
            <a:r>
              <a:rPr b="1" i="0" lang="en" sz="800" u="none" cap="none" strike="noStrike">
                <a:solidFill>
                  <a:srgbClr val="E8663C"/>
                </a:solidFill>
                <a:latin typeface="Calibri"/>
                <a:ea typeface="Calibri"/>
                <a:cs typeface="Calibri"/>
                <a:sym typeface="Calibri"/>
              </a:rPr>
              <a:t>THE PREMISE</a:t>
            </a:r>
            <a:endParaRPr b="0" i="0" sz="800" u="none" cap="none" strike="noStrike">
              <a:solidFill>
                <a:schemeClr val="dk1"/>
              </a:solidFill>
              <a:latin typeface="Calibri"/>
              <a:ea typeface="Calibri"/>
              <a:cs typeface="Calibri"/>
              <a:sym typeface="Calibri"/>
            </a:endParaRPr>
          </a:p>
        </p:txBody>
      </p:sp>
      <p:sp>
        <p:nvSpPr>
          <p:cNvPr id="82" name="Google Shape;82;p17"/>
          <p:cNvSpPr/>
          <p:nvPr/>
        </p:nvSpPr>
        <p:spPr>
          <a:xfrm>
            <a:off x="480060" y="342900"/>
            <a:ext cx="8181600" cy="617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2303C"/>
              </a:buClr>
              <a:buSzPts val="2600"/>
              <a:buFont typeface="Cambria"/>
              <a:buNone/>
            </a:pPr>
            <a:r>
              <a:rPr b="1" lang="en" sz="2600">
                <a:solidFill>
                  <a:srgbClr val="22303C"/>
                </a:solidFill>
                <a:latin typeface="Cambria"/>
                <a:ea typeface="Cambria"/>
                <a:cs typeface="Cambria"/>
                <a:sym typeface="Cambria"/>
              </a:rPr>
              <a:t>What happened when Anthropic tried this on their own data using Claude?</a:t>
            </a:r>
            <a:endParaRPr b="0" i="0" sz="2600" u="none" cap="none" strike="noStrike">
              <a:solidFill>
                <a:schemeClr val="dk1"/>
              </a:solidFill>
              <a:latin typeface="Calibri"/>
              <a:ea typeface="Calibri"/>
              <a:cs typeface="Calibri"/>
              <a:sym typeface="Calibri"/>
            </a:endParaRPr>
          </a:p>
        </p:txBody>
      </p:sp>
      <p:pic>
        <p:nvPicPr>
          <p:cNvPr id="83" name="Google Shape;83;p17"/>
          <p:cNvPicPr preferRelativeResize="0"/>
          <p:nvPr/>
        </p:nvPicPr>
        <p:blipFill>
          <a:blip r:embed="rId3">
            <a:alphaModFix/>
          </a:blip>
          <a:stretch>
            <a:fillRect/>
          </a:stretch>
        </p:blipFill>
        <p:spPr>
          <a:xfrm>
            <a:off x="2256363" y="1097950"/>
            <a:ext cx="4631284" cy="3878700"/>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8" name="Shape 88"/>
        <p:cNvGrpSpPr/>
        <p:nvPr/>
      </p:nvGrpSpPr>
      <p:grpSpPr>
        <a:xfrm>
          <a:off x="0" y="0"/>
          <a:ext cx="0" cy="0"/>
          <a:chOff x="0" y="0"/>
          <a:chExt cx="0" cy="0"/>
        </a:xfrm>
      </p:grpSpPr>
      <p:sp>
        <p:nvSpPr>
          <p:cNvPr id="89" name="Google Shape;89;p18"/>
          <p:cNvSpPr/>
          <p:nvPr/>
        </p:nvSpPr>
        <p:spPr>
          <a:xfrm>
            <a:off x="480060" y="192024"/>
            <a:ext cx="8181594" cy="2057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663C"/>
              </a:buClr>
              <a:buSzPts val="800"/>
              <a:buFont typeface="Calibri"/>
              <a:buNone/>
            </a:pPr>
            <a:r>
              <a:rPr b="1" i="0" lang="en" sz="800" u="none" cap="none" strike="noStrike">
                <a:solidFill>
                  <a:srgbClr val="E8663C"/>
                </a:solidFill>
                <a:latin typeface="Calibri"/>
                <a:ea typeface="Calibri"/>
                <a:cs typeface="Calibri"/>
                <a:sym typeface="Calibri"/>
              </a:rPr>
              <a:t>DIAGNOSIS</a:t>
            </a:r>
            <a:endParaRPr b="0" i="0" sz="800" u="none" cap="none" strike="noStrike">
              <a:solidFill>
                <a:schemeClr val="dk1"/>
              </a:solidFill>
              <a:latin typeface="Calibri"/>
              <a:ea typeface="Calibri"/>
              <a:cs typeface="Calibri"/>
              <a:sym typeface="Calibri"/>
            </a:endParaRPr>
          </a:p>
        </p:txBody>
      </p:sp>
      <p:sp>
        <p:nvSpPr>
          <p:cNvPr id="90" name="Google Shape;90;p18"/>
          <p:cNvSpPr/>
          <p:nvPr/>
        </p:nvSpPr>
        <p:spPr>
          <a:xfrm>
            <a:off x="480060" y="342900"/>
            <a:ext cx="8181594" cy="6172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2303C"/>
              </a:buClr>
              <a:buSzPts val="2600"/>
              <a:buFont typeface="Cambria"/>
              <a:buNone/>
            </a:pPr>
            <a:r>
              <a:rPr b="1" i="0" lang="en" sz="2600" u="none" cap="none" strike="noStrike">
                <a:solidFill>
                  <a:srgbClr val="22303C"/>
                </a:solidFill>
                <a:latin typeface="Cambria"/>
                <a:ea typeface="Cambria"/>
                <a:cs typeface="Cambria"/>
                <a:sym typeface="Cambria"/>
              </a:rPr>
              <a:t>Three failure modes, and one that hides</a:t>
            </a:r>
            <a:endParaRPr b="0" i="0" sz="2600" u="none" cap="none" strike="noStrike">
              <a:solidFill>
                <a:schemeClr val="dk1"/>
              </a:solidFill>
              <a:latin typeface="Calibri"/>
              <a:ea typeface="Calibri"/>
              <a:cs typeface="Calibri"/>
              <a:sym typeface="Calibri"/>
            </a:endParaRPr>
          </a:p>
        </p:txBody>
      </p:sp>
      <p:sp>
        <p:nvSpPr>
          <p:cNvPr id="91" name="Google Shape;91;p18"/>
          <p:cNvSpPr/>
          <p:nvPr/>
        </p:nvSpPr>
        <p:spPr>
          <a:xfrm>
            <a:off x="480060" y="1234440"/>
            <a:ext cx="2640330" cy="1371600"/>
          </a:xfrm>
          <a:prstGeom prst="roundRect">
            <a:avLst>
              <a:gd fmla="val 4000" name="adj"/>
            </a:avLst>
          </a:prstGeom>
          <a:solidFill>
            <a:srgbClr val="F2F4F6"/>
          </a:solidFill>
          <a:ln cap="flat" cmpd="sng" w="12700">
            <a:solidFill>
              <a:srgbClr val="F2F4F6"/>
            </a:solidFill>
            <a:prstDash val="solid"/>
            <a:round/>
            <a:headEnd len="sm" w="sm" type="none"/>
            <a:tailEnd len="sm" w="sm" type="none"/>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92" name="Google Shape;92;p18"/>
          <p:cNvSpPr/>
          <p:nvPr/>
        </p:nvSpPr>
        <p:spPr>
          <a:xfrm>
            <a:off x="685800" y="1405890"/>
            <a:ext cx="222885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2303C"/>
              </a:buClr>
              <a:buSzPts val="1400"/>
              <a:buFont typeface="Cambria"/>
              <a:buNone/>
            </a:pPr>
            <a:r>
              <a:rPr b="1" i="0" lang="en" sz="1400" u="none" cap="none" strike="noStrike">
                <a:solidFill>
                  <a:srgbClr val="22303C"/>
                </a:solidFill>
                <a:latin typeface="Cambria"/>
                <a:ea typeface="Cambria"/>
                <a:cs typeface="Cambria"/>
                <a:sym typeface="Cambria"/>
              </a:rPr>
              <a:t>Entity ambiguity</a:t>
            </a:r>
            <a:endParaRPr b="0" i="0" sz="1400" u="none" cap="none" strike="noStrike">
              <a:solidFill>
                <a:schemeClr val="dk1"/>
              </a:solidFill>
              <a:latin typeface="Calibri"/>
              <a:ea typeface="Calibri"/>
              <a:cs typeface="Calibri"/>
              <a:sym typeface="Calibri"/>
            </a:endParaRPr>
          </a:p>
        </p:txBody>
      </p:sp>
      <p:sp>
        <p:nvSpPr>
          <p:cNvPr id="93" name="Google Shape;93;p18"/>
          <p:cNvSpPr/>
          <p:nvPr/>
        </p:nvSpPr>
        <p:spPr>
          <a:xfrm>
            <a:off x="685800" y="1714500"/>
            <a:ext cx="2228850" cy="7543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A6B7A"/>
              </a:buClr>
              <a:buSzPts val="1000"/>
              <a:buFont typeface="Calibri"/>
              <a:buNone/>
            </a:pPr>
            <a:r>
              <a:rPr b="0" i="0" lang="en" sz="1000" u="none" cap="none" strike="noStrike">
                <a:solidFill>
                  <a:srgbClr val="5A6B7A"/>
                </a:solidFill>
                <a:latin typeface="Calibri"/>
                <a:ea typeface="Calibri"/>
                <a:cs typeface="Calibri"/>
                <a:sym typeface="Calibri"/>
              </a:rPr>
              <a:t>Forty plausible tables could answer 'headcount'. The agent picks one.</a:t>
            </a:r>
            <a:endParaRPr b="0" i="0" sz="1000" u="none" cap="none" strike="noStrike">
              <a:solidFill>
                <a:schemeClr val="dk1"/>
              </a:solidFill>
              <a:latin typeface="Calibri"/>
              <a:ea typeface="Calibri"/>
              <a:cs typeface="Calibri"/>
              <a:sym typeface="Calibri"/>
            </a:endParaRPr>
          </a:p>
        </p:txBody>
      </p:sp>
      <p:sp>
        <p:nvSpPr>
          <p:cNvPr id="94" name="Google Shape;94;p18"/>
          <p:cNvSpPr/>
          <p:nvPr/>
        </p:nvSpPr>
        <p:spPr>
          <a:xfrm>
            <a:off x="3408426" y="1234440"/>
            <a:ext cx="2640330" cy="1371600"/>
          </a:xfrm>
          <a:prstGeom prst="roundRect">
            <a:avLst>
              <a:gd fmla="val 4000" name="adj"/>
            </a:avLst>
          </a:prstGeom>
          <a:solidFill>
            <a:srgbClr val="F2F4F6"/>
          </a:solidFill>
          <a:ln cap="flat" cmpd="sng" w="12700">
            <a:solidFill>
              <a:srgbClr val="F2F4F6"/>
            </a:solidFill>
            <a:prstDash val="solid"/>
            <a:round/>
            <a:headEnd len="sm" w="sm" type="none"/>
            <a:tailEnd len="sm" w="sm" type="none"/>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95" name="Google Shape;95;p18"/>
          <p:cNvSpPr/>
          <p:nvPr/>
        </p:nvSpPr>
        <p:spPr>
          <a:xfrm>
            <a:off x="3614166" y="1405890"/>
            <a:ext cx="222885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2303C"/>
              </a:buClr>
              <a:buSzPts val="1400"/>
              <a:buFont typeface="Cambria"/>
              <a:buNone/>
            </a:pPr>
            <a:r>
              <a:rPr b="1" i="0" lang="en" sz="1400" u="none" cap="none" strike="noStrike">
                <a:solidFill>
                  <a:srgbClr val="22303C"/>
                </a:solidFill>
                <a:latin typeface="Cambria"/>
                <a:ea typeface="Cambria"/>
                <a:cs typeface="Cambria"/>
                <a:sym typeface="Cambria"/>
              </a:rPr>
              <a:t>Staleness</a:t>
            </a:r>
            <a:endParaRPr b="0" i="0" sz="1400" u="none" cap="none" strike="noStrike">
              <a:solidFill>
                <a:schemeClr val="dk1"/>
              </a:solidFill>
              <a:latin typeface="Calibri"/>
              <a:ea typeface="Calibri"/>
              <a:cs typeface="Calibri"/>
              <a:sym typeface="Calibri"/>
            </a:endParaRPr>
          </a:p>
        </p:txBody>
      </p:sp>
      <p:sp>
        <p:nvSpPr>
          <p:cNvPr id="96" name="Google Shape;96;p18"/>
          <p:cNvSpPr/>
          <p:nvPr/>
        </p:nvSpPr>
        <p:spPr>
          <a:xfrm>
            <a:off x="3614166" y="1714500"/>
            <a:ext cx="2228850" cy="7543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A6B7A"/>
              </a:buClr>
              <a:buSzPts val="1000"/>
              <a:buFont typeface="Calibri"/>
              <a:buNone/>
            </a:pPr>
            <a:r>
              <a:rPr b="0" i="0" lang="en" sz="1000" u="none" cap="none" strike="noStrike">
                <a:solidFill>
                  <a:srgbClr val="5A6B7A"/>
                </a:solidFill>
                <a:latin typeface="Calibri"/>
                <a:ea typeface="Calibri"/>
                <a:cs typeface="Calibri"/>
                <a:sym typeface="Calibri"/>
              </a:rPr>
              <a:t>Definitions and schemas change. Docs and agent knowledge rot.</a:t>
            </a:r>
            <a:endParaRPr b="0" i="0" sz="1000" u="none" cap="none" strike="noStrike">
              <a:solidFill>
                <a:schemeClr val="dk1"/>
              </a:solidFill>
              <a:latin typeface="Calibri"/>
              <a:ea typeface="Calibri"/>
              <a:cs typeface="Calibri"/>
              <a:sym typeface="Calibri"/>
            </a:endParaRPr>
          </a:p>
        </p:txBody>
      </p:sp>
      <p:sp>
        <p:nvSpPr>
          <p:cNvPr id="97" name="Google Shape;97;p18"/>
          <p:cNvSpPr/>
          <p:nvPr/>
        </p:nvSpPr>
        <p:spPr>
          <a:xfrm>
            <a:off x="6336792" y="1234440"/>
            <a:ext cx="2640330" cy="1371600"/>
          </a:xfrm>
          <a:prstGeom prst="roundRect">
            <a:avLst>
              <a:gd fmla="val 4000" name="adj"/>
            </a:avLst>
          </a:prstGeom>
          <a:solidFill>
            <a:srgbClr val="F2F4F6"/>
          </a:solidFill>
          <a:ln cap="flat" cmpd="sng" w="12700">
            <a:solidFill>
              <a:srgbClr val="F2F4F6"/>
            </a:solidFill>
            <a:prstDash val="solid"/>
            <a:round/>
            <a:headEnd len="sm" w="sm" type="none"/>
            <a:tailEnd len="sm" w="sm" type="none"/>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98" name="Google Shape;98;p18"/>
          <p:cNvSpPr/>
          <p:nvPr/>
        </p:nvSpPr>
        <p:spPr>
          <a:xfrm>
            <a:off x="6542532" y="1405890"/>
            <a:ext cx="222885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2303C"/>
              </a:buClr>
              <a:buSzPts val="1400"/>
              <a:buFont typeface="Cambria"/>
              <a:buNone/>
            </a:pPr>
            <a:r>
              <a:rPr b="1" i="0" lang="en" sz="1400" u="none" cap="none" strike="noStrike">
                <a:solidFill>
                  <a:srgbClr val="22303C"/>
                </a:solidFill>
                <a:latin typeface="Cambria"/>
                <a:ea typeface="Cambria"/>
                <a:cs typeface="Cambria"/>
                <a:sym typeface="Cambria"/>
              </a:rPr>
              <a:t>Retrieval failure</a:t>
            </a:r>
            <a:endParaRPr b="0" i="0" sz="1400" u="none" cap="none" strike="noStrike">
              <a:solidFill>
                <a:schemeClr val="dk1"/>
              </a:solidFill>
              <a:latin typeface="Calibri"/>
              <a:ea typeface="Calibri"/>
              <a:cs typeface="Calibri"/>
              <a:sym typeface="Calibri"/>
            </a:endParaRPr>
          </a:p>
        </p:txBody>
      </p:sp>
      <p:sp>
        <p:nvSpPr>
          <p:cNvPr id="99" name="Google Shape;99;p18"/>
          <p:cNvSpPr/>
          <p:nvPr/>
        </p:nvSpPr>
        <p:spPr>
          <a:xfrm>
            <a:off x="6542532" y="1714500"/>
            <a:ext cx="2228850" cy="7543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A6B7A"/>
              </a:buClr>
              <a:buSzPts val="1000"/>
              <a:buFont typeface="Calibri"/>
              <a:buNone/>
            </a:pPr>
            <a:r>
              <a:rPr b="0" i="0" lang="en" sz="1000" u="none" cap="none" strike="noStrike">
                <a:solidFill>
                  <a:srgbClr val="5A6B7A"/>
                </a:solidFill>
                <a:latin typeface="Calibri"/>
                <a:ea typeface="Calibri"/>
                <a:cs typeface="Calibri"/>
                <a:sym typeface="Calibri"/>
              </a:rPr>
              <a:t>The right answer is documented. The agent never finds it.</a:t>
            </a:r>
            <a:endParaRPr b="0" i="0" sz="1000" u="none" cap="none" strike="noStrike">
              <a:solidFill>
                <a:schemeClr val="dk1"/>
              </a:solidFill>
              <a:latin typeface="Calibri"/>
              <a:ea typeface="Calibri"/>
              <a:cs typeface="Calibri"/>
              <a:sym typeface="Calibri"/>
            </a:endParaRPr>
          </a:p>
        </p:txBody>
      </p:sp>
      <p:sp>
        <p:nvSpPr>
          <p:cNvPr id="100" name="Google Shape;100;p18"/>
          <p:cNvSpPr/>
          <p:nvPr/>
        </p:nvSpPr>
        <p:spPr>
          <a:xfrm>
            <a:off x="480060" y="2811780"/>
            <a:ext cx="8181594" cy="1303020"/>
          </a:xfrm>
          <a:prstGeom prst="roundRect">
            <a:avLst>
              <a:gd fmla="val 4211" name="adj"/>
            </a:avLst>
          </a:prstGeom>
          <a:solidFill>
            <a:srgbClr val="FBEDE8"/>
          </a:solidFill>
          <a:ln cap="flat" cmpd="sng" w="12700">
            <a:solidFill>
              <a:srgbClr val="FBEDE8"/>
            </a:solidFill>
            <a:prstDash val="solid"/>
            <a:round/>
            <a:headEnd len="sm" w="sm" type="none"/>
            <a:tailEnd len="sm" w="sm" type="none"/>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01" name="Google Shape;101;p18"/>
          <p:cNvSpPr/>
          <p:nvPr/>
        </p:nvSpPr>
        <p:spPr>
          <a:xfrm>
            <a:off x="754380" y="2983230"/>
            <a:ext cx="41148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663C"/>
              </a:buClr>
              <a:buSzPts val="1700"/>
              <a:buFont typeface="Cambria"/>
              <a:buNone/>
            </a:pPr>
            <a:r>
              <a:rPr b="1" i="0" lang="en" sz="1700" u="none" cap="none" strike="noStrike">
                <a:solidFill>
                  <a:srgbClr val="E8663C"/>
                </a:solidFill>
                <a:latin typeface="Cambria"/>
                <a:ea typeface="Cambria"/>
                <a:cs typeface="Cambria"/>
                <a:sym typeface="Cambria"/>
              </a:rPr>
              <a:t>Silent wrongness</a:t>
            </a:r>
            <a:endParaRPr b="0" i="0" sz="1700" u="none" cap="none" strike="noStrike">
              <a:solidFill>
                <a:schemeClr val="dk1"/>
              </a:solidFill>
              <a:latin typeface="Calibri"/>
              <a:ea typeface="Calibri"/>
              <a:cs typeface="Calibri"/>
              <a:sym typeface="Calibri"/>
            </a:endParaRPr>
          </a:p>
        </p:txBody>
      </p:sp>
      <p:sp>
        <p:nvSpPr>
          <p:cNvPr id="102" name="Google Shape;102;p18"/>
          <p:cNvSpPr/>
          <p:nvPr/>
        </p:nvSpPr>
        <p:spPr>
          <a:xfrm>
            <a:off x="754380" y="3326130"/>
            <a:ext cx="7632954" cy="6172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8C4430"/>
              </a:buClr>
              <a:buSzPts val="1100"/>
              <a:buFont typeface="Calibri"/>
              <a:buNone/>
            </a:pPr>
            <a:r>
              <a:rPr b="0" i="0" lang="en" sz="1100" u="none" cap="none" strike="noStrike">
                <a:solidFill>
                  <a:srgbClr val="8C4430"/>
                </a:solidFill>
                <a:latin typeface="Calibri"/>
                <a:ea typeface="Calibri"/>
                <a:cs typeface="Calibri"/>
                <a:sym typeface="Calibri"/>
              </a:rPr>
              <a:t>The answer is wrong, looks plausible, and is used without objection. None of the three fixes above fully catch it — and nothing in your stack raises an alarm.</a:t>
            </a:r>
            <a:endParaRPr b="0" i="0" sz="1100" u="none" cap="none" strike="noStrike">
              <a:solidFill>
                <a:schemeClr val="dk1"/>
              </a:solidFill>
              <a:latin typeface="Calibri"/>
              <a:ea typeface="Calibri"/>
              <a:cs typeface="Calibri"/>
              <a:sym typeface="Calibri"/>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7" name="Shape 107"/>
        <p:cNvGrpSpPr/>
        <p:nvPr/>
      </p:nvGrpSpPr>
      <p:grpSpPr>
        <a:xfrm>
          <a:off x="0" y="0"/>
          <a:ext cx="0" cy="0"/>
          <a:chOff x="0" y="0"/>
          <a:chExt cx="0" cy="0"/>
        </a:xfrm>
      </p:grpSpPr>
      <p:sp>
        <p:nvSpPr>
          <p:cNvPr id="108" name="Google Shape;108;p19"/>
          <p:cNvSpPr/>
          <p:nvPr/>
        </p:nvSpPr>
        <p:spPr>
          <a:xfrm>
            <a:off x="480060" y="192024"/>
            <a:ext cx="8181594" cy="2057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663C"/>
              </a:buClr>
              <a:buSzPts val="800"/>
              <a:buFont typeface="Calibri"/>
              <a:buNone/>
            </a:pPr>
            <a:r>
              <a:rPr b="1" i="0" lang="en" sz="800" u="none" cap="none" strike="noStrike">
                <a:solidFill>
                  <a:srgbClr val="E8663C"/>
                </a:solidFill>
                <a:latin typeface="Calibri"/>
                <a:ea typeface="Calibri"/>
                <a:cs typeface="Calibri"/>
                <a:sym typeface="Calibri"/>
              </a:rPr>
              <a:t>THE WORKFLOW</a:t>
            </a:r>
            <a:endParaRPr b="0" i="0" sz="800" u="none" cap="none" strike="noStrike">
              <a:solidFill>
                <a:schemeClr val="dk1"/>
              </a:solidFill>
              <a:latin typeface="Calibri"/>
              <a:ea typeface="Calibri"/>
              <a:cs typeface="Calibri"/>
              <a:sym typeface="Calibri"/>
            </a:endParaRPr>
          </a:p>
        </p:txBody>
      </p:sp>
      <p:sp>
        <p:nvSpPr>
          <p:cNvPr id="109" name="Google Shape;109;p19"/>
          <p:cNvSpPr/>
          <p:nvPr/>
        </p:nvSpPr>
        <p:spPr>
          <a:xfrm>
            <a:off x="480060" y="342900"/>
            <a:ext cx="8181594" cy="6172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2303C"/>
              </a:buClr>
              <a:buSzPts val="2600"/>
              <a:buFont typeface="Cambria"/>
              <a:buNone/>
            </a:pPr>
            <a:r>
              <a:rPr b="1" i="0" lang="en" sz="2600" u="none" cap="none" strike="noStrike">
                <a:solidFill>
                  <a:srgbClr val="22303C"/>
                </a:solidFill>
                <a:latin typeface="Cambria"/>
                <a:ea typeface="Cambria"/>
                <a:cs typeface="Cambria"/>
                <a:sym typeface="Cambria"/>
              </a:rPr>
              <a:t>Five stages, and the one that compounds</a:t>
            </a:r>
            <a:endParaRPr b="0" i="0" sz="2600" u="none" cap="none" strike="noStrike">
              <a:solidFill>
                <a:schemeClr val="dk1"/>
              </a:solidFill>
              <a:latin typeface="Calibri"/>
              <a:ea typeface="Calibri"/>
              <a:cs typeface="Calibri"/>
              <a:sym typeface="Calibri"/>
            </a:endParaRPr>
          </a:p>
        </p:txBody>
      </p:sp>
      <p:sp>
        <p:nvSpPr>
          <p:cNvPr id="110" name="Google Shape;110;p19"/>
          <p:cNvSpPr/>
          <p:nvPr/>
        </p:nvSpPr>
        <p:spPr>
          <a:xfrm>
            <a:off x="480060" y="1440180"/>
            <a:ext cx="1563624" cy="1028700"/>
          </a:xfrm>
          <a:prstGeom prst="roundRect">
            <a:avLst>
              <a:gd fmla="val 5333" name="adj"/>
            </a:avLst>
          </a:prstGeom>
          <a:solidFill>
            <a:srgbClr val="F2F4F6"/>
          </a:solidFill>
          <a:ln cap="flat" cmpd="sng" w="12700">
            <a:solidFill>
              <a:srgbClr val="F2F4F6"/>
            </a:solidFill>
            <a:prstDash val="solid"/>
            <a:round/>
            <a:headEnd len="sm" w="sm" type="none"/>
            <a:tailEnd len="sm" w="sm" type="none"/>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11" name="Google Shape;111;p19"/>
          <p:cNvSpPr/>
          <p:nvPr/>
        </p:nvSpPr>
        <p:spPr>
          <a:xfrm>
            <a:off x="582930" y="1577340"/>
            <a:ext cx="1357884" cy="24003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2303C"/>
              </a:buClr>
              <a:buSzPts val="1100"/>
              <a:buFont typeface="Cambria"/>
              <a:buNone/>
            </a:pPr>
            <a:r>
              <a:rPr b="1" i="0" lang="en" sz="1100" u="none" cap="none" strike="noStrike">
                <a:solidFill>
                  <a:srgbClr val="22303C"/>
                </a:solidFill>
                <a:latin typeface="Cambria"/>
                <a:ea typeface="Cambria"/>
                <a:cs typeface="Cambria"/>
                <a:sym typeface="Cambria"/>
              </a:rPr>
              <a:t>Define</a:t>
            </a:r>
            <a:endParaRPr b="0" i="0" sz="1100" u="none" cap="none" strike="noStrike">
              <a:solidFill>
                <a:schemeClr val="dk1"/>
              </a:solidFill>
              <a:latin typeface="Calibri"/>
              <a:ea typeface="Calibri"/>
              <a:cs typeface="Calibri"/>
              <a:sym typeface="Calibri"/>
            </a:endParaRPr>
          </a:p>
        </p:txBody>
      </p:sp>
      <p:sp>
        <p:nvSpPr>
          <p:cNvPr id="112" name="Google Shape;112;p19"/>
          <p:cNvSpPr/>
          <p:nvPr/>
        </p:nvSpPr>
        <p:spPr>
          <a:xfrm>
            <a:off x="582930" y="1851660"/>
            <a:ext cx="1357884" cy="48006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5A6B7A"/>
              </a:buClr>
              <a:buSzPts val="800"/>
              <a:buFont typeface="Calibri"/>
              <a:buNone/>
            </a:pPr>
            <a:r>
              <a:rPr b="0" i="0" lang="en" sz="800" u="none" cap="none" strike="noStrike">
                <a:solidFill>
                  <a:srgbClr val="5A6B7A"/>
                </a:solidFill>
                <a:latin typeface="Calibri"/>
                <a:ea typeface="Calibri"/>
                <a:cs typeface="Calibri"/>
                <a:sym typeface="Calibri"/>
              </a:rPr>
              <a:t>Spec the question</a:t>
            </a:r>
            <a:endParaRPr b="0" i="0" sz="800" u="none" cap="none" strike="noStrike">
              <a:solidFill>
                <a:schemeClr val="dk1"/>
              </a:solidFill>
              <a:latin typeface="Calibri"/>
              <a:ea typeface="Calibri"/>
              <a:cs typeface="Calibri"/>
              <a:sym typeface="Calibri"/>
            </a:endParaRPr>
          </a:p>
        </p:txBody>
      </p:sp>
      <p:sp>
        <p:nvSpPr>
          <p:cNvPr id="113" name="Google Shape;113;p19"/>
          <p:cNvSpPr/>
          <p:nvPr/>
        </p:nvSpPr>
        <p:spPr>
          <a:xfrm>
            <a:off x="2057400" y="1783080"/>
            <a:ext cx="240030" cy="27432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8A99A8"/>
              </a:buClr>
              <a:buSzPts val="1400"/>
              <a:buFont typeface="Calibri"/>
              <a:buNone/>
            </a:pPr>
            <a:r>
              <a:rPr b="0" i="0" lang="en" sz="1400" u="none" cap="none" strike="noStrike">
                <a:solidFill>
                  <a:srgbClr val="8A99A8"/>
                </a:solidFill>
                <a:latin typeface="Calibri"/>
                <a:ea typeface="Calibri"/>
                <a:cs typeface="Calibri"/>
                <a:sym typeface="Calibri"/>
              </a:rPr>
              <a:t>→</a:t>
            </a:r>
            <a:endParaRPr b="0" i="0" sz="1400" u="none" cap="none" strike="noStrike">
              <a:solidFill>
                <a:schemeClr val="dk1"/>
              </a:solidFill>
              <a:latin typeface="Calibri"/>
              <a:ea typeface="Calibri"/>
              <a:cs typeface="Calibri"/>
              <a:sym typeface="Calibri"/>
            </a:endParaRPr>
          </a:p>
        </p:txBody>
      </p:sp>
      <p:sp>
        <p:nvSpPr>
          <p:cNvPr id="114" name="Google Shape;114;p19"/>
          <p:cNvSpPr/>
          <p:nvPr/>
        </p:nvSpPr>
        <p:spPr>
          <a:xfrm>
            <a:off x="2297430" y="1440180"/>
            <a:ext cx="1563624" cy="1028700"/>
          </a:xfrm>
          <a:prstGeom prst="roundRect">
            <a:avLst>
              <a:gd fmla="val 5333" name="adj"/>
            </a:avLst>
          </a:prstGeom>
          <a:solidFill>
            <a:srgbClr val="F2F4F6"/>
          </a:solidFill>
          <a:ln cap="flat" cmpd="sng" w="12700">
            <a:solidFill>
              <a:srgbClr val="F2F4F6"/>
            </a:solidFill>
            <a:prstDash val="solid"/>
            <a:round/>
            <a:headEnd len="sm" w="sm" type="none"/>
            <a:tailEnd len="sm" w="sm" type="none"/>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15" name="Google Shape;115;p19"/>
          <p:cNvSpPr/>
          <p:nvPr/>
        </p:nvSpPr>
        <p:spPr>
          <a:xfrm>
            <a:off x="2400300" y="1577340"/>
            <a:ext cx="1357884" cy="24003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2303C"/>
              </a:buClr>
              <a:buSzPts val="1100"/>
              <a:buFont typeface="Cambria"/>
              <a:buNone/>
            </a:pPr>
            <a:r>
              <a:rPr b="1" i="0" lang="en" sz="1100" u="none" cap="none" strike="noStrike">
                <a:solidFill>
                  <a:srgbClr val="22303C"/>
                </a:solidFill>
                <a:latin typeface="Cambria"/>
                <a:ea typeface="Cambria"/>
                <a:cs typeface="Cambria"/>
                <a:sym typeface="Cambria"/>
              </a:rPr>
              <a:t>Build</a:t>
            </a:r>
            <a:endParaRPr b="0" i="0" sz="1100" u="none" cap="none" strike="noStrike">
              <a:solidFill>
                <a:schemeClr val="dk1"/>
              </a:solidFill>
              <a:latin typeface="Calibri"/>
              <a:ea typeface="Calibri"/>
              <a:cs typeface="Calibri"/>
              <a:sym typeface="Calibri"/>
            </a:endParaRPr>
          </a:p>
        </p:txBody>
      </p:sp>
      <p:sp>
        <p:nvSpPr>
          <p:cNvPr id="116" name="Google Shape;116;p19"/>
          <p:cNvSpPr/>
          <p:nvPr/>
        </p:nvSpPr>
        <p:spPr>
          <a:xfrm>
            <a:off x="2400300" y="1851660"/>
            <a:ext cx="1357884" cy="48006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5A6B7A"/>
              </a:buClr>
              <a:buSzPts val="800"/>
              <a:buFont typeface="Calibri"/>
              <a:buNone/>
            </a:pPr>
            <a:r>
              <a:rPr b="0" i="0" lang="en" sz="800" u="none" cap="none" strike="noStrike">
                <a:solidFill>
                  <a:srgbClr val="5A6B7A"/>
                </a:solidFill>
                <a:latin typeface="Calibri"/>
                <a:ea typeface="Calibri"/>
                <a:cs typeface="Calibri"/>
                <a:sym typeface="Calibri"/>
              </a:rPr>
              <a:t>Find and query</a:t>
            </a:r>
            <a:endParaRPr b="0" i="0" sz="800" u="none" cap="none" strike="noStrike">
              <a:solidFill>
                <a:schemeClr val="dk1"/>
              </a:solidFill>
              <a:latin typeface="Calibri"/>
              <a:ea typeface="Calibri"/>
              <a:cs typeface="Calibri"/>
              <a:sym typeface="Calibri"/>
            </a:endParaRPr>
          </a:p>
        </p:txBody>
      </p:sp>
      <p:sp>
        <p:nvSpPr>
          <p:cNvPr id="117" name="Google Shape;117;p19"/>
          <p:cNvSpPr/>
          <p:nvPr/>
        </p:nvSpPr>
        <p:spPr>
          <a:xfrm>
            <a:off x="3874770" y="1783080"/>
            <a:ext cx="240030" cy="27432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8A99A8"/>
              </a:buClr>
              <a:buSzPts val="1400"/>
              <a:buFont typeface="Calibri"/>
              <a:buNone/>
            </a:pPr>
            <a:r>
              <a:rPr b="0" i="0" lang="en" sz="1400" u="none" cap="none" strike="noStrike">
                <a:solidFill>
                  <a:srgbClr val="8A99A8"/>
                </a:solidFill>
                <a:latin typeface="Calibri"/>
                <a:ea typeface="Calibri"/>
                <a:cs typeface="Calibri"/>
                <a:sym typeface="Calibri"/>
              </a:rPr>
              <a:t>→</a:t>
            </a:r>
            <a:endParaRPr b="0" i="0" sz="1400" u="none" cap="none" strike="noStrike">
              <a:solidFill>
                <a:schemeClr val="dk1"/>
              </a:solidFill>
              <a:latin typeface="Calibri"/>
              <a:ea typeface="Calibri"/>
              <a:cs typeface="Calibri"/>
              <a:sym typeface="Calibri"/>
            </a:endParaRPr>
          </a:p>
        </p:txBody>
      </p:sp>
      <p:sp>
        <p:nvSpPr>
          <p:cNvPr id="118" name="Google Shape;118;p19"/>
          <p:cNvSpPr/>
          <p:nvPr/>
        </p:nvSpPr>
        <p:spPr>
          <a:xfrm>
            <a:off x="4114800" y="1440180"/>
            <a:ext cx="1563624" cy="1028700"/>
          </a:xfrm>
          <a:prstGeom prst="roundRect">
            <a:avLst>
              <a:gd fmla="val 5333" name="adj"/>
            </a:avLst>
          </a:prstGeom>
          <a:solidFill>
            <a:srgbClr val="F2F4F6"/>
          </a:solidFill>
          <a:ln cap="flat" cmpd="sng" w="12700">
            <a:solidFill>
              <a:srgbClr val="F2F4F6"/>
            </a:solidFill>
            <a:prstDash val="solid"/>
            <a:round/>
            <a:headEnd len="sm" w="sm" type="none"/>
            <a:tailEnd len="sm" w="sm" type="none"/>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19" name="Google Shape;119;p19"/>
          <p:cNvSpPr/>
          <p:nvPr/>
        </p:nvSpPr>
        <p:spPr>
          <a:xfrm>
            <a:off x="4217670" y="1577340"/>
            <a:ext cx="1357884" cy="24003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2303C"/>
              </a:buClr>
              <a:buSzPts val="1100"/>
              <a:buFont typeface="Cambria"/>
              <a:buNone/>
            </a:pPr>
            <a:r>
              <a:rPr b="1" i="0" lang="en" sz="1100" u="none" cap="none" strike="noStrike">
                <a:solidFill>
                  <a:srgbClr val="22303C"/>
                </a:solidFill>
                <a:latin typeface="Cambria"/>
                <a:ea typeface="Cambria"/>
                <a:cs typeface="Cambria"/>
                <a:sym typeface="Cambria"/>
              </a:rPr>
              <a:t>Validate</a:t>
            </a:r>
            <a:endParaRPr b="0" i="0" sz="1100" u="none" cap="none" strike="noStrike">
              <a:solidFill>
                <a:schemeClr val="dk1"/>
              </a:solidFill>
              <a:latin typeface="Calibri"/>
              <a:ea typeface="Calibri"/>
              <a:cs typeface="Calibri"/>
              <a:sym typeface="Calibri"/>
            </a:endParaRPr>
          </a:p>
        </p:txBody>
      </p:sp>
      <p:sp>
        <p:nvSpPr>
          <p:cNvPr id="120" name="Google Shape;120;p19"/>
          <p:cNvSpPr/>
          <p:nvPr/>
        </p:nvSpPr>
        <p:spPr>
          <a:xfrm>
            <a:off x="4217670" y="1851660"/>
            <a:ext cx="1357884" cy="48006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5A6B7A"/>
              </a:buClr>
              <a:buSzPts val="800"/>
              <a:buFont typeface="Calibri"/>
              <a:buNone/>
            </a:pPr>
            <a:r>
              <a:rPr b="0" i="0" lang="en" sz="800" u="none" cap="none" strike="noStrike">
                <a:solidFill>
                  <a:srgbClr val="5A6B7A"/>
                </a:solidFill>
                <a:latin typeface="Calibri"/>
                <a:ea typeface="Calibri"/>
                <a:cs typeface="Calibri"/>
                <a:sym typeface="Calibri"/>
              </a:rPr>
              <a:t>Check and doubt</a:t>
            </a:r>
            <a:endParaRPr b="0" i="0" sz="800" u="none" cap="none" strike="noStrike">
              <a:solidFill>
                <a:schemeClr val="dk1"/>
              </a:solidFill>
              <a:latin typeface="Calibri"/>
              <a:ea typeface="Calibri"/>
              <a:cs typeface="Calibri"/>
              <a:sym typeface="Calibri"/>
            </a:endParaRPr>
          </a:p>
        </p:txBody>
      </p:sp>
      <p:sp>
        <p:nvSpPr>
          <p:cNvPr id="121" name="Google Shape;121;p19"/>
          <p:cNvSpPr/>
          <p:nvPr/>
        </p:nvSpPr>
        <p:spPr>
          <a:xfrm>
            <a:off x="5692140" y="1783080"/>
            <a:ext cx="240030" cy="27432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8A99A8"/>
              </a:buClr>
              <a:buSzPts val="1400"/>
              <a:buFont typeface="Calibri"/>
              <a:buNone/>
            </a:pPr>
            <a:r>
              <a:rPr b="0" i="0" lang="en" sz="1400" u="none" cap="none" strike="noStrike">
                <a:solidFill>
                  <a:srgbClr val="8A99A8"/>
                </a:solidFill>
                <a:latin typeface="Calibri"/>
                <a:ea typeface="Calibri"/>
                <a:cs typeface="Calibri"/>
                <a:sym typeface="Calibri"/>
              </a:rPr>
              <a:t>→</a:t>
            </a:r>
            <a:endParaRPr b="0" i="0" sz="1400" u="none" cap="none" strike="noStrike">
              <a:solidFill>
                <a:schemeClr val="dk1"/>
              </a:solidFill>
              <a:latin typeface="Calibri"/>
              <a:ea typeface="Calibri"/>
              <a:cs typeface="Calibri"/>
              <a:sym typeface="Calibri"/>
            </a:endParaRPr>
          </a:p>
        </p:txBody>
      </p:sp>
      <p:sp>
        <p:nvSpPr>
          <p:cNvPr id="122" name="Google Shape;122;p19"/>
          <p:cNvSpPr/>
          <p:nvPr/>
        </p:nvSpPr>
        <p:spPr>
          <a:xfrm>
            <a:off x="5932170" y="1440180"/>
            <a:ext cx="1563624" cy="1028700"/>
          </a:xfrm>
          <a:prstGeom prst="roundRect">
            <a:avLst>
              <a:gd fmla="val 5333" name="adj"/>
            </a:avLst>
          </a:prstGeom>
          <a:solidFill>
            <a:srgbClr val="F2F4F6"/>
          </a:solidFill>
          <a:ln cap="flat" cmpd="sng" w="12700">
            <a:solidFill>
              <a:srgbClr val="F2F4F6"/>
            </a:solidFill>
            <a:prstDash val="solid"/>
            <a:round/>
            <a:headEnd len="sm" w="sm" type="none"/>
            <a:tailEnd len="sm" w="sm" type="none"/>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23" name="Google Shape;123;p19"/>
          <p:cNvSpPr/>
          <p:nvPr/>
        </p:nvSpPr>
        <p:spPr>
          <a:xfrm>
            <a:off x="6035040" y="1577340"/>
            <a:ext cx="1357884" cy="24003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2303C"/>
              </a:buClr>
              <a:buSzPts val="1100"/>
              <a:buFont typeface="Cambria"/>
              <a:buNone/>
            </a:pPr>
            <a:r>
              <a:rPr b="1" i="0" lang="en" sz="1100" u="none" cap="none" strike="noStrike">
                <a:solidFill>
                  <a:srgbClr val="22303C"/>
                </a:solidFill>
                <a:latin typeface="Cambria"/>
                <a:ea typeface="Cambria"/>
                <a:cs typeface="Cambria"/>
                <a:sym typeface="Cambria"/>
              </a:rPr>
              <a:t>Operationalize</a:t>
            </a:r>
            <a:endParaRPr b="0" i="0" sz="1100" u="none" cap="none" strike="noStrike">
              <a:solidFill>
                <a:schemeClr val="dk1"/>
              </a:solidFill>
              <a:latin typeface="Calibri"/>
              <a:ea typeface="Calibri"/>
              <a:cs typeface="Calibri"/>
              <a:sym typeface="Calibri"/>
            </a:endParaRPr>
          </a:p>
        </p:txBody>
      </p:sp>
      <p:sp>
        <p:nvSpPr>
          <p:cNvPr id="124" name="Google Shape;124;p19"/>
          <p:cNvSpPr/>
          <p:nvPr/>
        </p:nvSpPr>
        <p:spPr>
          <a:xfrm>
            <a:off x="6035040" y="1851660"/>
            <a:ext cx="1357884" cy="48006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5A6B7A"/>
              </a:buClr>
              <a:buSzPts val="800"/>
              <a:buFont typeface="Calibri"/>
              <a:buNone/>
            </a:pPr>
            <a:r>
              <a:rPr b="0" i="0" lang="en" sz="800" u="none" cap="none" strike="noStrike">
                <a:solidFill>
                  <a:srgbClr val="5A6B7A"/>
                </a:solidFill>
                <a:latin typeface="Calibri"/>
                <a:ea typeface="Calibri"/>
                <a:cs typeface="Calibri"/>
                <a:sym typeface="Calibri"/>
              </a:rPr>
              <a:t>Ship with provenance</a:t>
            </a:r>
            <a:endParaRPr b="0" i="0" sz="800" u="none" cap="none" strike="noStrike">
              <a:solidFill>
                <a:schemeClr val="dk1"/>
              </a:solidFill>
              <a:latin typeface="Calibri"/>
              <a:ea typeface="Calibri"/>
              <a:cs typeface="Calibri"/>
              <a:sym typeface="Calibri"/>
            </a:endParaRPr>
          </a:p>
        </p:txBody>
      </p:sp>
      <p:sp>
        <p:nvSpPr>
          <p:cNvPr id="125" name="Google Shape;125;p19"/>
          <p:cNvSpPr/>
          <p:nvPr/>
        </p:nvSpPr>
        <p:spPr>
          <a:xfrm>
            <a:off x="7509510" y="1783080"/>
            <a:ext cx="240030" cy="27432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8A99A8"/>
              </a:buClr>
              <a:buSzPts val="1400"/>
              <a:buFont typeface="Calibri"/>
              <a:buNone/>
            </a:pPr>
            <a:r>
              <a:rPr b="0" i="0" lang="en" sz="1400" u="none" cap="none" strike="noStrike">
                <a:solidFill>
                  <a:srgbClr val="8A99A8"/>
                </a:solidFill>
                <a:latin typeface="Calibri"/>
                <a:ea typeface="Calibri"/>
                <a:cs typeface="Calibri"/>
                <a:sym typeface="Calibri"/>
              </a:rPr>
              <a:t>→</a:t>
            </a:r>
            <a:endParaRPr b="0" i="0" sz="1400" u="none" cap="none" strike="noStrike">
              <a:solidFill>
                <a:schemeClr val="dk1"/>
              </a:solidFill>
              <a:latin typeface="Calibri"/>
              <a:ea typeface="Calibri"/>
              <a:cs typeface="Calibri"/>
              <a:sym typeface="Calibri"/>
            </a:endParaRPr>
          </a:p>
        </p:txBody>
      </p:sp>
      <p:sp>
        <p:nvSpPr>
          <p:cNvPr id="126" name="Google Shape;126;p19"/>
          <p:cNvSpPr/>
          <p:nvPr/>
        </p:nvSpPr>
        <p:spPr>
          <a:xfrm>
            <a:off x="7749540" y="1440180"/>
            <a:ext cx="1563624" cy="1028700"/>
          </a:xfrm>
          <a:prstGeom prst="roundRect">
            <a:avLst>
              <a:gd fmla="val 5333" name="adj"/>
            </a:avLst>
          </a:prstGeom>
          <a:solidFill>
            <a:srgbClr val="F2F4F6"/>
          </a:solidFill>
          <a:ln cap="flat" cmpd="sng" w="12700">
            <a:solidFill>
              <a:srgbClr val="F2F4F6"/>
            </a:solidFill>
            <a:prstDash val="solid"/>
            <a:round/>
            <a:headEnd len="sm" w="sm" type="none"/>
            <a:tailEnd len="sm" w="sm" type="none"/>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27" name="Google Shape;127;p19"/>
          <p:cNvSpPr/>
          <p:nvPr/>
        </p:nvSpPr>
        <p:spPr>
          <a:xfrm>
            <a:off x="7852410" y="1577340"/>
            <a:ext cx="1357884" cy="24003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2303C"/>
              </a:buClr>
              <a:buSzPts val="1100"/>
              <a:buFont typeface="Cambria"/>
              <a:buNone/>
            </a:pPr>
            <a:r>
              <a:rPr b="1" i="0" lang="en" sz="1100" u="none" cap="none" strike="noStrike">
                <a:solidFill>
                  <a:srgbClr val="22303C"/>
                </a:solidFill>
                <a:latin typeface="Cambria"/>
                <a:ea typeface="Cambria"/>
                <a:cs typeface="Cambria"/>
                <a:sym typeface="Cambria"/>
              </a:rPr>
              <a:t>Monitor</a:t>
            </a:r>
            <a:endParaRPr b="0" i="0" sz="1100" u="none" cap="none" strike="noStrike">
              <a:solidFill>
                <a:schemeClr val="dk1"/>
              </a:solidFill>
              <a:latin typeface="Calibri"/>
              <a:ea typeface="Calibri"/>
              <a:cs typeface="Calibri"/>
              <a:sym typeface="Calibri"/>
            </a:endParaRPr>
          </a:p>
        </p:txBody>
      </p:sp>
      <p:sp>
        <p:nvSpPr>
          <p:cNvPr id="128" name="Google Shape;128;p19"/>
          <p:cNvSpPr/>
          <p:nvPr/>
        </p:nvSpPr>
        <p:spPr>
          <a:xfrm>
            <a:off x="7852410" y="1851660"/>
            <a:ext cx="1357884" cy="48006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5A6B7A"/>
              </a:buClr>
              <a:buSzPts val="800"/>
              <a:buFont typeface="Calibri"/>
              <a:buNone/>
            </a:pPr>
            <a:r>
              <a:rPr b="0" i="0" lang="en" sz="800" u="none" cap="none" strike="noStrike">
                <a:solidFill>
                  <a:srgbClr val="5A6B7A"/>
                </a:solidFill>
                <a:latin typeface="Calibri"/>
                <a:ea typeface="Calibri"/>
                <a:cs typeface="Calibri"/>
                <a:sym typeface="Calibri"/>
              </a:rPr>
              <a:t>Watch for drift</a:t>
            </a:r>
            <a:endParaRPr b="0" i="0" sz="800" u="none" cap="none" strike="noStrike">
              <a:solidFill>
                <a:schemeClr val="dk1"/>
              </a:solidFill>
              <a:latin typeface="Calibri"/>
              <a:ea typeface="Calibri"/>
              <a:cs typeface="Calibri"/>
              <a:sym typeface="Calibri"/>
            </a:endParaRPr>
          </a:p>
        </p:txBody>
      </p:sp>
      <p:sp>
        <p:nvSpPr>
          <p:cNvPr id="129" name="Google Shape;129;p19"/>
          <p:cNvSpPr/>
          <p:nvPr/>
        </p:nvSpPr>
        <p:spPr>
          <a:xfrm>
            <a:off x="480060" y="2846070"/>
            <a:ext cx="8181594" cy="1268730"/>
          </a:xfrm>
          <a:prstGeom prst="roundRect">
            <a:avLst>
              <a:gd fmla="val 4324" name="adj"/>
            </a:avLst>
          </a:prstGeom>
          <a:solidFill>
            <a:srgbClr val="E6F2EE"/>
          </a:solidFill>
          <a:ln cap="flat" cmpd="sng" w="12700">
            <a:solidFill>
              <a:srgbClr val="E6F2EE"/>
            </a:solidFill>
            <a:prstDash val="solid"/>
            <a:round/>
            <a:headEnd len="sm" w="sm" type="none"/>
            <a:tailEnd len="sm" w="sm" type="none"/>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30" name="Google Shape;130;p19"/>
          <p:cNvSpPr/>
          <p:nvPr/>
        </p:nvSpPr>
        <p:spPr>
          <a:xfrm>
            <a:off x="754380" y="3017520"/>
            <a:ext cx="34290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D8A72"/>
              </a:buClr>
              <a:buSzPts val="1700"/>
              <a:buFont typeface="Cambria"/>
              <a:buNone/>
            </a:pPr>
            <a:r>
              <a:rPr b="1" i="0" lang="en" sz="1700" u="none" cap="none" strike="noStrike">
                <a:solidFill>
                  <a:srgbClr val="2D8A72"/>
                </a:solidFill>
                <a:latin typeface="Cambria"/>
                <a:ea typeface="Cambria"/>
                <a:cs typeface="Cambria"/>
                <a:sym typeface="Cambria"/>
              </a:rPr>
              <a:t>Compound</a:t>
            </a:r>
            <a:endParaRPr b="0" i="0" sz="1700" u="none" cap="none" strike="noStrike">
              <a:solidFill>
                <a:schemeClr val="dk1"/>
              </a:solidFill>
              <a:latin typeface="Calibri"/>
              <a:ea typeface="Calibri"/>
              <a:cs typeface="Calibri"/>
              <a:sym typeface="Calibri"/>
            </a:endParaRPr>
          </a:p>
        </p:txBody>
      </p:sp>
      <p:sp>
        <p:nvSpPr>
          <p:cNvPr id="131" name="Google Shape;131;p19"/>
          <p:cNvSpPr/>
          <p:nvPr/>
        </p:nvSpPr>
        <p:spPr>
          <a:xfrm>
            <a:off x="754380" y="3360420"/>
            <a:ext cx="7632954" cy="58293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F5F4C"/>
              </a:buClr>
              <a:buSzPts val="1100"/>
              <a:buFont typeface="Calibri"/>
              <a:buNone/>
            </a:pPr>
            <a:r>
              <a:rPr b="0" i="0" lang="en" sz="1100" u="none" cap="none" strike="noStrike">
                <a:solidFill>
                  <a:srgbClr val="1F5F4C"/>
                </a:solidFill>
                <a:latin typeface="Calibri"/>
                <a:ea typeface="Calibri"/>
                <a:cs typeface="Calibri"/>
                <a:sym typeface="Calibri"/>
              </a:rPr>
              <a:t>Every correction becomes a doc edit and an eval. Skip this step and you have done traditional analytics with an AI typing for you.</a:t>
            </a:r>
            <a:endParaRPr b="0" i="0" sz="1100" u="none" cap="none" strike="noStrike">
              <a:solidFill>
                <a:schemeClr val="dk1"/>
              </a:solidFill>
              <a:latin typeface="Calibri"/>
              <a:ea typeface="Calibri"/>
              <a:cs typeface="Calibri"/>
              <a:sym typeface="Calibri"/>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22303C"/>
        </a:solidFill>
      </p:bgPr>
    </p:bg>
    <p:spTree>
      <p:nvGrpSpPr>
        <p:cNvPr id="136" name="Shape 136"/>
        <p:cNvGrpSpPr/>
        <p:nvPr/>
      </p:nvGrpSpPr>
      <p:grpSpPr>
        <a:xfrm>
          <a:off x="0" y="0"/>
          <a:ext cx="0" cy="0"/>
          <a:chOff x="0" y="0"/>
          <a:chExt cx="0" cy="0"/>
        </a:xfrm>
      </p:grpSpPr>
      <p:sp>
        <p:nvSpPr>
          <p:cNvPr id="137" name="Google Shape;137;p20"/>
          <p:cNvSpPr/>
          <p:nvPr/>
        </p:nvSpPr>
        <p:spPr>
          <a:xfrm>
            <a:off x="480060" y="192024"/>
            <a:ext cx="8181594" cy="2057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663C"/>
              </a:buClr>
              <a:buSzPts val="800"/>
              <a:buFont typeface="Calibri"/>
              <a:buNone/>
            </a:pPr>
            <a:r>
              <a:rPr b="1" i="0" lang="en" sz="800" u="none" cap="none" strike="noStrike">
                <a:solidFill>
                  <a:srgbClr val="E8663C"/>
                </a:solidFill>
                <a:latin typeface="Calibri"/>
                <a:ea typeface="Calibri"/>
                <a:cs typeface="Calibri"/>
                <a:sym typeface="Calibri"/>
              </a:rPr>
              <a:t>THE REFRAME</a:t>
            </a:r>
            <a:endParaRPr b="0" i="0" sz="800" u="none" cap="none" strike="noStrike">
              <a:solidFill>
                <a:schemeClr val="dk1"/>
              </a:solidFill>
              <a:latin typeface="Calibri"/>
              <a:ea typeface="Calibri"/>
              <a:cs typeface="Calibri"/>
              <a:sym typeface="Calibri"/>
            </a:endParaRPr>
          </a:p>
        </p:txBody>
      </p:sp>
      <p:sp>
        <p:nvSpPr>
          <p:cNvPr id="138" name="Google Shape;138;p20"/>
          <p:cNvSpPr/>
          <p:nvPr/>
        </p:nvSpPr>
        <p:spPr>
          <a:xfrm>
            <a:off x="480060" y="342900"/>
            <a:ext cx="8181594" cy="6172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2600"/>
              <a:buFont typeface="Cambria"/>
              <a:buNone/>
            </a:pPr>
            <a:r>
              <a:rPr b="1" i="0" lang="en" sz="2600" u="none" cap="none" strike="noStrike">
                <a:solidFill>
                  <a:srgbClr val="FFFFFF"/>
                </a:solidFill>
                <a:latin typeface="Cambria"/>
                <a:ea typeface="Cambria"/>
                <a:cs typeface="Cambria"/>
                <a:sym typeface="Cambria"/>
              </a:rPr>
              <a:t>A skill is markdown, not code</a:t>
            </a:r>
            <a:endParaRPr b="0" i="0" sz="2600" u="none" cap="none" strike="noStrike">
              <a:solidFill>
                <a:schemeClr val="dk1"/>
              </a:solidFill>
              <a:latin typeface="Calibri"/>
              <a:ea typeface="Calibri"/>
              <a:cs typeface="Calibri"/>
              <a:sym typeface="Calibri"/>
            </a:endParaRPr>
          </a:p>
        </p:txBody>
      </p:sp>
      <p:sp>
        <p:nvSpPr>
          <p:cNvPr id="139" name="Google Shape;139;p20"/>
          <p:cNvSpPr/>
          <p:nvPr/>
        </p:nvSpPr>
        <p:spPr>
          <a:xfrm>
            <a:off x="480060" y="1440180"/>
            <a:ext cx="7886700" cy="960120"/>
          </a:xfrm>
          <a:prstGeom prst="rect">
            <a:avLst/>
          </a:prstGeom>
          <a:noFill/>
          <a:ln>
            <a:noFill/>
          </a:ln>
        </p:spPr>
        <p:txBody>
          <a:bodyPr anchorCtr="0" anchor="ctr" bIns="0" lIns="0" spcFirstLastPara="1" rIns="0" wrap="square" tIns="0">
            <a:noAutofit/>
          </a:bodyPr>
          <a:lstStyle/>
          <a:p>
            <a:pPr indent="0" lvl="0" marL="0" marR="0" rtl="0" algn="l">
              <a:lnSpc>
                <a:spcPct val="133333"/>
              </a:lnSpc>
              <a:spcBef>
                <a:spcPts val="0"/>
              </a:spcBef>
              <a:spcAft>
                <a:spcPts val="0"/>
              </a:spcAft>
              <a:buClr>
                <a:srgbClr val="FFFFFF"/>
              </a:buClr>
              <a:buSzPts val="2300"/>
              <a:buFont typeface="Cambria"/>
              <a:buNone/>
            </a:pPr>
            <a:r>
              <a:rPr b="0" i="1" lang="en" sz="2300" u="none" cap="none" strike="noStrike">
                <a:solidFill>
                  <a:srgbClr val="FFFFFF"/>
                </a:solidFill>
                <a:latin typeface="Cambria"/>
                <a:ea typeface="Cambria"/>
                <a:cs typeface="Cambria"/>
                <a:sym typeface="Cambria"/>
              </a:rPr>
              <a:t>The agent doesn't need you to write code anymore.</a:t>
            </a:r>
            <a:endParaRPr b="0" i="0" sz="2300" u="none" cap="none" strike="noStrike">
              <a:solidFill>
                <a:schemeClr val="dk1"/>
              </a:solidFill>
              <a:latin typeface="Calibri"/>
              <a:ea typeface="Calibri"/>
              <a:cs typeface="Calibri"/>
              <a:sym typeface="Calibri"/>
            </a:endParaRPr>
          </a:p>
          <a:p>
            <a:pPr indent="0" lvl="0" marL="0" marR="0" rtl="0" algn="l">
              <a:lnSpc>
                <a:spcPct val="133333"/>
              </a:lnSpc>
              <a:spcBef>
                <a:spcPts val="0"/>
              </a:spcBef>
              <a:spcAft>
                <a:spcPts val="0"/>
              </a:spcAft>
              <a:buClr>
                <a:srgbClr val="FFFFFF"/>
              </a:buClr>
              <a:buSzPts val="2300"/>
              <a:buFont typeface="Cambria"/>
              <a:buNone/>
            </a:pPr>
            <a:r>
              <a:rPr b="0" i="1" lang="en" sz="2300" u="none" cap="none" strike="noStrike">
                <a:solidFill>
                  <a:srgbClr val="FFFFFF"/>
                </a:solidFill>
                <a:latin typeface="Cambria"/>
                <a:ea typeface="Cambria"/>
                <a:cs typeface="Cambria"/>
                <a:sym typeface="Cambria"/>
              </a:rPr>
              <a:t>It needs you to write down what you know.</a:t>
            </a:r>
            <a:endParaRPr b="0" i="0" sz="2300" u="none" cap="none" strike="noStrike">
              <a:solidFill>
                <a:schemeClr val="dk1"/>
              </a:solidFill>
              <a:latin typeface="Calibri"/>
              <a:ea typeface="Calibri"/>
              <a:cs typeface="Calibri"/>
              <a:sym typeface="Calibri"/>
            </a:endParaRPr>
          </a:p>
        </p:txBody>
      </p:sp>
      <p:sp>
        <p:nvSpPr>
          <p:cNvPr id="140" name="Google Shape;140;p20"/>
          <p:cNvSpPr/>
          <p:nvPr/>
        </p:nvSpPr>
        <p:spPr>
          <a:xfrm>
            <a:off x="480060" y="2811780"/>
            <a:ext cx="2640330" cy="1303020"/>
          </a:xfrm>
          <a:prstGeom prst="roundRect">
            <a:avLst>
              <a:gd fmla="val 4211" name="adj"/>
            </a:avLst>
          </a:prstGeom>
          <a:solidFill>
            <a:srgbClr val="2E3E4C"/>
          </a:solidFill>
          <a:ln cap="flat" cmpd="sng" w="12700">
            <a:solidFill>
              <a:srgbClr val="2E3E4C"/>
            </a:solidFill>
            <a:prstDash val="solid"/>
            <a:round/>
            <a:headEnd len="sm" w="sm" type="none"/>
            <a:tailEnd len="sm" w="sm" type="none"/>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41" name="Google Shape;141;p20"/>
          <p:cNvSpPr/>
          <p:nvPr/>
        </p:nvSpPr>
        <p:spPr>
          <a:xfrm>
            <a:off x="685800" y="2983230"/>
            <a:ext cx="222885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663C"/>
              </a:buClr>
              <a:buSzPts val="1200"/>
              <a:buFont typeface="Cambria"/>
              <a:buNone/>
            </a:pPr>
            <a:r>
              <a:rPr b="1" i="0" lang="en" sz="1200" u="none" cap="none" strike="noStrike">
                <a:solidFill>
                  <a:srgbClr val="E8663C"/>
                </a:solidFill>
                <a:latin typeface="Cambria"/>
                <a:ea typeface="Cambria"/>
                <a:cs typeface="Cambria"/>
                <a:sym typeface="Cambria"/>
              </a:rPr>
              <a:t>Anyone can contribute</a:t>
            </a:r>
            <a:endParaRPr b="0" i="0" sz="1200" u="none" cap="none" strike="noStrike">
              <a:solidFill>
                <a:schemeClr val="dk1"/>
              </a:solidFill>
              <a:latin typeface="Calibri"/>
              <a:ea typeface="Calibri"/>
              <a:cs typeface="Calibri"/>
              <a:sym typeface="Calibri"/>
            </a:endParaRPr>
          </a:p>
        </p:txBody>
      </p:sp>
      <p:sp>
        <p:nvSpPr>
          <p:cNvPr id="142" name="Google Shape;142;p20"/>
          <p:cNvSpPr/>
          <p:nvPr/>
        </p:nvSpPr>
        <p:spPr>
          <a:xfrm>
            <a:off x="685800" y="3278124"/>
            <a:ext cx="2228850" cy="72009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BD5DD"/>
              </a:buClr>
              <a:buSzPts val="1000"/>
              <a:buFont typeface="Calibri"/>
              <a:buNone/>
            </a:pPr>
            <a:r>
              <a:rPr b="0" i="0" lang="en" sz="1000" u="none" cap="none" strike="noStrike">
                <a:solidFill>
                  <a:srgbClr val="CBD5DD"/>
                </a:solidFill>
                <a:latin typeface="Calibri"/>
                <a:ea typeface="Calibri"/>
                <a:cs typeface="Calibri"/>
                <a:sym typeface="Calibri"/>
              </a:rPr>
              <a:t>A SQL analyst and a senior DS both ship a real artifact in 90 minutes</a:t>
            </a:r>
            <a:endParaRPr b="0" i="0" sz="1000" u="none" cap="none" strike="noStrike">
              <a:solidFill>
                <a:schemeClr val="dk1"/>
              </a:solidFill>
              <a:latin typeface="Calibri"/>
              <a:ea typeface="Calibri"/>
              <a:cs typeface="Calibri"/>
              <a:sym typeface="Calibri"/>
            </a:endParaRPr>
          </a:p>
        </p:txBody>
      </p:sp>
      <p:sp>
        <p:nvSpPr>
          <p:cNvPr id="143" name="Google Shape;143;p20"/>
          <p:cNvSpPr/>
          <p:nvPr/>
        </p:nvSpPr>
        <p:spPr>
          <a:xfrm>
            <a:off x="3408426" y="2811780"/>
            <a:ext cx="2640330" cy="1303020"/>
          </a:xfrm>
          <a:prstGeom prst="roundRect">
            <a:avLst>
              <a:gd fmla="val 4211" name="adj"/>
            </a:avLst>
          </a:prstGeom>
          <a:solidFill>
            <a:srgbClr val="2E3E4C"/>
          </a:solidFill>
          <a:ln cap="flat" cmpd="sng" w="12700">
            <a:solidFill>
              <a:srgbClr val="2E3E4C"/>
            </a:solidFill>
            <a:prstDash val="solid"/>
            <a:round/>
            <a:headEnd len="sm" w="sm" type="none"/>
            <a:tailEnd len="sm" w="sm" type="none"/>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44" name="Google Shape;144;p20"/>
          <p:cNvSpPr/>
          <p:nvPr/>
        </p:nvSpPr>
        <p:spPr>
          <a:xfrm>
            <a:off x="3614166" y="2983230"/>
            <a:ext cx="222885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663C"/>
              </a:buClr>
              <a:buSzPts val="1200"/>
              <a:buFont typeface="Cambria"/>
              <a:buNone/>
            </a:pPr>
            <a:r>
              <a:rPr b="1" i="0" lang="en" sz="1200" u="none" cap="none" strike="noStrike">
                <a:solidFill>
                  <a:srgbClr val="E8663C"/>
                </a:solidFill>
                <a:latin typeface="Cambria"/>
                <a:ea typeface="Cambria"/>
                <a:cs typeface="Cambria"/>
                <a:sym typeface="Cambria"/>
              </a:rPr>
              <a:t>The bottleneck is judgment</a:t>
            </a:r>
            <a:endParaRPr b="0" i="0" sz="1200" u="none" cap="none" strike="noStrike">
              <a:solidFill>
                <a:schemeClr val="dk1"/>
              </a:solidFill>
              <a:latin typeface="Calibri"/>
              <a:ea typeface="Calibri"/>
              <a:cs typeface="Calibri"/>
              <a:sym typeface="Calibri"/>
            </a:endParaRPr>
          </a:p>
        </p:txBody>
      </p:sp>
      <p:sp>
        <p:nvSpPr>
          <p:cNvPr id="145" name="Google Shape;145;p20"/>
          <p:cNvSpPr/>
          <p:nvPr/>
        </p:nvSpPr>
        <p:spPr>
          <a:xfrm>
            <a:off x="3614166" y="3278124"/>
            <a:ext cx="2228850" cy="72009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BD5DD"/>
              </a:buClr>
              <a:buSzPts val="1000"/>
              <a:buFont typeface="Calibri"/>
              <a:buNone/>
            </a:pPr>
            <a:r>
              <a:rPr b="0" i="0" lang="en" sz="1000" u="none" cap="none" strike="noStrike">
                <a:solidFill>
                  <a:srgbClr val="CBD5DD"/>
                </a:solidFill>
                <a:latin typeface="Calibri"/>
                <a:ea typeface="Calibri"/>
                <a:cs typeface="Calibri"/>
                <a:sym typeface="Calibri"/>
              </a:rPr>
              <a:t>Which analysts have, and models don't</a:t>
            </a:r>
            <a:endParaRPr b="0" i="0" sz="1000" u="none" cap="none" strike="noStrike">
              <a:solidFill>
                <a:schemeClr val="dk1"/>
              </a:solidFill>
              <a:latin typeface="Calibri"/>
              <a:ea typeface="Calibri"/>
              <a:cs typeface="Calibri"/>
              <a:sym typeface="Calibri"/>
            </a:endParaRPr>
          </a:p>
        </p:txBody>
      </p:sp>
      <p:sp>
        <p:nvSpPr>
          <p:cNvPr id="146" name="Google Shape;146;p20"/>
          <p:cNvSpPr/>
          <p:nvPr/>
        </p:nvSpPr>
        <p:spPr>
          <a:xfrm>
            <a:off x="6336792" y="2811780"/>
            <a:ext cx="2640330" cy="1303020"/>
          </a:xfrm>
          <a:prstGeom prst="roundRect">
            <a:avLst>
              <a:gd fmla="val 4211" name="adj"/>
            </a:avLst>
          </a:prstGeom>
          <a:solidFill>
            <a:srgbClr val="2E3E4C"/>
          </a:solidFill>
          <a:ln cap="flat" cmpd="sng" w="12700">
            <a:solidFill>
              <a:srgbClr val="2E3E4C"/>
            </a:solidFill>
            <a:prstDash val="solid"/>
            <a:round/>
            <a:headEnd len="sm" w="sm" type="none"/>
            <a:tailEnd len="sm" w="sm" type="none"/>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47" name="Google Shape;147;p20"/>
          <p:cNvSpPr/>
          <p:nvPr/>
        </p:nvSpPr>
        <p:spPr>
          <a:xfrm>
            <a:off x="6542532" y="2983230"/>
            <a:ext cx="222885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663C"/>
              </a:buClr>
              <a:buSzPts val="1200"/>
              <a:buFont typeface="Cambria"/>
              <a:buNone/>
            </a:pPr>
            <a:r>
              <a:rPr b="1" i="0" lang="en" sz="1200" u="none" cap="none" strike="noStrike">
                <a:solidFill>
                  <a:srgbClr val="E8663C"/>
                </a:solidFill>
                <a:latin typeface="Cambria"/>
                <a:ea typeface="Cambria"/>
                <a:cs typeface="Cambria"/>
                <a:sym typeface="Cambria"/>
              </a:rPr>
              <a:t>Deployable Monday</a:t>
            </a:r>
            <a:endParaRPr b="0" i="0" sz="1200" u="none" cap="none" strike="noStrike">
              <a:solidFill>
                <a:schemeClr val="dk1"/>
              </a:solidFill>
              <a:latin typeface="Calibri"/>
              <a:ea typeface="Calibri"/>
              <a:cs typeface="Calibri"/>
              <a:sym typeface="Calibri"/>
            </a:endParaRPr>
          </a:p>
        </p:txBody>
      </p:sp>
      <p:sp>
        <p:nvSpPr>
          <p:cNvPr id="148" name="Google Shape;148;p20"/>
          <p:cNvSpPr/>
          <p:nvPr/>
        </p:nvSpPr>
        <p:spPr>
          <a:xfrm>
            <a:off x="6542532" y="3278124"/>
            <a:ext cx="2228850" cy="72009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BD5DD"/>
              </a:buClr>
              <a:buSzPts val="1000"/>
              <a:buFont typeface="Calibri"/>
              <a:buNone/>
            </a:pPr>
            <a:r>
              <a:rPr b="0" i="0" lang="en" sz="1000" u="none" cap="none" strike="noStrike">
                <a:solidFill>
                  <a:srgbClr val="CBD5DD"/>
                </a:solidFill>
                <a:latin typeface="Calibri"/>
                <a:ea typeface="Calibri"/>
                <a:cs typeface="Calibri"/>
                <a:sym typeface="Calibri"/>
              </a:rPr>
              <a:t>A folder of .md files, versioned in your repo</a:t>
            </a:r>
            <a:endParaRPr b="0" i="0" sz="1000" u="none" cap="none" strike="noStrike">
              <a:solidFill>
                <a:schemeClr val="dk1"/>
              </a:solidFill>
              <a:latin typeface="Calibri"/>
              <a:ea typeface="Calibri"/>
              <a:cs typeface="Calibri"/>
              <a:sym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3" name="Shape 153"/>
        <p:cNvGrpSpPr/>
        <p:nvPr/>
      </p:nvGrpSpPr>
      <p:grpSpPr>
        <a:xfrm>
          <a:off x="0" y="0"/>
          <a:ext cx="0" cy="0"/>
          <a:chOff x="0" y="0"/>
          <a:chExt cx="0" cy="0"/>
        </a:xfrm>
      </p:grpSpPr>
      <p:sp>
        <p:nvSpPr>
          <p:cNvPr id="154" name="Google Shape;154;p21"/>
          <p:cNvSpPr/>
          <p:nvPr/>
        </p:nvSpPr>
        <p:spPr>
          <a:xfrm>
            <a:off x="480060" y="192024"/>
            <a:ext cx="8181594" cy="2057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663C"/>
              </a:buClr>
              <a:buSzPts val="800"/>
              <a:buFont typeface="Calibri"/>
              <a:buNone/>
            </a:pPr>
            <a:r>
              <a:rPr b="1" i="0" lang="en" sz="800" u="none" cap="none" strike="noStrike">
                <a:solidFill>
                  <a:srgbClr val="E8663C"/>
                </a:solidFill>
                <a:latin typeface="Calibri"/>
                <a:ea typeface="Calibri"/>
                <a:cs typeface="Calibri"/>
                <a:sym typeface="Calibri"/>
              </a:rPr>
              <a:t>THE PACK</a:t>
            </a:r>
            <a:endParaRPr b="0" i="0" sz="800" u="none" cap="none" strike="noStrike">
              <a:solidFill>
                <a:schemeClr val="dk1"/>
              </a:solidFill>
              <a:latin typeface="Calibri"/>
              <a:ea typeface="Calibri"/>
              <a:cs typeface="Calibri"/>
              <a:sym typeface="Calibri"/>
            </a:endParaRPr>
          </a:p>
        </p:txBody>
      </p:sp>
      <p:sp>
        <p:nvSpPr>
          <p:cNvPr id="155" name="Google Shape;155;p21"/>
          <p:cNvSpPr/>
          <p:nvPr/>
        </p:nvSpPr>
        <p:spPr>
          <a:xfrm>
            <a:off x="480060" y="342900"/>
            <a:ext cx="8181594" cy="6172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2303C"/>
              </a:buClr>
              <a:buSzPts val="2600"/>
              <a:buFont typeface="Cambria"/>
              <a:buNone/>
            </a:pPr>
            <a:r>
              <a:rPr b="1" i="0" lang="en" sz="2600" u="none" cap="none" strike="noStrike">
                <a:solidFill>
                  <a:srgbClr val="22303C"/>
                </a:solidFill>
                <a:latin typeface="Cambria"/>
                <a:ea typeface="Cambria"/>
                <a:cs typeface="Cambria"/>
                <a:sym typeface="Cambria"/>
              </a:rPr>
              <a:t>What you're getting</a:t>
            </a:r>
            <a:endParaRPr b="0" i="0" sz="2600" u="none" cap="none" strike="noStrike">
              <a:solidFill>
                <a:schemeClr val="dk1"/>
              </a:solidFill>
              <a:latin typeface="Calibri"/>
              <a:ea typeface="Calibri"/>
              <a:cs typeface="Calibri"/>
              <a:sym typeface="Calibri"/>
            </a:endParaRPr>
          </a:p>
        </p:txBody>
      </p:sp>
      <p:sp>
        <p:nvSpPr>
          <p:cNvPr id="156" name="Google Shape;156;p21"/>
          <p:cNvSpPr/>
          <p:nvPr/>
        </p:nvSpPr>
        <p:spPr>
          <a:xfrm>
            <a:off x="480060" y="1303020"/>
            <a:ext cx="2640330" cy="1714500"/>
          </a:xfrm>
          <a:prstGeom prst="roundRect">
            <a:avLst>
              <a:gd fmla="val 3200" name="adj"/>
            </a:avLst>
          </a:prstGeom>
          <a:solidFill>
            <a:srgbClr val="F2F4F6"/>
          </a:solidFill>
          <a:ln cap="flat" cmpd="sng" w="12700">
            <a:solidFill>
              <a:srgbClr val="F2F4F6"/>
            </a:solidFill>
            <a:prstDash val="solid"/>
            <a:round/>
            <a:headEnd len="sm" w="sm" type="none"/>
            <a:tailEnd len="sm" w="sm" type="none"/>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57" name="Google Shape;157;p21"/>
          <p:cNvSpPr/>
          <p:nvPr/>
        </p:nvSpPr>
        <p:spPr>
          <a:xfrm>
            <a:off x="685800" y="1440180"/>
            <a:ext cx="2228850" cy="685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663C"/>
              </a:buClr>
              <a:buSzPts val="4500"/>
              <a:buFont typeface="Cambria"/>
              <a:buNone/>
            </a:pPr>
            <a:r>
              <a:rPr b="1" i="0" lang="en" sz="4500" u="none" cap="none" strike="noStrike">
                <a:solidFill>
                  <a:srgbClr val="E8663C"/>
                </a:solidFill>
                <a:latin typeface="Cambria"/>
                <a:ea typeface="Cambria"/>
                <a:cs typeface="Cambria"/>
                <a:sym typeface="Cambria"/>
              </a:rPr>
              <a:t>11</a:t>
            </a:r>
            <a:endParaRPr b="0" i="0" sz="4500" u="none" cap="none" strike="noStrike">
              <a:solidFill>
                <a:schemeClr val="dk1"/>
              </a:solidFill>
              <a:latin typeface="Calibri"/>
              <a:ea typeface="Calibri"/>
              <a:cs typeface="Calibri"/>
              <a:sym typeface="Calibri"/>
            </a:endParaRPr>
          </a:p>
        </p:txBody>
      </p:sp>
      <p:sp>
        <p:nvSpPr>
          <p:cNvPr id="158" name="Google Shape;158;p21"/>
          <p:cNvSpPr/>
          <p:nvPr/>
        </p:nvSpPr>
        <p:spPr>
          <a:xfrm>
            <a:off x="685800" y="2091690"/>
            <a:ext cx="2228850" cy="24003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2303C"/>
              </a:buClr>
              <a:buSzPts val="1400"/>
              <a:buFont typeface="Cambria"/>
              <a:buNone/>
            </a:pPr>
            <a:r>
              <a:rPr b="1" i="0" lang="en" sz="1400" u="none" cap="none" strike="noStrike">
                <a:solidFill>
                  <a:srgbClr val="22303C"/>
                </a:solidFill>
                <a:latin typeface="Cambria"/>
                <a:ea typeface="Cambria"/>
                <a:cs typeface="Cambria"/>
                <a:sym typeface="Cambria"/>
              </a:rPr>
              <a:t>skills</a:t>
            </a:r>
            <a:endParaRPr b="0" i="0" sz="1400" u="none" cap="none" strike="noStrike">
              <a:solidFill>
                <a:schemeClr val="dk1"/>
              </a:solidFill>
              <a:latin typeface="Calibri"/>
              <a:ea typeface="Calibri"/>
              <a:cs typeface="Calibri"/>
              <a:sym typeface="Calibri"/>
            </a:endParaRPr>
          </a:p>
        </p:txBody>
      </p:sp>
      <p:sp>
        <p:nvSpPr>
          <p:cNvPr id="159" name="Google Shape;159;p21"/>
          <p:cNvSpPr/>
          <p:nvPr/>
        </p:nvSpPr>
        <p:spPr>
          <a:xfrm>
            <a:off x="685800" y="2366010"/>
            <a:ext cx="2228850" cy="5486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A6B7A"/>
              </a:buClr>
              <a:buSzPts val="900"/>
              <a:buFont typeface="Calibri"/>
              <a:buNone/>
            </a:pPr>
            <a:r>
              <a:rPr b="0" i="0" lang="en" sz="900" u="none" cap="none" strike="noStrike">
                <a:solidFill>
                  <a:srgbClr val="5A6B7A"/>
                </a:solidFill>
                <a:latin typeface="Calibri"/>
                <a:ea typeface="Calibri"/>
                <a:cs typeface="Calibri"/>
                <a:sym typeface="Calibri"/>
              </a:rPr>
              <a:t>Full lifecycle plus two reviewer personas</a:t>
            </a:r>
            <a:endParaRPr b="0" i="0" sz="900" u="none" cap="none" strike="noStrike">
              <a:solidFill>
                <a:schemeClr val="dk1"/>
              </a:solidFill>
              <a:latin typeface="Calibri"/>
              <a:ea typeface="Calibri"/>
              <a:cs typeface="Calibri"/>
              <a:sym typeface="Calibri"/>
            </a:endParaRPr>
          </a:p>
        </p:txBody>
      </p:sp>
      <p:sp>
        <p:nvSpPr>
          <p:cNvPr id="160" name="Google Shape;160;p21"/>
          <p:cNvSpPr/>
          <p:nvPr/>
        </p:nvSpPr>
        <p:spPr>
          <a:xfrm>
            <a:off x="3408426" y="1303020"/>
            <a:ext cx="2640330" cy="1714500"/>
          </a:xfrm>
          <a:prstGeom prst="roundRect">
            <a:avLst>
              <a:gd fmla="val 3200" name="adj"/>
            </a:avLst>
          </a:prstGeom>
          <a:solidFill>
            <a:srgbClr val="F2F4F6"/>
          </a:solidFill>
          <a:ln cap="flat" cmpd="sng" w="12700">
            <a:solidFill>
              <a:srgbClr val="F2F4F6"/>
            </a:solidFill>
            <a:prstDash val="solid"/>
            <a:round/>
            <a:headEnd len="sm" w="sm" type="none"/>
            <a:tailEnd len="sm" w="sm" type="none"/>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61" name="Google Shape;161;p21"/>
          <p:cNvSpPr/>
          <p:nvPr/>
        </p:nvSpPr>
        <p:spPr>
          <a:xfrm>
            <a:off x="3614166" y="1440180"/>
            <a:ext cx="2228850" cy="685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663C"/>
              </a:buClr>
              <a:buSzPts val="4500"/>
              <a:buFont typeface="Cambria"/>
              <a:buNone/>
            </a:pPr>
            <a:r>
              <a:rPr b="1" i="0" lang="en" sz="4500" u="none" cap="none" strike="noStrike">
                <a:solidFill>
                  <a:srgbClr val="E8663C"/>
                </a:solidFill>
                <a:latin typeface="Cambria"/>
                <a:ea typeface="Cambria"/>
                <a:cs typeface="Cambria"/>
                <a:sym typeface="Cambria"/>
              </a:rPr>
              <a:t>44</a:t>
            </a:r>
            <a:endParaRPr b="0" i="0" sz="4500" u="none" cap="none" strike="noStrike">
              <a:solidFill>
                <a:schemeClr val="dk1"/>
              </a:solidFill>
              <a:latin typeface="Calibri"/>
              <a:ea typeface="Calibri"/>
              <a:cs typeface="Calibri"/>
              <a:sym typeface="Calibri"/>
            </a:endParaRPr>
          </a:p>
        </p:txBody>
      </p:sp>
      <p:sp>
        <p:nvSpPr>
          <p:cNvPr id="162" name="Google Shape;162;p21"/>
          <p:cNvSpPr/>
          <p:nvPr/>
        </p:nvSpPr>
        <p:spPr>
          <a:xfrm>
            <a:off x="3614166" y="2091690"/>
            <a:ext cx="2228850" cy="24003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2303C"/>
              </a:buClr>
              <a:buSzPts val="1400"/>
              <a:buFont typeface="Cambria"/>
              <a:buNone/>
            </a:pPr>
            <a:r>
              <a:rPr b="1" i="0" lang="en" sz="1400" u="none" cap="none" strike="noStrike">
                <a:solidFill>
                  <a:srgbClr val="22303C"/>
                </a:solidFill>
                <a:latin typeface="Cambria"/>
                <a:ea typeface="Cambria"/>
                <a:cs typeface="Cambria"/>
                <a:sym typeface="Cambria"/>
              </a:rPr>
              <a:t>tables</a:t>
            </a:r>
            <a:endParaRPr b="0" i="0" sz="1400" u="none" cap="none" strike="noStrike">
              <a:solidFill>
                <a:schemeClr val="dk1"/>
              </a:solidFill>
              <a:latin typeface="Calibri"/>
              <a:ea typeface="Calibri"/>
              <a:cs typeface="Calibri"/>
              <a:sym typeface="Calibri"/>
            </a:endParaRPr>
          </a:p>
        </p:txBody>
      </p:sp>
      <p:sp>
        <p:nvSpPr>
          <p:cNvPr id="163" name="Google Shape;163;p21"/>
          <p:cNvSpPr/>
          <p:nvPr/>
        </p:nvSpPr>
        <p:spPr>
          <a:xfrm>
            <a:off x="3614166" y="2366010"/>
            <a:ext cx="2228850" cy="5486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A6B7A"/>
              </a:buClr>
              <a:buSzPts val="900"/>
              <a:buFont typeface="Calibri"/>
              <a:buNone/>
            </a:pPr>
            <a:r>
              <a:rPr b="0" i="0" lang="en" sz="900" u="none" cap="none" strike="noStrike">
                <a:solidFill>
                  <a:srgbClr val="5A6B7A"/>
                </a:solidFill>
                <a:latin typeface="Calibri"/>
                <a:ea typeface="Calibri"/>
                <a:cs typeface="Calibri"/>
                <a:sym typeface="Calibri"/>
              </a:rPr>
              <a:t>Synthetic warehouse, eleven engineered traps</a:t>
            </a:r>
            <a:endParaRPr b="0" i="0" sz="900" u="none" cap="none" strike="noStrike">
              <a:solidFill>
                <a:schemeClr val="dk1"/>
              </a:solidFill>
              <a:latin typeface="Calibri"/>
              <a:ea typeface="Calibri"/>
              <a:cs typeface="Calibri"/>
              <a:sym typeface="Calibri"/>
            </a:endParaRPr>
          </a:p>
        </p:txBody>
      </p:sp>
      <p:sp>
        <p:nvSpPr>
          <p:cNvPr id="164" name="Google Shape;164;p21"/>
          <p:cNvSpPr/>
          <p:nvPr/>
        </p:nvSpPr>
        <p:spPr>
          <a:xfrm>
            <a:off x="6336792" y="1303020"/>
            <a:ext cx="2640330" cy="1714500"/>
          </a:xfrm>
          <a:prstGeom prst="roundRect">
            <a:avLst>
              <a:gd fmla="val 3200" name="adj"/>
            </a:avLst>
          </a:prstGeom>
          <a:solidFill>
            <a:srgbClr val="F2F4F6"/>
          </a:solidFill>
          <a:ln cap="flat" cmpd="sng" w="12700">
            <a:solidFill>
              <a:srgbClr val="F2F4F6"/>
            </a:solidFill>
            <a:prstDash val="solid"/>
            <a:round/>
            <a:headEnd len="sm" w="sm" type="none"/>
            <a:tailEnd len="sm" w="sm" type="none"/>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65" name="Google Shape;165;p21"/>
          <p:cNvSpPr/>
          <p:nvPr/>
        </p:nvSpPr>
        <p:spPr>
          <a:xfrm>
            <a:off x="6542532" y="1440180"/>
            <a:ext cx="2228850" cy="685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663C"/>
              </a:buClr>
              <a:buSzPts val="4500"/>
              <a:buFont typeface="Cambria"/>
              <a:buNone/>
            </a:pPr>
            <a:r>
              <a:rPr b="1" i="0" lang="en" sz="4500" u="none" cap="none" strike="noStrike">
                <a:solidFill>
                  <a:srgbClr val="E8663C"/>
                </a:solidFill>
                <a:latin typeface="Cambria"/>
                <a:ea typeface="Cambria"/>
                <a:cs typeface="Cambria"/>
                <a:sym typeface="Cambria"/>
              </a:rPr>
              <a:t>29</a:t>
            </a:r>
            <a:endParaRPr b="0" i="0" sz="4500" u="none" cap="none" strike="noStrike">
              <a:solidFill>
                <a:schemeClr val="dk1"/>
              </a:solidFill>
              <a:latin typeface="Calibri"/>
              <a:ea typeface="Calibri"/>
              <a:cs typeface="Calibri"/>
              <a:sym typeface="Calibri"/>
            </a:endParaRPr>
          </a:p>
        </p:txBody>
      </p:sp>
      <p:sp>
        <p:nvSpPr>
          <p:cNvPr id="166" name="Google Shape;166;p21"/>
          <p:cNvSpPr/>
          <p:nvPr/>
        </p:nvSpPr>
        <p:spPr>
          <a:xfrm>
            <a:off x="6542532" y="2091690"/>
            <a:ext cx="2228850" cy="24003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2303C"/>
              </a:buClr>
              <a:buSzPts val="1400"/>
              <a:buFont typeface="Cambria"/>
              <a:buNone/>
            </a:pPr>
            <a:r>
              <a:rPr b="1" i="0" lang="en" sz="1400" u="none" cap="none" strike="noStrike">
                <a:solidFill>
                  <a:srgbClr val="22303C"/>
                </a:solidFill>
                <a:latin typeface="Cambria"/>
                <a:ea typeface="Cambria"/>
                <a:cs typeface="Cambria"/>
                <a:sym typeface="Cambria"/>
              </a:rPr>
              <a:t>evals</a:t>
            </a:r>
            <a:endParaRPr b="0" i="0" sz="1400" u="none" cap="none" strike="noStrike">
              <a:solidFill>
                <a:schemeClr val="dk1"/>
              </a:solidFill>
              <a:latin typeface="Calibri"/>
              <a:ea typeface="Calibri"/>
              <a:cs typeface="Calibri"/>
              <a:sym typeface="Calibri"/>
            </a:endParaRPr>
          </a:p>
        </p:txBody>
      </p:sp>
      <p:sp>
        <p:nvSpPr>
          <p:cNvPr id="167" name="Google Shape;167;p21"/>
          <p:cNvSpPr/>
          <p:nvPr/>
        </p:nvSpPr>
        <p:spPr>
          <a:xfrm>
            <a:off x="6542532" y="2366010"/>
            <a:ext cx="2228850" cy="5486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A6B7A"/>
              </a:buClr>
              <a:buSzPts val="900"/>
              <a:buFont typeface="Calibri"/>
              <a:buNone/>
            </a:pPr>
            <a:r>
              <a:rPr b="0" i="0" lang="en" sz="900" u="none" cap="none" strike="noStrike">
                <a:solidFill>
                  <a:srgbClr val="5A6B7A"/>
                </a:solidFill>
                <a:latin typeface="Calibri"/>
                <a:ea typeface="Calibri"/>
                <a:cs typeface="Calibri"/>
                <a:sym typeface="Calibri"/>
              </a:rPr>
              <a:t>Pinned ground truth, six negative tests</a:t>
            </a:r>
            <a:endParaRPr b="0" i="0" sz="900" u="none" cap="none" strike="noStrike">
              <a:solidFill>
                <a:schemeClr val="dk1"/>
              </a:solidFill>
              <a:latin typeface="Calibri"/>
              <a:ea typeface="Calibri"/>
              <a:cs typeface="Calibri"/>
              <a:sym typeface="Calibri"/>
            </a:endParaRPr>
          </a:p>
        </p:txBody>
      </p:sp>
      <p:sp>
        <p:nvSpPr>
          <p:cNvPr id="168" name="Google Shape;168;p21"/>
          <p:cNvSpPr/>
          <p:nvPr/>
        </p:nvSpPr>
        <p:spPr>
          <a:xfrm>
            <a:off x="480060" y="3360420"/>
            <a:ext cx="8181594"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2303C"/>
              </a:buClr>
              <a:buSzPts val="1100"/>
              <a:buFont typeface="Calibri"/>
              <a:buNone/>
            </a:pPr>
            <a:r>
              <a:rPr b="1" i="0" lang="en" sz="1100" u="none" cap="none" strike="noStrike">
                <a:solidFill>
                  <a:srgbClr val="22303C"/>
                </a:solidFill>
                <a:latin typeface="Calibri"/>
                <a:ea typeface="Calibri"/>
                <a:cs typeface="Calibri"/>
                <a:sym typeface="Calibri"/>
              </a:rPr>
              <a:t>github.com/RobStilson/analytics-skills</a:t>
            </a:r>
            <a:r>
              <a:rPr b="0" i="0" lang="en" sz="1100" u="none" cap="none" strike="noStrike">
                <a:solidFill>
                  <a:srgbClr val="5A6B7A"/>
                </a:solidFill>
                <a:latin typeface="Calibri"/>
                <a:ea typeface="Calibri"/>
                <a:cs typeface="Calibri"/>
                <a:sym typeface="Calibri"/>
              </a:rPr>
              <a:t>   ·   MIT   ·   contributors credited in the README</a:t>
            </a:r>
            <a:endParaRPr b="0" i="0" sz="1100" u="none" cap="none" strike="noStrike">
              <a:solidFill>
                <a:schemeClr val="dk1"/>
              </a:solidFill>
              <a:latin typeface="Calibri"/>
              <a:ea typeface="Calibri"/>
              <a:cs typeface="Calibri"/>
              <a:sym typeface="Calibri"/>
            </a:endParaRPr>
          </a:p>
        </p:txBody>
      </p:sp>
      <p:sp>
        <p:nvSpPr>
          <p:cNvPr id="169" name="Google Shape;169;p21"/>
          <p:cNvSpPr/>
          <p:nvPr/>
        </p:nvSpPr>
        <p:spPr>
          <a:xfrm>
            <a:off x="480060" y="3703320"/>
            <a:ext cx="8181594"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A6B7A"/>
              </a:buClr>
              <a:buSzPts val="1100"/>
              <a:buFont typeface="Calibri"/>
              <a:buNone/>
            </a:pPr>
            <a:r>
              <a:rPr b="0" i="1" lang="en" sz="1100" u="none" cap="none" strike="noStrike">
                <a:solidFill>
                  <a:srgbClr val="5A6B7A"/>
                </a:solidFill>
                <a:latin typeface="Calibri"/>
                <a:ea typeface="Calibri"/>
                <a:cs typeface="Calibri"/>
                <a:sym typeface="Calibri"/>
              </a:rPr>
              <a:t>Everything open. You leave as a contributor, not an attendee.</a:t>
            </a:r>
            <a:endParaRPr b="0" i="0" sz="1100" u="none" cap="none" strike="noStrike">
              <a:solidFill>
                <a:schemeClr val="dk1"/>
              </a:solidFill>
              <a:latin typeface="Calibri"/>
              <a:ea typeface="Calibri"/>
              <a:cs typeface="Calibri"/>
              <a:sym typeface="Calibri"/>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4" name="Shape 174"/>
        <p:cNvGrpSpPr/>
        <p:nvPr/>
      </p:nvGrpSpPr>
      <p:grpSpPr>
        <a:xfrm>
          <a:off x="0" y="0"/>
          <a:ext cx="0" cy="0"/>
          <a:chOff x="0" y="0"/>
          <a:chExt cx="0" cy="0"/>
        </a:xfrm>
      </p:grpSpPr>
      <p:sp>
        <p:nvSpPr>
          <p:cNvPr id="175" name="Google Shape;175;p22"/>
          <p:cNvSpPr/>
          <p:nvPr/>
        </p:nvSpPr>
        <p:spPr>
          <a:xfrm>
            <a:off x="480060" y="192024"/>
            <a:ext cx="8181594" cy="2057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663C"/>
              </a:buClr>
              <a:buSzPts val="800"/>
              <a:buFont typeface="Calibri"/>
              <a:buNone/>
            </a:pPr>
            <a:r>
              <a:rPr b="1" i="0" lang="en" sz="800" u="none" cap="none" strike="noStrike">
                <a:solidFill>
                  <a:srgbClr val="E8663C"/>
                </a:solidFill>
                <a:latin typeface="Calibri"/>
                <a:ea typeface="Calibri"/>
                <a:cs typeface="Calibri"/>
                <a:sym typeface="Calibri"/>
              </a:rPr>
              <a:t>THE SANDBOX</a:t>
            </a:r>
            <a:endParaRPr b="0" i="0" sz="800" u="none" cap="none" strike="noStrike">
              <a:solidFill>
                <a:schemeClr val="dk1"/>
              </a:solidFill>
              <a:latin typeface="Calibri"/>
              <a:ea typeface="Calibri"/>
              <a:cs typeface="Calibri"/>
              <a:sym typeface="Calibri"/>
            </a:endParaRPr>
          </a:p>
        </p:txBody>
      </p:sp>
      <p:sp>
        <p:nvSpPr>
          <p:cNvPr id="176" name="Google Shape;176;p22"/>
          <p:cNvSpPr/>
          <p:nvPr/>
        </p:nvSpPr>
        <p:spPr>
          <a:xfrm>
            <a:off x="480060" y="342900"/>
            <a:ext cx="8181594" cy="6172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2303C"/>
              </a:buClr>
              <a:buSzPts val="2600"/>
              <a:buFont typeface="Cambria"/>
              <a:buNone/>
            </a:pPr>
            <a:r>
              <a:rPr b="1" i="0" lang="en" sz="2600" u="none" cap="none" strike="noStrike">
                <a:solidFill>
                  <a:srgbClr val="22303C"/>
                </a:solidFill>
                <a:latin typeface="Cambria"/>
                <a:ea typeface="Cambria"/>
                <a:cs typeface="Cambria"/>
                <a:sym typeface="Cambria"/>
              </a:rPr>
              <a:t>A warehouse built to be wrong in specific ways</a:t>
            </a:r>
            <a:endParaRPr b="0" i="0" sz="2600" u="none" cap="none" strike="noStrike">
              <a:solidFill>
                <a:schemeClr val="dk1"/>
              </a:solidFill>
              <a:latin typeface="Calibri"/>
              <a:ea typeface="Calibri"/>
              <a:cs typeface="Calibri"/>
              <a:sym typeface="Calibri"/>
            </a:endParaRPr>
          </a:p>
        </p:txBody>
      </p:sp>
      <p:sp>
        <p:nvSpPr>
          <p:cNvPr id="177" name="Google Shape;177;p22"/>
          <p:cNvSpPr/>
          <p:nvPr/>
        </p:nvSpPr>
        <p:spPr>
          <a:xfrm>
            <a:off x="480060" y="1028700"/>
            <a:ext cx="8181594"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A6B7A"/>
              </a:buClr>
              <a:buSzPts val="1100"/>
              <a:buFont typeface="Calibri"/>
              <a:buNone/>
            </a:pPr>
            <a:r>
              <a:rPr b="0" i="0" lang="en" sz="1100" u="none" cap="none" strike="noStrike">
                <a:solidFill>
                  <a:srgbClr val="5A6B7A"/>
                </a:solidFill>
                <a:latin typeface="Calibri"/>
                <a:ea typeface="Calibri"/>
                <a:cs typeface="Calibri"/>
                <a:sym typeface="Calibri"/>
              </a:rPr>
              <a:t>A clean warehouse teaches nothing. Ours has the ambiguities a real HRIS accumulates.</a:t>
            </a:r>
            <a:endParaRPr b="0" i="0" sz="1100" u="none" cap="none" strike="noStrike">
              <a:solidFill>
                <a:schemeClr val="dk1"/>
              </a:solidFill>
              <a:latin typeface="Calibri"/>
              <a:ea typeface="Calibri"/>
              <a:cs typeface="Calibri"/>
              <a:sym typeface="Calibri"/>
            </a:endParaRPr>
          </a:p>
        </p:txBody>
      </p:sp>
      <p:sp>
        <p:nvSpPr>
          <p:cNvPr id="178" name="Google Shape;178;p22"/>
          <p:cNvSpPr/>
          <p:nvPr/>
        </p:nvSpPr>
        <p:spPr>
          <a:xfrm>
            <a:off x="480060" y="1474470"/>
            <a:ext cx="8181594" cy="493776"/>
          </a:xfrm>
          <a:prstGeom prst="roundRect">
            <a:avLst>
              <a:gd fmla="val 11111" name="adj"/>
            </a:avLst>
          </a:prstGeom>
          <a:solidFill>
            <a:srgbClr val="F2F4F6"/>
          </a:solidFill>
          <a:ln cap="flat" cmpd="sng" w="12700">
            <a:solidFill>
              <a:srgbClr val="F2F4F6"/>
            </a:solidFill>
            <a:prstDash val="solid"/>
            <a:round/>
            <a:headEnd len="sm" w="sm" type="none"/>
            <a:tailEnd len="sm" w="sm" type="none"/>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79" name="Google Shape;179;p22"/>
          <p:cNvSpPr/>
          <p:nvPr/>
        </p:nvSpPr>
        <p:spPr>
          <a:xfrm>
            <a:off x="720090" y="1584198"/>
            <a:ext cx="452628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2303C"/>
              </a:buClr>
              <a:buSzPts val="1100"/>
              <a:buFont typeface="Calibri"/>
              <a:buNone/>
            </a:pPr>
            <a:r>
              <a:rPr b="1" i="0" lang="en" sz="1100" u="none" cap="none" strike="noStrike">
                <a:solidFill>
                  <a:srgbClr val="22303C"/>
                </a:solidFill>
                <a:latin typeface="Calibri"/>
                <a:ea typeface="Calibri"/>
                <a:cs typeface="Calibri"/>
                <a:sym typeface="Calibri"/>
              </a:rPr>
              <a:t>Four answers to "how many employees?"</a:t>
            </a:r>
            <a:endParaRPr b="0" i="0" sz="1100" u="none" cap="none" strike="noStrike">
              <a:solidFill>
                <a:schemeClr val="dk1"/>
              </a:solidFill>
              <a:latin typeface="Calibri"/>
              <a:ea typeface="Calibri"/>
              <a:cs typeface="Calibri"/>
              <a:sym typeface="Calibri"/>
            </a:endParaRPr>
          </a:p>
        </p:txBody>
      </p:sp>
      <p:sp>
        <p:nvSpPr>
          <p:cNvPr id="180" name="Google Shape;180;p22"/>
          <p:cNvSpPr/>
          <p:nvPr/>
        </p:nvSpPr>
        <p:spPr>
          <a:xfrm>
            <a:off x="5349240" y="1584198"/>
            <a:ext cx="3223260" cy="27432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E8663C"/>
              </a:buClr>
              <a:buSzPts val="1000"/>
              <a:buFont typeface="Consolas"/>
              <a:buNone/>
            </a:pPr>
            <a:r>
              <a:rPr b="0" i="0" lang="en" sz="1000" u="none" cap="none" strike="noStrike">
                <a:solidFill>
                  <a:srgbClr val="E8663C"/>
                </a:solidFill>
                <a:latin typeface="Consolas"/>
                <a:ea typeface="Consolas"/>
                <a:cs typeface="Consolas"/>
                <a:sym typeface="Consolas"/>
              </a:rPr>
              <a:t>12,282  /  4,368  /  4,168  /  3,647</a:t>
            </a:r>
            <a:endParaRPr b="0" i="0" sz="1000" u="none" cap="none" strike="noStrike">
              <a:solidFill>
                <a:schemeClr val="dk1"/>
              </a:solidFill>
              <a:latin typeface="Calibri"/>
              <a:ea typeface="Calibri"/>
              <a:cs typeface="Calibri"/>
              <a:sym typeface="Calibri"/>
            </a:endParaRPr>
          </a:p>
        </p:txBody>
      </p:sp>
      <p:sp>
        <p:nvSpPr>
          <p:cNvPr id="181" name="Google Shape;181;p22"/>
          <p:cNvSpPr/>
          <p:nvPr/>
        </p:nvSpPr>
        <p:spPr>
          <a:xfrm>
            <a:off x="480060" y="2009394"/>
            <a:ext cx="8181594" cy="493776"/>
          </a:xfrm>
          <a:prstGeom prst="roundRect">
            <a:avLst>
              <a:gd fmla="val 11111" name="adj"/>
            </a:avLst>
          </a:prstGeom>
          <a:solidFill>
            <a:srgbClr val="FFFFFF"/>
          </a:solidFill>
          <a:ln cap="flat" cmpd="sng" w="12700">
            <a:solidFill>
              <a:srgbClr val="FFFFFF"/>
            </a:solidFill>
            <a:prstDash val="solid"/>
            <a:round/>
            <a:headEnd len="sm" w="sm" type="none"/>
            <a:tailEnd len="sm" w="sm" type="none"/>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82" name="Google Shape;182;p22"/>
          <p:cNvSpPr/>
          <p:nvPr/>
        </p:nvSpPr>
        <p:spPr>
          <a:xfrm>
            <a:off x="720090" y="2119122"/>
            <a:ext cx="452628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2303C"/>
              </a:buClr>
              <a:buSzPts val="1100"/>
              <a:buFont typeface="Calibri"/>
              <a:buNone/>
            </a:pPr>
            <a:r>
              <a:rPr b="1" i="0" lang="en" sz="1100" u="none" cap="none" strike="noStrike">
                <a:solidFill>
                  <a:srgbClr val="22303C"/>
                </a:solidFill>
                <a:latin typeface="Calibri"/>
                <a:ea typeface="Calibri"/>
                <a:cs typeface="Calibri"/>
                <a:sym typeface="Calibri"/>
              </a:rPr>
              <a:t>A column renamed but never dropped</a:t>
            </a:r>
            <a:endParaRPr b="0" i="0" sz="1100" u="none" cap="none" strike="noStrike">
              <a:solidFill>
                <a:schemeClr val="dk1"/>
              </a:solidFill>
              <a:latin typeface="Calibri"/>
              <a:ea typeface="Calibri"/>
              <a:cs typeface="Calibri"/>
              <a:sym typeface="Calibri"/>
            </a:endParaRPr>
          </a:p>
        </p:txBody>
      </p:sp>
      <p:sp>
        <p:nvSpPr>
          <p:cNvPr id="183" name="Google Shape;183;p22"/>
          <p:cNvSpPr/>
          <p:nvPr/>
        </p:nvSpPr>
        <p:spPr>
          <a:xfrm>
            <a:off x="5349240" y="2119122"/>
            <a:ext cx="3223260" cy="27432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E8663C"/>
              </a:buClr>
              <a:buSzPts val="1000"/>
              <a:buFont typeface="Consolas"/>
              <a:buNone/>
            </a:pPr>
            <a:r>
              <a:rPr b="0" i="0" lang="en" sz="1000" u="none" cap="none" strike="noStrike">
                <a:solidFill>
                  <a:srgbClr val="E8663C"/>
                </a:solidFill>
                <a:latin typeface="Consolas"/>
                <a:ea typeface="Consolas"/>
                <a:cs typeface="Consolas"/>
                <a:sym typeface="Consolas"/>
              </a:rPr>
              <a:t>54% populated, silently drops 1,668 people</a:t>
            </a:r>
            <a:endParaRPr b="0" i="0" sz="1000" u="none" cap="none" strike="noStrike">
              <a:solidFill>
                <a:schemeClr val="dk1"/>
              </a:solidFill>
              <a:latin typeface="Calibri"/>
              <a:ea typeface="Calibri"/>
              <a:cs typeface="Calibri"/>
              <a:sym typeface="Calibri"/>
            </a:endParaRPr>
          </a:p>
        </p:txBody>
      </p:sp>
      <p:sp>
        <p:nvSpPr>
          <p:cNvPr id="184" name="Google Shape;184;p22"/>
          <p:cNvSpPr/>
          <p:nvPr/>
        </p:nvSpPr>
        <p:spPr>
          <a:xfrm>
            <a:off x="480060" y="2544318"/>
            <a:ext cx="8181594" cy="493776"/>
          </a:xfrm>
          <a:prstGeom prst="roundRect">
            <a:avLst>
              <a:gd fmla="val 11111" name="adj"/>
            </a:avLst>
          </a:prstGeom>
          <a:solidFill>
            <a:srgbClr val="F2F4F6"/>
          </a:solidFill>
          <a:ln cap="flat" cmpd="sng" w="12700">
            <a:solidFill>
              <a:srgbClr val="F2F4F6"/>
            </a:solidFill>
            <a:prstDash val="solid"/>
            <a:round/>
            <a:headEnd len="sm" w="sm" type="none"/>
            <a:tailEnd len="sm" w="sm" type="none"/>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85" name="Google Shape;185;p22"/>
          <p:cNvSpPr/>
          <p:nvPr/>
        </p:nvSpPr>
        <p:spPr>
          <a:xfrm>
            <a:off x="720090" y="2654046"/>
            <a:ext cx="452628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2303C"/>
              </a:buClr>
              <a:buSzPts val="1100"/>
              <a:buFont typeface="Calibri"/>
              <a:buNone/>
            </a:pPr>
            <a:r>
              <a:rPr b="1" i="0" lang="en" sz="1100" u="none" cap="none" strike="noStrike">
                <a:solidFill>
                  <a:srgbClr val="22303C"/>
                </a:solidFill>
                <a:latin typeface="Calibri"/>
                <a:ea typeface="Calibri"/>
                <a:cs typeface="Calibri"/>
                <a:sym typeface="Calibri"/>
              </a:rPr>
              <a:t>A rollup that stopped refreshing</a:t>
            </a:r>
            <a:endParaRPr b="0" i="0" sz="1100" u="none" cap="none" strike="noStrike">
              <a:solidFill>
                <a:schemeClr val="dk1"/>
              </a:solidFill>
              <a:latin typeface="Calibri"/>
              <a:ea typeface="Calibri"/>
              <a:cs typeface="Calibri"/>
              <a:sym typeface="Calibri"/>
            </a:endParaRPr>
          </a:p>
        </p:txBody>
      </p:sp>
      <p:sp>
        <p:nvSpPr>
          <p:cNvPr id="186" name="Google Shape;186;p22"/>
          <p:cNvSpPr/>
          <p:nvPr/>
        </p:nvSpPr>
        <p:spPr>
          <a:xfrm>
            <a:off x="5349240" y="2654046"/>
            <a:ext cx="3223260" cy="27432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E8663C"/>
              </a:buClr>
              <a:buSzPts val="1000"/>
              <a:buFont typeface="Consolas"/>
              <a:buNone/>
            </a:pPr>
            <a:r>
              <a:rPr b="0" i="0" lang="en" sz="1000" u="none" cap="none" strike="noStrike">
                <a:solidFill>
                  <a:srgbClr val="E8663C"/>
                </a:solidFill>
                <a:latin typeface="Consolas"/>
                <a:ea typeface="Consolas"/>
                <a:cs typeface="Consolas"/>
                <a:sym typeface="Consolas"/>
              </a:rPr>
              <a:t>Frozen 2026-02-28, still looks current</a:t>
            </a:r>
            <a:endParaRPr b="0" i="0" sz="1000" u="none" cap="none" strike="noStrike">
              <a:solidFill>
                <a:schemeClr val="dk1"/>
              </a:solidFill>
              <a:latin typeface="Calibri"/>
              <a:ea typeface="Calibri"/>
              <a:cs typeface="Calibri"/>
              <a:sym typeface="Calibri"/>
            </a:endParaRPr>
          </a:p>
        </p:txBody>
      </p:sp>
      <p:sp>
        <p:nvSpPr>
          <p:cNvPr id="187" name="Google Shape;187;p22"/>
          <p:cNvSpPr/>
          <p:nvPr/>
        </p:nvSpPr>
        <p:spPr>
          <a:xfrm>
            <a:off x="480060" y="3079242"/>
            <a:ext cx="8181594" cy="493776"/>
          </a:xfrm>
          <a:prstGeom prst="roundRect">
            <a:avLst>
              <a:gd fmla="val 11111" name="adj"/>
            </a:avLst>
          </a:prstGeom>
          <a:solidFill>
            <a:srgbClr val="FFFFFF"/>
          </a:solidFill>
          <a:ln cap="flat" cmpd="sng" w="12700">
            <a:solidFill>
              <a:srgbClr val="FFFFFF"/>
            </a:solidFill>
            <a:prstDash val="solid"/>
            <a:round/>
            <a:headEnd len="sm" w="sm" type="none"/>
            <a:tailEnd len="sm" w="sm" type="none"/>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88" name="Google Shape;188;p22"/>
          <p:cNvSpPr/>
          <p:nvPr/>
        </p:nvSpPr>
        <p:spPr>
          <a:xfrm>
            <a:off x="720090" y="3188970"/>
            <a:ext cx="452628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2303C"/>
              </a:buClr>
              <a:buSzPts val="1100"/>
              <a:buFont typeface="Calibri"/>
              <a:buNone/>
            </a:pPr>
            <a:r>
              <a:rPr b="1" i="0" lang="en" sz="1100" u="none" cap="none" strike="noStrike">
                <a:solidFill>
                  <a:srgbClr val="22303C"/>
                </a:solidFill>
                <a:latin typeface="Calibri"/>
                <a:ea typeface="Calibri"/>
                <a:cs typeface="Calibri"/>
                <a:sym typeface="Calibri"/>
              </a:rPr>
              <a:t>A join that fans out</a:t>
            </a:r>
            <a:endParaRPr b="0" i="0" sz="1100" u="none" cap="none" strike="noStrike">
              <a:solidFill>
                <a:schemeClr val="dk1"/>
              </a:solidFill>
              <a:latin typeface="Calibri"/>
              <a:ea typeface="Calibri"/>
              <a:cs typeface="Calibri"/>
              <a:sym typeface="Calibri"/>
            </a:endParaRPr>
          </a:p>
        </p:txBody>
      </p:sp>
      <p:sp>
        <p:nvSpPr>
          <p:cNvPr id="189" name="Google Shape;189;p22"/>
          <p:cNvSpPr/>
          <p:nvPr/>
        </p:nvSpPr>
        <p:spPr>
          <a:xfrm>
            <a:off x="5349240" y="3188970"/>
            <a:ext cx="3223260" cy="27432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E8663C"/>
              </a:buClr>
              <a:buSzPts val="1000"/>
              <a:buFont typeface="Consolas"/>
              <a:buNone/>
            </a:pPr>
            <a:r>
              <a:rPr b="0" i="0" lang="en" sz="1000" u="none" cap="none" strike="noStrike">
                <a:solidFill>
                  <a:srgbClr val="E8663C"/>
                </a:solidFill>
                <a:latin typeface="Consolas"/>
                <a:ea typeface="Consolas"/>
                <a:cs typeface="Consolas"/>
                <a:sym typeface="Consolas"/>
              </a:rPr>
              <a:t>2.32x inflation, no error raised</a:t>
            </a:r>
            <a:endParaRPr b="0" i="0" sz="1000" u="none" cap="none" strike="noStrike">
              <a:solidFill>
                <a:schemeClr val="dk1"/>
              </a:solidFill>
              <a:latin typeface="Calibri"/>
              <a:ea typeface="Calibri"/>
              <a:cs typeface="Calibri"/>
              <a:sym typeface="Calibri"/>
            </a:endParaRPr>
          </a:p>
        </p:txBody>
      </p:sp>
      <p:sp>
        <p:nvSpPr>
          <p:cNvPr id="190" name="Google Shape;190;p22"/>
          <p:cNvSpPr/>
          <p:nvPr/>
        </p:nvSpPr>
        <p:spPr>
          <a:xfrm>
            <a:off x="480060" y="3614166"/>
            <a:ext cx="8181594" cy="493776"/>
          </a:xfrm>
          <a:prstGeom prst="roundRect">
            <a:avLst>
              <a:gd fmla="val 11111" name="adj"/>
            </a:avLst>
          </a:prstGeom>
          <a:solidFill>
            <a:srgbClr val="F2F4F6"/>
          </a:solidFill>
          <a:ln cap="flat" cmpd="sng" w="12700">
            <a:solidFill>
              <a:srgbClr val="F2F4F6"/>
            </a:solidFill>
            <a:prstDash val="solid"/>
            <a:round/>
            <a:headEnd len="sm" w="sm" type="none"/>
            <a:tailEnd len="sm" w="sm" type="none"/>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91" name="Google Shape;191;p22"/>
          <p:cNvSpPr/>
          <p:nvPr/>
        </p:nvSpPr>
        <p:spPr>
          <a:xfrm>
            <a:off x="720090" y="3723894"/>
            <a:ext cx="452628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2303C"/>
              </a:buClr>
              <a:buSzPts val="1100"/>
              <a:buFont typeface="Calibri"/>
              <a:buNone/>
            </a:pPr>
            <a:r>
              <a:rPr b="1" i="0" lang="en" sz="1100" u="none" cap="none" strike="noStrike">
                <a:solidFill>
                  <a:srgbClr val="22303C"/>
                </a:solidFill>
                <a:latin typeface="Calibri"/>
                <a:ea typeface="Calibri"/>
                <a:cs typeface="Calibri"/>
                <a:sym typeface="Calibri"/>
              </a:rPr>
              <a:t>A program with a true effect of zero</a:t>
            </a:r>
            <a:endParaRPr b="0" i="0" sz="1100" u="none" cap="none" strike="noStrike">
              <a:solidFill>
                <a:schemeClr val="dk1"/>
              </a:solidFill>
              <a:latin typeface="Calibri"/>
              <a:ea typeface="Calibri"/>
              <a:cs typeface="Calibri"/>
              <a:sym typeface="Calibri"/>
            </a:endParaRPr>
          </a:p>
        </p:txBody>
      </p:sp>
      <p:sp>
        <p:nvSpPr>
          <p:cNvPr id="192" name="Google Shape;192;p22"/>
          <p:cNvSpPr/>
          <p:nvPr/>
        </p:nvSpPr>
        <p:spPr>
          <a:xfrm>
            <a:off x="5349240" y="3723894"/>
            <a:ext cx="3223260" cy="27432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E8663C"/>
              </a:buClr>
              <a:buSzPts val="1000"/>
              <a:buFont typeface="Consolas"/>
              <a:buNone/>
            </a:pPr>
            <a:r>
              <a:rPr b="0" i="0" lang="en" sz="1000" u="none" cap="none" strike="noStrike">
                <a:solidFill>
                  <a:srgbClr val="E8663C"/>
                </a:solidFill>
                <a:latin typeface="Consolas"/>
                <a:ea typeface="Consolas"/>
                <a:cs typeface="Consolas"/>
                <a:sym typeface="Consolas"/>
              </a:rPr>
              <a:t>Shows a 7-point gap from selection alone</a:t>
            </a:r>
            <a:endParaRPr b="0" i="0" sz="1000" u="none" cap="none" strike="noStrike">
              <a:solidFill>
                <a:schemeClr val="dk1"/>
              </a:solidFill>
              <a:latin typeface="Calibri"/>
              <a:ea typeface="Calibri"/>
              <a:cs typeface="Calibri"/>
              <a:sym typeface="Calibri"/>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7" name="Shape 197"/>
        <p:cNvGrpSpPr/>
        <p:nvPr/>
      </p:nvGrpSpPr>
      <p:grpSpPr>
        <a:xfrm>
          <a:off x="0" y="0"/>
          <a:ext cx="0" cy="0"/>
          <a:chOff x="0" y="0"/>
          <a:chExt cx="0" cy="0"/>
        </a:xfrm>
      </p:grpSpPr>
      <p:sp>
        <p:nvSpPr>
          <p:cNvPr id="198" name="Google Shape;198;p23"/>
          <p:cNvSpPr/>
          <p:nvPr/>
        </p:nvSpPr>
        <p:spPr>
          <a:xfrm>
            <a:off x="480060" y="192024"/>
            <a:ext cx="8181594" cy="2057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663C"/>
              </a:buClr>
              <a:buSzPts val="800"/>
              <a:buFont typeface="Calibri"/>
              <a:buNone/>
            </a:pPr>
            <a:r>
              <a:rPr b="1" i="0" lang="en" sz="800" u="none" cap="none" strike="noStrike">
                <a:solidFill>
                  <a:srgbClr val="E8663C"/>
                </a:solidFill>
                <a:latin typeface="Calibri"/>
                <a:ea typeface="Calibri"/>
                <a:cs typeface="Calibri"/>
                <a:sym typeface="Calibri"/>
              </a:rPr>
              <a:t>LIVE DEMO</a:t>
            </a:r>
            <a:endParaRPr b="0" i="0" sz="800" u="none" cap="none" strike="noStrike">
              <a:solidFill>
                <a:schemeClr val="dk1"/>
              </a:solidFill>
              <a:latin typeface="Calibri"/>
              <a:ea typeface="Calibri"/>
              <a:cs typeface="Calibri"/>
              <a:sym typeface="Calibri"/>
            </a:endParaRPr>
          </a:p>
        </p:txBody>
      </p:sp>
      <p:sp>
        <p:nvSpPr>
          <p:cNvPr id="199" name="Google Shape;199;p23"/>
          <p:cNvSpPr/>
          <p:nvPr/>
        </p:nvSpPr>
        <p:spPr>
          <a:xfrm>
            <a:off x="480060" y="342900"/>
            <a:ext cx="8181594" cy="6172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2303C"/>
              </a:buClr>
              <a:buSzPts val="2600"/>
              <a:buFont typeface="Cambria"/>
              <a:buNone/>
            </a:pPr>
            <a:r>
              <a:rPr b="1" i="0" lang="en" sz="2600" u="none" cap="none" strike="noStrike">
                <a:solidFill>
                  <a:srgbClr val="22303C"/>
                </a:solidFill>
                <a:latin typeface="Cambria"/>
                <a:ea typeface="Cambria"/>
                <a:cs typeface="Cambria"/>
                <a:sym typeface="Cambria"/>
              </a:rPr>
              <a:t>Same question. Same warehouse. Skill off, then on.</a:t>
            </a:r>
            <a:endParaRPr b="0" i="0" sz="2600" u="none" cap="none" strike="noStrike">
              <a:solidFill>
                <a:schemeClr val="dk1"/>
              </a:solidFill>
              <a:latin typeface="Calibri"/>
              <a:ea typeface="Calibri"/>
              <a:cs typeface="Calibri"/>
              <a:sym typeface="Calibri"/>
            </a:endParaRPr>
          </a:p>
        </p:txBody>
      </p:sp>
      <p:sp>
        <p:nvSpPr>
          <p:cNvPr id="200" name="Google Shape;200;p23"/>
          <p:cNvSpPr/>
          <p:nvPr/>
        </p:nvSpPr>
        <p:spPr>
          <a:xfrm>
            <a:off x="480060" y="1062990"/>
            <a:ext cx="8181594" cy="30861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A6B7A"/>
              </a:buClr>
              <a:buSzPts val="1400"/>
              <a:buFont typeface="Cambria"/>
              <a:buNone/>
            </a:pPr>
            <a:r>
              <a:rPr b="0" i="1" lang="en" sz="1400" u="none" cap="none" strike="noStrike">
                <a:solidFill>
                  <a:srgbClr val="5A6B7A"/>
                </a:solidFill>
                <a:latin typeface="Cambria"/>
                <a:ea typeface="Cambria"/>
                <a:cs typeface="Cambria"/>
                <a:sym typeface="Cambria"/>
              </a:rPr>
              <a:t>"How many employees do we have? Just give me the number, I'm in a hurry."</a:t>
            </a:r>
            <a:endParaRPr b="0" i="0" sz="1400" u="none" cap="none" strike="noStrike">
              <a:solidFill>
                <a:schemeClr val="dk1"/>
              </a:solidFill>
              <a:latin typeface="Calibri"/>
              <a:ea typeface="Calibri"/>
              <a:cs typeface="Calibri"/>
              <a:sym typeface="Calibri"/>
            </a:endParaRPr>
          </a:p>
        </p:txBody>
      </p:sp>
      <p:sp>
        <p:nvSpPr>
          <p:cNvPr id="201" name="Google Shape;201;p23"/>
          <p:cNvSpPr/>
          <p:nvPr/>
        </p:nvSpPr>
        <p:spPr>
          <a:xfrm>
            <a:off x="480060" y="1543050"/>
            <a:ext cx="3806190" cy="2263140"/>
          </a:xfrm>
          <a:prstGeom prst="roundRect">
            <a:avLst>
              <a:gd fmla="val 2424" name="adj"/>
            </a:avLst>
          </a:prstGeom>
          <a:solidFill>
            <a:srgbClr val="FBEDE8"/>
          </a:solidFill>
          <a:ln cap="flat" cmpd="sng" w="12700">
            <a:solidFill>
              <a:srgbClr val="FBEDE8"/>
            </a:solidFill>
            <a:prstDash val="solid"/>
            <a:round/>
            <a:headEnd len="sm" w="sm" type="none"/>
            <a:tailEnd len="sm" w="sm" type="none"/>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202" name="Google Shape;202;p23"/>
          <p:cNvSpPr/>
          <p:nvPr/>
        </p:nvSpPr>
        <p:spPr>
          <a:xfrm>
            <a:off x="720090" y="1714500"/>
            <a:ext cx="332613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663C"/>
              </a:buClr>
              <a:buSzPts val="1400"/>
              <a:buFont typeface="Cambria"/>
              <a:buNone/>
            </a:pPr>
            <a:r>
              <a:rPr b="1" i="0" lang="en" sz="1400" u="none" cap="none" strike="noStrike">
                <a:solidFill>
                  <a:srgbClr val="E8663C"/>
                </a:solidFill>
                <a:latin typeface="Cambria"/>
                <a:ea typeface="Cambria"/>
                <a:cs typeface="Cambria"/>
                <a:sym typeface="Cambria"/>
              </a:rPr>
              <a:t>Without the skill</a:t>
            </a:r>
            <a:endParaRPr b="0" i="0" sz="1400" u="none" cap="none" strike="noStrike">
              <a:solidFill>
                <a:schemeClr val="dk1"/>
              </a:solidFill>
              <a:latin typeface="Calibri"/>
              <a:ea typeface="Calibri"/>
              <a:cs typeface="Calibri"/>
              <a:sym typeface="Calibri"/>
            </a:endParaRPr>
          </a:p>
        </p:txBody>
      </p:sp>
      <p:sp>
        <p:nvSpPr>
          <p:cNvPr id="203" name="Google Shape;203;p23"/>
          <p:cNvSpPr/>
          <p:nvPr/>
        </p:nvSpPr>
        <p:spPr>
          <a:xfrm>
            <a:off x="720090" y="2057400"/>
            <a:ext cx="3326130" cy="58293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663C"/>
              </a:buClr>
              <a:buSzPts val="3500"/>
              <a:buFont typeface="Cambria"/>
              <a:buNone/>
            </a:pPr>
            <a:r>
              <a:rPr b="1" i="0" lang="en" sz="3500" u="none" cap="none" strike="noStrike">
                <a:solidFill>
                  <a:srgbClr val="E8663C"/>
                </a:solidFill>
                <a:latin typeface="Cambria"/>
                <a:ea typeface="Cambria"/>
                <a:cs typeface="Cambria"/>
                <a:sym typeface="Cambria"/>
              </a:rPr>
              <a:t>0 / 4</a:t>
            </a:r>
            <a:endParaRPr b="0" i="0" sz="3500" u="none" cap="none" strike="noStrike">
              <a:solidFill>
                <a:schemeClr val="dk1"/>
              </a:solidFill>
              <a:latin typeface="Calibri"/>
              <a:ea typeface="Calibri"/>
              <a:cs typeface="Calibri"/>
              <a:sym typeface="Calibri"/>
            </a:endParaRPr>
          </a:p>
        </p:txBody>
      </p:sp>
      <p:sp>
        <p:nvSpPr>
          <p:cNvPr id="204" name="Google Shape;204;p23"/>
          <p:cNvSpPr/>
          <p:nvPr/>
        </p:nvSpPr>
        <p:spPr>
          <a:xfrm>
            <a:off x="720090" y="2708910"/>
            <a:ext cx="3326130"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8C4430"/>
              </a:buClr>
              <a:buSzPts val="1100"/>
              <a:buFont typeface="Calibri"/>
              <a:buNone/>
            </a:pPr>
            <a:r>
              <a:rPr b="0" i="0" lang="en" sz="1100" u="none" cap="none" strike="noStrike">
                <a:solidFill>
                  <a:srgbClr val="8C4430"/>
                </a:solidFill>
                <a:latin typeface="Calibri"/>
                <a:ea typeface="Calibri"/>
                <a:cs typeface="Calibri"/>
                <a:sym typeface="Calibri"/>
              </a:rPr>
              <a:t>No source. No confidence. No population stated. A number that will be forwarded.</a:t>
            </a:r>
            <a:endParaRPr b="0" i="0" sz="1100" u="none" cap="none" strike="noStrike">
              <a:solidFill>
                <a:schemeClr val="dk1"/>
              </a:solidFill>
              <a:latin typeface="Calibri"/>
              <a:ea typeface="Calibri"/>
              <a:cs typeface="Calibri"/>
              <a:sym typeface="Calibri"/>
            </a:endParaRPr>
          </a:p>
        </p:txBody>
      </p:sp>
      <p:sp>
        <p:nvSpPr>
          <p:cNvPr id="205" name="Google Shape;205;p23"/>
          <p:cNvSpPr/>
          <p:nvPr/>
        </p:nvSpPr>
        <p:spPr>
          <a:xfrm>
            <a:off x="4629150" y="1543050"/>
            <a:ext cx="3806190" cy="2263140"/>
          </a:xfrm>
          <a:prstGeom prst="roundRect">
            <a:avLst>
              <a:gd fmla="val 2424" name="adj"/>
            </a:avLst>
          </a:prstGeom>
          <a:solidFill>
            <a:srgbClr val="E6F2EE"/>
          </a:solidFill>
          <a:ln cap="flat" cmpd="sng" w="12700">
            <a:solidFill>
              <a:srgbClr val="E6F2EE"/>
            </a:solidFill>
            <a:prstDash val="solid"/>
            <a:round/>
            <a:headEnd len="sm" w="sm" type="none"/>
            <a:tailEnd len="sm" w="sm" type="none"/>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206" name="Google Shape;206;p23"/>
          <p:cNvSpPr/>
          <p:nvPr/>
        </p:nvSpPr>
        <p:spPr>
          <a:xfrm>
            <a:off x="4869180" y="1714500"/>
            <a:ext cx="332613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D8A72"/>
              </a:buClr>
              <a:buSzPts val="1400"/>
              <a:buFont typeface="Cambria"/>
              <a:buNone/>
            </a:pPr>
            <a:r>
              <a:rPr b="1" i="0" lang="en" sz="1400" u="none" cap="none" strike="noStrike">
                <a:solidFill>
                  <a:srgbClr val="2D8A72"/>
                </a:solidFill>
                <a:latin typeface="Cambria"/>
                <a:ea typeface="Cambria"/>
                <a:cs typeface="Cambria"/>
                <a:sym typeface="Cambria"/>
              </a:rPr>
              <a:t>With the skill</a:t>
            </a:r>
            <a:endParaRPr b="0" i="0" sz="1400" u="none" cap="none" strike="noStrike">
              <a:solidFill>
                <a:schemeClr val="dk1"/>
              </a:solidFill>
              <a:latin typeface="Calibri"/>
              <a:ea typeface="Calibri"/>
              <a:cs typeface="Calibri"/>
              <a:sym typeface="Calibri"/>
            </a:endParaRPr>
          </a:p>
        </p:txBody>
      </p:sp>
      <p:sp>
        <p:nvSpPr>
          <p:cNvPr id="207" name="Google Shape;207;p23"/>
          <p:cNvSpPr/>
          <p:nvPr/>
        </p:nvSpPr>
        <p:spPr>
          <a:xfrm>
            <a:off x="4869180" y="2057400"/>
            <a:ext cx="3326130" cy="58293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D8A72"/>
              </a:buClr>
              <a:buSzPts val="3500"/>
              <a:buFont typeface="Cambria"/>
              <a:buNone/>
            </a:pPr>
            <a:r>
              <a:rPr b="1" i="0" lang="en" sz="3500" u="none" cap="none" strike="noStrike">
                <a:solidFill>
                  <a:srgbClr val="2D8A72"/>
                </a:solidFill>
                <a:latin typeface="Cambria"/>
                <a:ea typeface="Cambria"/>
                <a:cs typeface="Cambria"/>
                <a:sym typeface="Cambria"/>
              </a:rPr>
              <a:t>4 / 4</a:t>
            </a:r>
            <a:endParaRPr b="0" i="0" sz="3500" u="none" cap="none" strike="noStrike">
              <a:solidFill>
                <a:schemeClr val="dk1"/>
              </a:solidFill>
              <a:latin typeface="Calibri"/>
              <a:ea typeface="Calibri"/>
              <a:cs typeface="Calibri"/>
              <a:sym typeface="Calibri"/>
            </a:endParaRPr>
          </a:p>
        </p:txBody>
      </p:sp>
      <p:sp>
        <p:nvSpPr>
          <p:cNvPr id="208" name="Google Shape;208;p23"/>
          <p:cNvSpPr/>
          <p:nvPr/>
        </p:nvSpPr>
        <p:spPr>
          <a:xfrm>
            <a:off x="4869180" y="2708910"/>
            <a:ext cx="3326130"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F5F4C"/>
              </a:buClr>
              <a:buSzPts val="1100"/>
              <a:buFont typeface="Calibri"/>
              <a:buNone/>
            </a:pPr>
            <a:r>
              <a:rPr b="0" i="0" lang="en" sz="1100" u="none" cap="none" strike="noStrike">
                <a:solidFill>
                  <a:srgbClr val="1F5F4C"/>
                </a:solidFill>
                <a:latin typeface="Calibri"/>
                <a:ea typeface="Calibri"/>
                <a:cs typeface="Calibri"/>
                <a:sym typeface="Calibri"/>
              </a:rPr>
              <a:t>Source table, confidence, freshness, population — attached despite the time pressure.</a:t>
            </a:r>
            <a:endParaRPr b="0" i="0" sz="1100" u="none" cap="none" strike="noStrike">
              <a:solidFill>
                <a:schemeClr val="dk1"/>
              </a:solidFill>
              <a:latin typeface="Calibri"/>
              <a:ea typeface="Calibri"/>
              <a:cs typeface="Calibri"/>
              <a:sym typeface="Calibri"/>
            </a:endParaRPr>
          </a:p>
        </p:txBody>
      </p:sp>
      <p:sp>
        <p:nvSpPr>
          <p:cNvPr id="209" name="Google Shape;209;p23"/>
          <p:cNvSpPr/>
          <p:nvPr/>
        </p:nvSpPr>
        <p:spPr>
          <a:xfrm>
            <a:off x="480060" y="3977640"/>
            <a:ext cx="8181594" cy="24003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8A99A8"/>
              </a:buClr>
              <a:buSzPts val="900"/>
              <a:buFont typeface="Calibri"/>
              <a:buNone/>
            </a:pPr>
            <a:r>
              <a:rPr b="0" i="1" lang="en" sz="900" u="none" cap="none" strike="noStrike">
                <a:solidFill>
                  <a:srgbClr val="8A99A8"/>
                </a:solidFill>
                <a:latin typeface="Calibri"/>
                <a:ea typeface="Calibri"/>
                <a:cs typeface="Calibri"/>
                <a:sym typeface="Calibri"/>
              </a:rPr>
              <a:t>Measured on claude-sonnet-5 against the workshop warehouse. Single slice, single run.</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4" name="Shape 214"/>
        <p:cNvGrpSpPr/>
        <p:nvPr/>
      </p:nvGrpSpPr>
      <p:grpSpPr>
        <a:xfrm>
          <a:off x="0" y="0"/>
          <a:ext cx="0" cy="0"/>
          <a:chOff x="0" y="0"/>
          <a:chExt cx="0" cy="0"/>
        </a:xfrm>
      </p:grpSpPr>
      <p:sp>
        <p:nvSpPr>
          <p:cNvPr id="215" name="Google Shape;215;p24"/>
          <p:cNvSpPr/>
          <p:nvPr/>
        </p:nvSpPr>
        <p:spPr>
          <a:xfrm>
            <a:off x="480060" y="192024"/>
            <a:ext cx="8181594" cy="2057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663C"/>
              </a:buClr>
              <a:buSzPts val="800"/>
              <a:buFont typeface="Calibri"/>
              <a:buNone/>
            </a:pPr>
            <a:r>
              <a:rPr b="1" i="0" lang="en" sz="800" u="none" cap="none" strike="noStrike">
                <a:solidFill>
                  <a:srgbClr val="E8663C"/>
                </a:solidFill>
                <a:latin typeface="Calibri"/>
                <a:ea typeface="Calibri"/>
                <a:cs typeface="Calibri"/>
                <a:sym typeface="Calibri"/>
              </a:rPr>
              <a:t>WHAT ANALYSTS BRING THAT MODELS DON'T</a:t>
            </a:r>
            <a:endParaRPr b="0" i="0" sz="800" u="none" cap="none" strike="noStrike">
              <a:solidFill>
                <a:schemeClr val="dk1"/>
              </a:solidFill>
              <a:latin typeface="Calibri"/>
              <a:ea typeface="Calibri"/>
              <a:cs typeface="Calibri"/>
              <a:sym typeface="Calibri"/>
            </a:endParaRPr>
          </a:p>
        </p:txBody>
      </p:sp>
      <p:sp>
        <p:nvSpPr>
          <p:cNvPr id="216" name="Google Shape;216;p24"/>
          <p:cNvSpPr/>
          <p:nvPr/>
        </p:nvSpPr>
        <p:spPr>
          <a:xfrm>
            <a:off x="480060" y="342900"/>
            <a:ext cx="8181594" cy="6172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2303C"/>
              </a:buClr>
              <a:buSzPts val="2600"/>
              <a:buFont typeface="Cambria"/>
              <a:buNone/>
            </a:pPr>
            <a:r>
              <a:rPr b="1" i="0" lang="en" sz="2600" u="none" cap="none" strike="noStrike">
                <a:solidFill>
                  <a:srgbClr val="22303C"/>
                </a:solidFill>
                <a:latin typeface="Cambria"/>
                <a:ea typeface="Cambria"/>
                <a:cs typeface="Cambria"/>
                <a:sym typeface="Cambria"/>
              </a:rPr>
              <a:t>Two skills with no software-engineering analogue</a:t>
            </a:r>
            <a:endParaRPr b="0" i="0" sz="2600" u="none" cap="none" strike="noStrike">
              <a:solidFill>
                <a:schemeClr val="dk1"/>
              </a:solidFill>
              <a:latin typeface="Calibri"/>
              <a:ea typeface="Calibri"/>
              <a:cs typeface="Calibri"/>
              <a:sym typeface="Calibri"/>
            </a:endParaRPr>
          </a:p>
        </p:txBody>
      </p:sp>
      <p:sp>
        <p:nvSpPr>
          <p:cNvPr id="217" name="Google Shape;217;p24"/>
          <p:cNvSpPr/>
          <p:nvPr/>
        </p:nvSpPr>
        <p:spPr>
          <a:xfrm>
            <a:off x="480060" y="1268730"/>
            <a:ext cx="3806190" cy="2811780"/>
          </a:xfrm>
          <a:prstGeom prst="roundRect">
            <a:avLst>
              <a:gd fmla="val 1951" name="adj"/>
            </a:avLst>
          </a:prstGeom>
          <a:solidFill>
            <a:srgbClr val="F2F4F6"/>
          </a:solidFill>
          <a:ln cap="flat" cmpd="sng" w="12700">
            <a:solidFill>
              <a:srgbClr val="F2F4F6"/>
            </a:solidFill>
            <a:prstDash val="solid"/>
            <a:round/>
            <a:headEnd len="sm" w="sm" type="none"/>
            <a:tailEnd len="sm" w="sm" type="none"/>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218" name="Google Shape;218;p24"/>
          <p:cNvSpPr/>
          <p:nvPr/>
        </p:nvSpPr>
        <p:spPr>
          <a:xfrm>
            <a:off x="720090" y="1440180"/>
            <a:ext cx="336042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2303C"/>
              </a:buClr>
              <a:buSzPts val="1300"/>
              <a:buFont typeface="Consolas"/>
              <a:buNone/>
            </a:pPr>
            <a:r>
              <a:rPr b="1" i="0" lang="en" sz="1300" u="none" cap="none" strike="noStrike">
                <a:solidFill>
                  <a:srgbClr val="22303C"/>
                </a:solidFill>
                <a:latin typeface="Consolas"/>
                <a:ea typeface="Consolas"/>
                <a:cs typeface="Consolas"/>
                <a:sym typeface="Consolas"/>
              </a:rPr>
              <a:t>causal-claim-guardrail</a:t>
            </a:r>
            <a:endParaRPr b="0" i="0" sz="1300" u="none" cap="none" strike="noStrike">
              <a:solidFill>
                <a:schemeClr val="dk1"/>
              </a:solidFill>
              <a:latin typeface="Calibri"/>
              <a:ea typeface="Calibri"/>
              <a:cs typeface="Calibri"/>
              <a:sym typeface="Calibri"/>
            </a:endParaRPr>
          </a:p>
        </p:txBody>
      </p:sp>
      <p:sp>
        <p:nvSpPr>
          <p:cNvPr id="219" name="Google Shape;219;p24"/>
          <p:cNvSpPr/>
          <p:nvPr/>
        </p:nvSpPr>
        <p:spPr>
          <a:xfrm>
            <a:off x="720090" y="1748790"/>
            <a:ext cx="3360420" cy="342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A6B7A"/>
              </a:buClr>
              <a:buSzPts val="1100"/>
              <a:buFont typeface="Calibri"/>
              <a:buNone/>
            </a:pPr>
            <a:r>
              <a:rPr b="0" i="0" lang="en" sz="1100" u="none" cap="none" strike="noStrike">
                <a:solidFill>
                  <a:srgbClr val="5A6B7A"/>
                </a:solidFill>
                <a:latin typeface="Calibri"/>
                <a:ea typeface="Calibri"/>
                <a:cs typeface="Calibri"/>
                <a:sym typeface="Calibri"/>
              </a:rPr>
              <a:t>Licenses causal language by design, not by correlation size.</a:t>
            </a:r>
            <a:endParaRPr b="0" i="0" sz="1100" u="none" cap="none" strike="noStrike">
              <a:solidFill>
                <a:schemeClr val="dk1"/>
              </a:solidFill>
              <a:latin typeface="Calibri"/>
              <a:ea typeface="Calibri"/>
              <a:cs typeface="Calibri"/>
              <a:sym typeface="Calibri"/>
            </a:endParaRPr>
          </a:p>
        </p:txBody>
      </p:sp>
      <p:sp>
        <p:nvSpPr>
          <p:cNvPr id="220" name="Google Shape;220;p24"/>
          <p:cNvSpPr/>
          <p:nvPr/>
        </p:nvSpPr>
        <p:spPr>
          <a:xfrm>
            <a:off x="720090" y="2091690"/>
            <a:ext cx="3360420" cy="1714500"/>
          </a:xfrm>
          <a:prstGeom prst="rect">
            <a:avLst/>
          </a:prstGeom>
          <a:noFill/>
          <a:ln>
            <a:noFill/>
          </a:ln>
        </p:spPr>
        <p:txBody>
          <a:bodyPr anchorCtr="0" anchor="ctr" bIns="0" lIns="0" spcFirstLastPara="1" rIns="0" wrap="square" tIns="0">
            <a:noAutofit/>
          </a:bodyPr>
          <a:lstStyle/>
          <a:p>
            <a:pPr indent="-254000" lvl="0" marL="254000" marR="0" rtl="0" algn="l">
              <a:spcBef>
                <a:spcPts val="0"/>
              </a:spcBef>
              <a:spcAft>
                <a:spcPts val="0"/>
              </a:spcAft>
              <a:buClr>
                <a:srgbClr val="5A6B7A"/>
              </a:buClr>
              <a:buSzPts val="1000"/>
              <a:buFont typeface="Calibri"/>
              <a:buChar char="•"/>
            </a:pPr>
            <a:r>
              <a:rPr b="0" i="0" lang="en" sz="1000" u="none" cap="none" strike="noStrike">
                <a:solidFill>
                  <a:srgbClr val="5A6B7A"/>
                </a:solidFill>
                <a:latin typeface="Calibri"/>
                <a:ea typeface="Calibri"/>
                <a:cs typeface="Calibri"/>
                <a:sym typeface="Calibri"/>
              </a:rPr>
              <a:t>Selection into treatment</a:t>
            </a:r>
            <a:endParaRPr b="0" i="0" sz="1000" u="none" cap="none" strike="noStrike">
              <a:solidFill>
                <a:schemeClr val="dk1"/>
              </a:solidFill>
              <a:latin typeface="Calibri"/>
              <a:ea typeface="Calibri"/>
              <a:cs typeface="Calibri"/>
              <a:sym typeface="Calibri"/>
            </a:endParaRPr>
          </a:p>
          <a:p>
            <a:pPr indent="-254000" lvl="0" marL="254000" marR="0" rtl="0" algn="l">
              <a:spcBef>
                <a:spcPts val="600"/>
              </a:spcBef>
              <a:spcAft>
                <a:spcPts val="0"/>
              </a:spcAft>
              <a:buClr>
                <a:srgbClr val="5A6B7A"/>
              </a:buClr>
              <a:buSzPts val="1000"/>
              <a:buFont typeface="Calibri"/>
              <a:buChar char="•"/>
            </a:pPr>
            <a:r>
              <a:rPr b="0" i="0" lang="en" sz="1000" u="none" cap="none" strike="noStrike">
                <a:solidFill>
                  <a:srgbClr val="5A6B7A"/>
                </a:solidFill>
                <a:latin typeface="Calibri"/>
                <a:ea typeface="Calibri"/>
                <a:cs typeface="Calibri"/>
                <a:sym typeface="Calibri"/>
              </a:rPr>
              <a:t>Reverse causality</a:t>
            </a:r>
            <a:endParaRPr b="0" i="0" sz="1000" u="none" cap="none" strike="noStrike">
              <a:solidFill>
                <a:schemeClr val="dk1"/>
              </a:solidFill>
              <a:latin typeface="Calibri"/>
              <a:ea typeface="Calibri"/>
              <a:cs typeface="Calibri"/>
              <a:sym typeface="Calibri"/>
            </a:endParaRPr>
          </a:p>
          <a:p>
            <a:pPr indent="-254000" lvl="0" marL="254000" marR="0" rtl="0" algn="l">
              <a:spcBef>
                <a:spcPts val="600"/>
              </a:spcBef>
              <a:spcAft>
                <a:spcPts val="0"/>
              </a:spcAft>
              <a:buClr>
                <a:srgbClr val="5A6B7A"/>
              </a:buClr>
              <a:buSzPts val="1000"/>
              <a:buFont typeface="Calibri"/>
              <a:buChar char="•"/>
            </a:pPr>
            <a:r>
              <a:rPr b="0" i="0" lang="en" sz="1000" u="none" cap="none" strike="noStrike">
                <a:solidFill>
                  <a:srgbClr val="5A6B7A"/>
                </a:solidFill>
                <a:latin typeface="Calibri"/>
                <a:ea typeface="Calibri"/>
                <a:cs typeface="Calibri"/>
                <a:sym typeface="Calibri"/>
              </a:rPr>
              <a:t>Immortal time bias</a:t>
            </a:r>
            <a:endParaRPr b="0" i="0" sz="1000" u="none" cap="none" strike="noStrike">
              <a:solidFill>
                <a:schemeClr val="dk1"/>
              </a:solidFill>
              <a:latin typeface="Calibri"/>
              <a:ea typeface="Calibri"/>
              <a:cs typeface="Calibri"/>
              <a:sym typeface="Calibri"/>
            </a:endParaRPr>
          </a:p>
          <a:p>
            <a:pPr indent="-254000" lvl="0" marL="254000" marR="0" rtl="0" algn="l">
              <a:spcBef>
                <a:spcPts val="600"/>
              </a:spcBef>
              <a:spcAft>
                <a:spcPts val="0"/>
              </a:spcAft>
              <a:buClr>
                <a:srgbClr val="5A6B7A"/>
              </a:buClr>
              <a:buSzPts val="1000"/>
              <a:buFont typeface="Calibri"/>
              <a:buChar char="•"/>
            </a:pPr>
            <a:r>
              <a:rPr b="0" i="0" lang="en" sz="1000" u="none" cap="none" strike="noStrike">
                <a:solidFill>
                  <a:srgbClr val="5A6B7A"/>
                </a:solidFill>
                <a:latin typeface="Calibri"/>
                <a:ea typeface="Calibri"/>
                <a:cs typeface="Calibri"/>
                <a:sym typeface="Calibri"/>
              </a:rPr>
              <a:t>Survivorship, range restriction</a:t>
            </a:r>
            <a:endParaRPr b="0" i="0" sz="1000" u="none" cap="none" strike="noStrike">
              <a:solidFill>
                <a:schemeClr val="dk1"/>
              </a:solidFill>
              <a:latin typeface="Calibri"/>
              <a:ea typeface="Calibri"/>
              <a:cs typeface="Calibri"/>
              <a:sym typeface="Calibri"/>
            </a:endParaRPr>
          </a:p>
          <a:p>
            <a:pPr indent="-254000" lvl="0" marL="254000" marR="0" rtl="0" algn="l">
              <a:spcBef>
                <a:spcPts val="600"/>
              </a:spcBef>
              <a:spcAft>
                <a:spcPts val="0"/>
              </a:spcAft>
              <a:buClr>
                <a:srgbClr val="5A6B7A"/>
              </a:buClr>
              <a:buSzPts val="1000"/>
              <a:buFont typeface="Calibri"/>
              <a:buChar char="•"/>
            </a:pPr>
            <a:r>
              <a:rPr b="0" i="0" lang="en" sz="1000" u="none" cap="none" strike="noStrike">
                <a:solidFill>
                  <a:srgbClr val="5A6B7A"/>
                </a:solidFill>
                <a:latin typeface="Calibri"/>
                <a:ea typeface="Calibri"/>
                <a:cs typeface="Calibri"/>
                <a:sym typeface="Calibri"/>
              </a:rPr>
              <a:t>Compositional shift</a:t>
            </a:r>
            <a:endParaRPr b="0" i="0" sz="1000" u="none" cap="none" strike="noStrike">
              <a:solidFill>
                <a:schemeClr val="dk1"/>
              </a:solidFill>
              <a:latin typeface="Calibri"/>
              <a:ea typeface="Calibri"/>
              <a:cs typeface="Calibri"/>
              <a:sym typeface="Calibri"/>
            </a:endParaRPr>
          </a:p>
        </p:txBody>
      </p:sp>
      <p:sp>
        <p:nvSpPr>
          <p:cNvPr id="221" name="Google Shape;221;p24"/>
          <p:cNvSpPr/>
          <p:nvPr/>
        </p:nvSpPr>
        <p:spPr>
          <a:xfrm>
            <a:off x="4629150" y="1268730"/>
            <a:ext cx="3806190" cy="2811780"/>
          </a:xfrm>
          <a:prstGeom prst="roundRect">
            <a:avLst>
              <a:gd fmla="val 1951" name="adj"/>
            </a:avLst>
          </a:prstGeom>
          <a:solidFill>
            <a:srgbClr val="F2F4F6"/>
          </a:solidFill>
          <a:ln cap="flat" cmpd="sng" w="12700">
            <a:solidFill>
              <a:srgbClr val="F2F4F6"/>
            </a:solidFill>
            <a:prstDash val="solid"/>
            <a:round/>
            <a:headEnd len="sm" w="sm" type="none"/>
            <a:tailEnd len="sm" w="sm" type="none"/>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222" name="Google Shape;222;p24"/>
          <p:cNvSpPr/>
          <p:nvPr/>
        </p:nvSpPr>
        <p:spPr>
          <a:xfrm>
            <a:off x="4869180" y="1440180"/>
            <a:ext cx="336042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2303C"/>
              </a:buClr>
              <a:buSzPts val="1300"/>
              <a:buFont typeface="Consolas"/>
              <a:buNone/>
            </a:pPr>
            <a:r>
              <a:rPr b="1" i="0" lang="en" sz="1300" u="none" cap="none" strike="noStrike">
                <a:solidFill>
                  <a:srgbClr val="22303C"/>
                </a:solidFill>
                <a:latin typeface="Consolas"/>
                <a:ea typeface="Consolas"/>
                <a:cs typeface="Consolas"/>
                <a:sym typeface="Consolas"/>
              </a:rPr>
              <a:t>uncertainty-reporting</a:t>
            </a:r>
            <a:endParaRPr b="0" i="0" sz="1300" u="none" cap="none" strike="noStrike">
              <a:solidFill>
                <a:schemeClr val="dk1"/>
              </a:solidFill>
              <a:latin typeface="Calibri"/>
              <a:ea typeface="Calibri"/>
              <a:cs typeface="Calibri"/>
              <a:sym typeface="Calibri"/>
            </a:endParaRPr>
          </a:p>
        </p:txBody>
      </p:sp>
      <p:sp>
        <p:nvSpPr>
          <p:cNvPr id="223" name="Google Shape;223;p24"/>
          <p:cNvSpPr/>
          <p:nvPr/>
        </p:nvSpPr>
        <p:spPr>
          <a:xfrm>
            <a:off x="4869180" y="1748790"/>
            <a:ext cx="3360420" cy="342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A6B7A"/>
              </a:buClr>
              <a:buSzPts val="1100"/>
              <a:buFont typeface="Calibri"/>
              <a:buNone/>
            </a:pPr>
            <a:r>
              <a:rPr b="0" i="0" lang="en" sz="1100" u="none" cap="none" strike="noStrike">
                <a:solidFill>
                  <a:srgbClr val="5A6B7A"/>
                </a:solidFill>
                <a:latin typeface="Calibri"/>
                <a:ea typeface="Calibri"/>
                <a:cs typeface="Calibri"/>
                <a:sym typeface="Calibri"/>
              </a:rPr>
              <a:t>Denominators, intervals, suppression, multiplicity.</a:t>
            </a:r>
            <a:endParaRPr b="0" i="0" sz="1100" u="none" cap="none" strike="noStrike">
              <a:solidFill>
                <a:schemeClr val="dk1"/>
              </a:solidFill>
              <a:latin typeface="Calibri"/>
              <a:ea typeface="Calibri"/>
              <a:cs typeface="Calibri"/>
              <a:sym typeface="Calibri"/>
            </a:endParaRPr>
          </a:p>
        </p:txBody>
      </p:sp>
      <p:sp>
        <p:nvSpPr>
          <p:cNvPr id="224" name="Google Shape;224;p24"/>
          <p:cNvSpPr/>
          <p:nvPr/>
        </p:nvSpPr>
        <p:spPr>
          <a:xfrm>
            <a:off x="4869180" y="2091690"/>
            <a:ext cx="3360420" cy="1714500"/>
          </a:xfrm>
          <a:prstGeom prst="rect">
            <a:avLst/>
          </a:prstGeom>
          <a:noFill/>
          <a:ln>
            <a:noFill/>
          </a:ln>
        </p:spPr>
        <p:txBody>
          <a:bodyPr anchorCtr="0" anchor="ctr" bIns="0" lIns="0" spcFirstLastPara="1" rIns="0" wrap="square" tIns="0">
            <a:noAutofit/>
          </a:bodyPr>
          <a:lstStyle/>
          <a:p>
            <a:pPr indent="-254000" lvl="0" marL="254000" marR="0" rtl="0" algn="l">
              <a:spcBef>
                <a:spcPts val="0"/>
              </a:spcBef>
              <a:spcAft>
                <a:spcPts val="0"/>
              </a:spcAft>
              <a:buClr>
                <a:srgbClr val="5A6B7A"/>
              </a:buClr>
              <a:buSzPts val="1000"/>
              <a:buFont typeface="Calibri"/>
              <a:buChar char="•"/>
            </a:pPr>
            <a:r>
              <a:rPr b="0" i="0" lang="en" sz="1000" u="none" cap="none" strike="noStrike">
                <a:solidFill>
                  <a:srgbClr val="5A6B7A"/>
                </a:solidFill>
                <a:latin typeface="Calibri"/>
                <a:ea typeface="Calibri"/>
                <a:cs typeface="Calibri"/>
                <a:sym typeface="Calibri"/>
              </a:rPr>
              <a:t>Wilson, not Wald, at small n</a:t>
            </a:r>
            <a:endParaRPr b="0" i="0" sz="1000" u="none" cap="none" strike="noStrike">
              <a:solidFill>
                <a:schemeClr val="dk1"/>
              </a:solidFill>
              <a:latin typeface="Calibri"/>
              <a:ea typeface="Calibri"/>
              <a:cs typeface="Calibri"/>
              <a:sym typeface="Calibri"/>
            </a:endParaRPr>
          </a:p>
          <a:p>
            <a:pPr indent="-254000" lvl="0" marL="254000" marR="0" rtl="0" algn="l">
              <a:spcBef>
                <a:spcPts val="600"/>
              </a:spcBef>
              <a:spcAft>
                <a:spcPts val="0"/>
              </a:spcAft>
              <a:buClr>
                <a:srgbClr val="5A6B7A"/>
              </a:buClr>
              <a:buSzPts val="1000"/>
              <a:buFont typeface="Calibri"/>
              <a:buChar char="•"/>
            </a:pPr>
            <a:r>
              <a:rPr b="0" i="0" lang="en" sz="1000" u="none" cap="none" strike="noStrike">
                <a:solidFill>
                  <a:srgbClr val="5A6B7A"/>
                </a:solidFill>
                <a:latin typeface="Calibri"/>
                <a:ea typeface="Calibri"/>
                <a:cs typeface="Calibri"/>
                <a:sym typeface="Calibri"/>
              </a:rPr>
              <a:t>Small-cell suppression is a legal duty</a:t>
            </a:r>
            <a:endParaRPr b="0" i="0" sz="1000" u="none" cap="none" strike="noStrike">
              <a:solidFill>
                <a:schemeClr val="dk1"/>
              </a:solidFill>
              <a:latin typeface="Calibri"/>
              <a:ea typeface="Calibri"/>
              <a:cs typeface="Calibri"/>
              <a:sym typeface="Calibri"/>
            </a:endParaRPr>
          </a:p>
          <a:p>
            <a:pPr indent="-254000" lvl="0" marL="254000" marR="0" rtl="0" algn="l">
              <a:spcBef>
                <a:spcPts val="600"/>
              </a:spcBef>
              <a:spcAft>
                <a:spcPts val="0"/>
              </a:spcAft>
              <a:buClr>
                <a:srgbClr val="5A6B7A"/>
              </a:buClr>
              <a:buSzPts val="1000"/>
              <a:buFont typeface="Calibri"/>
              <a:buChar char="•"/>
            </a:pPr>
            <a:r>
              <a:rPr b="0" i="0" lang="en" sz="1000" u="none" cap="none" strike="noStrike">
                <a:solidFill>
                  <a:srgbClr val="5A6B7A"/>
                </a:solidFill>
                <a:latin typeface="Calibri"/>
                <a:ea typeface="Calibri"/>
                <a:cs typeface="Calibri"/>
                <a:sym typeface="Calibri"/>
              </a:rPr>
              <a:t>Complementary disclosure</a:t>
            </a:r>
            <a:endParaRPr b="0" i="0" sz="1000" u="none" cap="none" strike="noStrike">
              <a:solidFill>
                <a:schemeClr val="dk1"/>
              </a:solidFill>
              <a:latin typeface="Calibri"/>
              <a:ea typeface="Calibri"/>
              <a:cs typeface="Calibri"/>
              <a:sym typeface="Calibri"/>
            </a:endParaRPr>
          </a:p>
          <a:p>
            <a:pPr indent="-254000" lvl="0" marL="254000" marR="0" rtl="0" algn="l">
              <a:spcBef>
                <a:spcPts val="600"/>
              </a:spcBef>
              <a:spcAft>
                <a:spcPts val="0"/>
              </a:spcAft>
              <a:buClr>
                <a:srgbClr val="5A6B7A"/>
              </a:buClr>
              <a:buSzPts val="1000"/>
              <a:buFont typeface="Calibri"/>
              <a:buChar char="•"/>
            </a:pPr>
            <a:r>
              <a:rPr b="0" i="0" lang="en" sz="1000" u="none" cap="none" strike="noStrike">
                <a:solidFill>
                  <a:srgbClr val="5A6B7A"/>
                </a:solidFill>
                <a:latin typeface="Calibri"/>
                <a:ea typeface="Calibri"/>
                <a:cs typeface="Calibri"/>
                <a:sym typeface="Calibri"/>
              </a:rPr>
              <a:t>Ranking 40 managers is 40 comparisons</a:t>
            </a:r>
            <a:endParaRPr b="0" i="0" sz="1000" u="none" cap="none" strike="noStrike">
              <a:solidFill>
                <a:schemeClr val="dk1"/>
              </a:solidFill>
              <a:latin typeface="Calibri"/>
              <a:ea typeface="Calibri"/>
              <a:cs typeface="Calibri"/>
              <a:sym typeface="Calibri"/>
            </a:endParaRPr>
          </a:p>
          <a:p>
            <a:pPr indent="-254000" lvl="0" marL="254000" marR="0" rtl="0" algn="l">
              <a:spcBef>
                <a:spcPts val="600"/>
              </a:spcBef>
              <a:spcAft>
                <a:spcPts val="0"/>
              </a:spcAft>
              <a:buClr>
                <a:srgbClr val="5A6B7A"/>
              </a:buClr>
              <a:buSzPts val="1000"/>
              <a:buFont typeface="Calibri"/>
              <a:buChar char="•"/>
            </a:pPr>
            <a:r>
              <a:rPr b="0" i="0" lang="en" sz="1000" u="none" cap="none" strike="noStrike">
                <a:solidFill>
                  <a:srgbClr val="5A6B7A"/>
                </a:solidFill>
                <a:latin typeface="Calibri"/>
                <a:ea typeface="Calibri"/>
                <a:cs typeface="Calibri"/>
                <a:sym typeface="Calibri"/>
              </a:rPr>
              <a:t>"No difference" vs "no evidence"</a:t>
            </a:r>
            <a:endParaRPr b="0" i="0" sz="1000" u="none" cap="none" strike="noStrike">
              <a:solidFill>
                <a:schemeClr val="dk1"/>
              </a:solidFill>
              <a:latin typeface="Calibri"/>
              <a:ea typeface="Calibri"/>
              <a:cs typeface="Calibri"/>
              <a:sym typeface="Calibri"/>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9" name="Shape 229"/>
        <p:cNvGrpSpPr/>
        <p:nvPr/>
      </p:nvGrpSpPr>
      <p:grpSpPr>
        <a:xfrm>
          <a:off x="0" y="0"/>
          <a:ext cx="0" cy="0"/>
          <a:chOff x="0" y="0"/>
          <a:chExt cx="0" cy="0"/>
        </a:xfrm>
      </p:grpSpPr>
      <p:sp>
        <p:nvSpPr>
          <p:cNvPr id="230" name="Google Shape;230;p25"/>
          <p:cNvSpPr/>
          <p:nvPr/>
        </p:nvSpPr>
        <p:spPr>
          <a:xfrm>
            <a:off x="480060" y="192024"/>
            <a:ext cx="8181594" cy="2057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663C"/>
              </a:buClr>
              <a:buSzPts val="800"/>
              <a:buFont typeface="Calibri"/>
              <a:buNone/>
            </a:pPr>
            <a:r>
              <a:rPr b="1" i="0" lang="en" sz="800" u="none" cap="none" strike="noStrike">
                <a:solidFill>
                  <a:srgbClr val="E8663C"/>
                </a:solidFill>
                <a:latin typeface="Calibri"/>
                <a:ea typeface="Calibri"/>
                <a:cs typeface="Calibri"/>
                <a:sym typeface="Calibri"/>
              </a:rPr>
              <a:t>HANDS ON — 45 MINUTES</a:t>
            </a:r>
            <a:endParaRPr b="0" i="0" sz="800" u="none" cap="none" strike="noStrike">
              <a:solidFill>
                <a:schemeClr val="dk1"/>
              </a:solidFill>
              <a:latin typeface="Calibri"/>
              <a:ea typeface="Calibri"/>
              <a:cs typeface="Calibri"/>
              <a:sym typeface="Calibri"/>
            </a:endParaRPr>
          </a:p>
        </p:txBody>
      </p:sp>
      <p:sp>
        <p:nvSpPr>
          <p:cNvPr id="231" name="Google Shape;231;p25"/>
          <p:cNvSpPr/>
          <p:nvPr/>
        </p:nvSpPr>
        <p:spPr>
          <a:xfrm>
            <a:off x="480060" y="342900"/>
            <a:ext cx="8181594" cy="6172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2303C"/>
              </a:buClr>
              <a:buSzPts val="2600"/>
              <a:buFont typeface="Cambria"/>
              <a:buNone/>
            </a:pPr>
            <a:r>
              <a:rPr b="1" i="0" lang="en" sz="2600" u="none" cap="none" strike="noStrike">
                <a:solidFill>
                  <a:srgbClr val="22303C"/>
                </a:solidFill>
                <a:latin typeface="Cambria"/>
                <a:ea typeface="Cambria"/>
                <a:cs typeface="Cambria"/>
                <a:sym typeface="Cambria"/>
              </a:rPr>
              <a:t>You write the reference doc</a:t>
            </a:r>
            <a:endParaRPr b="0" i="0" sz="2600" u="none" cap="none" strike="noStrike">
              <a:solidFill>
                <a:schemeClr val="dk1"/>
              </a:solidFill>
              <a:latin typeface="Calibri"/>
              <a:ea typeface="Calibri"/>
              <a:cs typeface="Calibri"/>
              <a:sym typeface="Calibri"/>
            </a:endParaRPr>
          </a:p>
        </p:txBody>
      </p:sp>
      <p:sp>
        <p:nvSpPr>
          <p:cNvPr id="232" name="Google Shape;232;p25"/>
          <p:cNvSpPr/>
          <p:nvPr/>
        </p:nvSpPr>
        <p:spPr>
          <a:xfrm>
            <a:off x="480060" y="1303020"/>
            <a:ext cx="8181594" cy="534924"/>
          </a:xfrm>
          <a:prstGeom prst="roundRect">
            <a:avLst>
              <a:gd fmla="val 10256" name="adj"/>
            </a:avLst>
          </a:prstGeom>
          <a:solidFill>
            <a:srgbClr val="F2F4F6"/>
          </a:solidFill>
          <a:ln cap="flat" cmpd="sng" w="12700">
            <a:solidFill>
              <a:srgbClr val="F2F4F6"/>
            </a:solidFill>
            <a:prstDash val="solid"/>
            <a:round/>
            <a:headEnd len="sm" w="sm" type="none"/>
            <a:tailEnd len="sm" w="sm" type="none"/>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233" name="Google Shape;233;p25"/>
          <p:cNvSpPr/>
          <p:nvPr/>
        </p:nvSpPr>
        <p:spPr>
          <a:xfrm>
            <a:off x="720090" y="1433322"/>
            <a:ext cx="20574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2303C"/>
              </a:buClr>
              <a:buSzPts val="1300"/>
              <a:buFont typeface="Cambria"/>
              <a:buNone/>
            </a:pPr>
            <a:r>
              <a:rPr b="1" i="0" lang="en" sz="1300" u="none" cap="none" strike="noStrike">
                <a:solidFill>
                  <a:srgbClr val="22303C"/>
                </a:solidFill>
                <a:latin typeface="Cambria"/>
                <a:ea typeface="Cambria"/>
                <a:cs typeface="Cambria"/>
                <a:sym typeface="Cambria"/>
              </a:rPr>
              <a:t>Quick Reference</a:t>
            </a:r>
            <a:endParaRPr b="0" i="0" sz="1300" u="none" cap="none" strike="noStrike">
              <a:solidFill>
                <a:schemeClr val="dk1"/>
              </a:solidFill>
              <a:latin typeface="Calibri"/>
              <a:ea typeface="Calibri"/>
              <a:cs typeface="Calibri"/>
              <a:sym typeface="Calibri"/>
            </a:endParaRPr>
          </a:p>
        </p:txBody>
      </p:sp>
      <p:sp>
        <p:nvSpPr>
          <p:cNvPr id="234" name="Google Shape;234;p25"/>
          <p:cNvSpPr/>
          <p:nvPr/>
        </p:nvSpPr>
        <p:spPr>
          <a:xfrm>
            <a:off x="2811780" y="1453896"/>
            <a:ext cx="685800" cy="24003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8A99A8"/>
              </a:buClr>
              <a:buSzPts val="1000"/>
              <a:buFont typeface="Consolas"/>
              <a:buNone/>
            </a:pPr>
            <a:r>
              <a:rPr b="0" i="0" lang="en" sz="1000" u="none" cap="none" strike="noStrike">
                <a:solidFill>
                  <a:srgbClr val="8A99A8"/>
                </a:solidFill>
                <a:latin typeface="Consolas"/>
                <a:ea typeface="Consolas"/>
                <a:cs typeface="Consolas"/>
                <a:sym typeface="Consolas"/>
              </a:rPr>
              <a:t>5 min</a:t>
            </a:r>
            <a:endParaRPr b="0" i="0" sz="1000" u="none" cap="none" strike="noStrike">
              <a:solidFill>
                <a:schemeClr val="dk1"/>
              </a:solidFill>
              <a:latin typeface="Calibri"/>
              <a:ea typeface="Calibri"/>
              <a:cs typeface="Calibri"/>
              <a:sym typeface="Calibri"/>
            </a:endParaRPr>
          </a:p>
        </p:txBody>
      </p:sp>
      <p:sp>
        <p:nvSpPr>
          <p:cNvPr id="235" name="Google Shape;235;p25"/>
          <p:cNvSpPr/>
          <p:nvPr/>
        </p:nvSpPr>
        <p:spPr>
          <a:xfrm>
            <a:off x="3634740" y="1447038"/>
            <a:ext cx="493776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A6B7A"/>
              </a:buClr>
              <a:buSzPts val="1100"/>
              <a:buFont typeface="Calibri"/>
              <a:buNone/>
            </a:pPr>
            <a:r>
              <a:rPr b="0" i="0" lang="en" sz="1100" u="none" cap="none" strike="noStrike">
                <a:solidFill>
                  <a:srgbClr val="5A6B7A"/>
                </a:solidFill>
                <a:latin typeface="Calibri"/>
                <a:ea typeface="Calibri"/>
                <a:cs typeface="Calibri"/>
                <a:sym typeface="Calibri"/>
              </a:rPr>
              <a:t>Which table, what grain, person key</a:t>
            </a:r>
            <a:endParaRPr b="0" i="0" sz="1100" u="none" cap="none" strike="noStrike">
              <a:solidFill>
                <a:schemeClr val="dk1"/>
              </a:solidFill>
              <a:latin typeface="Calibri"/>
              <a:ea typeface="Calibri"/>
              <a:cs typeface="Calibri"/>
              <a:sym typeface="Calibri"/>
            </a:endParaRPr>
          </a:p>
        </p:txBody>
      </p:sp>
      <p:sp>
        <p:nvSpPr>
          <p:cNvPr id="236" name="Google Shape;236;p25"/>
          <p:cNvSpPr/>
          <p:nvPr/>
        </p:nvSpPr>
        <p:spPr>
          <a:xfrm>
            <a:off x="480060" y="1879092"/>
            <a:ext cx="8181594" cy="534924"/>
          </a:xfrm>
          <a:prstGeom prst="roundRect">
            <a:avLst>
              <a:gd fmla="val 10256" name="adj"/>
            </a:avLst>
          </a:prstGeom>
          <a:solidFill>
            <a:srgbClr val="F2F4F6"/>
          </a:solidFill>
          <a:ln cap="flat" cmpd="sng" w="12700">
            <a:solidFill>
              <a:srgbClr val="F2F4F6"/>
            </a:solidFill>
            <a:prstDash val="solid"/>
            <a:round/>
            <a:headEnd len="sm" w="sm" type="none"/>
            <a:tailEnd len="sm" w="sm" type="none"/>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237" name="Google Shape;237;p25"/>
          <p:cNvSpPr/>
          <p:nvPr/>
        </p:nvSpPr>
        <p:spPr>
          <a:xfrm>
            <a:off x="720090" y="2009394"/>
            <a:ext cx="20574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2303C"/>
              </a:buClr>
              <a:buSzPts val="1300"/>
              <a:buFont typeface="Cambria"/>
              <a:buNone/>
            </a:pPr>
            <a:r>
              <a:rPr b="1" i="0" lang="en" sz="1300" u="none" cap="none" strike="noStrike">
                <a:solidFill>
                  <a:srgbClr val="22303C"/>
                </a:solidFill>
                <a:latin typeface="Cambria"/>
                <a:ea typeface="Cambria"/>
                <a:cs typeface="Cambria"/>
                <a:sym typeface="Cambria"/>
              </a:rPr>
              <a:t>Required Filters</a:t>
            </a:r>
            <a:endParaRPr b="0" i="0" sz="1300" u="none" cap="none" strike="noStrike">
              <a:solidFill>
                <a:schemeClr val="dk1"/>
              </a:solidFill>
              <a:latin typeface="Calibri"/>
              <a:ea typeface="Calibri"/>
              <a:cs typeface="Calibri"/>
              <a:sym typeface="Calibri"/>
            </a:endParaRPr>
          </a:p>
        </p:txBody>
      </p:sp>
      <p:sp>
        <p:nvSpPr>
          <p:cNvPr id="238" name="Google Shape;238;p25"/>
          <p:cNvSpPr/>
          <p:nvPr/>
        </p:nvSpPr>
        <p:spPr>
          <a:xfrm>
            <a:off x="2811780" y="2029968"/>
            <a:ext cx="685800" cy="24003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8A99A8"/>
              </a:buClr>
              <a:buSzPts val="1000"/>
              <a:buFont typeface="Consolas"/>
              <a:buNone/>
            </a:pPr>
            <a:r>
              <a:rPr b="0" i="0" lang="en" sz="1000" u="none" cap="none" strike="noStrike">
                <a:solidFill>
                  <a:srgbClr val="8A99A8"/>
                </a:solidFill>
                <a:latin typeface="Consolas"/>
                <a:ea typeface="Consolas"/>
                <a:cs typeface="Consolas"/>
                <a:sym typeface="Consolas"/>
              </a:rPr>
              <a:t>10 min</a:t>
            </a:r>
            <a:endParaRPr b="0" i="0" sz="1000" u="none" cap="none" strike="noStrike">
              <a:solidFill>
                <a:schemeClr val="dk1"/>
              </a:solidFill>
              <a:latin typeface="Calibri"/>
              <a:ea typeface="Calibri"/>
              <a:cs typeface="Calibri"/>
              <a:sym typeface="Calibri"/>
            </a:endParaRPr>
          </a:p>
        </p:txBody>
      </p:sp>
      <p:sp>
        <p:nvSpPr>
          <p:cNvPr id="239" name="Google Shape;239;p25"/>
          <p:cNvSpPr/>
          <p:nvPr/>
        </p:nvSpPr>
        <p:spPr>
          <a:xfrm>
            <a:off x="3634740" y="2023110"/>
            <a:ext cx="493776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A6B7A"/>
              </a:buClr>
              <a:buSzPts val="1100"/>
              <a:buFont typeface="Calibri"/>
              <a:buNone/>
            </a:pPr>
            <a:r>
              <a:rPr b="0" i="0" lang="en" sz="1100" u="none" cap="none" strike="noStrike">
                <a:solidFill>
                  <a:srgbClr val="5A6B7A"/>
                </a:solidFill>
                <a:latin typeface="Calibri"/>
                <a:ea typeface="Calibri"/>
                <a:cs typeface="Calibri"/>
                <a:sym typeface="Calibri"/>
              </a:rPr>
              <a:t>Largest source of silently wrong numbers</a:t>
            </a:r>
            <a:endParaRPr b="0" i="0" sz="1100" u="none" cap="none" strike="noStrike">
              <a:solidFill>
                <a:schemeClr val="dk1"/>
              </a:solidFill>
              <a:latin typeface="Calibri"/>
              <a:ea typeface="Calibri"/>
              <a:cs typeface="Calibri"/>
              <a:sym typeface="Calibri"/>
            </a:endParaRPr>
          </a:p>
        </p:txBody>
      </p:sp>
      <p:sp>
        <p:nvSpPr>
          <p:cNvPr id="240" name="Google Shape;240;p25"/>
          <p:cNvSpPr/>
          <p:nvPr/>
        </p:nvSpPr>
        <p:spPr>
          <a:xfrm>
            <a:off x="480060" y="2455164"/>
            <a:ext cx="8181594" cy="534924"/>
          </a:xfrm>
          <a:prstGeom prst="roundRect">
            <a:avLst>
              <a:gd fmla="val 10256" name="adj"/>
            </a:avLst>
          </a:prstGeom>
          <a:solidFill>
            <a:srgbClr val="FBEDE8"/>
          </a:solidFill>
          <a:ln cap="flat" cmpd="sng" w="12700">
            <a:solidFill>
              <a:srgbClr val="FBEDE8"/>
            </a:solidFill>
            <a:prstDash val="solid"/>
            <a:round/>
            <a:headEnd len="sm" w="sm" type="none"/>
            <a:tailEnd len="sm" w="sm" type="none"/>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241" name="Google Shape;241;p25"/>
          <p:cNvSpPr/>
          <p:nvPr/>
        </p:nvSpPr>
        <p:spPr>
          <a:xfrm>
            <a:off x="720090" y="2585466"/>
            <a:ext cx="20574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663C"/>
              </a:buClr>
              <a:buSzPts val="1300"/>
              <a:buFont typeface="Cambria"/>
              <a:buNone/>
            </a:pPr>
            <a:r>
              <a:rPr b="1" i="0" lang="en" sz="1300" u="none" cap="none" strike="noStrike">
                <a:solidFill>
                  <a:srgbClr val="E8663C"/>
                </a:solidFill>
                <a:latin typeface="Cambria"/>
                <a:ea typeface="Cambria"/>
                <a:cs typeface="Cambria"/>
                <a:sym typeface="Cambria"/>
              </a:rPr>
              <a:t>Gotchas</a:t>
            </a:r>
            <a:endParaRPr b="0" i="0" sz="1300" u="none" cap="none" strike="noStrike">
              <a:solidFill>
                <a:schemeClr val="dk1"/>
              </a:solidFill>
              <a:latin typeface="Calibri"/>
              <a:ea typeface="Calibri"/>
              <a:cs typeface="Calibri"/>
              <a:sym typeface="Calibri"/>
            </a:endParaRPr>
          </a:p>
        </p:txBody>
      </p:sp>
      <p:sp>
        <p:nvSpPr>
          <p:cNvPr id="242" name="Google Shape;242;p25"/>
          <p:cNvSpPr/>
          <p:nvPr/>
        </p:nvSpPr>
        <p:spPr>
          <a:xfrm>
            <a:off x="2811780" y="2606040"/>
            <a:ext cx="685800" cy="24003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663C"/>
              </a:buClr>
              <a:buSzPts val="1000"/>
              <a:buFont typeface="Consolas"/>
              <a:buNone/>
            </a:pPr>
            <a:r>
              <a:rPr b="0" i="0" lang="en" sz="1000" u="none" cap="none" strike="noStrike">
                <a:solidFill>
                  <a:srgbClr val="E8663C"/>
                </a:solidFill>
                <a:latin typeface="Consolas"/>
                <a:ea typeface="Consolas"/>
                <a:cs typeface="Consolas"/>
                <a:sym typeface="Consolas"/>
              </a:rPr>
              <a:t>15 min</a:t>
            </a:r>
            <a:endParaRPr b="0" i="0" sz="1000" u="none" cap="none" strike="noStrike">
              <a:solidFill>
                <a:schemeClr val="dk1"/>
              </a:solidFill>
              <a:latin typeface="Calibri"/>
              <a:ea typeface="Calibri"/>
              <a:cs typeface="Calibri"/>
              <a:sym typeface="Calibri"/>
            </a:endParaRPr>
          </a:p>
        </p:txBody>
      </p:sp>
      <p:sp>
        <p:nvSpPr>
          <p:cNvPr id="243" name="Google Shape;243;p25"/>
          <p:cNvSpPr/>
          <p:nvPr/>
        </p:nvSpPr>
        <p:spPr>
          <a:xfrm>
            <a:off x="3634740" y="2599182"/>
            <a:ext cx="493776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8C4430"/>
              </a:buClr>
              <a:buSzPts val="1100"/>
              <a:buFont typeface="Calibri"/>
              <a:buNone/>
            </a:pPr>
            <a:r>
              <a:rPr b="0" i="0" lang="en" sz="1100" u="none" cap="none" strike="noStrike">
                <a:solidFill>
                  <a:srgbClr val="8C4430"/>
                </a:solidFill>
                <a:latin typeface="Calibri"/>
                <a:ea typeface="Calibri"/>
                <a:cs typeface="Calibri"/>
                <a:sym typeface="Calibri"/>
              </a:rPr>
              <a:t>The only section a model cannot generate</a:t>
            </a:r>
            <a:endParaRPr b="0" i="0" sz="1100" u="none" cap="none" strike="noStrike">
              <a:solidFill>
                <a:schemeClr val="dk1"/>
              </a:solidFill>
              <a:latin typeface="Calibri"/>
              <a:ea typeface="Calibri"/>
              <a:cs typeface="Calibri"/>
              <a:sym typeface="Calibri"/>
            </a:endParaRPr>
          </a:p>
        </p:txBody>
      </p:sp>
      <p:sp>
        <p:nvSpPr>
          <p:cNvPr id="244" name="Google Shape;244;p25"/>
          <p:cNvSpPr/>
          <p:nvPr/>
        </p:nvSpPr>
        <p:spPr>
          <a:xfrm>
            <a:off x="480060" y="3031236"/>
            <a:ext cx="8181594" cy="534924"/>
          </a:xfrm>
          <a:prstGeom prst="roundRect">
            <a:avLst>
              <a:gd fmla="val 10256" name="adj"/>
            </a:avLst>
          </a:prstGeom>
          <a:solidFill>
            <a:srgbClr val="F2F4F6"/>
          </a:solidFill>
          <a:ln cap="flat" cmpd="sng" w="12700">
            <a:solidFill>
              <a:srgbClr val="F2F4F6"/>
            </a:solidFill>
            <a:prstDash val="solid"/>
            <a:round/>
            <a:headEnd len="sm" w="sm" type="none"/>
            <a:tailEnd len="sm" w="sm" type="none"/>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245" name="Google Shape;245;p25"/>
          <p:cNvSpPr/>
          <p:nvPr/>
        </p:nvSpPr>
        <p:spPr>
          <a:xfrm>
            <a:off x="720090" y="3161538"/>
            <a:ext cx="20574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2303C"/>
              </a:buClr>
              <a:buSzPts val="1300"/>
              <a:buFont typeface="Cambria"/>
              <a:buNone/>
            </a:pPr>
            <a:r>
              <a:rPr b="1" i="0" lang="en" sz="1300" u="none" cap="none" strike="noStrike">
                <a:solidFill>
                  <a:srgbClr val="22303C"/>
                </a:solidFill>
                <a:latin typeface="Cambria"/>
                <a:ea typeface="Cambria"/>
                <a:cs typeface="Cambria"/>
                <a:sym typeface="Cambria"/>
              </a:rPr>
              <a:t>Measures</a:t>
            </a:r>
            <a:endParaRPr b="0" i="0" sz="1300" u="none" cap="none" strike="noStrike">
              <a:solidFill>
                <a:schemeClr val="dk1"/>
              </a:solidFill>
              <a:latin typeface="Calibri"/>
              <a:ea typeface="Calibri"/>
              <a:cs typeface="Calibri"/>
              <a:sym typeface="Calibri"/>
            </a:endParaRPr>
          </a:p>
        </p:txBody>
      </p:sp>
      <p:sp>
        <p:nvSpPr>
          <p:cNvPr id="246" name="Google Shape;246;p25"/>
          <p:cNvSpPr/>
          <p:nvPr/>
        </p:nvSpPr>
        <p:spPr>
          <a:xfrm>
            <a:off x="2811780" y="3182112"/>
            <a:ext cx="685800" cy="24003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8A99A8"/>
              </a:buClr>
              <a:buSzPts val="1000"/>
              <a:buFont typeface="Consolas"/>
              <a:buNone/>
            </a:pPr>
            <a:r>
              <a:rPr b="0" i="0" lang="en" sz="1000" u="none" cap="none" strike="noStrike">
                <a:solidFill>
                  <a:srgbClr val="8A99A8"/>
                </a:solidFill>
                <a:latin typeface="Consolas"/>
                <a:ea typeface="Consolas"/>
                <a:cs typeface="Consolas"/>
                <a:sym typeface="Consolas"/>
              </a:rPr>
              <a:t>10 min</a:t>
            </a:r>
            <a:endParaRPr b="0" i="0" sz="1000" u="none" cap="none" strike="noStrike">
              <a:solidFill>
                <a:schemeClr val="dk1"/>
              </a:solidFill>
              <a:latin typeface="Calibri"/>
              <a:ea typeface="Calibri"/>
              <a:cs typeface="Calibri"/>
              <a:sym typeface="Calibri"/>
            </a:endParaRPr>
          </a:p>
        </p:txBody>
      </p:sp>
      <p:sp>
        <p:nvSpPr>
          <p:cNvPr id="247" name="Google Shape;247;p25"/>
          <p:cNvSpPr/>
          <p:nvPr/>
        </p:nvSpPr>
        <p:spPr>
          <a:xfrm>
            <a:off x="3634740" y="3175254"/>
            <a:ext cx="493776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A6B7A"/>
              </a:buClr>
              <a:buSzPts val="1100"/>
              <a:buFont typeface="Calibri"/>
              <a:buNone/>
            </a:pPr>
            <a:r>
              <a:rPr b="0" i="0" lang="en" sz="1100" u="none" cap="none" strike="noStrike">
                <a:solidFill>
                  <a:srgbClr val="5A6B7A"/>
                </a:solidFill>
                <a:latin typeface="Calibri"/>
                <a:ea typeface="Calibri"/>
                <a:cs typeface="Calibri"/>
                <a:sym typeface="Calibri"/>
              </a:rPr>
              <a:t>Stops two teams reporting two rates</a:t>
            </a:r>
            <a:endParaRPr b="0" i="0" sz="1100" u="none" cap="none" strike="noStrike">
              <a:solidFill>
                <a:schemeClr val="dk1"/>
              </a:solidFill>
              <a:latin typeface="Calibri"/>
              <a:ea typeface="Calibri"/>
              <a:cs typeface="Calibri"/>
              <a:sym typeface="Calibri"/>
            </a:endParaRPr>
          </a:p>
        </p:txBody>
      </p:sp>
      <p:sp>
        <p:nvSpPr>
          <p:cNvPr id="248" name="Google Shape;248;p25"/>
          <p:cNvSpPr/>
          <p:nvPr/>
        </p:nvSpPr>
        <p:spPr>
          <a:xfrm>
            <a:off x="480060" y="3607308"/>
            <a:ext cx="8181594" cy="534924"/>
          </a:xfrm>
          <a:prstGeom prst="roundRect">
            <a:avLst>
              <a:gd fmla="val 10256" name="adj"/>
            </a:avLst>
          </a:prstGeom>
          <a:solidFill>
            <a:srgbClr val="F2F4F6"/>
          </a:solidFill>
          <a:ln cap="flat" cmpd="sng" w="12700">
            <a:solidFill>
              <a:srgbClr val="F2F4F6"/>
            </a:solidFill>
            <a:prstDash val="solid"/>
            <a:round/>
            <a:headEnd len="sm" w="sm" type="none"/>
            <a:tailEnd len="sm" w="sm" type="none"/>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249" name="Google Shape;249;p25"/>
          <p:cNvSpPr/>
          <p:nvPr/>
        </p:nvSpPr>
        <p:spPr>
          <a:xfrm>
            <a:off x="720090" y="3737610"/>
            <a:ext cx="20574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2303C"/>
              </a:buClr>
              <a:buSzPts val="1300"/>
              <a:buFont typeface="Cambria"/>
              <a:buNone/>
            </a:pPr>
            <a:r>
              <a:rPr b="1" i="0" lang="en" sz="1300" u="none" cap="none" strike="noStrike">
                <a:solidFill>
                  <a:srgbClr val="22303C"/>
                </a:solidFill>
                <a:latin typeface="Cambria"/>
                <a:ea typeface="Cambria"/>
                <a:cs typeface="Cambria"/>
                <a:sym typeface="Cambria"/>
              </a:rPr>
              <a:t>Query Patterns</a:t>
            </a:r>
            <a:endParaRPr b="0" i="0" sz="1300" u="none" cap="none" strike="noStrike">
              <a:solidFill>
                <a:schemeClr val="dk1"/>
              </a:solidFill>
              <a:latin typeface="Calibri"/>
              <a:ea typeface="Calibri"/>
              <a:cs typeface="Calibri"/>
              <a:sym typeface="Calibri"/>
            </a:endParaRPr>
          </a:p>
        </p:txBody>
      </p:sp>
      <p:sp>
        <p:nvSpPr>
          <p:cNvPr id="250" name="Google Shape;250;p25"/>
          <p:cNvSpPr/>
          <p:nvPr/>
        </p:nvSpPr>
        <p:spPr>
          <a:xfrm>
            <a:off x="2811780" y="3758184"/>
            <a:ext cx="685800" cy="24003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8A99A8"/>
              </a:buClr>
              <a:buSzPts val="1000"/>
              <a:buFont typeface="Consolas"/>
              <a:buNone/>
            </a:pPr>
            <a:r>
              <a:rPr b="0" i="0" lang="en" sz="1000" u="none" cap="none" strike="noStrike">
                <a:solidFill>
                  <a:srgbClr val="8A99A8"/>
                </a:solidFill>
                <a:latin typeface="Consolas"/>
                <a:ea typeface="Consolas"/>
                <a:cs typeface="Consolas"/>
                <a:sym typeface="Consolas"/>
              </a:rPr>
              <a:t>5 min</a:t>
            </a:r>
            <a:endParaRPr b="0" i="0" sz="1000" u="none" cap="none" strike="noStrike">
              <a:solidFill>
                <a:schemeClr val="dk1"/>
              </a:solidFill>
              <a:latin typeface="Calibri"/>
              <a:ea typeface="Calibri"/>
              <a:cs typeface="Calibri"/>
              <a:sym typeface="Calibri"/>
            </a:endParaRPr>
          </a:p>
        </p:txBody>
      </p:sp>
      <p:sp>
        <p:nvSpPr>
          <p:cNvPr id="251" name="Google Shape;251;p25"/>
          <p:cNvSpPr/>
          <p:nvPr/>
        </p:nvSpPr>
        <p:spPr>
          <a:xfrm>
            <a:off x="3634740" y="3751326"/>
            <a:ext cx="493776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A6B7A"/>
              </a:buClr>
              <a:buSzPts val="1100"/>
              <a:buFont typeface="Calibri"/>
              <a:buNone/>
            </a:pPr>
            <a:r>
              <a:rPr b="0" i="0" lang="en" sz="1100" u="none" cap="none" strike="noStrike">
                <a:solidFill>
                  <a:srgbClr val="5A6B7A"/>
                </a:solidFill>
                <a:latin typeface="Calibri"/>
                <a:ea typeface="Calibri"/>
                <a:cs typeface="Calibri"/>
                <a:sym typeface="Calibri"/>
              </a:rPr>
              <a:t>Saves the next person the same join</a:t>
            </a:r>
            <a:endParaRPr b="0" i="0" sz="1100" u="none" cap="none" strike="noStrike">
              <a:solidFill>
                <a:schemeClr val="dk1"/>
              </a:solidFill>
              <a:latin typeface="Calibri"/>
              <a:ea typeface="Calibri"/>
              <a:cs typeface="Calibri"/>
              <a:sym typeface="Calibri"/>
            </a:endParaRPr>
          </a:p>
        </p:txBody>
      </p:sp>
      <p:sp>
        <p:nvSpPr>
          <p:cNvPr id="252" name="Google Shape;252;p25"/>
          <p:cNvSpPr/>
          <p:nvPr/>
        </p:nvSpPr>
        <p:spPr>
          <a:xfrm>
            <a:off x="480060" y="4217670"/>
            <a:ext cx="8181594" cy="342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2303C"/>
              </a:buClr>
              <a:buSzPts val="1400"/>
              <a:buFont typeface="Cambria"/>
              <a:buNone/>
            </a:pPr>
            <a:r>
              <a:rPr b="1" i="1" lang="en" sz="1400" u="none" cap="none" strike="noStrike">
                <a:solidFill>
                  <a:srgbClr val="22303C"/>
                </a:solidFill>
                <a:latin typeface="Cambria"/>
                <a:ea typeface="Cambria"/>
                <a:cs typeface="Cambria"/>
                <a:sym typeface="Cambria"/>
              </a:rPr>
              <a:t>What would you tell a new analyst in week one so they don't embarrass themselves?</a:t>
            </a:r>
            <a:endParaRPr b="0" i="0" sz="1400" u="none" cap="none" strike="noStrike">
              <a:solidFill>
                <a:schemeClr val="dk1"/>
              </a:solidFill>
              <a:latin typeface="Calibri"/>
              <a:ea typeface="Calibri"/>
              <a:cs typeface="Calibri"/>
              <a:sym typeface="Calibri"/>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7" name="Shape 257"/>
        <p:cNvGrpSpPr/>
        <p:nvPr/>
      </p:nvGrpSpPr>
      <p:grpSpPr>
        <a:xfrm>
          <a:off x="0" y="0"/>
          <a:ext cx="0" cy="0"/>
          <a:chOff x="0" y="0"/>
          <a:chExt cx="0" cy="0"/>
        </a:xfrm>
      </p:grpSpPr>
      <p:sp>
        <p:nvSpPr>
          <p:cNvPr id="258" name="Google Shape;258;p26"/>
          <p:cNvSpPr/>
          <p:nvPr/>
        </p:nvSpPr>
        <p:spPr>
          <a:xfrm>
            <a:off x="480060" y="192024"/>
            <a:ext cx="8181594" cy="2057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663C"/>
              </a:buClr>
              <a:buSzPts val="800"/>
              <a:buFont typeface="Calibri"/>
              <a:buNone/>
            </a:pPr>
            <a:r>
              <a:rPr b="1" i="0" lang="en" sz="800" u="none" cap="none" strike="noStrike">
                <a:solidFill>
                  <a:srgbClr val="E8663C"/>
                </a:solidFill>
                <a:latin typeface="Calibri"/>
                <a:ea typeface="Calibri"/>
                <a:cs typeface="Calibri"/>
                <a:sym typeface="Calibri"/>
              </a:rPr>
              <a:t>THE DISCIPLINE</a:t>
            </a:r>
            <a:endParaRPr b="0" i="0" sz="800" u="none" cap="none" strike="noStrike">
              <a:solidFill>
                <a:schemeClr val="dk1"/>
              </a:solidFill>
              <a:latin typeface="Calibri"/>
              <a:ea typeface="Calibri"/>
              <a:cs typeface="Calibri"/>
              <a:sym typeface="Calibri"/>
            </a:endParaRPr>
          </a:p>
        </p:txBody>
      </p:sp>
      <p:sp>
        <p:nvSpPr>
          <p:cNvPr id="259" name="Google Shape;259;p26"/>
          <p:cNvSpPr/>
          <p:nvPr/>
        </p:nvSpPr>
        <p:spPr>
          <a:xfrm>
            <a:off x="480060" y="342900"/>
            <a:ext cx="8181594" cy="6172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2303C"/>
              </a:buClr>
              <a:buSzPts val="2600"/>
              <a:buFont typeface="Cambria"/>
              <a:buNone/>
            </a:pPr>
            <a:r>
              <a:rPr b="1" i="0" lang="en" sz="2600" u="none" cap="none" strike="noStrike">
                <a:solidFill>
                  <a:srgbClr val="22303C"/>
                </a:solidFill>
                <a:latin typeface="Cambria"/>
                <a:ea typeface="Cambria"/>
                <a:cs typeface="Cambria"/>
                <a:sym typeface="Cambria"/>
              </a:rPr>
              <a:t>Write the evals before you write the skill</a:t>
            </a:r>
            <a:endParaRPr b="0" i="0" sz="2600" u="none" cap="none" strike="noStrike">
              <a:solidFill>
                <a:schemeClr val="dk1"/>
              </a:solidFill>
              <a:latin typeface="Calibri"/>
              <a:ea typeface="Calibri"/>
              <a:cs typeface="Calibri"/>
              <a:sym typeface="Calibri"/>
            </a:endParaRPr>
          </a:p>
        </p:txBody>
      </p:sp>
      <p:sp>
        <p:nvSpPr>
          <p:cNvPr id="260" name="Google Shape;260;p26"/>
          <p:cNvSpPr/>
          <p:nvPr/>
        </p:nvSpPr>
        <p:spPr>
          <a:xfrm>
            <a:off x="480060" y="1028700"/>
            <a:ext cx="8181594"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A6B7A"/>
              </a:buClr>
              <a:buSzPts val="1100"/>
              <a:buFont typeface="Calibri"/>
              <a:buNone/>
            </a:pPr>
            <a:r>
              <a:rPr b="0" i="0" lang="en" sz="1100" u="none" cap="none" strike="noStrike">
                <a:solidFill>
                  <a:srgbClr val="5A6B7A"/>
                </a:solidFill>
                <a:latin typeface="Calibri"/>
                <a:ea typeface="Calibri"/>
                <a:cs typeface="Calibri"/>
                <a:sym typeface="Calibri"/>
              </a:rPr>
              <a:t>Same 29 questions, run twice. Skills off, then on. The difference is the measurement.</a:t>
            </a:r>
            <a:endParaRPr b="0" i="0" sz="1100" u="none" cap="none" strike="noStrike">
              <a:solidFill>
                <a:schemeClr val="dk1"/>
              </a:solidFill>
              <a:latin typeface="Calibri"/>
              <a:ea typeface="Calibri"/>
              <a:cs typeface="Calibri"/>
              <a:sym typeface="Calibri"/>
            </a:endParaRPr>
          </a:p>
        </p:txBody>
      </p:sp>
      <p:sp>
        <p:nvSpPr>
          <p:cNvPr id="261" name="Google Shape;261;p26"/>
          <p:cNvSpPr/>
          <p:nvPr/>
        </p:nvSpPr>
        <p:spPr>
          <a:xfrm>
            <a:off x="480060" y="1508760"/>
            <a:ext cx="2640330" cy="1577340"/>
          </a:xfrm>
          <a:prstGeom prst="roundRect">
            <a:avLst>
              <a:gd fmla="val 3478" name="adj"/>
            </a:avLst>
          </a:prstGeom>
          <a:solidFill>
            <a:srgbClr val="F2F4F6"/>
          </a:solidFill>
          <a:ln cap="flat" cmpd="sng" w="12700">
            <a:solidFill>
              <a:srgbClr val="F2F4F6"/>
            </a:solidFill>
            <a:prstDash val="solid"/>
            <a:round/>
            <a:headEnd len="sm" w="sm" type="none"/>
            <a:tailEnd len="sm" w="sm" type="none"/>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262" name="Google Shape;262;p26"/>
          <p:cNvSpPr/>
          <p:nvPr/>
        </p:nvSpPr>
        <p:spPr>
          <a:xfrm>
            <a:off x="685800" y="1645920"/>
            <a:ext cx="411480" cy="37719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663C"/>
              </a:buClr>
              <a:buSzPts val="2300"/>
              <a:buFont typeface="Cambria"/>
              <a:buNone/>
            </a:pPr>
            <a:r>
              <a:rPr b="1" i="0" lang="en" sz="2300" u="none" cap="none" strike="noStrike">
                <a:solidFill>
                  <a:srgbClr val="E8663C"/>
                </a:solidFill>
                <a:latin typeface="Cambria"/>
                <a:ea typeface="Cambria"/>
                <a:cs typeface="Cambria"/>
                <a:sym typeface="Cambria"/>
              </a:rPr>
              <a:t>1</a:t>
            </a:r>
            <a:endParaRPr b="0" i="0" sz="2300" u="none" cap="none" strike="noStrike">
              <a:solidFill>
                <a:schemeClr val="dk1"/>
              </a:solidFill>
              <a:latin typeface="Calibri"/>
              <a:ea typeface="Calibri"/>
              <a:cs typeface="Calibri"/>
              <a:sym typeface="Calibri"/>
            </a:endParaRPr>
          </a:p>
        </p:txBody>
      </p:sp>
      <p:sp>
        <p:nvSpPr>
          <p:cNvPr id="263" name="Google Shape;263;p26"/>
          <p:cNvSpPr/>
          <p:nvPr/>
        </p:nvSpPr>
        <p:spPr>
          <a:xfrm>
            <a:off x="685800" y="2057400"/>
            <a:ext cx="222885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2303C"/>
              </a:buClr>
              <a:buSzPts val="1300"/>
              <a:buFont typeface="Cambria"/>
              <a:buNone/>
            </a:pPr>
            <a:r>
              <a:rPr b="1" i="0" lang="en" sz="1300" u="none" cap="none" strike="noStrike">
                <a:solidFill>
                  <a:srgbClr val="22303C"/>
                </a:solidFill>
                <a:latin typeface="Cambria"/>
                <a:ea typeface="Cambria"/>
                <a:cs typeface="Cambria"/>
                <a:sym typeface="Cambria"/>
              </a:rPr>
              <a:t>Pin ground truth</a:t>
            </a:r>
            <a:endParaRPr b="0" i="0" sz="1300" u="none" cap="none" strike="noStrike">
              <a:solidFill>
                <a:schemeClr val="dk1"/>
              </a:solidFill>
              <a:latin typeface="Calibri"/>
              <a:ea typeface="Calibri"/>
              <a:cs typeface="Calibri"/>
              <a:sym typeface="Calibri"/>
            </a:endParaRPr>
          </a:p>
        </p:txBody>
      </p:sp>
      <p:sp>
        <p:nvSpPr>
          <p:cNvPr id="264" name="Google Shape;264;p26"/>
          <p:cNvSpPr/>
          <p:nvPr/>
        </p:nvSpPr>
        <p:spPr>
          <a:xfrm>
            <a:off x="685800" y="2366010"/>
            <a:ext cx="2228850" cy="58293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A6B7A"/>
              </a:buClr>
              <a:buSzPts val="1000"/>
              <a:buFont typeface="Calibri"/>
              <a:buNone/>
            </a:pPr>
            <a:r>
              <a:rPr b="0" i="0" lang="en" sz="1000" u="none" cap="none" strike="noStrike">
                <a:solidFill>
                  <a:srgbClr val="5A6B7A"/>
                </a:solidFill>
                <a:latin typeface="Calibri"/>
                <a:ea typeface="Calibri"/>
                <a:cs typeface="Calibri"/>
                <a:sym typeface="Calibri"/>
              </a:rPr>
              <a:t>Generated from the database, never hand-typed</a:t>
            </a:r>
            <a:endParaRPr b="0" i="0" sz="1000" u="none" cap="none" strike="noStrike">
              <a:solidFill>
                <a:schemeClr val="dk1"/>
              </a:solidFill>
              <a:latin typeface="Calibri"/>
              <a:ea typeface="Calibri"/>
              <a:cs typeface="Calibri"/>
              <a:sym typeface="Calibri"/>
            </a:endParaRPr>
          </a:p>
        </p:txBody>
      </p:sp>
      <p:sp>
        <p:nvSpPr>
          <p:cNvPr id="265" name="Google Shape;265;p26"/>
          <p:cNvSpPr/>
          <p:nvPr/>
        </p:nvSpPr>
        <p:spPr>
          <a:xfrm>
            <a:off x="3408426" y="1508760"/>
            <a:ext cx="2640330" cy="1577340"/>
          </a:xfrm>
          <a:prstGeom prst="roundRect">
            <a:avLst>
              <a:gd fmla="val 3478" name="adj"/>
            </a:avLst>
          </a:prstGeom>
          <a:solidFill>
            <a:srgbClr val="F2F4F6"/>
          </a:solidFill>
          <a:ln cap="flat" cmpd="sng" w="12700">
            <a:solidFill>
              <a:srgbClr val="F2F4F6"/>
            </a:solidFill>
            <a:prstDash val="solid"/>
            <a:round/>
            <a:headEnd len="sm" w="sm" type="none"/>
            <a:tailEnd len="sm" w="sm" type="none"/>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266" name="Google Shape;266;p26"/>
          <p:cNvSpPr/>
          <p:nvPr/>
        </p:nvSpPr>
        <p:spPr>
          <a:xfrm>
            <a:off x="3614166" y="1645920"/>
            <a:ext cx="411480" cy="37719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663C"/>
              </a:buClr>
              <a:buSzPts val="2300"/>
              <a:buFont typeface="Cambria"/>
              <a:buNone/>
            </a:pPr>
            <a:r>
              <a:rPr b="1" i="0" lang="en" sz="2300" u="none" cap="none" strike="noStrike">
                <a:solidFill>
                  <a:srgbClr val="E8663C"/>
                </a:solidFill>
                <a:latin typeface="Cambria"/>
                <a:ea typeface="Cambria"/>
                <a:cs typeface="Cambria"/>
                <a:sym typeface="Cambria"/>
              </a:rPr>
              <a:t>2</a:t>
            </a:r>
            <a:endParaRPr b="0" i="0" sz="2300" u="none" cap="none" strike="noStrike">
              <a:solidFill>
                <a:schemeClr val="dk1"/>
              </a:solidFill>
              <a:latin typeface="Calibri"/>
              <a:ea typeface="Calibri"/>
              <a:cs typeface="Calibri"/>
              <a:sym typeface="Calibri"/>
            </a:endParaRPr>
          </a:p>
        </p:txBody>
      </p:sp>
      <p:sp>
        <p:nvSpPr>
          <p:cNvPr id="267" name="Google Shape;267;p26"/>
          <p:cNvSpPr/>
          <p:nvPr/>
        </p:nvSpPr>
        <p:spPr>
          <a:xfrm>
            <a:off x="3614166" y="2057400"/>
            <a:ext cx="222885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2303C"/>
              </a:buClr>
              <a:buSzPts val="1300"/>
              <a:buFont typeface="Cambria"/>
              <a:buNone/>
            </a:pPr>
            <a:r>
              <a:rPr b="1" i="0" lang="en" sz="1300" u="none" cap="none" strike="noStrike">
                <a:solidFill>
                  <a:srgbClr val="22303C"/>
                </a:solidFill>
                <a:latin typeface="Cambria"/>
                <a:ea typeface="Cambria"/>
                <a:cs typeface="Cambria"/>
                <a:sym typeface="Cambria"/>
              </a:rPr>
              <a:t>Write negative tests</a:t>
            </a:r>
            <a:endParaRPr b="0" i="0" sz="1300" u="none" cap="none" strike="noStrike">
              <a:solidFill>
                <a:schemeClr val="dk1"/>
              </a:solidFill>
              <a:latin typeface="Calibri"/>
              <a:ea typeface="Calibri"/>
              <a:cs typeface="Calibri"/>
              <a:sym typeface="Calibri"/>
            </a:endParaRPr>
          </a:p>
        </p:txBody>
      </p:sp>
      <p:sp>
        <p:nvSpPr>
          <p:cNvPr id="268" name="Google Shape;268;p26"/>
          <p:cNvSpPr/>
          <p:nvPr/>
        </p:nvSpPr>
        <p:spPr>
          <a:xfrm>
            <a:off x="3614166" y="2366010"/>
            <a:ext cx="2228850" cy="58293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A6B7A"/>
              </a:buClr>
              <a:buSzPts val="1000"/>
              <a:buFont typeface="Calibri"/>
              <a:buNone/>
            </a:pPr>
            <a:r>
              <a:rPr b="0" i="0" lang="en" sz="1000" u="none" cap="none" strike="noStrike">
                <a:solidFill>
                  <a:srgbClr val="5A6B7A"/>
                </a:solidFill>
                <a:latin typeface="Calibri"/>
                <a:ea typeface="Calibri"/>
                <a:cs typeface="Calibri"/>
                <a:sym typeface="Calibri"/>
              </a:rPr>
              <a:t>Evals the skill should NOT change</a:t>
            </a:r>
            <a:endParaRPr b="0" i="0" sz="1000" u="none" cap="none" strike="noStrike">
              <a:solidFill>
                <a:schemeClr val="dk1"/>
              </a:solidFill>
              <a:latin typeface="Calibri"/>
              <a:ea typeface="Calibri"/>
              <a:cs typeface="Calibri"/>
              <a:sym typeface="Calibri"/>
            </a:endParaRPr>
          </a:p>
        </p:txBody>
      </p:sp>
      <p:sp>
        <p:nvSpPr>
          <p:cNvPr id="269" name="Google Shape;269;p26"/>
          <p:cNvSpPr/>
          <p:nvPr/>
        </p:nvSpPr>
        <p:spPr>
          <a:xfrm>
            <a:off x="6336792" y="1508760"/>
            <a:ext cx="2640330" cy="1577340"/>
          </a:xfrm>
          <a:prstGeom prst="roundRect">
            <a:avLst>
              <a:gd fmla="val 3478" name="adj"/>
            </a:avLst>
          </a:prstGeom>
          <a:solidFill>
            <a:srgbClr val="F2F4F6"/>
          </a:solidFill>
          <a:ln cap="flat" cmpd="sng" w="12700">
            <a:solidFill>
              <a:srgbClr val="F2F4F6"/>
            </a:solidFill>
            <a:prstDash val="solid"/>
            <a:round/>
            <a:headEnd len="sm" w="sm" type="none"/>
            <a:tailEnd len="sm" w="sm" type="none"/>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270" name="Google Shape;270;p26"/>
          <p:cNvSpPr/>
          <p:nvPr/>
        </p:nvSpPr>
        <p:spPr>
          <a:xfrm>
            <a:off x="6542532" y="1645920"/>
            <a:ext cx="411480" cy="37719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663C"/>
              </a:buClr>
              <a:buSzPts val="2300"/>
              <a:buFont typeface="Cambria"/>
              <a:buNone/>
            </a:pPr>
            <a:r>
              <a:rPr b="1" i="0" lang="en" sz="2300" u="none" cap="none" strike="noStrike">
                <a:solidFill>
                  <a:srgbClr val="E8663C"/>
                </a:solidFill>
                <a:latin typeface="Cambria"/>
                <a:ea typeface="Cambria"/>
                <a:cs typeface="Cambria"/>
                <a:sym typeface="Cambria"/>
              </a:rPr>
              <a:t>3</a:t>
            </a:r>
            <a:endParaRPr b="0" i="0" sz="2300" u="none" cap="none" strike="noStrike">
              <a:solidFill>
                <a:schemeClr val="dk1"/>
              </a:solidFill>
              <a:latin typeface="Calibri"/>
              <a:ea typeface="Calibri"/>
              <a:cs typeface="Calibri"/>
              <a:sym typeface="Calibri"/>
            </a:endParaRPr>
          </a:p>
        </p:txBody>
      </p:sp>
      <p:sp>
        <p:nvSpPr>
          <p:cNvPr id="271" name="Google Shape;271;p26"/>
          <p:cNvSpPr/>
          <p:nvPr/>
        </p:nvSpPr>
        <p:spPr>
          <a:xfrm>
            <a:off x="6542532" y="2057400"/>
            <a:ext cx="222885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2303C"/>
              </a:buClr>
              <a:buSzPts val="1300"/>
              <a:buFont typeface="Cambria"/>
              <a:buNone/>
            </a:pPr>
            <a:r>
              <a:rPr b="1" i="0" lang="en" sz="1300" u="none" cap="none" strike="noStrike">
                <a:solidFill>
                  <a:srgbClr val="22303C"/>
                </a:solidFill>
                <a:latin typeface="Cambria"/>
                <a:ea typeface="Cambria"/>
                <a:cs typeface="Cambria"/>
                <a:sym typeface="Cambria"/>
              </a:rPr>
              <a:t>Run the ablation</a:t>
            </a:r>
            <a:endParaRPr b="0" i="0" sz="1300" u="none" cap="none" strike="noStrike">
              <a:solidFill>
                <a:schemeClr val="dk1"/>
              </a:solidFill>
              <a:latin typeface="Calibri"/>
              <a:ea typeface="Calibri"/>
              <a:cs typeface="Calibri"/>
              <a:sym typeface="Calibri"/>
            </a:endParaRPr>
          </a:p>
        </p:txBody>
      </p:sp>
      <p:sp>
        <p:nvSpPr>
          <p:cNvPr id="272" name="Google Shape;272;p26"/>
          <p:cNvSpPr/>
          <p:nvPr/>
        </p:nvSpPr>
        <p:spPr>
          <a:xfrm>
            <a:off x="6542532" y="2366010"/>
            <a:ext cx="2228850" cy="58293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A6B7A"/>
              </a:buClr>
              <a:buSzPts val="1000"/>
              <a:buFont typeface="Calibri"/>
              <a:buNone/>
            </a:pPr>
            <a:r>
              <a:rPr b="0" i="0" lang="en" sz="1000" u="none" cap="none" strike="noStrike">
                <a:solidFill>
                  <a:srgbClr val="5A6B7A"/>
                </a:solidFill>
                <a:latin typeface="Calibri"/>
                <a:ea typeface="Calibri"/>
                <a:cs typeface="Calibri"/>
                <a:sym typeface="Calibri"/>
              </a:rPr>
              <a:t>Baseline, then skills, then compare</a:t>
            </a:r>
            <a:endParaRPr b="0" i="0" sz="1000" u="none" cap="none" strike="noStrike">
              <a:solidFill>
                <a:schemeClr val="dk1"/>
              </a:solidFill>
              <a:latin typeface="Calibri"/>
              <a:ea typeface="Calibri"/>
              <a:cs typeface="Calibri"/>
              <a:sym typeface="Calibri"/>
            </a:endParaRPr>
          </a:p>
        </p:txBody>
      </p:sp>
      <p:sp>
        <p:nvSpPr>
          <p:cNvPr id="273" name="Google Shape;273;p26"/>
          <p:cNvSpPr/>
          <p:nvPr/>
        </p:nvSpPr>
        <p:spPr>
          <a:xfrm>
            <a:off x="480060" y="3291840"/>
            <a:ext cx="8181594" cy="925830"/>
          </a:xfrm>
          <a:prstGeom prst="roundRect">
            <a:avLst>
              <a:gd fmla="val 5926" name="adj"/>
            </a:avLst>
          </a:prstGeom>
          <a:solidFill>
            <a:srgbClr val="E6F2EE"/>
          </a:solidFill>
          <a:ln cap="flat" cmpd="sng" w="12700">
            <a:solidFill>
              <a:srgbClr val="E6F2EE"/>
            </a:solidFill>
            <a:prstDash val="solid"/>
            <a:round/>
            <a:headEnd len="sm" w="sm" type="none"/>
            <a:tailEnd len="sm" w="sm" type="none"/>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274" name="Google Shape;274;p26"/>
          <p:cNvSpPr/>
          <p:nvPr/>
        </p:nvSpPr>
        <p:spPr>
          <a:xfrm>
            <a:off x="754380" y="3531870"/>
            <a:ext cx="7632954" cy="4800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F5F4C"/>
              </a:buClr>
              <a:buSzPts val="1100"/>
              <a:buFont typeface="Calibri"/>
              <a:buNone/>
            </a:pPr>
            <a:r>
              <a:rPr b="0" i="0" lang="en" sz="1100" u="none" cap="none" strike="noStrike">
                <a:solidFill>
                  <a:srgbClr val="1F5F4C"/>
                </a:solidFill>
                <a:latin typeface="Calibri"/>
                <a:ea typeface="Calibri"/>
                <a:cs typeface="Calibri"/>
                <a:sym typeface="Calibri"/>
              </a:rPr>
              <a:t>A skill that fires on everything is indistinguishable from a skill that works. 21% of our evals test that the skill stays quiet.</a:t>
            </a:r>
            <a:endParaRPr b="0" i="0" sz="1100" u="none" cap="none" strike="noStrike">
              <a:solidFill>
                <a:schemeClr val="dk1"/>
              </a:solidFill>
              <a:latin typeface="Calibri"/>
              <a:ea typeface="Calibri"/>
              <a:cs typeface="Calibri"/>
              <a:sym typeface="Calibri"/>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22303C"/>
        </a:solidFill>
      </p:bgPr>
    </p:bg>
    <p:spTree>
      <p:nvGrpSpPr>
        <p:cNvPr id="279" name="Shape 279"/>
        <p:cNvGrpSpPr/>
        <p:nvPr/>
      </p:nvGrpSpPr>
      <p:grpSpPr>
        <a:xfrm>
          <a:off x="0" y="0"/>
          <a:ext cx="0" cy="0"/>
          <a:chOff x="0" y="0"/>
          <a:chExt cx="0" cy="0"/>
        </a:xfrm>
      </p:grpSpPr>
      <p:sp>
        <p:nvSpPr>
          <p:cNvPr id="280" name="Google Shape;280;p27"/>
          <p:cNvSpPr/>
          <p:nvPr/>
        </p:nvSpPr>
        <p:spPr>
          <a:xfrm>
            <a:off x="480060" y="192024"/>
            <a:ext cx="8181594" cy="2057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663C"/>
              </a:buClr>
              <a:buSzPts val="800"/>
              <a:buFont typeface="Calibri"/>
              <a:buNone/>
            </a:pPr>
            <a:r>
              <a:rPr b="1" i="0" lang="en" sz="800" u="none" cap="none" strike="noStrike">
                <a:solidFill>
                  <a:srgbClr val="E8663C"/>
                </a:solidFill>
                <a:latin typeface="Calibri"/>
                <a:ea typeface="Calibri"/>
                <a:cs typeface="Calibri"/>
                <a:sym typeface="Calibri"/>
              </a:rPr>
              <a:t>WHAT WE MEASURED</a:t>
            </a:r>
            <a:endParaRPr b="0" i="0" sz="800" u="none" cap="none" strike="noStrike">
              <a:solidFill>
                <a:schemeClr val="dk1"/>
              </a:solidFill>
              <a:latin typeface="Calibri"/>
              <a:ea typeface="Calibri"/>
              <a:cs typeface="Calibri"/>
              <a:sym typeface="Calibri"/>
            </a:endParaRPr>
          </a:p>
        </p:txBody>
      </p:sp>
      <p:sp>
        <p:nvSpPr>
          <p:cNvPr id="281" name="Google Shape;281;p27"/>
          <p:cNvSpPr/>
          <p:nvPr/>
        </p:nvSpPr>
        <p:spPr>
          <a:xfrm>
            <a:off x="480060" y="342900"/>
            <a:ext cx="8181594" cy="6172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2600"/>
              <a:buFont typeface="Cambria"/>
              <a:buNone/>
            </a:pPr>
            <a:r>
              <a:rPr b="1" i="0" lang="en" sz="2600" u="none" cap="none" strike="noStrike">
                <a:solidFill>
                  <a:srgbClr val="FFFFFF"/>
                </a:solidFill>
                <a:latin typeface="Cambria"/>
                <a:ea typeface="Cambria"/>
                <a:cs typeface="Cambria"/>
                <a:sym typeface="Cambria"/>
              </a:rPr>
              <a:t>56% to 84%, across every slice</a:t>
            </a:r>
            <a:endParaRPr b="0" i="0" sz="2600" u="none" cap="none" strike="noStrike">
              <a:solidFill>
                <a:schemeClr val="dk1"/>
              </a:solidFill>
              <a:latin typeface="Calibri"/>
              <a:ea typeface="Calibri"/>
              <a:cs typeface="Calibri"/>
              <a:sym typeface="Calibri"/>
            </a:endParaRPr>
          </a:p>
        </p:txBody>
      </p:sp>
      <p:sp>
        <p:nvSpPr>
          <p:cNvPr id="282" name="Google Shape;282;p27"/>
          <p:cNvSpPr/>
          <p:nvPr/>
        </p:nvSpPr>
        <p:spPr>
          <a:xfrm>
            <a:off x="480060" y="1200150"/>
            <a:ext cx="8181594" cy="411480"/>
          </a:xfrm>
          <a:prstGeom prst="roundRect">
            <a:avLst>
              <a:gd fmla="val 13333" name="adj"/>
            </a:avLst>
          </a:prstGeom>
          <a:solidFill>
            <a:srgbClr val="2E3E4C"/>
          </a:solidFill>
          <a:ln cap="flat" cmpd="sng" w="12700">
            <a:solidFill>
              <a:srgbClr val="2E3E4C"/>
            </a:solidFill>
            <a:prstDash val="solid"/>
            <a:round/>
            <a:headEnd len="sm" w="sm" type="none"/>
            <a:tailEnd len="sm" w="sm" type="none"/>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283" name="Google Shape;283;p27"/>
          <p:cNvSpPr/>
          <p:nvPr/>
        </p:nvSpPr>
        <p:spPr>
          <a:xfrm>
            <a:off x="720090" y="1289304"/>
            <a:ext cx="3566160" cy="24003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BD5DD"/>
              </a:buClr>
              <a:buSzPts val="1100"/>
              <a:buFont typeface="Consolas"/>
              <a:buNone/>
            </a:pPr>
            <a:r>
              <a:rPr b="0" i="0" lang="en" sz="1100" u="none" cap="none" strike="noStrike">
                <a:solidFill>
                  <a:srgbClr val="CBD5DD"/>
                </a:solidFill>
                <a:latin typeface="Consolas"/>
                <a:ea typeface="Consolas"/>
                <a:cs typeface="Consolas"/>
                <a:sym typeface="Consolas"/>
              </a:rPr>
              <a:t>uncertainty-reporting</a:t>
            </a:r>
            <a:endParaRPr b="0" i="0" sz="1100" u="none" cap="none" strike="noStrike">
              <a:solidFill>
                <a:schemeClr val="dk1"/>
              </a:solidFill>
              <a:latin typeface="Calibri"/>
              <a:ea typeface="Calibri"/>
              <a:cs typeface="Calibri"/>
              <a:sym typeface="Calibri"/>
            </a:endParaRPr>
          </a:p>
        </p:txBody>
      </p:sp>
      <p:sp>
        <p:nvSpPr>
          <p:cNvPr id="284" name="Google Shape;284;p27"/>
          <p:cNvSpPr/>
          <p:nvPr/>
        </p:nvSpPr>
        <p:spPr>
          <a:xfrm>
            <a:off x="4594860" y="1289304"/>
            <a:ext cx="960120" cy="24003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8A99A8"/>
              </a:buClr>
              <a:buSzPts val="1100"/>
              <a:buFont typeface="Calibri"/>
              <a:buNone/>
            </a:pPr>
            <a:r>
              <a:rPr b="0" i="0" lang="en" sz="1100" u="none" cap="none" strike="noStrike">
                <a:solidFill>
                  <a:srgbClr val="8A99A8"/>
                </a:solidFill>
                <a:latin typeface="Calibri"/>
                <a:ea typeface="Calibri"/>
                <a:cs typeface="Calibri"/>
                <a:sym typeface="Calibri"/>
              </a:rPr>
              <a:t>43%</a:t>
            </a:r>
            <a:endParaRPr b="0" i="0" sz="1100" u="none" cap="none" strike="noStrike">
              <a:solidFill>
                <a:schemeClr val="dk1"/>
              </a:solidFill>
              <a:latin typeface="Calibri"/>
              <a:ea typeface="Calibri"/>
              <a:cs typeface="Calibri"/>
              <a:sym typeface="Calibri"/>
            </a:endParaRPr>
          </a:p>
        </p:txBody>
      </p:sp>
      <p:sp>
        <p:nvSpPr>
          <p:cNvPr id="285" name="Google Shape;285;p27"/>
          <p:cNvSpPr/>
          <p:nvPr/>
        </p:nvSpPr>
        <p:spPr>
          <a:xfrm>
            <a:off x="5760720" y="1289304"/>
            <a:ext cx="960120" cy="24003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FFFFFF"/>
              </a:buClr>
              <a:buSzPts val="1100"/>
              <a:buFont typeface="Calibri"/>
              <a:buNone/>
            </a:pPr>
            <a:r>
              <a:rPr b="0" i="0" lang="en" sz="1100" u="none" cap="none" strike="noStrike">
                <a:solidFill>
                  <a:srgbClr val="FFFFFF"/>
                </a:solidFill>
                <a:latin typeface="Calibri"/>
                <a:ea typeface="Calibri"/>
                <a:cs typeface="Calibri"/>
                <a:sym typeface="Calibri"/>
              </a:rPr>
              <a:t>93%</a:t>
            </a:r>
            <a:endParaRPr b="0" i="0" sz="1100" u="none" cap="none" strike="noStrike">
              <a:solidFill>
                <a:schemeClr val="dk1"/>
              </a:solidFill>
              <a:latin typeface="Calibri"/>
              <a:ea typeface="Calibri"/>
              <a:cs typeface="Calibri"/>
              <a:sym typeface="Calibri"/>
            </a:endParaRPr>
          </a:p>
        </p:txBody>
      </p:sp>
      <p:sp>
        <p:nvSpPr>
          <p:cNvPr id="286" name="Google Shape;286;p27"/>
          <p:cNvSpPr/>
          <p:nvPr/>
        </p:nvSpPr>
        <p:spPr>
          <a:xfrm>
            <a:off x="7063740" y="1282446"/>
            <a:ext cx="1508760" cy="260604"/>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2D8A72"/>
              </a:buClr>
              <a:buSzPts val="1200"/>
              <a:buFont typeface="Cambria"/>
              <a:buNone/>
            </a:pPr>
            <a:r>
              <a:rPr b="1" i="0" lang="en" sz="1200" u="none" cap="none" strike="noStrike">
                <a:solidFill>
                  <a:srgbClr val="2D8A72"/>
                </a:solidFill>
                <a:latin typeface="Cambria"/>
                <a:ea typeface="Cambria"/>
                <a:cs typeface="Cambria"/>
                <a:sym typeface="Cambria"/>
              </a:rPr>
              <a:t>+50</a:t>
            </a:r>
            <a:endParaRPr b="0" i="0" sz="1200" u="none" cap="none" strike="noStrike">
              <a:solidFill>
                <a:schemeClr val="dk1"/>
              </a:solidFill>
              <a:latin typeface="Calibri"/>
              <a:ea typeface="Calibri"/>
              <a:cs typeface="Calibri"/>
              <a:sym typeface="Calibri"/>
            </a:endParaRPr>
          </a:p>
        </p:txBody>
      </p:sp>
      <p:sp>
        <p:nvSpPr>
          <p:cNvPr id="287" name="Google Shape;287;p27"/>
          <p:cNvSpPr/>
          <p:nvPr/>
        </p:nvSpPr>
        <p:spPr>
          <a:xfrm>
            <a:off x="480060" y="1652778"/>
            <a:ext cx="8181594" cy="411480"/>
          </a:xfrm>
          <a:prstGeom prst="roundRect">
            <a:avLst>
              <a:gd fmla="val 13333" name="adj"/>
            </a:avLst>
          </a:prstGeom>
          <a:solidFill>
            <a:srgbClr val="22303C"/>
          </a:solidFill>
          <a:ln cap="flat" cmpd="sng" w="12700">
            <a:solidFill>
              <a:srgbClr val="22303C"/>
            </a:solidFill>
            <a:prstDash val="solid"/>
            <a:round/>
            <a:headEnd len="sm" w="sm" type="none"/>
            <a:tailEnd len="sm" w="sm" type="none"/>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288" name="Google Shape;288;p27"/>
          <p:cNvSpPr/>
          <p:nvPr/>
        </p:nvSpPr>
        <p:spPr>
          <a:xfrm>
            <a:off x="720090" y="1741932"/>
            <a:ext cx="3566160" cy="24003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BD5DD"/>
              </a:buClr>
              <a:buSzPts val="1100"/>
              <a:buFont typeface="Consolas"/>
              <a:buNone/>
            </a:pPr>
            <a:r>
              <a:rPr b="0" i="0" lang="en" sz="1100" u="none" cap="none" strike="noStrike">
                <a:solidFill>
                  <a:srgbClr val="CBD5DD"/>
                </a:solidFill>
                <a:latin typeface="Consolas"/>
                <a:ea typeface="Consolas"/>
                <a:cs typeface="Consolas"/>
                <a:sym typeface="Consolas"/>
              </a:rPr>
              <a:t>provenance-footer</a:t>
            </a:r>
            <a:endParaRPr b="0" i="0" sz="1100" u="none" cap="none" strike="noStrike">
              <a:solidFill>
                <a:schemeClr val="dk1"/>
              </a:solidFill>
              <a:latin typeface="Calibri"/>
              <a:ea typeface="Calibri"/>
              <a:cs typeface="Calibri"/>
              <a:sym typeface="Calibri"/>
            </a:endParaRPr>
          </a:p>
        </p:txBody>
      </p:sp>
      <p:sp>
        <p:nvSpPr>
          <p:cNvPr id="289" name="Google Shape;289;p27"/>
          <p:cNvSpPr/>
          <p:nvPr/>
        </p:nvSpPr>
        <p:spPr>
          <a:xfrm>
            <a:off x="4594860" y="1741932"/>
            <a:ext cx="960120" cy="24003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8A99A8"/>
              </a:buClr>
              <a:buSzPts val="1100"/>
              <a:buFont typeface="Calibri"/>
              <a:buNone/>
            </a:pPr>
            <a:r>
              <a:rPr b="0" i="0" lang="en" sz="1100" u="none" cap="none" strike="noStrike">
                <a:solidFill>
                  <a:srgbClr val="8A99A8"/>
                </a:solidFill>
                <a:latin typeface="Calibri"/>
                <a:ea typeface="Calibri"/>
                <a:cs typeface="Calibri"/>
                <a:sym typeface="Calibri"/>
              </a:rPr>
              <a:t>39%</a:t>
            </a:r>
            <a:endParaRPr b="0" i="0" sz="1100" u="none" cap="none" strike="noStrike">
              <a:solidFill>
                <a:schemeClr val="dk1"/>
              </a:solidFill>
              <a:latin typeface="Calibri"/>
              <a:ea typeface="Calibri"/>
              <a:cs typeface="Calibri"/>
              <a:sym typeface="Calibri"/>
            </a:endParaRPr>
          </a:p>
        </p:txBody>
      </p:sp>
      <p:sp>
        <p:nvSpPr>
          <p:cNvPr id="290" name="Google Shape;290;p27"/>
          <p:cNvSpPr/>
          <p:nvPr/>
        </p:nvSpPr>
        <p:spPr>
          <a:xfrm>
            <a:off x="5760720" y="1741932"/>
            <a:ext cx="960120" cy="24003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FFFFFF"/>
              </a:buClr>
              <a:buSzPts val="1100"/>
              <a:buFont typeface="Calibri"/>
              <a:buNone/>
            </a:pPr>
            <a:r>
              <a:rPr b="0" i="0" lang="en" sz="1100" u="none" cap="none" strike="noStrike">
                <a:solidFill>
                  <a:srgbClr val="FFFFFF"/>
                </a:solidFill>
                <a:latin typeface="Calibri"/>
                <a:ea typeface="Calibri"/>
                <a:cs typeface="Calibri"/>
                <a:sym typeface="Calibri"/>
              </a:rPr>
              <a:t>82%</a:t>
            </a:r>
            <a:endParaRPr b="0" i="0" sz="1100" u="none" cap="none" strike="noStrike">
              <a:solidFill>
                <a:schemeClr val="dk1"/>
              </a:solidFill>
              <a:latin typeface="Calibri"/>
              <a:ea typeface="Calibri"/>
              <a:cs typeface="Calibri"/>
              <a:sym typeface="Calibri"/>
            </a:endParaRPr>
          </a:p>
        </p:txBody>
      </p:sp>
      <p:sp>
        <p:nvSpPr>
          <p:cNvPr id="291" name="Google Shape;291;p27"/>
          <p:cNvSpPr/>
          <p:nvPr/>
        </p:nvSpPr>
        <p:spPr>
          <a:xfrm>
            <a:off x="7063740" y="1735074"/>
            <a:ext cx="1508760" cy="260604"/>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2D8A72"/>
              </a:buClr>
              <a:buSzPts val="1200"/>
              <a:buFont typeface="Cambria"/>
              <a:buNone/>
            </a:pPr>
            <a:r>
              <a:rPr b="1" i="0" lang="en" sz="1200" u="none" cap="none" strike="noStrike">
                <a:solidFill>
                  <a:srgbClr val="2D8A72"/>
                </a:solidFill>
                <a:latin typeface="Cambria"/>
                <a:ea typeface="Cambria"/>
                <a:cs typeface="Cambria"/>
                <a:sym typeface="Cambria"/>
              </a:rPr>
              <a:t>+42</a:t>
            </a:r>
            <a:endParaRPr b="0" i="0" sz="1200" u="none" cap="none" strike="noStrike">
              <a:solidFill>
                <a:schemeClr val="dk1"/>
              </a:solidFill>
              <a:latin typeface="Calibri"/>
              <a:ea typeface="Calibri"/>
              <a:cs typeface="Calibri"/>
              <a:sym typeface="Calibri"/>
            </a:endParaRPr>
          </a:p>
        </p:txBody>
      </p:sp>
      <p:sp>
        <p:nvSpPr>
          <p:cNvPr id="292" name="Google Shape;292;p27"/>
          <p:cNvSpPr/>
          <p:nvPr/>
        </p:nvSpPr>
        <p:spPr>
          <a:xfrm>
            <a:off x="480060" y="2105406"/>
            <a:ext cx="8181594" cy="411480"/>
          </a:xfrm>
          <a:prstGeom prst="roundRect">
            <a:avLst>
              <a:gd fmla="val 13333" name="adj"/>
            </a:avLst>
          </a:prstGeom>
          <a:solidFill>
            <a:srgbClr val="2E3E4C"/>
          </a:solidFill>
          <a:ln cap="flat" cmpd="sng" w="12700">
            <a:solidFill>
              <a:srgbClr val="2E3E4C"/>
            </a:solidFill>
            <a:prstDash val="solid"/>
            <a:round/>
            <a:headEnd len="sm" w="sm" type="none"/>
            <a:tailEnd len="sm" w="sm" type="none"/>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293" name="Google Shape;293;p27"/>
          <p:cNvSpPr/>
          <p:nvPr/>
        </p:nvSpPr>
        <p:spPr>
          <a:xfrm>
            <a:off x="720090" y="2194560"/>
            <a:ext cx="3566160" cy="24003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BD5DD"/>
              </a:buClr>
              <a:buSzPts val="1100"/>
              <a:buFont typeface="Consolas"/>
              <a:buNone/>
            </a:pPr>
            <a:r>
              <a:rPr b="0" i="0" lang="en" sz="1100" u="none" cap="none" strike="noStrike">
                <a:solidFill>
                  <a:srgbClr val="CBD5DD"/>
                </a:solidFill>
                <a:latin typeface="Consolas"/>
                <a:ea typeface="Consolas"/>
                <a:cs typeface="Consolas"/>
                <a:sym typeface="Consolas"/>
              </a:rPr>
              <a:t>warehouse-navigation</a:t>
            </a:r>
            <a:endParaRPr b="0" i="0" sz="1100" u="none" cap="none" strike="noStrike">
              <a:solidFill>
                <a:schemeClr val="dk1"/>
              </a:solidFill>
              <a:latin typeface="Calibri"/>
              <a:ea typeface="Calibri"/>
              <a:cs typeface="Calibri"/>
              <a:sym typeface="Calibri"/>
            </a:endParaRPr>
          </a:p>
        </p:txBody>
      </p:sp>
      <p:sp>
        <p:nvSpPr>
          <p:cNvPr id="294" name="Google Shape;294;p27"/>
          <p:cNvSpPr/>
          <p:nvPr/>
        </p:nvSpPr>
        <p:spPr>
          <a:xfrm>
            <a:off x="4594860" y="2194560"/>
            <a:ext cx="960120" cy="24003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8A99A8"/>
              </a:buClr>
              <a:buSzPts val="1100"/>
              <a:buFont typeface="Calibri"/>
              <a:buNone/>
            </a:pPr>
            <a:r>
              <a:rPr b="0" i="0" lang="en" sz="1100" u="none" cap="none" strike="noStrike">
                <a:solidFill>
                  <a:srgbClr val="8A99A8"/>
                </a:solidFill>
                <a:latin typeface="Calibri"/>
                <a:ea typeface="Calibri"/>
                <a:cs typeface="Calibri"/>
                <a:sym typeface="Calibri"/>
              </a:rPr>
              <a:t>61%</a:t>
            </a:r>
            <a:endParaRPr b="0" i="0" sz="1100" u="none" cap="none" strike="noStrike">
              <a:solidFill>
                <a:schemeClr val="dk1"/>
              </a:solidFill>
              <a:latin typeface="Calibri"/>
              <a:ea typeface="Calibri"/>
              <a:cs typeface="Calibri"/>
              <a:sym typeface="Calibri"/>
            </a:endParaRPr>
          </a:p>
        </p:txBody>
      </p:sp>
      <p:sp>
        <p:nvSpPr>
          <p:cNvPr id="295" name="Google Shape;295;p27"/>
          <p:cNvSpPr/>
          <p:nvPr/>
        </p:nvSpPr>
        <p:spPr>
          <a:xfrm>
            <a:off x="5760720" y="2194560"/>
            <a:ext cx="960120" cy="24003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FFFFFF"/>
              </a:buClr>
              <a:buSzPts val="1100"/>
              <a:buFont typeface="Calibri"/>
              <a:buNone/>
            </a:pPr>
            <a:r>
              <a:rPr b="0" i="0" lang="en" sz="1100" u="none" cap="none" strike="noStrike">
                <a:solidFill>
                  <a:srgbClr val="FFFFFF"/>
                </a:solidFill>
                <a:latin typeface="Calibri"/>
                <a:ea typeface="Calibri"/>
                <a:cs typeface="Calibri"/>
                <a:sym typeface="Calibri"/>
              </a:rPr>
              <a:t>83%</a:t>
            </a:r>
            <a:endParaRPr b="0" i="0" sz="1100" u="none" cap="none" strike="noStrike">
              <a:solidFill>
                <a:schemeClr val="dk1"/>
              </a:solidFill>
              <a:latin typeface="Calibri"/>
              <a:ea typeface="Calibri"/>
              <a:cs typeface="Calibri"/>
              <a:sym typeface="Calibri"/>
            </a:endParaRPr>
          </a:p>
        </p:txBody>
      </p:sp>
      <p:sp>
        <p:nvSpPr>
          <p:cNvPr id="296" name="Google Shape;296;p27"/>
          <p:cNvSpPr/>
          <p:nvPr/>
        </p:nvSpPr>
        <p:spPr>
          <a:xfrm>
            <a:off x="7063740" y="2187702"/>
            <a:ext cx="1508760" cy="260604"/>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2D8A72"/>
              </a:buClr>
              <a:buSzPts val="1200"/>
              <a:buFont typeface="Cambria"/>
              <a:buNone/>
            </a:pPr>
            <a:r>
              <a:rPr b="1" i="0" lang="en" sz="1200" u="none" cap="none" strike="noStrike">
                <a:solidFill>
                  <a:srgbClr val="2D8A72"/>
                </a:solidFill>
                <a:latin typeface="Cambria"/>
                <a:ea typeface="Cambria"/>
                <a:cs typeface="Cambria"/>
                <a:sym typeface="Cambria"/>
              </a:rPr>
              <a:t>+23</a:t>
            </a:r>
            <a:endParaRPr b="0" i="0" sz="1200" u="none" cap="none" strike="noStrike">
              <a:solidFill>
                <a:schemeClr val="dk1"/>
              </a:solidFill>
              <a:latin typeface="Calibri"/>
              <a:ea typeface="Calibri"/>
              <a:cs typeface="Calibri"/>
              <a:sym typeface="Calibri"/>
            </a:endParaRPr>
          </a:p>
        </p:txBody>
      </p:sp>
      <p:sp>
        <p:nvSpPr>
          <p:cNvPr id="297" name="Google Shape;297;p27"/>
          <p:cNvSpPr/>
          <p:nvPr/>
        </p:nvSpPr>
        <p:spPr>
          <a:xfrm>
            <a:off x="480060" y="2558034"/>
            <a:ext cx="8181594" cy="411480"/>
          </a:xfrm>
          <a:prstGeom prst="roundRect">
            <a:avLst>
              <a:gd fmla="val 13333" name="adj"/>
            </a:avLst>
          </a:prstGeom>
          <a:solidFill>
            <a:srgbClr val="22303C"/>
          </a:solidFill>
          <a:ln cap="flat" cmpd="sng" w="12700">
            <a:solidFill>
              <a:srgbClr val="22303C"/>
            </a:solidFill>
            <a:prstDash val="solid"/>
            <a:round/>
            <a:headEnd len="sm" w="sm" type="none"/>
            <a:tailEnd len="sm" w="sm" type="none"/>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298" name="Google Shape;298;p27"/>
          <p:cNvSpPr/>
          <p:nvPr/>
        </p:nvSpPr>
        <p:spPr>
          <a:xfrm>
            <a:off x="720090" y="2647188"/>
            <a:ext cx="3566160" cy="24003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BD5DD"/>
              </a:buClr>
              <a:buSzPts val="1100"/>
              <a:buFont typeface="Consolas"/>
              <a:buNone/>
            </a:pPr>
            <a:r>
              <a:rPr b="0" i="0" lang="en" sz="1100" u="none" cap="none" strike="noStrike">
                <a:solidFill>
                  <a:srgbClr val="CBD5DD"/>
                </a:solidFill>
                <a:latin typeface="Consolas"/>
                <a:ea typeface="Consolas"/>
                <a:cs typeface="Consolas"/>
                <a:sym typeface="Consolas"/>
              </a:rPr>
              <a:t>question-intake</a:t>
            </a:r>
            <a:endParaRPr b="0" i="0" sz="1100" u="none" cap="none" strike="noStrike">
              <a:solidFill>
                <a:schemeClr val="dk1"/>
              </a:solidFill>
              <a:latin typeface="Calibri"/>
              <a:ea typeface="Calibri"/>
              <a:cs typeface="Calibri"/>
              <a:sym typeface="Calibri"/>
            </a:endParaRPr>
          </a:p>
        </p:txBody>
      </p:sp>
      <p:sp>
        <p:nvSpPr>
          <p:cNvPr id="299" name="Google Shape;299;p27"/>
          <p:cNvSpPr/>
          <p:nvPr/>
        </p:nvSpPr>
        <p:spPr>
          <a:xfrm>
            <a:off x="4594860" y="2647188"/>
            <a:ext cx="960120" cy="24003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8A99A8"/>
              </a:buClr>
              <a:buSzPts val="1100"/>
              <a:buFont typeface="Calibri"/>
              <a:buNone/>
            </a:pPr>
            <a:r>
              <a:rPr b="0" i="0" lang="en" sz="1100" u="none" cap="none" strike="noStrike">
                <a:solidFill>
                  <a:srgbClr val="8A99A8"/>
                </a:solidFill>
                <a:latin typeface="Calibri"/>
                <a:ea typeface="Calibri"/>
                <a:cs typeface="Calibri"/>
                <a:sym typeface="Calibri"/>
              </a:rPr>
              <a:t>61%</a:t>
            </a:r>
            <a:endParaRPr b="0" i="0" sz="1100" u="none" cap="none" strike="noStrike">
              <a:solidFill>
                <a:schemeClr val="dk1"/>
              </a:solidFill>
              <a:latin typeface="Calibri"/>
              <a:ea typeface="Calibri"/>
              <a:cs typeface="Calibri"/>
              <a:sym typeface="Calibri"/>
            </a:endParaRPr>
          </a:p>
        </p:txBody>
      </p:sp>
      <p:sp>
        <p:nvSpPr>
          <p:cNvPr id="300" name="Google Shape;300;p27"/>
          <p:cNvSpPr/>
          <p:nvPr/>
        </p:nvSpPr>
        <p:spPr>
          <a:xfrm>
            <a:off x="5760720" y="2647188"/>
            <a:ext cx="960120" cy="24003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FFFFFF"/>
              </a:buClr>
              <a:buSzPts val="1100"/>
              <a:buFont typeface="Calibri"/>
              <a:buNone/>
            </a:pPr>
            <a:r>
              <a:rPr b="0" i="0" lang="en" sz="1100" u="none" cap="none" strike="noStrike">
                <a:solidFill>
                  <a:srgbClr val="FFFFFF"/>
                </a:solidFill>
                <a:latin typeface="Calibri"/>
                <a:ea typeface="Calibri"/>
                <a:cs typeface="Calibri"/>
                <a:sym typeface="Calibri"/>
              </a:rPr>
              <a:t>82%</a:t>
            </a:r>
            <a:endParaRPr b="0" i="0" sz="1100" u="none" cap="none" strike="noStrike">
              <a:solidFill>
                <a:schemeClr val="dk1"/>
              </a:solidFill>
              <a:latin typeface="Calibri"/>
              <a:ea typeface="Calibri"/>
              <a:cs typeface="Calibri"/>
              <a:sym typeface="Calibri"/>
            </a:endParaRPr>
          </a:p>
        </p:txBody>
      </p:sp>
      <p:sp>
        <p:nvSpPr>
          <p:cNvPr id="301" name="Google Shape;301;p27"/>
          <p:cNvSpPr/>
          <p:nvPr/>
        </p:nvSpPr>
        <p:spPr>
          <a:xfrm>
            <a:off x="7063740" y="2640330"/>
            <a:ext cx="1508760" cy="260604"/>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2D8A72"/>
              </a:buClr>
              <a:buSzPts val="1200"/>
              <a:buFont typeface="Cambria"/>
              <a:buNone/>
            </a:pPr>
            <a:r>
              <a:rPr b="1" i="0" lang="en" sz="1200" u="none" cap="none" strike="noStrike">
                <a:solidFill>
                  <a:srgbClr val="2D8A72"/>
                </a:solidFill>
                <a:latin typeface="Cambria"/>
                <a:ea typeface="Cambria"/>
                <a:cs typeface="Cambria"/>
                <a:sym typeface="Cambria"/>
              </a:rPr>
              <a:t>+21</a:t>
            </a:r>
            <a:endParaRPr b="0" i="0" sz="1200" u="none" cap="none" strike="noStrike">
              <a:solidFill>
                <a:schemeClr val="dk1"/>
              </a:solidFill>
              <a:latin typeface="Calibri"/>
              <a:ea typeface="Calibri"/>
              <a:cs typeface="Calibri"/>
              <a:sym typeface="Calibri"/>
            </a:endParaRPr>
          </a:p>
        </p:txBody>
      </p:sp>
      <p:sp>
        <p:nvSpPr>
          <p:cNvPr id="302" name="Google Shape;302;p27"/>
          <p:cNvSpPr/>
          <p:nvPr/>
        </p:nvSpPr>
        <p:spPr>
          <a:xfrm>
            <a:off x="480060" y="3010662"/>
            <a:ext cx="8181594" cy="411480"/>
          </a:xfrm>
          <a:prstGeom prst="roundRect">
            <a:avLst>
              <a:gd fmla="val 13333" name="adj"/>
            </a:avLst>
          </a:prstGeom>
          <a:solidFill>
            <a:srgbClr val="2E3E4C"/>
          </a:solidFill>
          <a:ln cap="flat" cmpd="sng" w="12700">
            <a:solidFill>
              <a:srgbClr val="2E3E4C"/>
            </a:solidFill>
            <a:prstDash val="solid"/>
            <a:round/>
            <a:headEnd len="sm" w="sm" type="none"/>
            <a:tailEnd len="sm" w="sm" type="none"/>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303" name="Google Shape;303;p27"/>
          <p:cNvSpPr/>
          <p:nvPr/>
        </p:nvSpPr>
        <p:spPr>
          <a:xfrm>
            <a:off x="720090" y="3099816"/>
            <a:ext cx="3566160" cy="24003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BD5DD"/>
              </a:buClr>
              <a:buSzPts val="1100"/>
              <a:buFont typeface="Consolas"/>
              <a:buNone/>
            </a:pPr>
            <a:r>
              <a:rPr b="0" i="0" lang="en" sz="1100" u="none" cap="none" strike="noStrike">
                <a:solidFill>
                  <a:srgbClr val="CBD5DD"/>
                </a:solidFill>
                <a:latin typeface="Consolas"/>
                <a:ea typeface="Consolas"/>
                <a:cs typeface="Consolas"/>
                <a:sym typeface="Consolas"/>
              </a:rPr>
              <a:t>adversarial-sql-review</a:t>
            </a:r>
            <a:endParaRPr b="0" i="0" sz="1100" u="none" cap="none" strike="noStrike">
              <a:solidFill>
                <a:schemeClr val="dk1"/>
              </a:solidFill>
              <a:latin typeface="Calibri"/>
              <a:ea typeface="Calibri"/>
              <a:cs typeface="Calibri"/>
              <a:sym typeface="Calibri"/>
            </a:endParaRPr>
          </a:p>
        </p:txBody>
      </p:sp>
      <p:sp>
        <p:nvSpPr>
          <p:cNvPr id="304" name="Google Shape;304;p27"/>
          <p:cNvSpPr/>
          <p:nvPr/>
        </p:nvSpPr>
        <p:spPr>
          <a:xfrm>
            <a:off x="4594860" y="3099816"/>
            <a:ext cx="960120" cy="24003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8A99A8"/>
              </a:buClr>
              <a:buSzPts val="1100"/>
              <a:buFont typeface="Calibri"/>
              <a:buNone/>
            </a:pPr>
            <a:r>
              <a:rPr b="0" i="0" lang="en" sz="1100" u="none" cap="none" strike="noStrike">
                <a:solidFill>
                  <a:srgbClr val="8A99A8"/>
                </a:solidFill>
                <a:latin typeface="Calibri"/>
                <a:ea typeface="Calibri"/>
                <a:cs typeface="Calibri"/>
                <a:sym typeface="Calibri"/>
              </a:rPr>
              <a:t>54%</a:t>
            </a:r>
            <a:endParaRPr b="0" i="0" sz="1100" u="none" cap="none" strike="noStrike">
              <a:solidFill>
                <a:schemeClr val="dk1"/>
              </a:solidFill>
              <a:latin typeface="Calibri"/>
              <a:ea typeface="Calibri"/>
              <a:cs typeface="Calibri"/>
              <a:sym typeface="Calibri"/>
            </a:endParaRPr>
          </a:p>
        </p:txBody>
      </p:sp>
      <p:sp>
        <p:nvSpPr>
          <p:cNvPr id="305" name="Google Shape;305;p27"/>
          <p:cNvSpPr/>
          <p:nvPr/>
        </p:nvSpPr>
        <p:spPr>
          <a:xfrm>
            <a:off x="5760720" y="3099816"/>
            <a:ext cx="960120" cy="24003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FFFFFF"/>
              </a:buClr>
              <a:buSzPts val="1100"/>
              <a:buFont typeface="Calibri"/>
              <a:buNone/>
            </a:pPr>
            <a:r>
              <a:rPr b="0" i="0" lang="en" sz="1100" u="none" cap="none" strike="noStrike">
                <a:solidFill>
                  <a:srgbClr val="FFFFFF"/>
                </a:solidFill>
                <a:latin typeface="Calibri"/>
                <a:ea typeface="Calibri"/>
                <a:cs typeface="Calibri"/>
                <a:sym typeface="Calibri"/>
              </a:rPr>
              <a:t>72%</a:t>
            </a:r>
            <a:endParaRPr b="0" i="0" sz="1100" u="none" cap="none" strike="noStrike">
              <a:solidFill>
                <a:schemeClr val="dk1"/>
              </a:solidFill>
              <a:latin typeface="Calibri"/>
              <a:ea typeface="Calibri"/>
              <a:cs typeface="Calibri"/>
              <a:sym typeface="Calibri"/>
            </a:endParaRPr>
          </a:p>
        </p:txBody>
      </p:sp>
      <p:sp>
        <p:nvSpPr>
          <p:cNvPr id="306" name="Google Shape;306;p27"/>
          <p:cNvSpPr/>
          <p:nvPr/>
        </p:nvSpPr>
        <p:spPr>
          <a:xfrm>
            <a:off x="7063740" y="3092958"/>
            <a:ext cx="1508760" cy="260604"/>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2D8A72"/>
              </a:buClr>
              <a:buSzPts val="1200"/>
              <a:buFont typeface="Cambria"/>
              <a:buNone/>
            </a:pPr>
            <a:r>
              <a:rPr b="1" i="0" lang="en" sz="1200" u="none" cap="none" strike="noStrike">
                <a:solidFill>
                  <a:srgbClr val="2D8A72"/>
                </a:solidFill>
                <a:latin typeface="Cambria"/>
                <a:ea typeface="Cambria"/>
                <a:cs typeface="Cambria"/>
                <a:sym typeface="Cambria"/>
              </a:rPr>
              <a:t>+18</a:t>
            </a:r>
            <a:endParaRPr b="0" i="0" sz="1200" u="none" cap="none" strike="noStrike">
              <a:solidFill>
                <a:schemeClr val="dk1"/>
              </a:solidFill>
              <a:latin typeface="Calibri"/>
              <a:ea typeface="Calibri"/>
              <a:cs typeface="Calibri"/>
              <a:sym typeface="Calibri"/>
            </a:endParaRPr>
          </a:p>
        </p:txBody>
      </p:sp>
      <p:sp>
        <p:nvSpPr>
          <p:cNvPr id="307" name="Google Shape;307;p27"/>
          <p:cNvSpPr/>
          <p:nvPr/>
        </p:nvSpPr>
        <p:spPr>
          <a:xfrm>
            <a:off x="480060" y="3463290"/>
            <a:ext cx="8181594" cy="411480"/>
          </a:xfrm>
          <a:prstGeom prst="roundRect">
            <a:avLst>
              <a:gd fmla="val 13333" name="adj"/>
            </a:avLst>
          </a:prstGeom>
          <a:solidFill>
            <a:srgbClr val="22303C"/>
          </a:solidFill>
          <a:ln cap="flat" cmpd="sng" w="12700">
            <a:solidFill>
              <a:srgbClr val="22303C"/>
            </a:solidFill>
            <a:prstDash val="solid"/>
            <a:round/>
            <a:headEnd len="sm" w="sm" type="none"/>
            <a:tailEnd len="sm" w="sm" type="none"/>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308" name="Google Shape;308;p27"/>
          <p:cNvSpPr/>
          <p:nvPr/>
        </p:nvSpPr>
        <p:spPr>
          <a:xfrm>
            <a:off x="720090" y="3552444"/>
            <a:ext cx="3566160" cy="24003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BD5DD"/>
              </a:buClr>
              <a:buSzPts val="1100"/>
              <a:buFont typeface="Consolas"/>
              <a:buNone/>
            </a:pPr>
            <a:r>
              <a:rPr b="0" i="0" lang="en" sz="1100" u="none" cap="none" strike="noStrike">
                <a:solidFill>
                  <a:srgbClr val="CBD5DD"/>
                </a:solidFill>
                <a:latin typeface="Consolas"/>
                <a:ea typeface="Consolas"/>
                <a:cs typeface="Consolas"/>
                <a:sym typeface="Consolas"/>
              </a:rPr>
              <a:t>causal-claim-guardrail</a:t>
            </a:r>
            <a:endParaRPr b="0" i="0" sz="1100" u="none" cap="none" strike="noStrike">
              <a:solidFill>
                <a:schemeClr val="dk1"/>
              </a:solidFill>
              <a:latin typeface="Calibri"/>
              <a:ea typeface="Calibri"/>
              <a:cs typeface="Calibri"/>
              <a:sym typeface="Calibri"/>
            </a:endParaRPr>
          </a:p>
        </p:txBody>
      </p:sp>
      <p:sp>
        <p:nvSpPr>
          <p:cNvPr id="309" name="Google Shape;309;p27"/>
          <p:cNvSpPr/>
          <p:nvPr/>
        </p:nvSpPr>
        <p:spPr>
          <a:xfrm>
            <a:off x="4594860" y="3552444"/>
            <a:ext cx="960120" cy="24003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8A99A8"/>
              </a:buClr>
              <a:buSzPts val="1100"/>
              <a:buFont typeface="Calibri"/>
              <a:buNone/>
            </a:pPr>
            <a:r>
              <a:rPr b="0" i="0" lang="en" sz="1100" u="none" cap="none" strike="noStrike">
                <a:solidFill>
                  <a:srgbClr val="8A99A8"/>
                </a:solidFill>
                <a:latin typeface="Calibri"/>
                <a:ea typeface="Calibri"/>
                <a:cs typeface="Calibri"/>
                <a:sym typeface="Calibri"/>
              </a:rPr>
              <a:t>74%</a:t>
            </a:r>
            <a:endParaRPr b="0" i="0" sz="1100" u="none" cap="none" strike="noStrike">
              <a:solidFill>
                <a:schemeClr val="dk1"/>
              </a:solidFill>
              <a:latin typeface="Calibri"/>
              <a:ea typeface="Calibri"/>
              <a:cs typeface="Calibri"/>
              <a:sym typeface="Calibri"/>
            </a:endParaRPr>
          </a:p>
        </p:txBody>
      </p:sp>
      <p:sp>
        <p:nvSpPr>
          <p:cNvPr id="310" name="Google Shape;310;p27"/>
          <p:cNvSpPr/>
          <p:nvPr/>
        </p:nvSpPr>
        <p:spPr>
          <a:xfrm>
            <a:off x="5760720" y="3552444"/>
            <a:ext cx="960120" cy="24003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FFFFFF"/>
              </a:buClr>
              <a:buSzPts val="1100"/>
              <a:buFont typeface="Calibri"/>
              <a:buNone/>
            </a:pPr>
            <a:r>
              <a:rPr b="0" i="0" lang="en" sz="1100" u="none" cap="none" strike="noStrike">
                <a:solidFill>
                  <a:srgbClr val="FFFFFF"/>
                </a:solidFill>
                <a:latin typeface="Calibri"/>
                <a:ea typeface="Calibri"/>
                <a:cs typeface="Calibri"/>
                <a:sym typeface="Calibri"/>
              </a:rPr>
              <a:t>87%</a:t>
            </a:r>
            <a:endParaRPr b="0" i="0" sz="1100" u="none" cap="none" strike="noStrike">
              <a:solidFill>
                <a:schemeClr val="dk1"/>
              </a:solidFill>
              <a:latin typeface="Calibri"/>
              <a:ea typeface="Calibri"/>
              <a:cs typeface="Calibri"/>
              <a:sym typeface="Calibri"/>
            </a:endParaRPr>
          </a:p>
        </p:txBody>
      </p:sp>
      <p:sp>
        <p:nvSpPr>
          <p:cNvPr id="311" name="Google Shape;311;p27"/>
          <p:cNvSpPr/>
          <p:nvPr/>
        </p:nvSpPr>
        <p:spPr>
          <a:xfrm>
            <a:off x="7063740" y="3545586"/>
            <a:ext cx="1508760" cy="260604"/>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2D8A72"/>
              </a:buClr>
              <a:buSzPts val="1200"/>
              <a:buFont typeface="Cambria"/>
              <a:buNone/>
            </a:pPr>
            <a:r>
              <a:rPr b="1" i="0" lang="en" sz="1200" u="none" cap="none" strike="noStrike">
                <a:solidFill>
                  <a:srgbClr val="2D8A72"/>
                </a:solidFill>
                <a:latin typeface="Cambria"/>
                <a:ea typeface="Cambria"/>
                <a:cs typeface="Cambria"/>
                <a:sym typeface="Cambria"/>
              </a:rPr>
              <a:t>+13</a:t>
            </a:r>
            <a:endParaRPr b="0" i="0" sz="1200" u="none" cap="none" strike="noStrike">
              <a:solidFill>
                <a:schemeClr val="dk1"/>
              </a:solidFill>
              <a:latin typeface="Calibri"/>
              <a:ea typeface="Calibri"/>
              <a:cs typeface="Calibri"/>
              <a:sym typeface="Calibri"/>
            </a:endParaRPr>
          </a:p>
        </p:txBody>
      </p:sp>
      <p:sp>
        <p:nvSpPr>
          <p:cNvPr id="312" name="Google Shape;312;p27"/>
          <p:cNvSpPr/>
          <p:nvPr/>
        </p:nvSpPr>
        <p:spPr>
          <a:xfrm>
            <a:off x="480060" y="4011930"/>
            <a:ext cx="8181594"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BD5DD"/>
              </a:buClr>
              <a:buSzPts val="1100"/>
              <a:buFont typeface="Calibri"/>
              <a:buNone/>
            </a:pPr>
            <a:r>
              <a:rPr b="0" i="0" lang="en" sz="1100" u="none" cap="none" strike="noStrike">
                <a:solidFill>
                  <a:srgbClr val="CBD5DD"/>
                </a:solidFill>
                <a:latin typeface="Calibri"/>
                <a:ea typeface="Calibri"/>
                <a:cs typeface="Calibri"/>
                <a:sym typeface="Calibri"/>
              </a:rPr>
              <a:t>29 paired observations · mean +28 pts · 95% CI +12 to +44 · p = 0.009</a:t>
            </a:r>
            <a:endParaRPr b="0" i="0" sz="1100" u="none" cap="none" strike="noStrike">
              <a:solidFill>
                <a:schemeClr val="dk1"/>
              </a:solidFill>
              <a:latin typeface="Calibri"/>
              <a:ea typeface="Calibri"/>
              <a:cs typeface="Calibri"/>
              <a:sym typeface="Calibri"/>
            </a:endParaRPr>
          </a:p>
        </p:txBody>
      </p:sp>
      <p:sp>
        <p:nvSpPr>
          <p:cNvPr id="313" name="Google Shape;313;p27"/>
          <p:cNvSpPr/>
          <p:nvPr/>
        </p:nvSpPr>
        <p:spPr>
          <a:xfrm>
            <a:off x="480060" y="4286250"/>
            <a:ext cx="8181594"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8A99A8"/>
              </a:buClr>
              <a:buSzPts val="1000"/>
              <a:buFont typeface="Calibri"/>
              <a:buNone/>
            </a:pPr>
            <a:r>
              <a:rPr b="0" i="1" lang="en" sz="1000" u="none" cap="none" strike="noStrike">
                <a:solidFill>
                  <a:srgbClr val="8A99A8"/>
                </a:solidFill>
                <a:latin typeface="Calibri"/>
                <a:ea typeface="Calibri"/>
                <a:cs typeface="Calibri"/>
                <a:sym typeface="Calibri"/>
              </a:rPr>
              <a:t>Single model, single session, synthetic warehouse, authors' own evals.</a:t>
            </a:r>
            <a:endParaRPr b="0" i="0" sz="1000" u="none" cap="none" strike="noStrike">
              <a:solidFill>
                <a:schemeClr val="dk1"/>
              </a:solidFill>
              <a:latin typeface="Calibri"/>
              <a:ea typeface="Calibri"/>
              <a:cs typeface="Calibri"/>
              <a:sym typeface="Calibri"/>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18" name="Shape 318"/>
        <p:cNvGrpSpPr/>
        <p:nvPr/>
      </p:nvGrpSpPr>
      <p:grpSpPr>
        <a:xfrm>
          <a:off x="0" y="0"/>
          <a:ext cx="0" cy="0"/>
          <a:chOff x="0" y="0"/>
          <a:chExt cx="0" cy="0"/>
        </a:xfrm>
      </p:grpSpPr>
      <p:sp>
        <p:nvSpPr>
          <p:cNvPr id="319" name="Google Shape;319;p28"/>
          <p:cNvSpPr/>
          <p:nvPr/>
        </p:nvSpPr>
        <p:spPr>
          <a:xfrm>
            <a:off x="480060" y="192024"/>
            <a:ext cx="8181594" cy="2057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663C"/>
              </a:buClr>
              <a:buSzPts val="800"/>
              <a:buFont typeface="Calibri"/>
              <a:buNone/>
            </a:pPr>
            <a:r>
              <a:rPr b="1" i="0" lang="en" sz="800" u="none" cap="none" strike="noStrike">
                <a:solidFill>
                  <a:srgbClr val="E8663C"/>
                </a:solidFill>
                <a:latin typeface="Calibri"/>
                <a:ea typeface="Calibri"/>
                <a:cs typeface="Calibri"/>
                <a:sym typeface="Calibri"/>
              </a:rPr>
              <a:t>WHAT THE HEADLINE HIDES</a:t>
            </a:r>
            <a:endParaRPr b="0" i="0" sz="800" u="none" cap="none" strike="noStrike">
              <a:solidFill>
                <a:schemeClr val="dk1"/>
              </a:solidFill>
              <a:latin typeface="Calibri"/>
              <a:ea typeface="Calibri"/>
              <a:cs typeface="Calibri"/>
              <a:sym typeface="Calibri"/>
            </a:endParaRPr>
          </a:p>
        </p:txBody>
      </p:sp>
      <p:sp>
        <p:nvSpPr>
          <p:cNvPr id="320" name="Google Shape;320;p28"/>
          <p:cNvSpPr/>
          <p:nvPr/>
        </p:nvSpPr>
        <p:spPr>
          <a:xfrm>
            <a:off x="480060" y="342900"/>
            <a:ext cx="8181594" cy="6172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2303C"/>
              </a:buClr>
              <a:buSzPts val="2600"/>
              <a:buFont typeface="Cambria"/>
              <a:buNone/>
            </a:pPr>
            <a:r>
              <a:rPr b="1" i="0" lang="en" sz="2600" u="none" cap="none" strike="noStrike">
                <a:solidFill>
                  <a:srgbClr val="22303C"/>
                </a:solidFill>
                <a:latin typeface="Cambria"/>
                <a:ea typeface="Cambria"/>
                <a:cs typeface="Cambria"/>
                <a:sym typeface="Cambria"/>
              </a:rPr>
              <a:t>Three things that belong with that number</a:t>
            </a:r>
            <a:endParaRPr b="0" i="0" sz="2600" u="none" cap="none" strike="noStrike">
              <a:solidFill>
                <a:schemeClr val="dk1"/>
              </a:solidFill>
              <a:latin typeface="Calibri"/>
              <a:ea typeface="Calibri"/>
              <a:cs typeface="Calibri"/>
              <a:sym typeface="Calibri"/>
            </a:endParaRPr>
          </a:p>
        </p:txBody>
      </p:sp>
      <p:sp>
        <p:nvSpPr>
          <p:cNvPr id="321" name="Google Shape;321;p28"/>
          <p:cNvSpPr/>
          <p:nvPr/>
        </p:nvSpPr>
        <p:spPr>
          <a:xfrm>
            <a:off x="480060" y="1234440"/>
            <a:ext cx="8181594" cy="925830"/>
          </a:xfrm>
          <a:prstGeom prst="roundRect">
            <a:avLst>
              <a:gd fmla="val 5926" name="adj"/>
            </a:avLst>
          </a:prstGeom>
          <a:solidFill>
            <a:srgbClr val="FBEDE8"/>
          </a:solidFill>
          <a:ln cap="flat" cmpd="sng" w="12700">
            <a:solidFill>
              <a:srgbClr val="FBEDE8"/>
            </a:solidFill>
            <a:prstDash val="solid"/>
            <a:round/>
            <a:headEnd len="sm" w="sm" type="none"/>
            <a:tailEnd len="sm" w="sm" type="none"/>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322" name="Google Shape;322;p28"/>
          <p:cNvSpPr/>
          <p:nvPr/>
        </p:nvSpPr>
        <p:spPr>
          <a:xfrm>
            <a:off x="754380" y="1385316"/>
            <a:ext cx="7632954" cy="28803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663C"/>
              </a:buClr>
              <a:buSzPts val="1700"/>
              <a:buFont typeface="Cambria"/>
              <a:buNone/>
            </a:pPr>
            <a:r>
              <a:rPr b="1" i="0" lang="en" sz="1700" u="none" cap="none" strike="noStrike">
                <a:solidFill>
                  <a:srgbClr val="E8663C"/>
                </a:solidFill>
                <a:latin typeface="Cambria"/>
                <a:ea typeface="Cambria"/>
                <a:cs typeface="Cambria"/>
                <a:sym typeface="Cambria"/>
              </a:rPr>
              <a:t>Skills over-fire. Negative tests fell 87% to 70%.</a:t>
            </a:r>
            <a:endParaRPr b="0" i="0" sz="1700" u="none" cap="none" strike="noStrike">
              <a:solidFill>
                <a:schemeClr val="dk1"/>
              </a:solidFill>
              <a:latin typeface="Calibri"/>
              <a:ea typeface="Calibri"/>
              <a:cs typeface="Calibri"/>
              <a:sym typeface="Calibri"/>
            </a:endParaRPr>
          </a:p>
        </p:txBody>
      </p:sp>
      <p:sp>
        <p:nvSpPr>
          <p:cNvPr id="323" name="Google Shape;323;p28"/>
          <p:cNvSpPr/>
          <p:nvPr/>
        </p:nvSpPr>
        <p:spPr>
          <a:xfrm>
            <a:off x="754380" y="1714500"/>
            <a:ext cx="7632954" cy="30861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8C4430"/>
              </a:buClr>
              <a:buSzPts val="1100"/>
              <a:buFont typeface="Calibri"/>
              <a:buNone/>
            </a:pPr>
            <a:r>
              <a:rPr b="0" i="0" lang="en" sz="1100" u="none" cap="none" strike="noStrike">
                <a:solidFill>
                  <a:srgbClr val="8C4430"/>
                </a:solidFill>
                <a:latin typeface="Calibri"/>
                <a:ea typeface="Calibri"/>
                <a:cs typeface="Calibri"/>
                <a:sym typeface="Calibri"/>
              </a:rPr>
              <a:t>The worst case attaches a full provenance footer to a schema lookup. A real cost, not noise.</a:t>
            </a:r>
            <a:endParaRPr b="0" i="0" sz="1100" u="none" cap="none" strike="noStrike">
              <a:solidFill>
                <a:schemeClr val="dk1"/>
              </a:solidFill>
              <a:latin typeface="Calibri"/>
              <a:ea typeface="Calibri"/>
              <a:cs typeface="Calibri"/>
              <a:sym typeface="Calibri"/>
            </a:endParaRPr>
          </a:p>
        </p:txBody>
      </p:sp>
      <p:sp>
        <p:nvSpPr>
          <p:cNvPr id="324" name="Google Shape;324;p28"/>
          <p:cNvSpPr/>
          <p:nvPr/>
        </p:nvSpPr>
        <p:spPr>
          <a:xfrm>
            <a:off x="480060" y="2263140"/>
            <a:ext cx="8181594" cy="925830"/>
          </a:xfrm>
          <a:prstGeom prst="roundRect">
            <a:avLst>
              <a:gd fmla="val 5926" name="adj"/>
            </a:avLst>
          </a:prstGeom>
          <a:solidFill>
            <a:srgbClr val="F2F4F6"/>
          </a:solidFill>
          <a:ln cap="flat" cmpd="sng" w="12700">
            <a:solidFill>
              <a:srgbClr val="F2F4F6"/>
            </a:solidFill>
            <a:prstDash val="solid"/>
            <a:round/>
            <a:headEnd len="sm" w="sm" type="none"/>
            <a:tailEnd len="sm" w="sm" type="none"/>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325" name="Google Shape;325;p28"/>
          <p:cNvSpPr/>
          <p:nvPr/>
        </p:nvSpPr>
        <p:spPr>
          <a:xfrm>
            <a:off x="754380" y="2414016"/>
            <a:ext cx="7632954" cy="28803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2303C"/>
              </a:buClr>
              <a:buSzPts val="1700"/>
              <a:buFont typeface="Cambria"/>
              <a:buNone/>
            </a:pPr>
            <a:r>
              <a:rPr b="1" i="0" lang="en" sz="1700" u="none" cap="none" strike="noStrike">
                <a:solidFill>
                  <a:srgbClr val="22303C"/>
                </a:solidFill>
                <a:latin typeface="Cambria"/>
                <a:ea typeface="Cambria"/>
                <a:cs typeface="Cambria"/>
                <a:sym typeface="Cambria"/>
              </a:rPr>
              <a:t>Five runs died on the turn budget — and not at random.</a:t>
            </a:r>
            <a:endParaRPr b="0" i="0" sz="1700" u="none" cap="none" strike="noStrike">
              <a:solidFill>
                <a:schemeClr val="dk1"/>
              </a:solidFill>
              <a:latin typeface="Calibri"/>
              <a:ea typeface="Calibri"/>
              <a:cs typeface="Calibri"/>
              <a:sym typeface="Calibri"/>
            </a:endParaRPr>
          </a:p>
        </p:txBody>
      </p:sp>
      <p:sp>
        <p:nvSpPr>
          <p:cNvPr id="326" name="Google Shape;326;p28"/>
          <p:cNvSpPr/>
          <p:nvPr/>
        </p:nvSpPr>
        <p:spPr>
          <a:xfrm>
            <a:off x="754380" y="2743200"/>
            <a:ext cx="7632954" cy="30861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A6B7A"/>
              </a:buClr>
              <a:buSzPts val="1100"/>
              <a:buFont typeface="Calibri"/>
              <a:buNone/>
            </a:pPr>
            <a:r>
              <a:rPr b="0" i="0" lang="en" sz="1100" u="none" cap="none" strike="noStrike">
                <a:solidFill>
                  <a:srgbClr val="5A6B7A"/>
                </a:solidFill>
                <a:latin typeface="Calibri"/>
                <a:ea typeface="Calibri"/>
                <a:cs typeface="Calibri"/>
                <a:sym typeface="Calibri"/>
              </a:rPr>
              <a:t>Four of the five were in the slice reporting the largest gain. Losing the hardest runs biases the estimate upward.</a:t>
            </a:r>
            <a:endParaRPr b="0" i="0" sz="1100" u="none" cap="none" strike="noStrike">
              <a:solidFill>
                <a:schemeClr val="dk1"/>
              </a:solidFill>
              <a:latin typeface="Calibri"/>
              <a:ea typeface="Calibri"/>
              <a:cs typeface="Calibri"/>
              <a:sym typeface="Calibri"/>
            </a:endParaRPr>
          </a:p>
        </p:txBody>
      </p:sp>
      <p:sp>
        <p:nvSpPr>
          <p:cNvPr id="327" name="Google Shape;327;p28"/>
          <p:cNvSpPr/>
          <p:nvPr/>
        </p:nvSpPr>
        <p:spPr>
          <a:xfrm>
            <a:off x="480060" y="3291840"/>
            <a:ext cx="8181594" cy="1028700"/>
          </a:xfrm>
          <a:prstGeom prst="roundRect">
            <a:avLst>
              <a:gd fmla="val 5333" name="adj"/>
            </a:avLst>
          </a:prstGeom>
          <a:solidFill>
            <a:srgbClr val="E6F2EE"/>
          </a:solidFill>
          <a:ln cap="flat" cmpd="sng" w="12700">
            <a:solidFill>
              <a:srgbClr val="E6F2EE"/>
            </a:solidFill>
            <a:prstDash val="solid"/>
            <a:round/>
            <a:headEnd len="sm" w="sm" type="none"/>
            <a:tailEnd len="sm" w="sm" type="none"/>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328" name="Google Shape;328;p28"/>
          <p:cNvSpPr/>
          <p:nvPr/>
        </p:nvSpPr>
        <p:spPr>
          <a:xfrm>
            <a:off x="754380" y="3442716"/>
            <a:ext cx="7632954" cy="28803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D8A72"/>
              </a:buClr>
              <a:buSzPts val="1700"/>
              <a:buFont typeface="Cambria"/>
              <a:buNone/>
            </a:pPr>
            <a:r>
              <a:rPr b="1" i="0" lang="en" sz="1700" u="none" cap="none" strike="noStrike">
                <a:solidFill>
                  <a:srgbClr val="2D8A72"/>
                </a:solidFill>
                <a:latin typeface="Cambria"/>
                <a:ea typeface="Cambria"/>
                <a:cs typeface="Cambria"/>
                <a:sym typeface="Cambria"/>
              </a:rPr>
              <a:t>It survives the sensitivity analysis anyway.</a:t>
            </a:r>
            <a:endParaRPr b="0" i="0" sz="1700" u="none" cap="none" strike="noStrike">
              <a:solidFill>
                <a:schemeClr val="dk1"/>
              </a:solidFill>
              <a:latin typeface="Calibri"/>
              <a:ea typeface="Calibri"/>
              <a:cs typeface="Calibri"/>
              <a:sym typeface="Calibri"/>
            </a:endParaRPr>
          </a:p>
        </p:txBody>
      </p:sp>
      <p:sp>
        <p:nvSpPr>
          <p:cNvPr id="329" name="Google Shape;329;p28"/>
          <p:cNvSpPr/>
          <p:nvPr/>
        </p:nvSpPr>
        <p:spPr>
          <a:xfrm>
            <a:off x="754380" y="3771900"/>
            <a:ext cx="7632954" cy="44577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F5F4C"/>
              </a:buClr>
              <a:buSzPts val="1100"/>
              <a:buFont typeface="Calibri"/>
              <a:buNone/>
            </a:pPr>
            <a:r>
              <a:rPr b="0" i="0" lang="en" sz="1100" u="none" cap="none" strike="noStrike">
                <a:solidFill>
                  <a:srgbClr val="1F5F4C"/>
                </a:solidFill>
                <a:latin typeface="Calibri"/>
                <a:ea typeface="Calibri"/>
                <a:cs typeface="Calibri"/>
                <a:sym typeface="Calibri"/>
              </a:rPr>
              <a:t>Drop every eval with a failed run: +22. Assume every lost run scored zero: +23. The honest headline is roughly +20 to +28 with a measurable over-firing cost.</a:t>
            </a:r>
            <a:endParaRPr b="0" i="0" sz="1100" u="none" cap="none" strike="noStrike">
              <a:solidFill>
                <a:schemeClr val="dk1"/>
              </a:solidFill>
              <a:latin typeface="Calibri"/>
              <a:ea typeface="Calibri"/>
              <a:cs typeface="Calibri"/>
              <a:sym typeface="Calibri"/>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22303C"/>
        </a:solidFill>
      </p:bgPr>
    </p:bg>
    <p:spTree>
      <p:nvGrpSpPr>
        <p:cNvPr id="334" name="Shape 334"/>
        <p:cNvGrpSpPr/>
        <p:nvPr/>
      </p:nvGrpSpPr>
      <p:grpSpPr>
        <a:xfrm>
          <a:off x="0" y="0"/>
          <a:ext cx="0" cy="0"/>
          <a:chOff x="0" y="0"/>
          <a:chExt cx="0" cy="0"/>
        </a:xfrm>
      </p:grpSpPr>
      <p:sp>
        <p:nvSpPr>
          <p:cNvPr id="335" name="Google Shape;335;p29"/>
          <p:cNvSpPr/>
          <p:nvPr/>
        </p:nvSpPr>
        <p:spPr>
          <a:xfrm>
            <a:off x="480060" y="192024"/>
            <a:ext cx="8181594" cy="2057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663C"/>
              </a:buClr>
              <a:buSzPts val="800"/>
              <a:buFont typeface="Calibri"/>
              <a:buNone/>
            </a:pPr>
            <a:r>
              <a:rPr b="1" i="0" lang="en" sz="800" u="none" cap="none" strike="noStrike">
                <a:solidFill>
                  <a:srgbClr val="E8663C"/>
                </a:solidFill>
                <a:latin typeface="Calibri"/>
                <a:ea typeface="Calibri"/>
                <a:cs typeface="Calibri"/>
                <a:sym typeface="Calibri"/>
              </a:rPr>
              <a:t>ONE VARIABLE, ISOLATED</a:t>
            </a:r>
            <a:endParaRPr b="0" i="0" sz="800" u="none" cap="none" strike="noStrike">
              <a:solidFill>
                <a:schemeClr val="dk1"/>
              </a:solidFill>
              <a:latin typeface="Calibri"/>
              <a:ea typeface="Calibri"/>
              <a:cs typeface="Calibri"/>
              <a:sym typeface="Calibri"/>
            </a:endParaRPr>
          </a:p>
        </p:txBody>
      </p:sp>
      <p:sp>
        <p:nvSpPr>
          <p:cNvPr id="336" name="Google Shape;336;p29"/>
          <p:cNvSpPr/>
          <p:nvPr/>
        </p:nvSpPr>
        <p:spPr>
          <a:xfrm>
            <a:off x="480060" y="342900"/>
            <a:ext cx="8181594" cy="6172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2300"/>
              <a:buFont typeface="Cambria"/>
              <a:buNone/>
            </a:pPr>
            <a:r>
              <a:rPr b="1" i="0" lang="en" sz="2300" u="none" cap="none" strike="noStrike">
                <a:solidFill>
                  <a:srgbClr val="FFFFFF"/>
                </a:solidFill>
                <a:latin typeface="Cambria"/>
                <a:ea typeface="Cambria"/>
                <a:cs typeface="Cambria"/>
                <a:sym typeface="Cambria"/>
              </a:rPr>
              <a:t>Loading everything doesn't break accuracy. It breaks discipline.</a:t>
            </a:r>
            <a:endParaRPr b="0" i="0" sz="2300" u="none" cap="none" strike="noStrike">
              <a:solidFill>
                <a:schemeClr val="dk1"/>
              </a:solidFill>
              <a:latin typeface="Calibri"/>
              <a:ea typeface="Calibri"/>
              <a:cs typeface="Calibri"/>
              <a:sym typeface="Calibri"/>
            </a:endParaRPr>
          </a:p>
        </p:txBody>
      </p:sp>
      <p:sp>
        <p:nvSpPr>
          <p:cNvPr id="337" name="Google Shape;337;p29"/>
          <p:cNvSpPr/>
          <p:nvPr/>
        </p:nvSpPr>
        <p:spPr>
          <a:xfrm>
            <a:off x="480060" y="1062990"/>
            <a:ext cx="8181594" cy="37719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BD5DD"/>
              </a:buClr>
              <a:buSzPts val="1100"/>
              <a:buFont typeface="Calibri"/>
              <a:buNone/>
            </a:pPr>
            <a:r>
              <a:rPr b="0" i="0" lang="en" sz="1100" u="none" cap="none" strike="noStrike">
                <a:solidFill>
                  <a:srgbClr val="CBD5DD"/>
                </a:solidFill>
                <a:latin typeface="Calibri"/>
                <a:ea typeface="Calibri"/>
                <a:cs typeface="Calibri"/>
                <a:sym typeface="Calibri"/>
              </a:rPr>
              <a:t>Same skills, same model, same warehouse. Only the loading strategy changed: one relevant skill vs. all six, every question.</a:t>
            </a:r>
            <a:endParaRPr b="0" i="0" sz="1100" u="none" cap="none" strike="noStrike">
              <a:solidFill>
                <a:schemeClr val="dk1"/>
              </a:solidFill>
              <a:latin typeface="Calibri"/>
              <a:ea typeface="Calibri"/>
              <a:cs typeface="Calibri"/>
              <a:sym typeface="Calibri"/>
            </a:endParaRPr>
          </a:p>
        </p:txBody>
      </p:sp>
      <p:sp>
        <p:nvSpPr>
          <p:cNvPr id="338" name="Google Shape;338;p29"/>
          <p:cNvSpPr/>
          <p:nvPr/>
        </p:nvSpPr>
        <p:spPr>
          <a:xfrm>
            <a:off x="480060" y="1611630"/>
            <a:ext cx="2640330" cy="2674620"/>
          </a:xfrm>
          <a:prstGeom prst="roundRect">
            <a:avLst>
              <a:gd fmla="val 2078" name="adj"/>
            </a:avLst>
          </a:prstGeom>
          <a:solidFill>
            <a:srgbClr val="2E3E4C"/>
          </a:solidFill>
          <a:ln cap="flat" cmpd="sng" w="12700">
            <a:solidFill>
              <a:srgbClr val="2E3E4C"/>
            </a:solidFill>
            <a:prstDash val="solid"/>
            <a:round/>
            <a:headEnd len="sm" w="sm" type="none"/>
            <a:tailEnd len="sm" w="sm" type="none"/>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339" name="Google Shape;339;p29"/>
          <p:cNvSpPr/>
          <p:nvPr/>
        </p:nvSpPr>
        <p:spPr>
          <a:xfrm>
            <a:off x="685800" y="1769364"/>
            <a:ext cx="2228850" cy="24003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8A99A8"/>
              </a:buClr>
              <a:buSzPts val="900"/>
              <a:buFont typeface="Calibri"/>
              <a:buNone/>
            </a:pPr>
            <a:r>
              <a:rPr b="1" i="0" lang="en" sz="900" u="none" cap="none" strike="noStrike">
                <a:solidFill>
                  <a:srgbClr val="8A99A8"/>
                </a:solidFill>
                <a:latin typeface="Calibri"/>
                <a:ea typeface="Calibri"/>
                <a:cs typeface="Calibri"/>
                <a:sym typeface="Calibri"/>
              </a:rPr>
              <a:t>ACCURACY</a:t>
            </a:r>
            <a:endParaRPr b="0" i="0" sz="900" u="none" cap="none" strike="noStrike">
              <a:solidFill>
                <a:schemeClr val="dk1"/>
              </a:solidFill>
              <a:latin typeface="Calibri"/>
              <a:ea typeface="Calibri"/>
              <a:cs typeface="Calibri"/>
              <a:sym typeface="Calibri"/>
            </a:endParaRPr>
          </a:p>
        </p:txBody>
      </p:sp>
      <p:sp>
        <p:nvSpPr>
          <p:cNvPr id="340" name="Google Shape;340;p29"/>
          <p:cNvSpPr/>
          <p:nvPr/>
        </p:nvSpPr>
        <p:spPr>
          <a:xfrm>
            <a:off x="685800" y="2023110"/>
            <a:ext cx="2228850" cy="4800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Cambria"/>
              <a:buNone/>
            </a:pPr>
            <a:r>
              <a:rPr b="1" i="0" lang="en" sz="1300" u="none" cap="none" strike="noStrike">
                <a:solidFill>
                  <a:srgbClr val="FFFFFF"/>
                </a:solidFill>
                <a:latin typeface="Cambria"/>
                <a:ea typeface="Cambria"/>
                <a:cs typeface="Cambria"/>
                <a:sym typeface="Cambria"/>
              </a:rPr>
              <a:t>No measurable difference</a:t>
            </a:r>
            <a:endParaRPr b="0" i="0" sz="1300" u="none" cap="none" strike="noStrike">
              <a:solidFill>
                <a:schemeClr val="dk1"/>
              </a:solidFill>
              <a:latin typeface="Calibri"/>
              <a:ea typeface="Calibri"/>
              <a:cs typeface="Calibri"/>
              <a:sym typeface="Calibri"/>
            </a:endParaRPr>
          </a:p>
        </p:txBody>
      </p:sp>
      <p:sp>
        <p:nvSpPr>
          <p:cNvPr id="341" name="Google Shape;341;p29"/>
          <p:cNvSpPr/>
          <p:nvPr/>
        </p:nvSpPr>
        <p:spPr>
          <a:xfrm>
            <a:off x="685800" y="2571750"/>
            <a:ext cx="2228850" cy="4800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8A99A8"/>
              </a:buClr>
              <a:buSzPts val="1800"/>
              <a:buFont typeface="Cambria"/>
              <a:buNone/>
            </a:pPr>
            <a:r>
              <a:rPr b="1" i="0" lang="en" sz="1800" u="none" cap="none" strike="noStrike">
                <a:solidFill>
                  <a:srgbClr val="8A99A8"/>
                </a:solidFill>
                <a:latin typeface="Cambria"/>
                <a:ea typeface="Cambria"/>
                <a:cs typeface="Cambria"/>
                <a:sym typeface="Cambria"/>
              </a:rPr>
              <a:t>-3.1 pts  ·  95% CI -10.3 to +4.2</a:t>
            </a:r>
            <a:endParaRPr b="0" i="0" sz="1800" u="none" cap="none" strike="noStrike">
              <a:solidFill>
                <a:schemeClr val="dk1"/>
              </a:solidFill>
              <a:latin typeface="Calibri"/>
              <a:ea typeface="Calibri"/>
              <a:cs typeface="Calibri"/>
              <a:sym typeface="Calibri"/>
            </a:endParaRPr>
          </a:p>
        </p:txBody>
      </p:sp>
      <p:sp>
        <p:nvSpPr>
          <p:cNvPr id="342" name="Google Shape;342;p29"/>
          <p:cNvSpPr/>
          <p:nvPr/>
        </p:nvSpPr>
        <p:spPr>
          <a:xfrm>
            <a:off x="685800" y="3120390"/>
            <a:ext cx="2228850" cy="1028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BD5DD"/>
              </a:buClr>
              <a:buSzPts val="1000"/>
              <a:buFont typeface="Calibri"/>
              <a:buNone/>
            </a:pPr>
            <a:r>
              <a:rPr b="0" i="0" lang="en" sz="1000" u="none" cap="none" strike="noStrike">
                <a:solidFill>
                  <a:srgbClr val="CBD5DD"/>
                </a:solidFill>
                <a:latin typeface="Calibri"/>
                <a:ea typeface="Calibri"/>
                <a:cs typeface="Calibri"/>
                <a:sym typeface="Calibri"/>
              </a:rPr>
              <a:t>Crosses zero. 8 up, 10 down, 11 flat — indistinguishable from noise.</a:t>
            </a:r>
            <a:endParaRPr b="0" i="0" sz="1000" u="none" cap="none" strike="noStrike">
              <a:solidFill>
                <a:schemeClr val="dk1"/>
              </a:solidFill>
              <a:latin typeface="Calibri"/>
              <a:ea typeface="Calibri"/>
              <a:cs typeface="Calibri"/>
              <a:sym typeface="Calibri"/>
            </a:endParaRPr>
          </a:p>
        </p:txBody>
      </p:sp>
      <p:sp>
        <p:nvSpPr>
          <p:cNvPr id="343" name="Google Shape;343;p29"/>
          <p:cNvSpPr/>
          <p:nvPr/>
        </p:nvSpPr>
        <p:spPr>
          <a:xfrm>
            <a:off x="3408426" y="1611630"/>
            <a:ext cx="2640330" cy="2674620"/>
          </a:xfrm>
          <a:prstGeom prst="roundRect">
            <a:avLst>
              <a:gd fmla="val 2078" name="adj"/>
            </a:avLst>
          </a:prstGeom>
          <a:solidFill>
            <a:srgbClr val="2E3E4C"/>
          </a:solidFill>
          <a:ln cap="flat" cmpd="sng" w="12700">
            <a:solidFill>
              <a:srgbClr val="2E3E4C"/>
            </a:solidFill>
            <a:prstDash val="solid"/>
            <a:round/>
            <a:headEnd len="sm" w="sm" type="none"/>
            <a:tailEnd len="sm" w="sm" type="none"/>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344" name="Google Shape;344;p29"/>
          <p:cNvSpPr/>
          <p:nvPr/>
        </p:nvSpPr>
        <p:spPr>
          <a:xfrm>
            <a:off x="3614166" y="1769364"/>
            <a:ext cx="2228850" cy="24003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8A99A8"/>
              </a:buClr>
              <a:buSzPts val="900"/>
              <a:buFont typeface="Calibri"/>
              <a:buNone/>
            </a:pPr>
            <a:r>
              <a:rPr b="1" i="0" lang="en" sz="900" u="none" cap="none" strike="noStrike">
                <a:solidFill>
                  <a:srgbClr val="8A99A8"/>
                </a:solidFill>
                <a:latin typeface="Calibri"/>
                <a:ea typeface="Calibri"/>
                <a:cs typeface="Calibri"/>
                <a:sym typeface="Calibri"/>
              </a:rPr>
              <a:t>DISCIPLINE</a:t>
            </a:r>
            <a:endParaRPr b="0" i="0" sz="900" u="none" cap="none" strike="noStrike">
              <a:solidFill>
                <a:schemeClr val="dk1"/>
              </a:solidFill>
              <a:latin typeface="Calibri"/>
              <a:ea typeface="Calibri"/>
              <a:cs typeface="Calibri"/>
              <a:sym typeface="Calibri"/>
            </a:endParaRPr>
          </a:p>
        </p:txBody>
      </p:sp>
      <p:sp>
        <p:nvSpPr>
          <p:cNvPr id="345" name="Google Shape;345;p29"/>
          <p:cNvSpPr/>
          <p:nvPr/>
        </p:nvSpPr>
        <p:spPr>
          <a:xfrm>
            <a:off x="3614166" y="2023110"/>
            <a:ext cx="2228850" cy="4800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Cambria"/>
              <a:buNone/>
            </a:pPr>
            <a:r>
              <a:rPr b="1" i="0" lang="en" sz="1300" u="none" cap="none" strike="noStrike">
                <a:solidFill>
                  <a:srgbClr val="FFFFFF"/>
                </a:solidFill>
                <a:latin typeface="Cambria"/>
                <a:ea typeface="Cambria"/>
                <a:cs typeface="Cambria"/>
                <a:sym typeface="Cambria"/>
              </a:rPr>
              <a:t>Erodes as loading gets less targeted</a:t>
            </a:r>
            <a:endParaRPr b="0" i="0" sz="1300" u="none" cap="none" strike="noStrike">
              <a:solidFill>
                <a:schemeClr val="dk1"/>
              </a:solidFill>
              <a:latin typeface="Calibri"/>
              <a:ea typeface="Calibri"/>
              <a:cs typeface="Calibri"/>
              <a:sym typeface="Calibri"/>
            </a:endParaRPr>
          </a:p>
        </p:txBody>
      </p:sp>
      <p:sp>
        <p:nvSpPr>
          <p:cNvPr id="346" name="Google Shape;346;p29"/>
          <p:cNvSpPr/>
          <p:nvPr/>
        </p:nvSpPr>
        <p:spPr>
          <a:xfrm>
            <a:off x="3614166" y="2571750"/>
            <a:ext cx="2228850" cy="4800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663C"/>
              </a:buClr>
              <a:buSzPts val="1800"/>
              <a:buFont typeface="Cambria"/>
              <a:buNone/>
            </a:pPr>
            <a:r>
              <a:rPr b="1" i="0" lang="en" sz="1800" u="none" cap="none" strike="noStrike">
                <a:solidFill>
                  <a:srgbClr val="E8663C"/>
                </a:solidFill>
                <a:latin typeface="Cambria"/>
                <a:ea typeface="Cambria"/>
                <a:cs typeface="Cambria"/>
                <a:sym typeface="Cambria"/>
              </a:rPr>
              <a:t>87% → 83% → 74%</a:t>
            </a:r>
            <a:endParaRPr b="0" i="0" sz="1800" u="none" cap="none" strike="noStrike">
              <a:solidFill>
                <a:schemeClr val="dk1"/>
              </a:solidFill>
              <a:latin typeface="Calibri"/>
              <a:ea typeface="Calibri"/>
              <a:cs typeface="Calibri"/>
              <a:sym typeface="Calibri"/>
            </a:endParaRPr>
          </a:p>
        </p:txBody>
      </p:sp>
      <p:sp>
        <p:nvSpPr>
          <p:cNvPr id="347" name="Google Shape;347;p29"/>
          <p:cNvSpPr/>
          <p:nvPr/>
        </p:nvSpPr>
        <p:spPr>
          <a:xfrm>
            <a:off x="3614166" y="3120390"/>
            <a:ext cx="2228850" cy="1028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BD5DD"/>
              </a:buClr>
              <a:buSzPts val="1000"/>
              <a:buFont typeface="Calibri"/>
              <a:buNone/>
            </a:pPr>
            <a:r>
              <a:rPr b="0" i="0" lang="en" sz="1000" u="none" cap="none" strike="noStrike">
                <a:solidFill>
                  <a:srgbClr val="CBD5DD"/>
                </a:solidFill>
                <a:latin typeface="Calibri"/>
                <a:ea typeface="Calibri"/>
                <a:cs typeface="Calibri"/>
                <a:sym typeface="Calibri"/>
              </a:rPr>
              <a:t>Negative-test pass rate, baseline → per-slice → load-all. Monotonic.</a:t>
            </a:r>
            <a:endParaRPr b="0" i="0" sz="1000" u="none" cap="none" strike="noStrike">
              <a:solidFill>
                <a:schemeClr val="dk1"/>
              </a:solidFill>
              <a:latin typeface="Calibri"/>
              <a:ea typeface="Calibri"/>
              <a:cs typeface="Calibri"/>
              <a:sym typeface="Calibri"/>
            </a:endParaRPr>
          </a:p>
        </p:txBody>
      </p:sp>
      <p:sp>
        <p:nvSpPr>
          <p:cNvPr id="348" name="Google Shape;348;p29"/>
          <p:cNvSpPr/>
          <p:nvPr/>
        </p:nvSpPr>
        <p:spPr>
          <a:xfrm>
            <a:off x="6336792" y="1611630"/>
            <a:ext cx="2640330" cy="2674620"/>
          </a:xfrm>
          <a:prstGeom prst="roundRect">
            <a:avLst>
              <a:gd fmla="val 2078" name="adj"/>
            </a:avLst>
          </a:prstGeom>
          <a:solidFill>
            <a:srgbClr val="2E3E4C"/>
          </a:solidFill>
          <a:ln cap="flat" cmpd="sng" w="12700">
            <a:solidFill>
              <a:srgbClr val="2E3E4C"/>
            </a:solidFill>
            <a:prstDash val="solid"/>
            <a:round/>
            <a:headEnd len="sm" w="sm" type="none"/>
            <a:tailEnd len="sm" w="sm" type="none"/>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349" name="Google Shape;349;p29"/>
          <p:cNvSpPr/>
          <p:nvPr/>
        </p:nvSpPr>
        <p:spPr>
          <a:xfrm>
            <a:off x="6542532" y="1769364"/>
            <a:ext cx="2228850" cy="24003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8A99A8"/>
              </a:buClr>
              <a:buSzPts val="900"/>
              <a:buFont typeface="Calibri"/>
              <a:buNone/>
            </a:pPr>
            <a:r>
              <a:rPr b="1" i="0" lang="en" sz="900" u="none" cap="none" strike="noStrike">
                <a:solidFill>
                  <a:srgbClr val="8A99A8"/>
                </a:solidFill>
                <a:latin typeface="Calibri"/>
                <a:ea typeface="Calibri"/>
                <a:cs typeface="Calibri"/>
                <a:sym typeface="Calibri"/>
              </a:rPr>
              <a:t>EFFICIENCY</a:t>
            </a:r>
            <a:endParaRPr b="0" i="0" sz="900" u="none" cap="none" strike="noStrike">
              <a:solidFill>
                <a:schemeClr val="dk1"/>
              </a:solidFill>
              <a:latin typeface="Calibri"/>
              <a:ea typeface="Calibri"/>
              <a:cs typeface="Calibri"/>
              <a:sym typeface="Calibri"/>
            </a:endParaRPr>
          </a:p>
        </p:txBody>
      </p:sp>
      <p:sp>
        <p:nvSpPr>
          <p:cNvPr id="350" name="Google Shape;350;p29"/>
          <p:cNvSpPr/>
          <p:nvPr/>
        </p:nvSpPr>
        <p:spPr>
          <a:xfrm>
            <a:off x="6542532" y="2023110"/>
            <a:ext cx="2228850" cy="4800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Cambria"/>
              <a:buNone/>
            </a:pPr>
            <a:r>
              <a:rPr b="1" i="0" lang="en" sz="1300" u="none" cap="none" strike="noStrike">
                <a:solidFill>
                  <a:srgbClr val="FFFFFF"/>
                </a:solidFill>
                <a:latin typeface="Cambria"/>
                <a:ea typeface="Cambria"/>
                <a:cs typeface="Cambria"/>
                <a:sym typeface="Cambria"/>
              </a:rPr>
              <a:t>More context, more wasted turns</a:t>
            </a:r>
            <a:endParaRPr b="0" i="0" sz="1300" u="none" cap="none" strike="noStrike">
              <a:solidFill>
                <a:schemeClr val="dk1"/>
              </a:solidFill>
              <a:latin typeface="Calibri"/>
              <a:ea typeface="Calibri"/>
              <a:cs typeface="Calibri"/>
              <a:sym typeface="Calibri"/>
            </a:endParaRPr>
          </a:p>
        </p:txBody>
      </p:sp>
      <p:sp>
        <p:nvSpPr>
          <p:cNvPr id="351" name="Google Shape;351;p29"/>
          <p:cNvSpPr/>
          <p:nvPr/>
        </p:nvSpPr>
        <p:spPr>
          <a:xfrm>
            <a:off x="6542532" y="2571750"/>
            <a:ext cx="2228850" cy="4800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663C"/>
              </a:buClr>
              <a:buSzPts val="1800"/>
              <a:buFont typeface="Cambria"/>
              <a:buNone/>
            </a:pPr>
            <a:r>
              <a:rPr b="1" i="0" lang="en" sz="1800" u="none" cap="none" strike="noStrike">
                <a:solidFill>
                  <a:srgbClr val="E8663C"/>
                </a:solidFill>
                <a:latin typeface="Cambria"/>
                <a:ea typeface="Cambria"/>
                <a:cs typeface="Cambria"/>
                <a:sym typeface="Cambria"/>
              </a:rPr>
              <a:t>4 runs lost vs. 0</a:t>
            </a:r>
            <a:endParaRPr b="0" i="0" sz="1800" u="none" cap="none" strike="noStrike">
              <a:solidFill>
                <a:schemeClr val="dk1"/>
              </a:solidFill>
              <a:latin typeface="Calibri"/>
              <a:ea typeface="Calibri"/>
              <a:cs typeface="Calibri"/>
              <a:sym typeface="Calibri"/>
            </a:endParaRPr>
          </a:p>
        </p:txBody>
      </p:sp>
      <p:sp>
        <p:nvSpPr>
          <p:cNvPr id="352" name="Google Shape;352;p29"/>
          <p:cNvSpPr/>
          <p:nvPr/>
        </p:nvSpPr>
        <p:spPr>
          <a:xfrm>
            <a:off x="6542532" y="3120390"/>
            <a:ext cx="2228850" cy="1028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BD5DD"/>
              </a:buClr>
              <a:buSzPts val="1000"/>
              <a:buFont typeface="Calibri"/>
              <a:buNone/>
            </a:pPr>
            <a:r>
              <a:rPr b="0" i="0" lang="en" sz="1000" u="none" cap="none" strike="noStrike">
                <a:solidFill>
                  <a:srgbClr val="CBD5DD"/>
                </a:solidFill>
                <a:latin typeface="Calibri"/>
                <a:ea typeface="Calibri"/>
                <a:cs typeface="Calibri"/>
                <a:sym typeface="Calibri"/>
              </a:rPr>
              <a:t>Turn-budget exhaustion under load-all. Same cap, more to wade through.</a:t>
            </a:r>
            <a:endParaRPr b="0" i="0" sz="1000" u="none" cap="none" strike="noStrike">
              <a:solidFill>
                <a:schemeClr val="dk1"/>
              </a:solidFill>
              <a:latin typeface="Calibri"/>
              <a:ea typeface="Calibri"/>
              <a:cs typeface="Calibri"/>
              <a:sym typeface="Calibri"/>
            </a:endParaRPr>
          </a:p>
        </p:txBody>
      </p:sp>
      <p:sp>
        <p:nvSpPr>
          <p:cNvPr id="353" name="Google Shape;353;p29"/>
          <p:cNvSpPr/>
          <p:nvPr/>
        </p:nvSpPr>
        <p:spPr>
          <a:xfrm>
            <a:off x="480060" y="4491990"/>
            <a:ext cx="8181594" cy="4114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200"/>
              <a:buFont typeface="Cambria"/>
              <a:buNone/>
            </a:pPr>
            <a:r>
              <a:rPr b="0" i="1" lang="en" sz="1200" u="none" cap="none" strike="noStrike">
                <a:solidFill>
                  <a:srgbClr val="FFFFFF"/>
                </a:solidFill>
                <a:latin typeface="Cambria"/>
                <a:ea typeface="Cambria"/>
                <a:cs typeface="Cambria"/>
                <a:sym typeface="Cambria"/>
              </a:rPr>
              <a:t>The routing argument isn't “dilution makes the model dumber.” It's “dilution makes the model less careful about when to apply what it knows.”</a:t>
            </a:r>
            <a:endParaRPr b="0" i="0" sz="1200" u="none" cap="none" strike="noStrike">
              <a:solidFill>
                <a:schemeClr val="dk1"/>
              </a:solidFill>
              <a:latin typeface="Calibri"/>
              <a:ea typeface="Calibri"/>
              <a:cs typeface="Calibri"/>
              <a:sym typeface="Calibri"/>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58" name="Shape 358"/>
        <p:cNvGrpSpPr/>
        <p:nvPr/>
      </p:nvGrpSpPr>
      <p:grpSpPr>
        <a:xfrm>
          <a:off x="0" y="0"/>
          <a:ext cx="0" cy="0"/>
          <a:chOff x="0" y="0"/>
          <a:chExt cx="0" cy="0"/>
        </a:xfrm>
      </p:grpSpPr>
      <p:sp>
        <p:nvSpPr>
          <p:cNvPr id="359" name="Google Shape;359;p30"/>
          <p:cNvSpPr/>
          <p:nvPr/>
        </p:nvSpPr>
        <p:spPr>
          <a:xfrm>
            <a:off x="480060" y="192024"/>
            <a:ext cx="8181594" cy="2057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663C"/>
              </a:buClr>
              <a:buSzPts val="800"/>
              <a:buFont typeface="Calibri"/>
              <a:buNone/>
            </a:pPr>
            <a:r>
              <a:rPr b="1" i="0" lang="en" sz="800" u="none" cap="none" strike="noStrike">
                <a:solidFill>
                  <a:srgbClr val="E8663C"/>
                </a:solidFill>
                <a:latin typeface="Calibri"/>
                <a:ea typeface="Calibri"/>
                <a:cs typeface="Calibri"/>
                <a:sym typeface="Calibri"/>
              </a:rPr>
              <a:t>WHAT KEPT HAPPENING</a:t>
            </a:r>
            <a:endParaRPr b="0" i="0" sz="800" u="none" cap="none" strike="noStrike">
              <a:solidFill>
                <a:schemeClr val="dk1"/>
              </a:solidFill>
              <a:latin typeface="Calibri"/>
              <a:ea typeface="Calibri"/>
              <a:cs typeface="Calibri"/>
              <a:sym typeface="Calibri"/>
            </a:endParaRPr>
          </a:p>
        </p:txBody>
      </p:sp>
      <p:sp>
        <p:nvSpPr>
          <p:cNvPr id="360" name="Google Shape;360;p30"/>
          <p:cNvSpPr/>
          <p:nvPr/>
        </p:nvSpPr>
        <p:spPr>
          <a:xfrm>
            <a:off x="480060" y="342900"/>
            <a:ext cx="8181594" cy="6172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2303C"/>
              </a:buClr>
              <a:buSzPts val="2600"/>
              <a:buFont typeface="Cambria"/>
              <a:buNone/>
            </a:pPr>
            <a:r>
              <a:rPr b="1" i="0" lang="en" sz="2600" u="none" cap="none" strike="noStrike">
                <a:solidFill>
                  <a:srgbClr val="22303C"/>
                </a:solidFill>
                <a:latin typeface="Cambria"/>
                <a:ea typeface="Cambria"/>
                <a:cs typeface="Cambria"/>
                <a:sym typeface="Cambria"/>
              </a:rPr>
              <a:t>Five fabrications, all caught only by running the query</a:t>
            </a:r>
            <a:endParaRPr b="0" i="0" sz="2600" u="none" cap="none" strike="noStrike">
              <a:solidFill>
                <a:schemeClr val="dk1"/>
              </a:solidFill>
              <a:latin typeface="Calibri"/>
              <a:ea typeface="Calibri"/>
              <a:cs typeface="Calibri"/>
              <a:sym typeface="Calibri"/>
            </a:endParaRPr>
          </a:p>
        </p:txBody>
      </p:sp>
      <p:sp>
        <p:nvSpPr>
          <p:cNvPr id="361" name="Google Shape;361;p30"/>
          <p:cNvSpPr/>
          <p:nvPr/>
        </p:nvSpPr>
        <p:spPr>
          <a:xfrm>
            <a:off x="480060" y="1303020"/>
            <a:ext cx="8181594" cy="493776"/>
          </a:xfrm>
          <a:prstGeom prst="roundRect">
            <a:avLst>
              <a:gd fmla="val 11111" name="adj"/>
            </a:avLst>
          </a:prstGeom>
          <a:solidFill>
            <a:srgbClr val="F2F4F6"/>
          </a:solidFill>
          <a:ln cap="flat" cmpd="sng" w="12700">
            <a:solidFill>
              <a:srgbClr val="F2F4F6"/>
            </a:solidFill>
            <a:prstDash val="solid"/>
            <a:round/>
            <a:headEnd len="sm" w="sm" type="none"/>
            <a:tailEnd len="sm" w="sm" type="none"/>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362" name="Google Shape;362;p30"/>
          <p:cNvSpPr/>
          <p:nvPr/>
        </p:nvSpPr>
        <p:spPr>
          <a:xfrm>
            <a:off x="720090" y="1412748"/>
            <a:ext cx="384048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2303C"/>
              </a:buClr>
              <a:buSzPts val="1100"/>
              <a:buFont typeface="Calibri"/>
              <a:buNone/>
            </a:pPr>
            <a:r>
              <a:rPr b="1" i="0" lang="en" sz="1100" u="none" cap="none" strike="noStrike">
                <a:solidFill>
                  <a:srgbClr val="22303C"/>
                </a:solidFill>
                <a:latin typeface="Calibri"/>
                <a:ea typeface="Calibri"/>
                <a:cs typeface="Calibri"/>
                <a:sym typeface="Calibri"/>
              </a:rPr>
              <a:t>An invented performance-tier table</a:t>
            </a:r>
            <a:endParaRPr b="0" i="0" sz="1100" u="none" cap="none" strike="noStrike">
              <a:solidFill>
                <a:schemeClr val="dk1"/>
              </a:solidFill>
              <a:latin typeface="Calibri"/>
              <a:ea typeface="Calibri"/>
              <a:cs typeface="Calibri"/>
              <a:sym typeface="Calibri"/>
            </a:endParaRPr>
          </a:p>
        </p:txBody>
      </p:sp>
      <p:sp>
        <p:nvSpPr>
          <p:cNvPr id="363" name="Google Shape;363;p30"/>
          <p:cNvSpPr/>
          <p:nvPr/>
        </p:nvSpPr>
        <p:spPr>
          <a:xfrm>
            <a:off x="4663440" y="1412748"/>
            <a:ext cx="390906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A6B7A"/>
              </a:buClr>
              <a:buSzPts val="1100"/>
              <a:buFont typeface="Calibri"/>
              <a:buNone/>
            </a:pPr>
            <a:r>
              <a:rPr b="0" i="0" lang="en" sz="1100" u="none" cap="none" strike="noStrike">
                <a:solidFill>
                  <a:srgbClr val="5A6B7A"/>
                </a:solidFill>
                <a:latin typeface="Calibri"/>
                <a:ea typeface="Calibri"/>
                <a:cs typeface="Calibri"/>
                <a:sym typeface="Calibri"/>
              </a:rPr>
              <a:t>Looked entirely plausible. Wrong in every cell.</a:t>
            </a:r>
            <a:endParaRPr b="0" i="0" sz="1100" u="none" cap="none" strike="noStrike">
              <a:solidFill>
                <a:schemeClr val="dk1"/>
              </a:solidFill>
              <a:latin typeface="Calibri"/>
              <a:ea typeface="Calibri"/>
              <a:cs typeface="Calibri"/>
              <a:sym typeface="Calibri"/>
            </a:endParaRPr>
          </a:p>
        </p:txBody>
      </p:sp>
      <p:sp>
        <p:nvSpPr>
          <p:cNvPr id="364" name="Google Shape;364;p30"/>
          <p:cNvSpPr/>
          <p:nvPr/>
        </p:nvSpPr>
        <p:spPr>
          <a:xfrm>
            <a:off x="480060" y="1837944"/>
            <a:ext cx="8181594" cy="493776"/>
          </a:xfrm>
          <a:prstGeom prst="roundRect">
            <a:avLst>
              <a:gd fmla="val 11111" name="adj"/>
            </a:avLst>
          </a:prstGeom>
          <a:solidFill>
            <a:srgbClr val="FFFFFF"/>
          </a:solidFill>
          <a:ln cap="flat" cmpd="sng" w="12700">
            <a:solidFill>
              <a:srgbClr val="FFFFFF"/>
            </a:solidFill>
            <a:prstDash val="solid"/>
            <a:round/>
            <a:headEnd len="sm" w="sm" type="none"/>
            <a:tailEnd len="sm" w="sm" type="none"/>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365" name="Google Shape;365;p30"/>
          <p:cNvSpPr/>
          <p:nvPr/>
        </p:nvSpPr>
        <p:spPr>
          <a:xfrm>
            <a:off x="720090" y="1947672"/>
            <a:ext cx="384048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2303C"/>
              </a:buClr>
              <a:buSzPts val="1100"/>
              <a:buFont typeface="Calibri"/>
              <a:buNone/>
            </a:pPr>
            <a:r>
              <a:rPr b="1" i="0" lang="en" sz="1100" u="none" cap="none" strike="noStrike">
                <a:solidFill>
                  <a:srgbClr val="22303C"/>
                </a:solidFill>
                <a:latin typeface="Calibri"/>
                <a:ea typeface="Calibri"/>
                <a:cs typeface="Calibri"/>
                <a:sym typeface="Calibri"/>
              </a:rPr>
              <a:t>A wrong department-drop figure</a:t>
            </a:r>
            <a:endParaRPr b="0" i="0" sz="1100" u="none" cap="none" strike="noStrike">
              <a:solidFill>
                <a:schemeClr val="dk1"/>
              </a:solidFill>
              <a:latin typeface="Calibri"/>
              <a:ea typeface="Calibri"/>
              <a:cs typeface="Calibri"/>
              <a:sym typeface="Calibri"/>
            </a:endParaRPr>
          </a:p>
        </p:txBody>
      </p:sp>
      <p:sp>
        <p:nvSpPr>
          <p:cNvPr id="366" name="Google Shape;366;p30"/>
          <p:cNvSpPr/>
          <p:nvPr/>
        </p:nvSpPr>
        <p:spPr>
          <a:xfrm>
            <a:off x="4663440" y="1947672"/>
            <a:ext cx="390906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A6B7A"/>
              </a:buClr>
              <a:buSzPts val="1100"/>
              <a:buFont typeface="Calibri"/>
              <a:buNone/>
            </a:pPr>
            <a:r>
              <a:rPr b="0" i="0" lang="en" sz="1100" u="none" cap="none" strike="noStrike">
                <a:solidFill>
                  <a:srgbClr val="5A6B7A"/>
                </a:solidFill>
                <a:latin typeface="Calibri"/>
                <a:ea typeface="Calibri"/>
                <a:cs typeface="Calibri"/>
                <a:sym typeface="Calibri"/>
              </a:rPr>
              <a:t>Right shape, wrong number.</a:t>
            </a:r>
            <a:endParaRPr b="0" i="0" sz="1100" u="none" cap="none" strike="noStrike">
              <a:solidFill>
                <a:schemeClr val="dk1"/>
              </a:solidFill>
              <a:latin typeface="Calibri"/>
              <a:ea typeface="Calibri"/>
              <a:cs typeface="Calibri"/>
              <a:sym typeface="Calibri"/>
            </a:endParaRPr>
          </a:p>
        </p:txBody>
      </p:sp>
      <p:sp>
        <p:nvSpPr>
          <p:cNvPr id="367" name="Google Shape;367;p30"/>
          <p:cNvSpPr/>
          <p:nvPr/>
        </p:nvSpPr>
        <p:spPr>
          <a:xfrm>
            <a:off x="480060" y="2372868"/>
            <a:ext cx="8181594" cy="493776"/>
          </a:xfrm>
          <a:prstGeom prst="roundRect">
            <a:avLst>
              <a:gd fmla="val 11111" name="adj"/>
            </a:avLst>
          </a:prstGeom>
          <a:solidFill>
            <a:srgbClr val="F2F4F6"/>
          </a:solidFill>
          <a:ln cap="flat" cmpd="sng" w="12700">
            <a:solidFill>
              <a:srgbClr val="F2F4F6"/>
            </a:solidFill>
            <a:prstDash val="solid"/>
            <a:round/>
            <a:headEnd len="sm" w="sm" type="none"/>
            <a:tailEnd len="sm" w="sm" type="none"/>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368" name="Google Shape;368;p30"/>
          <p:cNvSpPr/>
          <p:nvPr/>
        </p:nvSpPr>
        <p:spPr>
          <a:xfrm>
            <a:off x="720090" y="2482596"/>
            <a:ext cx="384048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2303C"/>
              </a:buClr>
              <a:buSzPts val="1100"/>
              <a:buFont typeface="Calibri"/>
              <a:buNone/>
            </a:pPr>
            <a:r>
              <a:rPr b="1" i="0" lang="en" sz="1100" u="none" cap="none" strike="noStrike">
                <a:solidFill>
                  <a:srgbClr val="22303C"/>
                </a:solidFill>
                <a:latin typeface="Calibri"/>
                <a:ea typeface="Calibri"/>
                <a:cs typeface="Calibri"/>
                <a:sym typeface="Calibri"/>
              </a:rPr>
              <a:t>A correct figure in the wrong context</a:t>
            </a:r>
            <a:endParaRPr b="0" i="0" sz="1100" u="none" cap="none" strike="noStrike">
              <a:solidFill>
                <a:schemeClr val="dk1"/>
              </a:solidFill>
              <a:latin typeface="Calibri"/>
              <a:ea typeface="Calibri"/>
              <a:cs typeface="Calibri"/>
              <a:sym typeface="Calibri"/>
            </a:endParaRPr>
          </a:p>
        </p:txBody>
      </p:sp>
      <p:sp>
        <p:nvSpPr>
          <p:cNvPr id="369" name="Google Shape;369;p30"/>
          <p:cNvSpPr/>
          <p:nvPr/>
        </p:nvSpPr>
        <p:spPr>
          <a:xfrm>
            <a:off x="4663440" y="2482596"/>
            <a:ext cx="390906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A6B7A"/>
              </a:buClr>
              <a:buSzPts val="1100"/>
              <a:buFont typeface="Calibri"/>
              <a:buNone/>
            </a:pPr>
            <a:r>
              <a:rPr b="0" i="0" lang="en" sz="1100" u="none" cap="none" strike="noStrike">
                <a:solidFill>
                  <a:srgbClr val="5A6B7A"/>
                </a:solidFill>
                <a:latin typeface="Calibri"/>
                <a:ea typeface="Calibri"/>
                <a:cs typeface="Calibri"/>
                <a:sym typeface="Calibri"/>
              </a:rPr>
              <a:t>2,008 quoted where 1,668 applied.</a:t>
            </a:r>
            <a:endParaRPr b="0" i="0" sz="1100" u="none" cap="none" strike="noStrike">
              <a:solidFill>
                <a:schemeClr val="dk1"/>
              </a:solidFill>
              <a:latin typeface="Calibri"/>
              <a:ea typeface="Calibri"/>
              <a:cs typeface="Calibri"/>
              <a:sym typeface="Calibri"/>
            </a:endParaRPr>
          </a:p>
        </p:txBody>
      </p:sp>
      <p:sp>
        <p:nvSpPr>
          <p:cNvPr id="370" name="Google Shape;370;p30"/>
          <p:cNvSpPr/>
          <p:nvPr/>
        </p:nvSpPr>
        <p:spPr>
          <a:xfrm>
            <a:off x="480060" y="2907792"/>
            <a:ext cx="8181594" cy="493776"/>
          </a:xfrm>
          <a:prstGeom prst="roundRect">
            <a:avLst>
              <a:gd fmla="val 11111" name="adj"/>
            </a:avLst>
          </a:prstGeom>
          <a:solidFill>
            <a:srgbClr val="FFFFFF"/>
          </a:solidFill>
          <a:ln cap="flat" cmpd="sng" w="12700">
            <a:solidFill>
              <a:srgbClr val="FFFFFF"/>
            </a:solidFill>
            <a:prstDash val="solid"/>
            <a:round/>
            <a:headEnd len="sm" w="sm" type="none"/>
            <a:tailEnd len="sm" w="sm" type="none"/>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371" name="Google Shape;371;p30"/>
          <p:cNvSpPr/>
          <p:nvPr/>
        </p:nvSpPr>
        <p:spPr>
          <a:xfrm>
            <a:off x="720090" y="3017520"/>
            <a:ext cx="384048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2303C"/>
              </a:buClr>
              <a:buSzPts val="1100"/>
              <a:buFont typeface="Calibri"/>
              <a:buNone/>
            </a:pPr>
            <a:r>
              <a:rPr b="1" i="0" lang="en" sz="1100" u="none" cap="none" strike="noStrike">
                <a:solidFill>
                  <a:srgbClr val="22303C"/>
                </a:solidFill>
                <a:latin typeface="Calibri"/>
                <a:ea typeface="Calibri"/>
                <a:cs typeface="Calibri"/>
                <a:sym typeface="Calibri"/>
              </a:rPr>
              <a:t>A skew example with no skew</a:t>
            </a:r>
            <a:endParaRPr b="0" i="0" sz="1100" u="none" cap="none" strike="noStrike">
              <a:solidFill>
                <a:schemeClr val="dk1"/>
              </a:solidFill>
              <a:latin typeface="Calibri"/>
              <a:ea typeface="Calibri"/>
              <a:cs typeface="Calibri"/>
              <a:sym typeface="Calibri"/>
            </a:endParaRPr>
          </a:p>
        </p:txBody>
      </p:sp>
      <p:sp>
        <p:nvSpPr>
          <p:cNvPr id="372" name="Google Shape;372;p30"/>
          <p:cNvSpPr/>
          <p:nvPr/>
        </p:nvSpPr>
        <p:spPr>
          <a:xfrm>
            <a:off x="4663440" y="3017520"/>
            <a:ext cx="390906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A6B7A"/>
              </a:buClr>
              <a:buSzPts val="1100"/>
              <a:buFont typeface="Calibri"/>
              <a:buNone/>
            </a:pPr>
            <a:r>
              <a:rPr b="0" i="0" lang="en" sz="1100" u="none" cap="none" strike="noStrike">
                <a:solidFill>
                  <a:srgbClr val="5A6B7A"/>
                </a:solidFill>
                <a:latin typeface="Calibri"/>
                <a:ea typeface="Calibri"/>
                <a:cs typeface="Calibri"/>
                <a:sym typeface="Calibri"/>
              </a:rPr>
              <a:t>The data was symmetric. The claim implied otherwise.</a:t>
            </a:r>
            <a:endParaRPr b="0" i="0" sz="1100" u="none" cap="none" strike="noStrike">
              <a:solidFill>
                <a:schemeClr val="dk1"/>
              </a:solidFill>
              <a:latin typeface="Calibri"/>
              <a:ea typeface="Calibri"/>
              <a:cs typeface="Calibri"/>
              <a:sym typeface="Calibri"/>
            </a:endParaRPr>
          </a:p>
        </p:txBody>
      </p:sp>
      <p:sp>
        <p:nvSpPr>
          <p:cNvPr id="373" name="Google Shape;373;p30"/>
          <p:cNvSpPr/>
          <p:nvPr/>
        </p:nvSpPr>
        <p:spPr>
          <a:xfrm>
            <a:off x="480060" y="3442716"/>
            <a:ext cx="8181594" cy="493776"/>
          </a:xfrm>
          <a:prstGeom prst="roundRect">
            <a:avLst>
              <a:gd fmla="val 11111" name="adj"/>
            </a:avLst>
          </a:prstGeom>
          <a:solidFill>
            <a:srgbClr val="F2F4F6"/>
          </a:solidFill>
          <a:ln cap="flat" cmpd="sng" w="12700">
            <a:solidFill>
              <a:srgbClr val="F2F4F6"/>
            </a:solidFill>
            <a:prstDash val="solid"/>
            <a:round/>
            <a:headEnd len="sm" w="sm" type="none"/>
            <a:tailEnd len="sm" w="sm" type="none"/>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374" name="Google Shape;374;p30"/>
          <p:cNvSpPr/>
          <p:nvPr/>
        </p:nvSpPr>
        <p:spPr>
          <a:xfrm>
            <a:off x="720090" y="3552444"/>
            <a:ext cx="384048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2303C"/>
              </a:buClr>
              <a:buSzPts val="1100"/>
              <a:buFont typeface="Calibri"/>
              <a:buNone/>
            </a:pPr>
            <a:r>
              <a:rPr b="1" i="0" lang="en" sz="1100" u="none" cap="none" strike="noStrike">
                <a:solidFill>
                  <a:srgbClr val="22303C"/>
                </a:solidFill>
                <a:latin typeface="Calibri"/>
                <a:ea typeface="Calibri"/>
                <a:cs typeface="Calibri"/>
                <a:sym typeface="Calibri"/>
              </a:rPr>
              <a:t>A 0/0 result written to disk</a:t>
            </a:r>
            <a:endParaRPr b="0" i="0" sz="1100" u="none" cap="none" strike="noStrike">
              <a:solidFill>
                <a:schemeClr val="dk1"/>
              </a:solidFill>
              <a:latin typeface="Calibri"/>
              <a:ea typeface="Calibri"/>
              <a:cs typeface="Calibri"/>
              <a:sym typeface="Calibri"/>
            </a:endParaRPr>
          </a:p>
        </p:txBody>
      </p:sp>
      <p:sp>
        <p:nvSpPr>
          <p:cNvPr id="375" name="Google Shape;375;p30"/>
          <p:cNvSpPr/>
          <p:nvPr/>
        </p:nvSpPr>
        <p:spPr>
          <a:xfrm>
            <a:off x="4663440" y="3552444"/>
            <a:ext cx="390906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A6B7A"/>
              </a:buClr>
              <a:buSzPts val="1100"/>
              <a:buFont typeface="Calibri"/>
              <a:buNone/>
            </a:pPr>
            <a:r>
              <a:rPr b="0" i="0" lang="en" sz="1100" u="none" cap="none" strike="noStrike">
                <a:solidFill>
                  <a:srgbClr val="5A6B7A"/>
                </a:solidFill>
                <a:latin typeface="Calibri"/>
                <a:ea typeface="Calibri"/>
                <a:cs typeface="Calibri"/>
                <a:sym typeface="Calibri"/>
              </a:rPr>
              <a:t>Zero evals ran. It reported as a 0% score.</a:t>
            </a:r>
            <a:endParaRPr b="0" i="0" sz="1100" u="none" cap="none" strike="noStrike">
              <a:solidFill>
                <a:schemeClr val="dk1"/>
              </a:solidFill>
              <a:latin typeface="Calibri"/>
              <a:ea typeface="Calibri"/>
              <a:cs typeface="Calibri"/>
              <a:sym typeface="Calibri"/>
            </a:endParaRPr>
          </a:p>
        </p:txBody>
      </p:sp>
      <p:sp>
        <p:nvSpPr>
          <p:cNvPr id="376" name="Google Shape;376;p30"/>
          <p:cNvSpPr/>
          <p:nvPr/>
        </p:nvSpPr>
        <p:spPr>
          <a:xfrm>
            <a:off x="480060" y="4217670"/>
            <a:ext cx="8181594" cy="342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663C"/>
              </a:buClr>
              <a:buSzPts val="1400"/>
              <a:buFont typeface="Cambria"/>
              <a:buNone/>
            </a:pPr>
            <a:r>
              <a:rPr b="1" i="1" lang="en" sz="1400" u="none" cap="none" strike="noStrike">
                <a:solidFill>
                  <a:srgbClr val="E8663C"/>
                </a:solidFill>
                <a:latin typeface="Cambria"/>
                <a:ea typeface="Cambria"/>
                <a:cs typeface="Cambria"/>
                <a:sym typeface="Cambria"/>
              </a:rPr>
              <a:t>Every one was fluent, plausible, and would have passed review. Run the query.</a:t>
            </a:r>
            <a:endParaRPr b="0" i="0" sz="1400" u="none" cap="none" strike="noStrike">
              <a:solidFill>
                <a:schemeClr val="dk1"/>
              </a:solidFill>
              <a:latin typeface="Calibri"/>
              <a:ea typeface="Calibri"/>
              <a:cs typeface="Calibri"/>
              <a:sym typeface="Calibri"/>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81" name="Shape 381"/>
        <p:cNvGrpSpPr/>
        <p:nvPr/>
      </p:nvGrpSpPr>
      <p:grpSpPr>
        <a:xfrm>
          <a:off x="0" y="0"/>
          <a:ext cx="0" cy="0"/>
          <a:chOff x="0" y="0"/>
          <a:chExt cx="0" cy="0"/>
        </a:xfrm>
      </p:grpSpPr>
      <p:sp>
        <p:nvSpPr>
          <p:cNvPr id="382" name="Google Shape;382;p31"/>
          <p:cNvSpPr/>
          <p:nvPr/>
        </p:nvSpPr>
        <p:spPr>
          <a:xfrm>
            <a:off x="480060" y="192024"/>
            <a:ext cx="8181594" cy="2057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663C"/>
              </a:buClr>
              <a:buSzPts val="800"/>
              <a:buFont typeface="Calibri"/>
              <a:buNone/>
            </a:pPr>
            <a:r>
              <a:rPr b="1" i="0" lang="en" sz="800" u="none" cap="none" strike="noStrike">
                <a:solidFill>
                  <a:srgbClr val="E8663C"/>
                </a:solidFill>
                <a:latin typeface="Calibri"/>
                <a:ea typeface="Calibri"/>
                <a:cs typeface="Calibri"/>
                <a:sym typeface="Calibri"/>
              </a:rPr>
              <a:t>TODAY</a:t>
            </a:r>
            <a:endParaRPr b="0" i="0" sz="800" u="none" cap="none" strike="noStrike">
              <a:solidFill>
                <a:schemeClr val="dk1"/>
              </a:solidFill>
              <a:latin typeface="Calibri"/>
              <a:ea typeface="Calibri"/>
              <a:cs typeface="Calibri"/>
              <a:sym typeface="Calibri"/>
            </a:endParaRPr>
          </a:p>
        </p:txBody>
      </p:sp>
      <p:sp>
        <p:nvSpPr>
          <p:cNvPr id="383" name="Google Shape;383;p31"/>
          <p:cNvSpPr/>
          <p:nvPr/>
        </p:nvSpPr>
        <p:spPr>
          <a:xfrm>
            <a:off x="480060" y="342900"/>
            <a:ext cx="8181594" cy="6172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2303C"/>
              </a:buClr>
              <a:buSzPts val="2600"/>
              <a:buFont typeface="Cambria"/>
              <a:buNone/>
            </a:pPr>
            <a:r>
              <a:rPr b="1" i="0" lang="en" sz="2600" u="none" cap="none" strike="noStrike">
                <a:solidFill>
                  <a:srgbClr val="22303C"/>
                </a:solidFill>
                <a:latin typeface="Cambria"/>
                <a:ea typeface="Cambria"/>
                <a:cs typeface="Cambria"/>
                <a:sym typeface="Cambria"/>
              </a:rPr>
              <a:t>Three hours</a:t>
            </a:r>
            <a:endParaRPr b="0" i="0" sz="2600" u="none" cap="none" strike="noStrike">
              <a:solidFill>
                <a:schemeClr val="dk1"/>
              </a:solidFill>
              <a:latin typeface="Calibri"/>
              <a:ea typeface="Calibri"/>
              <a:cs typeface="Calibri"/>
              <a:sym typeface="Calibri"/>
            </a:endParaRPr>
          </a:p>
        </p:txBody>
      </p:sp>
      <p:sp>
        <p:nvSpPr>
          <p:cNvPr id="384" name="Google Shape;384;p31"/>
          <p:cNvSpPr/>
          <p:nvPr/>
        </p:nvSpPr>
        <p:spPr>
          <a:xfrm>
            <a:off x="480060" y="1131570"/>
            <a:ext cx="8181594" cy="411480"/>
          </a:xfrm>
          <a:prstGeom prst="roundRect">
            <a:avLst>
              <a:gd fmla="val 13333" name="adj"/>
            </a:avLst>
          </a:prstGeom>
          <a:solidFill>
            <a:srgbClr val="F2F4F6"/>
          </a:solidFill>
          <a:ln cap="flat" cmpd="sng" w="12700">
            <a:solidFill>
              <a:srgbClr val="F2F4F6"/>
            </a:solidFill>
            <a:prstDash val="solid"/>
            <a:round/>
            <a:headEnd len="sm" w="sm" type="none"/>
            <a:tailEnd len="sm" w="sm" type="none"/>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385" name="Google Shape;385;p31"/>
          <p:cNvSpPr/>
          <p:nvPr/>
        </p:nvSpPr>
        <p:spPr>
          <a:xfrm>
            <a:off x="720090" y="1220724"/>
            <a:ext cx="617220" cy="24003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8A99A8"/>
              </a:buClr>
              <a:buSzPts val="1100"/>
              <a:buFont typeface="Consolas"/>
              <a:buNone/>
            </a:pPr>
            <a:r>
              <a:rPr b="1" i="0" lang="en" sz="1100" u="none" cap="none" strike="noStrike">
                <a:solidFill>
                  <a:srgbClr val="8A99A8"/>
                </a:solidFill>
                <a:latin typeface="Consolas"/>
                <a:ea typeface="Consolas"/>
                <a:cs typeface="Consolas"/>
                <a:sym typeface="Consolas"/>
              </a:rPr>
              <a:t>0:00</a:t>
            </a:r>
            <a:endParaRPr b="0" i="0" sz="1100" u="none" cap="none" strike="noStrike">
              <a:solidFill>
                <a:schemeClr val="dk1"/>
              </a:solidFill>
              <a:latin typeface="Calibri"/>
              <a:ea typeface="Calibri"/>
              <a:cs typeface="Calibri"/>
              <a:sym typeface="Calibri"/>
            </a:endParaRPr>
          </a:p>
        </p:txBody>
      </p:sp>
      <p:sp>
        <p:nvSpPr>
          <p:cNvPr id="386" name="Google Shape;386;p31"/>
          <p:cNvSpPr/>
          <p:nvPr/>
        </p:nvSpPr>
        <p:spPr>
          <a:xfrm>
            <a:off x="1474470" y="1213866"/>
            <a:ext cx="4457700" cy="26060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2303C"/>
              </a:buClr>
              <a:buSzPts val="1100"/>
              <a:buFont typeface="Calibri"/>
              <a:buNone/>
            </a:pPr>
            <a:r>
              <a:rPr b="1" i="0" lang="en" sz="1100" u="none" cap="none" strike="noStrike">
                <a:solidFill>
                  <a:srgbClr val="22303C"/>
                </a:solidFill>
                <a:latin typeface="Calibri"/>
                <a:ea typeface="Calibri"/>
                <a:cs typeface="Calibri"/>
                <a:sym typeface="Calibri"/>
              </a:rPr>
              <a:t>Why coding agents worked first</a:t>
            </a:r>
            <a:endParaRPr b="0" i="0" sz="1100" u="none" cap="none" strike="noStrike">
              <a:solidFill>
                <a:schemeClr val="dk1"/>
              </a:solidFill>
              <a:latin typeface="Calibri"/>
              <a:ea typeface="Calibri"/>
              <a:cs typeface="Calibri"/>
              <a:sym typeface="Calibri"/>
            </a:endParaRPr>
          </a:p>
        </p:txBody>
      </p:sp>
      <p:sp>
        <p:nvSpPr>
          <p:cNvPr id="387" name="Google Shape;387;p31"/>
          <p:cNvSpPr/>
          <p:nvPr/>
        </p:nvSpPr>
        <p:spPr>
          <a:xfrm>
            <a:off x="6035040" y="1220724"/>
            <a:ext cx="2537460" cy="24003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A6B7A"/>
              </a:buClr>
              <a:buSzPts val="1000"/>
              <a:buFont typeface="Calibri"/>
              <a:buNone/>
            </a:pPr>
            <a:r>
              <a:rPr b="0" i="0" lang="en" sz="1000" u="none" cap="none" strike="noStrike">
                <a:solidFill>
                  <a:srgbClr val="5A6B7A"/>
                </a:solidFill>
                <a:latin typeface="Calibri"/>
                <a:ea typeface="Calibri"/>
                <a:cs typeface="Calibri"/>
                <a:sym typeface="Calibri"/>
              </a:rPr>
              <a:t>Framing</a:t>
            </a:r>
            <a:endParaRPr b="0" i="0" sz="1000" u="none" cap="none" strike="noStrike">
              <a:solidFill>
                <a:schemeClr val="dk1"/>
              </a:solidFill>
              <a:latin typeface="Calibri"/>
              <a:ea typeface="Calibri"/>
              <a:cs typeface="Calibri"/>
              <a:sym typeface="Calibri"/>
            </a:endParaRPr>
          </a:p>
        </p:txBody>
      </p:sp>
      <p:sp>
        <p:nvSpPr>
          <p:cNvPr id="388" name="Google Shape;388;p31"/>
          <p:cNvSpPr/>
          <p:nvPr/>
        </p:nvSpPr>
        <p:spPr>
          <a:xfrm>
            <a:off x="480060" y="1584198"/>
            <a:ext cx="8181594" cy="411480"/>
          </a:xfrm>
          <a:prstGeom prst="roundRect">
            <a:avLst>
              <a:gd fmla="val 13333" name="adj"/>
            </a:avLst>
          </a:prstGeom>
          <a:solidFill>
            <a:srgbClr val="FFFFFF"/>
          </a:solidFill>
          <a:ln cap="flat" cmpd="sng" w="12700">
            <a:solidFill>
              <a:srgbClr val="FFFFFF"/>
            </a:solidFill>
            <a:prstDash val="solid"/>
            <a:round/>
            <a:headEnd len="sm" w="sm" type="none"/>
            <a:tailEnd len="sm" w="sm" type="none"/>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389" name="Google Shape;389;p31"/>
          <p:cNvSpPr/>
          <p:nvPr/>
        </p:nvSpPr>
        <p:spPr>
          <a:xfrm>
            <a:off x="720090" y="1673352"/>
            <a:ext cx="617220" cy="24003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8A99A8"/>
              </a:buClr>
              <a:buSzPts val="1100"/>
              <a:buFont typeface="Consolas"/>
              <a:buNone/>
            </a:pPr>
            <a:r>
              <a:rPr b="1" i="0" lang="en" sz="1100" u="none" cap="none" strike="noStrike">
                <a:solidFill>
                  <a:srgbClr val="8A99A8"/>
                </a:solidFill>
                <a:latin typeface="Consolas"/>
                <a:ea typeface="Consolas"/>
                <a:cs typeface="Consolas"/>
                <a:sym typeface="Consolas"/>
              </a:rPr>
              <a:t>0:20</a:t>
            </a:r>
            <a:endParaRPr b="0" i="0" sz="1100" u="none" cap="none" strike="noStrike">
              <a:solidFill>
                <a:schemeClr val="dk1"/>
              </a:solidFill>
              <a:latin typeface="Calibri"/>
              <a:ea typeface="Calibri"/>
              <a:cs typeface="Calibri"/>
              <a:sym typeface="Calibri"/>
            </a:endParaRPr>
          </a:p>
        </p:txBody>
      </p:sp>
      <p:sp>
        <p:nvSpPr>
          <p:cNvPr id="390" name="Google Shape;390;p31"/>
          <p:cNvSpPr/>
          <p:nvPr/>
        </p:nvSpPr>
        <p:spPr>
          <a:xfrm>
            <a:off x="1474470" y="1666494"/>
            <a:ext cx="4457700" cy="26060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2303C"/>
              </a:buClr>
              <a:buSzPts val="1100"/>
              <a:buFont typeface="Calibri"/>
              <a:buNone/>
            </a:pPr>
            <a:r>
              <a:rPr b="1" i="0" lang="en" sz="1100" u="none" cap="none" strike="noStrike">
                <a:solidFill>
                  <a:srgbClr val="22303C"/>
                </a:solidFill>
                <a:latin typeface="Calibri"/>
                <a:ea typeface="Calibri"/>
                <a:cs typeface="Calibri"/>
                <a:sym typeface="Calibri"/>
              </a:rPr>
              <a:t>The failure demo</a:t>
            </a:r>
            <a:endParaRPr b="0" i="0" sz="1100" u="none" cap="none" strike="noStrike">
              <a:solidFill>
                <a:schemeClr val="dk1"/>
              </a:solidFill>
              <a:latin typeface="Calibri"/>
              <a:ea typeface="Calibri"/>
              <a:cs typeface="Calibri"/>
              <a:sym typeface="Calibri"/>
            </a:endParaRPr>
          </a:p>
        </p:txBody>
      </p:sp>
      <p:sp>
        <p:nvSpPr>
          <p:cNvPr id="391" name="Google Shape;391;p31"/>
          <p:cNvSpPr/>
          <p:nvPr/>
        </p:nvSpPr>
        <p:spPr>
          <a:xfrm>
            <a:off x="6035040" y="1673352"/>
            <a:ext cx="2537460" cy="24003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A6B7A"/>
              </a:buClr>
              <a:buSzPts val="1000"/>
              <a:buFont typeface="Calibri"/>
              <a:buNone/>
            </a:pPr>
            <a:r>
              <a:rPr b="0" i="0" lang="en" sz="1000" u="none" cap="none" strike="noStrike">
                <a:solidFill>
                  <a:srgbClr val="5A6B7A"/>
                </a:solidFill>
                <a:latin typeface="Calibri"/>
                <a:ea typeface="Calibri"/>
                <a:cs typeface="Calibri"/>
                <a:sym typeface="Calibri"/>
              </a:rPr>
              <a:t>Watch an agent answer confidently and wrong</a:t>
            </a:r>
            <a:endParaRPr b="0" i="0" sz="1000" u="none" cap="none" strike="noStrike">
              <a:solidFill>
                <a:schemeClr val="dk1"/>
              </a:solidFill>
              <a:latin typeface="Calibri"/>
              <a:ea typeface="Calibri"/>
              <a:cs typeface="Calibri"/>
              <a:sym typeface="Calibri"/>
            </a:endParaRPr>
          </a:p>
        </p:txBody>
      </p:sp>
      <p:sp>
        <p:nvSpPr>
          <p:cNvPr id="392" name="Google Shape;392;p31"/>
          <p:cNvSpPr/>
          <p:nvPr/>
        </p:nvSpPr>
        <p:spPr>
          <a:xfrm>
            <a:off x="480060" y="2036826"/>
            <a:ext cx="8181594" cy="411480"/>
          </a:xfrm>
          <a:prstGeom prst="roundRect">
            <a:avLst>
              <a:gd fmla="val 13333" name="adj"/>
            </a:avLst>
          </a:prstGeom>
          <a:solidFill>
            <a:srgbClr val="F2F4F6"/>
          </a:solidFill>
          <a:ln cap="flat" cmpd="sng" w="12700">
            <a:solidFill>
              <a:srgbClr val="F2F4F6"/>
            </a:solidFill>
            <a:prstDash val="solid"/>
            <a:round/>
            <a:headEnd len="sm" w="sm" type="none"/>
            <a:tailEnd len="sm" w="sm" type="none"/>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393" name="Google Shape;393;p31"/>
          <p:cNvSpPr/>
          <p:nvPr/>
        </p:nvSpPr>
        <p:spPr>
          <a:xfrm>
            <a:off x="720090" y="2125980"/>
            <a:ext cx="617220" cy="24003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8A99A8"/>
              </a:buClr>
              <a:buSzPts val="1100"/>
              <a:buFont typeface="Consolas"/>
              <a:buNone/>
            </a:pPr>
            <a:r>
              <a:rPr b="1" i="0" lang="en" sz="1100" u="none" cap="none" strike="noStrike">
                <a:solidFill>
                  <a:srgbClr val="8A99A8"/>
                </a:solidFill>
                <a:latin typeface="Consolas"/>
                <a:ea typeface="Consolas"/>
                <a:cs typeface="Consolas"/>
                <a:sym typeface="Consolas"/>
              </a:rPr>
              <a:t>0:40</a:t>
            </a:r>
            <a:endParaRPr b="0" i="0" sz="1100" u="none" cap="none" strike="noStrike">
              <a:solidFill>
                <a:schemeClr val="dk1"/>
              </a:solidFill>
              <a:latin typeface="Calibri"/>
              <a:ea typeface="Calibri"/>
              <a:cs typeface="Calibri"/>
              <a:sym typeface="Calibri"/>
            </a:endParaRPr>
          </a:p>
        </p:txBody>
      </p:sp>
      <p:sp>
        <p:nvSpPr>
          <p:cNvPr id="394" name="Google Shape;394;p31"/>
          <p:cNvSpPr/>
          <p:nvPr/>
        </p:nvSpPr>
        <p:spPr>
          <a:xfrm>
            <a:off x="1474470" y="2119122"/>
            <a:ext cx="4457700" cy="26060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2303C"/>
              </a:buClr>
              <a:buSzPts val="1100"/>
              <a:buFont typeface="Calibri"/>
              <a:buNone/>
            </a:pPr>
            <a:r>
              <a:rPr b="1" i="0" lang="en" sz="1100" u="none" cap="none" strike="noStrike">
                <a:solidFill>
                  <a:srgbClr val="22303C"/>
                </a:solidFill>
                <a:latin typeface="Calibri"/>
                <a:ea typeface="Calibri"/>
                <a:cs typeface="Calibri"/>
                <a:sym typeface="Calibri"/>
              </a:rPr>
              <a:t>Define — your own recurring question</a:t>
            </a:r>
            <a:endParaRPr b="0" i="0" sz="1100" u="none" cap="none" strike="noStrike">
              <a:solidFill>
                <a:schemeClr val="dk1"/>
              </a:solidFill>
              <a:latin typeface="Calibri"/>
              <a:ea typeface="Calibri"/>
              <a:cs typeface="Calibri"/>
              <a:sym typeface="Calibri"/>
            </a:endParaRPr>
          </a:p>
        </p:txBody>
      </p:sp>
      <p:sp>
        <p:nvSpPr>
          <p:cNvPr id="395" name="Google Shape;395;p31"/>
          <p:cNvSpPr/>
          <p:nvPr/>
        </p:nvSpPr>
        <p:spPr>
          <a:xfrm>
            <a:off x="6035040" y="2125980"/>
            <a:ext cx="2537460" cy="24003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A6B7A"/>
              </a:buClr>
              <a:buSzPts val="1000"/>
              <a:buFont typeface="Calibri"/>
              <a:buNone/>
            </a:pPr>
            <a:r>
              <a:rPr b="0" i="0" lang="en" sz="1000" u="none" cap="none" strike="noStrike">
                <a:solidFill>
                  <a:srgbClr val="5A6B7A"/>
                </a:solidFill>
                <a:latin typeface="Calibri"/>
                <a:ea typeface="Calibri"/>
                <a:cs typeface="Calibri"/>
                <a:sym typeface="Calibri"/>
              </a:rPr>
              <a:t>Hands on</a:t>
            </a:r>
            <a:endParaRPr b="0" i="0" sz="1000" u="none" cap="none" strike="noStrike">
              <a:solidFill>
                <a:schemeClr val="dk1"/>
              </a:solidFill>
              <a:latin typeface="Calibri"/>
              <a:ea typeface="Calibri"/>
              <a:cs typeface="Calibri"/>
              <a:sym typeface="Calibri"/>
            </a:endParaRPr>
          </a:p>
        </p:txBody>
      </p:sp>
      <p:sp>
        <p:nvSpPr>
          <p:cNvPr id="396" name="Google Shape;396;p31"/>
          <p:cNvSpPr/>
          <p:nvPr/>
        </p:nvSpPr>
        <p:spPr>
          <a:xfrm>
            <a:off x="480060" y="2489454"/>
            <a:ext cx="8181594" cy="411480"/>
          </a:xfrm>
          <a:prstGeom prst="roundRect">
            <a:avLst>
              <a:gd fmla="val 13333" name="adj"/>
            </a:avLst>
          </a:prstGeom>
          <a:solidFill>
            <a:srgbClr val="FFFFFF"/>
          </a:solidFill>
          <a:ln cap="flat" cmpd="sng" w="12700">
            <a:solidFill>
              <a:srgbClr val="FFFFFF"/>
            </a:solidFill>
            <a:prstDash val="solid"/>
            <a:round/>
            <a:headEnd len="sm" w="sm" type="none"/>
            <a:tailEnd len="sm" w="sm" type="none"/>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397" name="Google Shape;397;p31"/>
          <p:cNvSpPr/>
          <p:nvPr/>
        </p:nvSpPr>
        <p:spPr>
          <a:xfrm>
            <a:off x="720090" y="2578608"/>
            <a:ext cx="617220" cy="24003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8A99A8"/>
              </a:buClr>
              <a:buSzPts val="1100"/>
              <a:buFont typeface="Consolas"/>
              <a:buNone/>
            </a:pPr>
            <a:r>
              <a:rPr b="1" i="0" lang="en" sz="1100" u="none" cap="none" strike="noStrike">
                <a:solidFill>
                  <a:srgbClr val="8A99A8"/>
                </a:solidFill>
                <a:latin typeface="Consolas"/>
                <a:ea typeface="Consolas"/>
                <a:cs typeface="Consolas"/>
                <a:sym typeface="Consolas"/>
              </a:rPr>
              <a:t>1:00</a:t>
            </a:r>
            <a:endParaRPr b="0" i="0" sz="1100" u="none" cap="none" strike="noStrike">
              <a:solidFill>
                <a:schemeClr val="dk1"/>
              </a:solidFill>
              <a:latin typeface="Calibri"/>
              <a:ea typeface="Calibri"/>
              <a:cs typeface="Calibri"/>
              <a:sym typeface="Calibri"/>
            </a:endParaRPr>
          </a:p>
        </p:txBody>
      </p:sp>
      <p:sp>
        <p:nvSpPr>
          <p:cNvPr id="398" name="Google Shape;398;p31"/>
          <p:cNvSpPr/>
          <p:nvPr/>
        </p:nvSpPr>
        <p:spPr>
          <a:xfrm>
            <a:off x="1474470" y="2571750"/>
            <a:ext cx="4457700" cy="26060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2303C"/>
              </a:buClr>
              <a:buSzPts val="1100"/>
              <a:buFont typeface="Calibri"/>
              <a:buNone/>
            </a:pPr>
            <a:r>
              <a:rPr b="1" i="0" lang="en" sz="1100" u="none" cap="none" strike="noStrike">
                <a:solidFill>
                  <a:srgbClr val="22303C"/>
                </a:solidFill>
                <a:latin typeface="Calibri"/>
                <a:ea typeface="Calibri"/>
                <a:cs typeface="Calibri"/>
                <a:sym typeface="Calibri"/>
              </a:rPr>
              <a:t>Validate — write the evals first</a:t>
            </a:r>
            <a:endParaRPr b="0" i="0" sz="1100" u="none" cap="none" strike="noStrike">
              <a:solidFill>
                <a:schemeClr val="dk1"/>
              </a:solidFill>
              <a:latin typeface="Calibri"/>
              <a:ea typeface="Calibri"/>
              <a:cs typeface="Calibri"/>
              <a:sym typeface="Calibri"/>
            </a:endParaRPr>
          </a:p>
        </p:txBody>
      </p:sp>
      <p:sp>
        <p:nvSpPr>
          <p:cNvPr id="399" name="Google Shape;399;p31"/>
          <p:cNvSpPr/>
          <p:nvPr/>
        </p:nvSpPr>
        <p:spPr>
          <a:xfrm>
            <a:off x="6035040" y="2578608"/>
            <a:ext cx="2537460" cy="24003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A6B7A"/>
              </a:buClr>
              <a:buSzPts val="1000"/>
              <a:buFont typeface="Calibri"/>
              <a:buNone/>
            </a:pPr>
            <a:r>
              <a:rPr b="0" i="0" lang="en" sz="1000" u="none" cap="none" strike="noStrike">
                <a:solidFill>
                  <a:srgbClr val="5A6B7A"/>
                </a:solidFill>
                <a:latin typeface="Calibri"/>
                <a:ea typeface="Calibri"/>
                <a:cs typeface="Calibri"/>
                <a:sym typeface="Calibri"/>
              </a:rPr>
              <a:t>Hands on</a:t>
            </a:r>
            <a:endParaRPr b="0" i="0" sz="1000" u="none" cap="none" strike="noStrike">
              <a:solidFill>
                <a:schemeClr val="dk1"/>
              </a:solidFill>
              <a:latin typeface="Calibri"/>
              <a:ea typeface="Calibri"/>
              <a:cs typeface="Calibri"/>
              <a:sym typeface="Calibri"/>
            </a:endParaRPr>
          </a:p>
        </p:txBody>
      </p:sp>
      <p:sp>
        <p:nvSpPr>
          <p:cNvPr id="400" name="Google Shape;400;p31"/>
          <p:cNvSpPr/>
          <p:nvPr/>
        </p:nvSpPr>
        <p:spPr>
          <a:xfrm>
            <a:off x="480060" y="2942082"/>
            <a:ext cx="8181594" cy="411480"/>
          </a:xfrm>
          <a:prstGeom prst="roundRect">
            <a:avLst>
              <a:gd fmla="val 13333" name="adj"/>
            </a:avLst>
          </a:prstGeom>
          <a:solidFill>
            <a:srgbClr val="FBEDE8"/>
          </a:solidFill>
          <a:ln cap="flat" cmpd="sng" w="12700">
            <a:solidFill>
              <a:srgbClr val="FBEDE8"/>
            </a:solidFill>
            <a:prstDash val="solid"/>
            <a:round/>
            <a:headEnd len="sm" w="sm" type="none"/>
            <a:tailEnd len="sm" w="sm" type="none"/>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401" name="Google Shape;401;p31"/>
          <p:cNvSpPr/>
          <p:nvPr/>
        </p:nvSpPr>
        <p:spPr>
          <a:xfrm>
            <a:off x="720090" y="3031236"/>
            <a:ext cx="617220" cy="24003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663C"/>
              </a:buClr>
              <a:buSzPts val="1100"/>
              <a:buFont typeface="Consolas"/>
              <a:buNone/>
            </a:pPr>
            <a:r>
              <a:rPr b="1" i="0" lang="en" sz="1100" u="none" cap="none" strike="noStrike">
                <a:solidFill>
                  <a:srgbClr val="E8663C"/>
                </a:solidFill>
                <a:latin typeface="Consolas"/>
                <a:ea typeface="Consolas"/>
                <a:cs typeface="Consolas"/>
                <a:sym typeface="Consolas"/>
              </a:rPr>
              <a:t>1:30</a:t>
            </a:r>
            <a:endParaRPr b="0" i="0" sz="1100" u="none" cap="none" strike="noStrike">
              <a:solidFill>
                <a:schemeClr val="dk1"/>
              </a:solidFill>
              <a:latin typeface="Calibri"/>
              <a:ea typeface="Calibri"/>
              <a:cs typeface="Calibri"/>
              <a:sym typeface="Calibri"/>
            </a:endParaRPr>
          </a:p>
        </p:txBody>
      </p:sp>
      <p:sp>
        <p:nvSpPr>
          <p:cNvPr id="402" name="Google Shape;402;p31"/>
          <p:cNvSpPr/>
          <p:nvPr/>
        </p:nvSpPr>
        <p:spPr>
          <a:xfrm>
            <a:off x="1474470" y="3024378"/>
            <a:ext cx="4457700" cy="26060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663C"/>
              </a:buClr>
              <a:buSzPts val="1100"/>
              <a:buFont typeface="Calibri"/>
              <a:buNone/>
            </a:pPr>
            <a:r>
              <a:rPr b="1" i="0" lang="en" sz="1100" u="none" cap="none" strike="noStrike">
                <a:solidFill>
                  <a:srgbClr val="E8663C"/>
                </a:solidFill>
                <a:latin typeface="Calibri"/>
                <a:ea typeface="Calibri"/>
                <a:cs typeface="Calibri"/>
                <a:sym typeface="Calibri"/>
              </a:rPr>
              <a:t>Build — author the skill</a:t>
            </a:r>
            <a:endParaRPr b="0" i="0" sz="1100" u="none" cap="none" strike="noStrike">
              <a:solidFill>
                <a:schemeClr val="dk1"/>
              </a:solidFill>
              <a:latin typeface="Calibri"/>
              <a:ea typeface="Calibri"/>
              <a:cs typeface="Calibri"/>
              <a:sym typeface="Calibri"/>
            </a:endParaRPr>
          </a:p>
        </p:txBody>
      </p:sp>
      <p:sp>
        <p:nvSpPr>
          <p:cNvPr id="403" name="Google Shape;403;p31"/>
          <p:cNvSpPr/>
          <p:nvPr/>
        </p:nvSpPr>
        <p:spPr>
          <a:xfrm>
            <a:off x="6035040" y="3031236"/>
            <a:ext cx="2537460" cy="24003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8C4430"/>
              </a:buClr>
              <a:buSzPts val="1000"/>
              <a:buFont typeface="Calibri"/>
              <a:buNone/>
            </a:pPr>
            <a:r>
              <a:rPr b="0" i="0" lang="en" sz="1000" u="none" cap="none" strike="noStrike">
                <a:solidFill>
                  <a:srgbClr val="8C4430"/>
                </a:solidFill>
                <a:latin typeface="Calibri"/>
                <a:ea typeface="Calibri"/>
                <a:cs typeface="Calibri"/>
                <a:sym typeface="Calibri"/>
              </a:rPr>
              <a:t>Hands on, the main block</a:t>
            </a:r>
            <a:endParaRPr b="0" i="0" sz="1000" u="none" cap="none" strike="noStrike">
              <a:solidFill>
                <a:schemeClr val="dk1"/>
              </a:solidFill>
              <a:latin typeface="Calibri"/>
              <a:ea typeface="Calibri"/>
              <a:cs typeface="Calibri"/>
              <a:sym typeface="Calibri"/>
            </a:endParaRPr>
          </a:p>
        </p:txBody>
      </p:sp>
      <p:sp>
        <p:nvSpPr>
          <p:cNvPr id="404" name="Google Shape;404;p31"/>
          <p:cNvSpPr/>
          <p:nvPr/>
        </p:nvSpPr>
        <p:spPr>
          <a:xfrm>
            <a:off x="480060" y="3394710"/>
            <a:ext cx="8181594" cy="411480"/>
          </a:xfrm>
          <a:prstGeom prst="roundRect">
            <a:avLst>
              <a:gd fmla="val 13333" name="adj"/>
            </a:avLst>
          </a:prstGeom>
          <a:solidFill>
            <a:srgbClr val="FFFFFF"/>
          </a:solidFill>
          <a:ln cap="flat" cmpd="sng" w="12700">
            <a:solidFill>
              <a:srgbClr val="FFFFFF"/>
            </a:solidFill>
            <a:prstDash val="solid"/>
            <a:round/>
            <a:headEnd len="sm" w="sm" type="none"/>
            <a:tailEnd len="sm" w="sm" type="none"/>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405" name="Google Shape;405;p31"/>
          <p:cNvSpPr/>
          <p:nvPr/>
        </p:nvSpPr>
        <p:spPr>
          <a:xfrm>
            <a:off x="720090" y="3483864"/>
            <a:ext cx="617220" cy="24003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8A99A8"/>
              </a:buClr>
              <a:buSzPts val="1100"/>
              <a:buFont typeface="Consolas"/>
              <a:buNone/>
            </a:pPr>
            <a:r>
              <a:rPr b="1" i="0" lang="en" sz="1100" u="none" cap="none" strike="noStrike">
                <a:solidFill>
                  <a:srgbClr val="8A99A8"/>
                </a:solidFill>
                <a:latin typeface="Consolas"/>
                <a:ea typeface="Consolas"/>
                <a:cs typeface="Consolas"/>
                <a:sym typeface="Consolas"/>
              </a:rPr>
              <a:t>2:15</a:t>
            </a:r>
            <a:endParaRPr b="0" i="0" sz="1100" u="none" cap="none" strike="noStrike">
              <a:solidFill>
                <a:schemeClr val="dk1"/>
              </a:solidFill>
              <a:latin typeface="Calibri"/>
              <a:ea typeface="Calibri"/>
              <a:cs typeface="Calibri"/>
              <a:sym typeface="Calibri"/>
            </a:endParaRPr>
          </a:p>
        </p:txBody>
      </p:sp>
      <p:sp>
        <p:nvSpPr>
          <p:cNvPr id="406" name="Google Shape;406;p31"/>
          <p:cNvSpPr/>
          <p:nvPr/>
        </p:nvSpPr>
        <p:spPr>
          <a:xfrm>
            <a:off x="1474470" y="3477006"/>
            <a:ext cx="4457700" cy="26060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2303C"/>
              </a:buClr>
              <a:buSzPts val="1100"/>
              <a:buFont typeface="Calibri"/>
              <a:buNone/>
            </a:pPr>
            <a:r>
              <a:rPr b="1" i="0" lang="en" sz="1100" u="none" cap="none" strike="noStrike">
                <a:solidFill>
                  <a:srgbClr val="22303C"/>
                </a:solidFill>
                <a:latin typeface="Calibri"/>
                <a:ea typeface="Calibri"/>
                <a:cs typeface="Calibri"/>
                <a:sym typeface="Calibri"/>
              </a:rPr>
              <a:t>Run the ablation</a:t>
            </a:r>
            <a:endParaRPr b="0" i="0" sz="1100" u="none" cap="none" strike="noStrike">
              <a:solidFill>
                <a:schemeClr val="dk1"/>
              </a:solidFill>
              <a:latin typeface="Calibri"/>
              <a:ea typeface="Calibri"/>
              <a:cs typeface="Calibri"/>
              <a:sym typeface="Calibri"/>
            </a:endParaRPr>
          </a:p>
        </p:txBody>
      </p:sp>
      <p:sp>
        <p:nvSpPr>
          <p:cNvPr id="407" name="Google Shape;407;p31"/>
          <p:cNvSpPr/>
          <p:nvPr/>
        </p:nvSpPr>
        <p:spPr>
          <a:xfrm>
            <a:off x="6035040" y="3483864"/>
            <a:ext cx="2537460" cy="24003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A6B7A"/>
              </a:buClr>
              <a:buSzPts val="1000"/>
              <a:buFont typeface="Calibri"/>
              <a:buNone/>
            </a:pPr>
            <a:r>
              <a:rPr b="0" i="0" lang="en" sz="1000" u="none" cap="none" strike="noStrike">
                <a:solidFill>
                  <a:srgbClr val="5A6B7A"/>
                </a:solidFill>
                <a:latin typeface="Calibri"/>
                <a:ea typeface="Calibri"/>
                <a:cs typeface="Calibri"/>
                <a:sym typeface="Calibri"/>
              </a:rPr>
              <a:t>Measure it</a:t>
            </a:r>
            <a:endParaRPr b="0" i="0" sz="1000" u="none" cap="none" strike="noStrike">
              <a:solidFill>
                <a:schemeClr val="dk1"/>
              </a:solidFill>
              <a:latin typeface="Calibri"/>
              <a:ea typeface="Calibri"/>
              <a:cs typeface="Calibri"/>
              <a:sym typeface="Calibri"/>
            </a:endParaRPr>
          </a:p>
        </p:txBody>
      </p:sp>
      <p:sp>
        <p:nvSpPr>
          <p:cNvPr id="408" name="Google Shape;408;p31"/>
          <p:cNvSpPr/>
          <p:nvPr/>
        </p:nvSpPr>
        <p:spPr>
          <a:xfrm>
            <a:off x="480060" y="3847338"/>
            <a:ext cx="8181594" cy="411480"/>
          </a:xfrm>
          <a:prstGeom prst="roundRect">
            <a:avLst>
              <a:gd fmla="val 13333" name="adj"/>
            </a:avLst>
          </a:prstGeom>
          <a:solidFill>
            <a:srgbClr val="F2F4F6"/>
          </a:solidFill>
          <a:ln cap="flat" cmpd="sng" w="12700">
            <a:solidFill>
              <a:srgbClr val="F2F4F6"/>
            </a:solidFill>
            <a:prstDash val="solid"/>
            <a:round/>
            <a:headEnd len="sm" w="sm" type="none"/>
            <a:tailEnd len="sm" w="sm" type="none"/>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409" name="Google Shape;409;p31"/>
          <p:cNvSpPr/>
          <p:nvPr/>
        </p:nvSpPr>
        <p:spPr>
          <a:xfrm>
            <a:off x="720090" y="3936492"/>
            <a:ext cx="617220" cy="24003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8A99A8"/>
              </a:buClr>
              <a:buSzPts val="1100"/>
              <a:buFont typeface="Consolas"/>
              <a:buNone/>
            </a:pPr>
            <a:r>
              <a:rPr b="1" i="0" lang="en" sz="1100" u="none" cap="none" strike="noStrike">
                <a:solidFill>
                  <a:srgbClr val="8A99A8"/>
                </a:solidFill>
                <a:latin typeface="Consolas"/>
                <a:ea typeface="Consolas"/>
                <a:cs typeface="Consolas"/>
                <a:sym typeface="Consolas"/>
              </a:rPr>
              <a:t>2:35</a:t>
            </a:r>
            <a:endParaRPr b="0" i="0" sz="1100" u="none" cap="none" strike="noStrike">
              <a:solidFill>
                <a:schemeClr val="dk1"/>
              </a:solidFill>
              <a:latin typeface="Calibri"/>
              <a:ea typeface="Calibri"/>
              <a:cs typeface="Calibri"/>
              <a:sym typeface="Calibri"/>
            </a:endParaRPr>
          </a:p>
        </p:txBody>
      </p:sp>
      <p:sp>
        <p:nvSpPr>
          <p:cNvPr id="410" name="Google Shape;410;p31"/>
          <p:cNvSpPr/>
          <p:nvPr/>
        </p:nvSpPr>
        <p:spPr>
          <a:xfrm>
            <a:off x="1474470" y="3929634"/>
            <a:ext cx="4457700" cy="26060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2303C"/>
              </a:buClr>
              <a:buSzPts val="1100"/>
              <a:buFont typeface="Calibri"/>
              <a:buNone/>
            </a:pPr>
            <a:r>
              <a:rPr b="1" i="0" lang="en" sz="1100" u="none" cap="none" strike="noStrike">
                <a:solidFill>
                  <a:srgbClr val="22303C"/>
                </a:solidFill>
                <a:latin typeface="Calibri"/>
                <a:ea typeface="Calibri"/>
                <a:cs typeface="Calibri"/>
                <a:sym typeface="Calibri"/>
              </a:rPr>
              <a:t>Operationalize and compound</a:t>
            </a:r>
            <a:endParaRPr b="0" i="0" sz="1100" u="none" cap="none" strike="noStrike">
              <a:solidFill>
                <a:schemeClr val="dk1"/>
              </a:solidFill>
              <a:latin typeface="Calibri"/>
              <a:ea typeface="Calibri"/>
              <a:cs typeface="Calibri"/>
              <a:sym typeface="Calibri"/>
            </a:endParaRPr>
          </a:p>
        </p:txBody>
      </p:sp>
      <p:sp>
        <p:nvSpPr>
          <p:cNvPr id="411" name="Google Shape;411;p31"/>
          <p:cNvSpPr/>
          <p:nvPr/>
        </p:nvSpPr>
        <p:spPr>
          <a:xfrm>
            <a:off x="6035040" y="3936492"/>
            <a:ext cx="2537460" cy="24003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A6B7A"/>
              </a:buClr>
              <a:buSzPts val="1000"/>
              <a:buFont typeface="Calibri"/>
              <a:buNone/>
            </a:pPr>
            <a:r>
              <a:rPr b="0" i="0" lang="en" sz="1000" u="none" cap="none" strike="noStrike">
                <a:solidFill>
                  <a:srgbClr val="5A6B7A"/>
                </a:solidFill>
                <a:latin typeface="Calibri"/>
                <a:ea typeface="Calibri"/>
                <a:cs typeface="Calibri"/>
                <a:sym typeface="Calibri"/>
              </a:rPr>
              <a:t>How skills stay alive</a:t>
            </a:r>
            <a:endParaRPr b="0" i="0" sz="1000" u="none" cap="none" strike="noStrike">
              <a:solidFill>
                <a:schemeClr val="dk1"/>
              </a:solidFill>
              <a:latin typeface="Calibri"/>
              <a:ea typeface="Calibri"/>
              <a:cs typeface="Calibri"/>
              <a:sym typeface="Calibri"/>
            </a:endParaRPr>
          </a:p>
        </p:txBody>
      </p:sp>
      <p:sp>
        <p:nvSpPr>
          <p:cNvPr id="412" name="Google Shape;412;p31"/>
          <p:cNvSpPr/>
          <p:nvPr/>
        </p:nvSpPr>
        <p:spPr>
          <a:xfrm>
            <a:off x="480060" y="4299966"/>
            <a:ext cx="8181594" cy="411480"/>
          </a:xfrm>
          <a:prstGeom prst="roundRect">
            <a:avLst>
              <a:gd fmla="val 13333" name="adj"/>
            </a:avLst>
          </a:prstGeom>
          <a:solidFill>
            <a:srgbClr val="FFFFFF"/>
          </a:solidFill>
          <a:ln cap="flat" cmpd="sng" w="12700">
            <a:solidFill>
              <a:srgbClr val="FFFFFF"/>
            </a:solidFill>
            <a:prstDash val="solid"/>
            <a:round/>
            <a:headEnd len="sm" w="sm" type="none"/>
            <a:tailEnd len="sm" w="sm" type="none"/>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413" name="Google Shape;413;p31"/>
          <p:cNvSpPr/>
          <p:nvPr/>
        </p:nvSpPr>
        <p:spPr>
          <a:xfrm>
            <a:off x="720090" y="4389120"/>
            <a:ext cx="617220" cy="24003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8A99A8"/>
              </a:buClr>
              <a:buSzPts val="1100"/>
              <a:buFont typeface="Consolas"/>
              <a:buNone/>
            </a:pPr>
            <a:r>
              <a:rPr b="1" i="0" lang="en" sz="1100" u="none" cap="none" strike="noStrike">
                <a:solidFill>
                  <a:srgbClr val="8A99A8"/>
                </a:solidFill>
                <a:latin typeface="Consolas"/>
                <a:ea typeface="Consolas"/>
                <a:cs typeface="Consolas"/>
                <a:sym typeface="Consolas"/>
              </a:rPr>
              <a:t>2:50</a:t>
            </a:r>
            <a:endParaRPr b="0" i="0" sz="1100" u="none" cap="none" strike="noStrike">
              <a:solidFill>
                <a:schemeClr val="dk1"/>
              </a:solidFill>
              <a:latin typeface="Calibri"/>
              <a:ea typeface="Calibri"/>
              <a:cs typeface="Calibri"/>
              <a:sym typeface="Calibri"/>
            </a:endParaRPr>
          </a:p>
        </p:txBody>
      </p:sp>
      <p:sp>
        <p:nvSpPr>
          <p:cNvPr id="414" name="Google Shape;414;p31"/>
          <p:cNvSpPr/>
          <p:nvPr/>
        </p:nvSpPr>
        <p:spPr>
          <a:xfrm>
            <a:off x="1474470" y="4382262"/>
            <a:ext cx="4457700" cy="26060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2303C"/>
              </a:buClr>
              <a:buSzPts val="1100"/>
              <a:buFont typeface="Calibri"/>
              <a:buNone/>
            </a:pPr>
            <a:r>
              <a:rPr b="1" i="0" lang="en" sz="1100" u="none" cap="none" strike="noStrike">
                <a:solidFill>
                  <a:srgbClr val="22303C"/>
                </a:solidFill>
                <a:latin typeface="Calibri"/>
                <a:ea typeface="Calibri"/>
                <a:cs typeface="Calibri"/>
                <a:sym typeface="Calibri"/>
              </a:rPr>
              <a:t>Contribute and wrap</a:t>
            </a:r>
            <a:endParaRPr b="0" i="0" sz="1100" u="none" cap="none" strike="noStrike">
              <a:solidFill>
                <a:schemeClr val="dk1"/>
              </a:solidFill>
              <a:latin typeface="Calibri"/>
              <a:ea typeface="Calibri"/>
              <a:cs typeface="Calibri"/>
              <a:sym typeface="Calibri"/>
            </a:endParaRPr>
          </a:p>
        </p:txBody>
      </p:sp>
      <p:sp>
        <p:nvSpPr>
          <p:cNvPr id="415" name="Google Shape;415;p31"/>
          <p:cNvSpPr/>
          <p:nvPr/>
        </p:nvSpPr>
        <p:spPr>
          <a:xfrm>
            <a:off x="6035040" y="4389120"/>
            <a:ext cx="2537460" cy="24003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A6B7A"/>
              </a:buClr>
              <a:buSzPts val="1000"/>
              <a:buFont typeface="Calibri"/>
              <a:buNone/>
            </a:pPr>
            <a:r>
              <a:rPr b="0" i="0" lang="en" sz="1000" u="none" cap="none" strike="noStrike">
                <a:solidFill>
                  <a:srgbClr val="5A6B7A"/>
                </a:solidFill>
                <a:latin typeface="Calibri"/>
                <a:ea typeface="Calibri"/>
                <a:cs typeface="Calibri"/>
                <a:sym typeface="Calibri"/>
              </a:rPr>
              <a:t>PR to the repo</a:t>
            </a:r>
            <a:endParaRPr b="0" i="0" sz="1000" u="none" cap="none" strike="noStrike">
              <a:solidFill>
                <a:schemeClr val="dk1"/>
              </a:solidFill>
              <a:latin typeface="Calibri"/>
              <a:ea typeface="Calibri"/>
              <a:cs typeface="Calibri"/>
              <a:sym typeface="Calibri"/>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22303C"/>
        </a:solidFill>
      </p:bgPr>
    </p:bg>
    <p:spTree>
      <p:nvGrpSpPr>
        <p:cNvPr id="420" name="Shape 420"/>
        <p:cNvGrpSpPr/>
        <p:nvPr/>
      </p:nvGrpSpPr>
      <p:grpSpPr>
        <a:xfrm>
          <a:off x="0" y="0"/>
          <a:ext cx="0" cy="0"/>
          <a:chOff x="0" y="0"/>
          <a:chExt cx="0" cy="0"/>
        </a:xfrm>
      </p:grpSpPr>
      <p:sp>
        <p:nvSpPr>
          <p:cNvPr id="421" name="Google Shape;421;p32"/>
          <p:cNvSpPr/>
          <p:nvPr/>
        </p:nvSpPr>
        <p:spPr>
          <a:xfrm>
            <a:off x="480060" y="1234440"/>
            <a:ext cx="96012" cy="2331720"/>
          </a:xfrm>
          <a:prstGeom prst="roundRect">
            <a:avLst>
              <a:gd fmla="val 50000" name="adj"/>
            </a:avLst>
          </a:prstGeom>
          <a:solidFill>
            <a:srgbClr val="E8663C"/>
          </a:solidFill>
          <a:ln cap="flat" cmpd="sng" w="12700">
            <a:solidFill>
              <a:srgbClr val="E8663C"/>
            </a:solidFill>
            <a:prstDash val="solid"/>
            <a:round/>
            <a:headEnd len="sm" w="sm" type="none"/>
            <a:tailEnd len="sm" w="sm" type="none"/>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422" name="Google Shape;422;p32"/>
          <p:cNvSpPr/>
          <p:nvPr/>
        </p:nvSpPr>
        <p:spPr>
          <a:xfrm>
            <a:off x="788670" y="1200150"/>
            <a:ext cx="6858000" cy="4800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2900"/>
              <a:buFont typeface="Cambria"/>
              <a:buNone/>
            </a:pPr>
            <a:r>
              <a:rPr b="1" i="0" lang="en" sz="2900" u="none" cap="none" strike="noStrike">
                <a:solidFill>
                  <a:srgbClr val="FFFFFF"/>
                </a:solidFill>
                <a:latin typeface="Cambria"/>
                <a:ea typeface="Cambria"/>
                <a:cs typeface="Cambria"/>
                <a:sym typeface="Cambria"/>
              </a:rPr>
              <a:t>What you take home</a:t>
            </a:r>
            <a:endParaRPr b="0" i="0" sz="2900" u="none" cap="none" strike="noStrike">
              <a:solidFill>
                <a:schemeClr val="dk1"/>
              </a:solidFill>
              <a:latin typeface="Calibri"/>
              <a:ea typeface="Calibri"/>
              <a:cs typeface="Calibri"/>
              <a:sym typeface="Calibri"/>
            </a:endParaRPr>
          </a:p>
        </p:txBody>
      </p:sp>
      <p:sp>
        <p:nvSpPr>
          <p:cNvPr id="423" name="Google Shape;423;p32"/>
          <p:cNvSpPr/>
          <p:nvPr/>
        </p:nvSpPr>
        <p:spPr>
          <a:xfrm>
            <a:off x="788670" y="1817370"/>
            <a:ext cx="7200900" cy="1783080"/>
          </a:xfrm>
          <a:prstGeom prst="rect">
            <a:avLst/>
          </a:prstGeom>
          <a:noFill/>
          <a:ln>
            <a:noFill/>
          </a:ln>
        </p:spPr>
        <p:txBody>
          <a:bodyPr anchorCtr="0" anchor="ctr" bIns="0" lIns="0" spcFirstLastPara="1" rIns="0" wrap="square" tIns="0">
            <a:noAutofit/>
          </a:bodyPr>
          <a:lstStyle/>
          <a:p>
            <a:pPr indent="-260350" lvl="0" marL="254000" marR="0" rtl="0" algn="l">
              <a:spcBef>
                <a:spcPts val="0"/>
              </a:spcBef>
              <a:spcAft>
                <a:spcPts val="0"/>
              </a:spcAft>
              <a:buClr>
                <a:srgbClr val="CBD5DD"/>
              </a:buClr>
              <a:buSzPts val="1300"/>
              <a:buFont typeface="Calibri"/>
              <a:buChar char="•"/>
            </a:pPr>
            <a:r>
              <a:rPr b="0" i="0" lang="en" sz="1300" u="none" cap="none" strike="noStrike">
                <a:solidFill>
                  <a:srgbClr val="CBD5DD"/>
                </a:solidFill>
                <a:latin typeface="Calibri"/>
                <a:ea typeface="Calibri"/>
                <a:cs typeface="Calibri"/>
                <a:sym typeface="Calibri"/>
              </a:rPr>
              <a:t>A skill you wrote, running in your own environment</a:t>
            </a:r>
            <a:endParaRPr b="0" i="0" sz="1300" u="none" cap="none" strike="noStrike">
              <a:solidFill>
                <a:schemeClr val="dk1"/>
              </a:solidFill>
              <a:latin typeface="Calibri"/>
              <a:ea typeface="Calibri"/>
              <a:cs typeface="Calibri"/>
              <a:sym typeface="Calibri"/>
            </a:endParaRPr>
          </a:p>
          <a:p>
            <a:pPr indent="-260350" lvl="0" marL="254000" marR="0" rtl="0" algn="l">
              <a:spcBef>
                <a:spcPts val="900"/>
              </a:spcBef>
              <a:spcAft>
                <a:spcPts val="0"/>
              </a:spcAft>
              <a:buClr>
                <a:srgbClr val="CBD5DD"/>
              </a:buClr>
              <a:buSzPts val="1300"/>
              <a:buFont typeface="Calibri"/>
              <a:buChar char="•"/>
            </a:pPr>
            <a:r>
              <a:rPr b="0" i="0" lang="en" sz="1300" u="none" cap="none" strike="noStrike">
                <a:solidFill>
                  <a:srgbClr val="CBD5DD"/>
                </a:solidFill>
                <a:latin typeface="Calibri"/>
                <a:ea typeface="Calibri"/>
                <a:cs typeface="Calibri"/>
                <a:sym typeface="Calibri"/>
              </a:rPr>
              <a:t>An eval that proves it does something</a:t>
            </a:r>
            <a:endParaRPr b="0" i="0" sz="1300" u="none" cap="none" strike="noStrike">
              <a:solidFill>
                <a:schemeClr val="dk1"/>
              </a:solidFill>
              <a:latin typeface="Calibri"/>
              <a:ea typeface="Calibri"/>
              <a:cs typeface="Calibri"/>
              <a:sym typeface="Calibri"/>
            </a:endParaRPr>
          </a:p>
          <a:p>
            <a:pPr indent="-260350" lvl="0" marL="254000" marR="0" rtl="0" algn="l">
              <a:spcBef>
                <a:spcPts val="900"/>
              </a:spcBef>
              <a:spcAft>
                <a:spcPts val="0"/>
              </a:spcAft>
              <a:buClr>
                <a:srgbClr val="CBD5DD"/>
              </a:buClr>
              <a:buSzPts val="1300"/>
              <a:buFont typeface="Calibri"/>
              <a:buChar char="•"/>
            </a:pPr>
            <a:r>
              <a:rPr b="0" i="0" lang="en" sz="1300" u="none" cap="none" strike="noStrike">
                <a:solidFill>
                  <a:srgbClr val="CBD5DD"/>
                </a:solidFill>
                <a:latin typeface="Calibri"/>
                <a:ea typeface="Calibri"/>
                <a:cs typeface="Calibri"/>
                <a:sym typeface="Calibri"/>
              </a:rPr>
              <a:t>A reference doc for a domain you actually own</a:t>
            </a:r>
            <a:endParaRPr b="0" i="0" sz="1300" u="none" cap="none" strike="noStrike">
              <a:solidFill>
                <a:schemeClr val="dk1"/>
              </a:solidFill>
              <a:latin typeface="Calibri"/>
              <a:ea typeface="Calibri"/>
              <a:cs typeface="Calibri"/>
              <a:sym typeface="Calibri"/>
            </a:endParaRPr>
          </a:p>
          <a:p>
            <a:pPr indent="-260350" lvl="0" marL="254000" marR="0" rtl="0" algn="l">
              <a:spcBef>
                <a:spcPts val="900"/>
              </a:spcBef>
              <a:spcAft>
                <a:spcPts val="0"/>
              </a:spcAft>
              <a:buClr>
                <a:srgbClr val="CBD5DD"/>
              </a:buClr>
              <a:buSzPts val="1300"/>
              <a:buFont typeface="Calibri"/>
              <a:buChar char="•"/>
            </a:pPr>
            <a:r>
              <a:rPr b="0" i="0" lang="en" sz="1300" u="none" cap="none" strike="noStrike">
                <a:solidFill>
                  <a:srgbClr val="CBD5DD"/>
                </a:solidFill>
                <a:latin typeface="Calibri"/>
                <a:ea typeface="Calibri"/>
                <a:cs typeface="Calibri"/>
                <a:sym typeface="Calibri"/>
              </a:rPr>
              <a:t>A merged PR and your name in the README</a:t>
            </a:r>
            <a:endParaRPr b="0" i="0" sz="1300" u="none" cap="none" strike="noStrike">
              <a:solidFill>
                <a:schemeClr val="dk1"/>
              </a:solidFill>
              <a:latin typeface="Calibri"/>
              <a:ea typeface="Calibri"/>
              <a:cs typeface="Calibri"/>
              <a:sym typeface="Calibri"/>
            </a:endParaRPr>
          </a:p>
          <a:p>
            <a:pPr indent="-260350" lvl="0" marL="254000" marR="0" rtl="0" algn="l">
              <a:spcBef>
                <a:spcPts val="900"/>
              </a:spcBef>
              <a:spcAft>
                <a:spcPts val="0"/>
              </a:spcAft>
              <a:buClr>
                <a:srgbClr val="CBD5DD"/>
              </a:buClr>
              <a:buSzPts val="1300"/>
              <a:buFont typeface="Calibri"/>
              <a:buChar char="•"/>
            </a:pPr>
            <a:r>
              <a:rPr b="0" i="0" lang="en" sz="1300" u="none" cap="none" strike="noStrike">
                <a:solidFill>
                  <a:srgbClr val="CBD5DD"/>
                </a:solidFill>
                <a:latin typeface="Calibri"/>
                <a:ea typeface="Calibri"/>
                <a:cs typeface="Calibri"/>
                <a:sym typeface="Calibri"/>
              </a:rPr>
              <a:t>The habit of running the query instead of trusting the number</a:t>
            </a:r>
            <a:endParaRPr b="0" i="0" sz="1300" u="none" cap="none" strike="noStrike">
              <a:solidFill>
                <a:schemeClr val="dk1"/>
              </a:solidFill>
              <a:latin typeface="Calibri"/>
              <a:ea typeface="Calibri"/>
              <a:cs typeface="Calibri"/>
              <a:sym typeface="Calibri"/>
            </a:endParaRPr>
          </a:p>
        </p:txBody>
      </p:sp>
      <p:sp>
        <p:nvSpPr>
          <p:cNvPr id="424" name="Google Shape;424;p32"/>
          <p:cNvSpPr/>
          <p:nvPr/>
        </p:nvSpPr>
        <p:spPr>
          <a:xfrm>
            <a:off x="788670" y="3909060"/>
            <a:ext cx="68580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663C"/>
              </a:buClr>
              <a:buSzPts val="1200"/>
              <a:buFont typeface="Consolas"/>
              <a:buNone/>
            </a:pPr>
            <a:r>
              <a:rPr b="1" i="0" lang="en" sz="1200" u="none" cap="none" strike="noStrike">
                <a:solidFill>
                  <a:srgbClr val="E8663C"/>
                </a:solidFill>
                <a:latin typeface="Consolas"/>
                <a:ea typeface="Consolas"/>
                <a:cs typeface="Consolas"/>
                <a:sym typeface="Consolas"/>
              </a:rPr>
              <a:t>github.com/RobStilson/analytics-skills</a:t>
            </a:r>
            <a:endParaRPr b="0" i="0" sz="1200" u="none" cap="none" strike="noStrike">
              <a:solidFill>
                <a:schemeClr val="dk1"/>
              </a:solidFill>
              <a:latin typeface="Calibri"/>
              <a:ea typeface="Calibri"/>
              <a:cs typeface="Calibri"/>
              <a:sym typeface="Calibri"/>
            </a:endParaRPr>
          </a:p>
        </p:txBody>
      </p:sp>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