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9edbfb89d_3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9edbfb89d_3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an internal briefing, not the workshop deck. Goal: make the case for adopting this approach on our team. The workshop is the proof of concept; adoption is the ask.</a:t>
            </a:r>
            <a:endParaRPr/>
          </a:p>
        </p:txBody>
      </p:sp>
      <p:sp>
        <p:nvSpPr>
          <p:cNvPr id="55" name="Google Shape;55;g3f9edbfb89d_3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9edbfb89d_3_1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g3f9edbfb89d_3_1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Every number on this slide is verified against the actual warehouse. The 4 answers, the 6.2 spread, and the 7-point gap are all in the ground truth file. This is the slide that establishes credibility — if the audience doesn't believe these are real, nothing else lands.</a:t>
            </a:r>
            <a:endParaRPr/>
          </a:p>
        </p:txBody>
      </p:sp>
      <p:sp>
        <p:nvSpPr>
          <p:cNvPr id="64" name="Google Shape;64;g3f9edbfb89d_3_1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9edbfb89d_5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f9edbfb89d_5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They went on the same journey that we are go on today and leave us with the lesson that even once this is implemented, it will need attention.</a:t>
            </a:r>
            <a:endParaRPr/>
          </a:p>
        </p:txBody>
      </p:sp>
      <p:sp>
        <p:nvSpPr>
          <p:cNvPr id="82" name="Google Shape;82;g3f9edbfb89d_5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9edbfb89d_3_2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g3f9edbfb89d_3_2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I-O psychology expertise slide. These aren't generic AI risks — they're specific to people data, and most AI-safety frameworks miss them entirely because they're written for software, not analytics.</a:t>
            </a:r>
            <a:endParaRPr/>
          </a:p>
        </p:txBody>
      </p:sp>
      <p:sp>
        <p:nvSpPr>
          <p:cNvPr id="90" name="Google Shape;90;g3f9edbfb89d_3_2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9edbfb89d_3_4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g3f9edbfb89d_3_4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key point for leadership: this doesn't require engineering resources. Anyone who can write a document can write a skill. The bottleneck is domain knowledge, which our analysts already have.</a:t>
            </a:r>
            <a:endParaRPr/>
          </a:p>
        </p:txBody>
      </p:sp>
      <p:sp>
        <p:nvSpPr>
          <p:cNvPr id="112" name="Google Shape;112;g3f9edbfb89d_3_4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9edbfb89d_3_7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f9edbfb89d_3_7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Lead with the number, immediately caveat it. The CI excluding zero matters more than the point estimate. The self-caveat at the bottom builds credibility — we're not overselling.</a:t>
            </a:r>
            <a:endParaRPr/>
          </a:p>
        </p:txBody>
      </p:sp>
      <p:sp>
        <p:nvSpPr>
          <p:cNvPr id="137" name="Google Shape;137;g3f9edbfb89d_3_7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9edbfb89d_3_10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f9edbfb89d_3_10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slide is what earns trust. A team that reports its own limitations is a team the organization can rely on. The caveats ARE the credibility.</a:t>
            </a:r>
            <a:endParaRPr/>
          </a:p>
        </p:txBody>
      </p:sp>
      <p:sp>
        <p:nvSpPr>
          <p:cNvPr id="169" name="Google Shape;169;g3f9edbfb89d_3_10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9edbfb89d_3_12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f9edbfb89d_3_12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Show that this is NOT a technical artifact — it's a document. Anyone who can write a Word doc can write one of these. The I-O expertise is in the Gotchas section, which is domain knowledge that our team uniquely has.</a:t>
            </a:r>
            <a:endParaRPr/>
          </a:p>
        </p:txBody>
      </p:sp>
      <p:sp>
        <p:nvSpPr>
          <p:cNvPr id="186" name="Google Shape;186;g3f9edbfb89d_3_12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9edbfb89d_3_14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f9edbfb89d_3_14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Both responses are real — captured from a live ablation run, not invented. The point is disclosure, not omniscience. This is the most relatable slide for a non-technical audience.</a:t>
            </a:r>
            <a:endParaRPr/>
          </a:p>
        </p:txBody>
      </p:sp>
      <p:sp>
        <p:nvSpPr>
          <p:cNvPr id="208" name="Google Shape;208;g3f9edbfb89d_3_14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9edbfb89d_3_15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f9edbfb89d_3_15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These three are the ones with no software-engineering analogue — they come from I-O psychology and psychometrics, not CS. That's our team's unique contribution. The others are adaptations of software practices.</a:t>
            </a:r>
            <a:endParaRPr/>
          </a:p>
        </p:txBody>
      </p:sp>
      <p:sp>
        <p:nvSpPr>
          <p:cNvPr id="225" name="Google Shape;225;g3f9edbfb89d_3_15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9edbfb89d_3_17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f9edbfb89d_3_17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key selling point: Phase 1 costs almost nothing. One analyst, one recurring question, two weeks. If it doesn't work, you've lost two weeks and gained knowledge. If it does, you have measured evidence for Phase 2.</a:t>
            </a:r>
            <a:endParaRPr/>
          </a:p>
        </p:txBody>
      </p:sp>
      <p:sp>
        <p:nvSpPr>
          <p:cNvPr id="245" name="Google Shape;245;g3f9edbfb89d_3_17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9edbfb89d_3_20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3f9edbfb89d_3_20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Presenting risks alongside benefits is the same discipline the skills themselves enforce — disclosure, not salesmanship. A supervisor who sees you've thought through what could go wrong trusts the upside more.</a:t>
            </a:r>
            <a:endParaRPr/>
          </a:p>
        </p:txBody>
      </p:sp>
      <p:sp>
        <p:nvSpPr>
          <p:cNvPr id="277" name="Google Shape;277;g3f9edbfb89d_3_20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9edbfb89d_3_21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f9edbfb89d_3_21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slide connects the workshop (external credibility) to the adoption ask (internal action). The workshop proves the concept works with strangers on a synthetic warehouse — adoption means running the same cycle on our real data.</a:t>
            </a:r>
            <a:endParaRPr/>
          </a:p>
        </p:txBody>
      </p:sp>
      <p:sp>
        <p:nvSpPr>
          <p:cNvPr id="290" name="Google Shape;290;g3f9edbfb89d_3_21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9edbfb89d_3_23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3f9edbfb89d_3_23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End on the smallest possible ask: one question, one analyst, two weeks. The downside is two weeks; the upside is a measurable improvement to every answer that question produces going forward. Frame it as an experiment, not a commitment.</a:t>
            </a:r>
            <a:endParaRPr/>
          </a:p>
        </p:txBody>
      </p:sp>
      <p:sp>
        <p:nvSpPr>
          <p:cNvPr id="311" name="Google Shape;311;g3f9edbfb89d_3_23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3D"/>
        </a:solidFill>
      </p:bgPr>
    </p:bg>
    <p:spTree>
      <p:nvGrpSpPr>
        <p:cNvPr id="56" name="Shape 56"/>
        <p:cNvGrpSpPr/>
        <p:nvPr/>
      </p:nvGrpSpPr>
      <p:grpSpPr>
        <a:xfrm>
          <a:off x="0" y="0"/>
          <a:ext cx="0" cy="0"/>
          <a:chOff x="0" y="0"/>
          <a:chExt cx="0" cy="0"/>
        </a:xfrm>
      </p:grpSpPr>
      <p:sp>
        <p:nvSpPr>
          <p:cNvPr id="57" name="Google Shape;57;p15"/>
          <p:cNvSpPr/>
          <p:nvPr/>
        </p:nvSpPr>
        <p:spPr>
          <a:xfrm>
            <a:off x="480060" y="1371600"/>
            <a:ext cx="96012" cy="1714500"/>
          </a:xfrm>
          <a:prstGeom prst="roundRect">
            <a:avLst>
              <a:gd fmla="val 50000" name="adj"/>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 name="Google Shape;58;p15"/>
          <p:cNvSpPr txBox="1"/>
          <p:nvPr/>
        </p:nvSpPr>
        <p:spPr>
          <a:xfrm>
            <a:off x="788670" y="1371600"/>
            <a:ext cx="65151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900"/>
              <a:buFont typeface="Cambria"/>
              <a:buNone/>
            </a:pPr>
            <a:r>
              <a:rPr b="1" i="0" lang="en" sz="3900" u="none" cap="none" strike="noStrike">
                <a:solidFill>
                  <a:srgbClr val="FFFFFF"/>
                </a:solidFill>
                <a:latin typeface="Cambria"/>
                <a:ea typeface="Cambria"/>
                <a:cs typeface="Cambria"/>
                <a:sym typeface="Cambria"/>
              </a:rPr>
              <a:t>Vibe Analytics</a:t>
            </a:r>
            <a:endParaRPr b="0" i="0" sz="3900" u="none" cap="none" strike="noStrike">
              <a:solidFill>
                <a:schemeClr val="dk1"/>
              </a:solidFill>
              <a:latin typeface="Calibri"/>
              <a:ea typeface="Calibri"/>
              <a:cs typeface="Calibri"/>
              <a:sym typeface="Calibri"/>
            </a:endParaRPr>
          </a:p>
        </p:txBody>
      </p:sp>
      <p:sp>
        <p:nvSpPr>
          <p:cNvPr id="59" name="Google Shape;59;p15"/>
          <p:cNvSpPr txBox="1"/>
          <p:nvPr/>
        </p:nvSpPr>
        <p:spPr>
          <a:xfrm>
            <a:off x="788670" y="2194560"/>
            <a:ext cx="6515100" cy="617220"/>
          </a:xfrm>
          <a:prstGeom prst="rect">
            <a:avLst/>
          </a:prstGeom>
          <a:noFill/>
          <a:ln>
            <a:noFill/>
          </a:ln>
        </p:spPr>
        <p:txBody>
          <a:bodyPr anchorCtr="0" anchor="ctr" bIns="0" lIns="0" spcFirstLastPara="1" rIns="0" wrap="square" tIns="0">
            <a:noAutofit/>
          </a:bodyPr>
          <a:lstStyle/>
          <a:p>
            <a:pPr indent="0" lvl="0" marL="0" marR="0" rtl="0" algn="l">
              <a:lnSpc>
                <a:spcPct val="145454"/>
              </a:lnSpc>
              <a:spcBef>
                <a:spcPts val="0"/>
              </a:spcBef>
              <a:spcAft>
                <a:spcPts val="0"/>
              </a:spcAft>
              <a:buClr>
                <a:srgbClr val="CBD5DD"/>
              </a:buClr>
              <a:buSzPts val="1700"/>
              <a:buFont typeface="Calibri"/>
              <a:buNone/>
            </a:pPr>
            <a:r>
              <a:rPr b="0" i="0" lang="en" sz="1700" u="none" cap="none" strike="noStrike">
                <a:solidFill>
                  <a:srgbClr val="CBD5DD"/>
                </a:solidFill>
                <a:latin typeface="Calibri"/>
                <a:ea typeface="Calibri"/>
                <a:cs typeface="Calibri"/>
                <a:sym typeface="Calibri"/>
              </a:rPr>
              <a:t>Teaching AI agents to get the answer right,</a:t>
            </a:r>
            <a:endParaRPr b="0" i="0" sz="17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CBD5DD"/>
              </a:buClr>
              <a:buSzPts val="1700"/>
              <a:buFont typeface="Calibri"/>
              <a:buNone/>
            </a:pPr>
            <a:r>
              <a:rPr b="0" i="0" lang="en" sz="1700" u="none" cap="none" strike="noStrike">
                <a:solidFill>
                  <a:srgbClr val="CBD5DD"/>
                </a:solidFill>
                <a:latin typeface="Calibri"/>
                <a:ea typeface="Calibri"/>
                <a:cs typeface="Calibri"/>
                <a:sym typeface="Calibri"/>
              </a:rPr>
              <a:t>not just get an answer</a:t>
            </a:r>
            <a:endParaRPr b="0" i="0" sz="1700" u="none" cap="none" strike="noStrike">
              <a:solidFill>
                <a:schemeClr val="dk1"/>
              </a:solidFill>
              <a:latin typeface="Calibri"/>
              <a:ea typeface="Calibri"/>
              <a:cs typeface="Calibri"/>
              <a:sym typeface="Calibri"/>
            </a:endParaRPr>
          </a:p>
        </p:txBody>
      </p:sp>
      <p:sp>
        <p:nvSpPr>
          <p:cNvPr id="60" name="Google Shape;60;p15"/>
          <p:cNvSpPr txBox="1"/>
          <p:nvPr/>
        </p:nvSpPr>
        <p:spPr>
          <a:xfrm>
            <a:off x="788670" y="432054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Rob Stilson  ·  Data Scientist, Agentic AI &amp; People Analytics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16"/>
          <p:cNvSpPr txBox="1"/>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800"/>
              <a:buFont typeface="Calibri"/>
              <a:buNone/>
            </a:pPr>
            <a:r>
              <a:rPr b="1" i="0" lang="en" sz="800" u="none" cap="none" strike="noStrike">
                <a:solidFill>
                  <a:srgbClr val="2563EB"/>
                </a:solidFill>
                <a:latin typeface="Calibri"/>
                <a:ea typeface="Calibri"/>
                <a:cs typeface="Calibri"/>
                <a:sym typeface="Calibri"/>
              </a:rPr>
              <a:t>THE PROBLEM</a:t>
            </a:r>
            <a:endParaRPr b="0" i="0" sz="800" u="none" cap="none" strike="noStrike">
              <a:solidFill>
                <a:schemeClr val="dk1"/>
              </a:solidFill>
              <a:latin typeface="Calibri"/>
              <a:ea typeface="Calibri"/>
              <a:cs typeface="Calibri"/>
              <a:sym typeface="Calibri"/>
            </a:endParaRPr>
          </a:p>
        </p:txBody>
      </p:sp>
      <p:sp>
        <p:nvSpPr>
          <p:cNvPr id="67" name="Google Shape;67;p16"/>
          <p:cNvSpPr txBox="1"/>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2400"/>
              <a:buFont typeface="Cambria"/>
              <a:buNone/>
            </a:pPr>
            <a:r>
              <a:rPr b="1" i="0" lang="en" sz="2400" u="none" cap="none" strike="noStrike">
                <a:solidFill>
                  <a:srgbClr val="1B2A3D"/>
                </a:solidFill>
                <a:latin typeface="Cambria"/>
                <a:ea typeface="Cambria"/>
                <a:cs typeface="Cambria"/>
                <a:sym typeface="Cambria"/>
              </a:rPr>
              <a:t>AI agents are already answering HR's questions.</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D"/>
              </a:buClr>
              <a:buSzPts val="2400"/>
              <a:buFont typeface="Cambria"/>
              <a:buNone/>
            </a:pPr>
            <a:r>
              <a:rPr b="1" i="0" lang="en" sz="2400" u="none" cap="none" strike="noStrike">
                <a:solidFill>
                  <a:srgbClr val="1B2A3D"/>
                </a:solidFill>
                <a:latin typeface="Cambria"/>
                <a:ea typeface="Cambria"/>
                <a:cs typeface="Cambria"/>
                <a:sym typeface="Cambria"/>
              </a:rPr>
              <a:t>They're getting them wrong, quietly.</a:t>
            </a:r>
            <a:endParaRPr b="0" i="0" sz="2400" u="none" cap="none" strike="noStrike">
              <a:solidFill>
                <a:schemeClr val="dk1"/>
              </a:solidFill>
              <a:latin typeface="Calibri"/>
              <a:ea typeface="Calibri"/>
              <a:cs typeface="Calibri"/>
              <a:sym typeface="Calibri"/>
            </a:endParaRPr>
          </a:p>
        </p:txBody>
      </p:sp>
      <p:sp>
        <p:nvSpPr>
          <p:cNvPr id="68" name="Google Shape;68;p16"/>
          <p:cNvSpPr txBox="1"/>
          <p:nvPr/>
        </p:nvSpPr>
        <p:spPr>
          <a:xfrm>
            <a:off x="480060" y="1234440"/>
            <a:ext cx="8181594"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200"/>
              <a:buFont typeface="Calibri"/>
              <a:buNone/>
            </a:pPr>
            <a:r>
              <a:rPr b="0" i="0" lang="en" sz="1200" u="none" cap="none" strike="noStrike">
                <a:solidFill>
                  <a:srgbClr val="546678"/>
                </a:solidFill>
                <a:latin typeface="Calibri"/>
                <a:ea typeface="Calibri"/>
                <a:cs typeface="Calibri"/>
                <a:sym typeface="Calibri"/>
              </a:rPr>
              <a:t>When a coding agent writes bad code, a test fails. When an analytics agent produces a wrong number, nothing fails — the number looks fine, gets forwarded, and enters a decision.</a:t>
            </a:r>
            <a:endParaRPr b="0" i="0" sz="1200" u="none" cap="none" strike="noStrike">
              <a:solidFill>
                <a:schemeClr val="dk1"/>
              </a:solidFill>
              <a:latin typeface="Calibri"/>
              <a:ea typeface="Calibri"/>
              <a:cs typeface="Calibri"/>
              <a:sym typeface="Calibri"/>
            </a:endParaRPr>
          </a:p>
        </p:txBody>
      </p:sp>
      <p:sp>
        <p:nvSpPr>
          <p:cNvPr id="69" name="Google Shape;69;p16"/>
          <p:cNvSpPr/>
          <p:nvPr/>
        </p:nvSpPr>
        <p:spPr>
          <a:xfrm>
            <a:off x="480060" y="1988820"/>
            <a:ext cx="2640330" cy="1783080"/>
          </a:xfrm>
          <a:prstGeom prst="roundRect">
            <a:avLst>
              <a:gd fmla="val 3077"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 name="Google Shape;70;p16"/>
          <p:cNvSpPr txBox="1"/>
          <p:nvPr/>
        </p:nvSpPr>
        <p:spPr>
          <a:xfrm>
            <a:off x="685800" y="2160270"/>
            <a:ext cx="222885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700"/>
              <a:buFont typeface="Cambria"/>
              <a:buNone/>
            </a:pPr>
            <a:r>
              <a:rPr b="1" i="0" lang="en" sz="1700" u="none" cap="none" strike="noStrike">
                <a:solidFill>
                  <a:srgbClr val="E8663C"/>
                </a:solidFill>
                <a:latin typeface="Cambria"/>
                <a:ea typeface="Cambria"/>
                <a:cs typeface="Cambria"/>
                <a:sym typeface="Cambria"/>
              </a:rPr>
              <a:t>4 plausible answers</a:t>
            </a:r>
            <a:endParaRPr b="0" i="0" sz="1700" u="none" cap="none" strike="noStrike">
              <a:solidFill>
                <a:schemeClr val="dk1"/>
              </a:solidFill>
              <a:latin typeface="Calibri"/>
              <a:ea typeface="Calibri"/>
              <a:cs typeface="Calibri"/>
              <a:sym typeface="Calibri"/>
            </a:endParaRPr>
          </a:p>
        </p:txBody>
      </p:sp>
      <p:sp>
        <p:nvSpPr>
          <p:cNvPr id="71" name="Google Shape;71;p16"/>
          <p:cNvSpPr txBox="1"/>
          <p:nvPr/>
        </p:nvSpPr>
        <p:spPr>
          <a:xfrm>
            <a:off x="685800" y="2537460"/>
            <a:ext cx="222885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100"/>
              <a:buFont typeface="Calibri"/>
              <a:buNone/>
            </a:pPr>
            <a:r>
              <a:rPr b="0" i="0" lang="en" sz="1100" u="none" cap="none" strike="noStrike">
                <a:solidFill>
                  <a:srgbClr val="546678"/>
                </a:solidFill>
                <a:latin typeface="Calibri"/>
                <a:ea typeface="Calibri"/>
                <a:cs typeface="Calibri"/>
                <a:sym typeface="Calibri"/>
              </a:rPr>
              <a:t>to 'how many employees do we have' from the same warehouse — each defensible, only one correct</a:t>
            </a:r>
            <a:endParaRPr b="0" i="0" sz="1100" u="none" cap="none" strike="noStrike">
              <a:solidFill>
                <a:schemeClr val="dk1"/>
              </a:solidFill>
              <a:latin typeface="Calibri"/>
              <a:ea typeface="Calibri"/>
              <a:cs typeface="Calibri"/>
              <a:sym typeface="Calibri"/>
            </a:endParaRPr>
          </a:p>
        </p:txBody>
      </p:sp>
      <p:sp>
        <p:nvSpPr>
          <p:cNvPr id="72" name="Google Shape;72;p16"/>
          <p:cNvSpPr/>
          <p:nvPr/>
        </p:nvSpPr>
        <p:spPr>
          <a:xfrm>
            <a:off x="3408426" y="1988820"/>
            <a:ext cx="2640330" cy="1783080"/>
          </a:xfrm>
          <a:prstGeom prst="roundRect">
            <a:avLst>
              <a:gd fmla="val 3077"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6"/>
          <p:cNvSpPr txBox="1"/>
          <p:nvPr/>
        </p:nvSpPr>
        <p:spPr>
          <a:xfrm>
            <a:off x="3614166" y="2160270"/>
            <a:ext cx="222885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700"/>
              <a:buFont typeface="Cambria"/>
              <a:buNone/>
            </a:pPr>
            <a:r>
              <a:rPr b="1" i="0" lang="en" sz="1700" u="none" cap="none" strike="noStrike">
                <a:solidFill>
                  <a:srgbClr val="E8663C"/>
                </a:solidFill>
                <a:latin typeface="Cambria"/>
                <a:ea typeface="Cambria"/>
                <a:cs typeface="Cambria"/>
                <a:sym typeface="Cambria"/>
              </a:rPr>
              <a:t>6.2-point spread</a:t>
            </a:r>
            <a:endParaRPr b="0" i="0" sz="1700" u="none" cap="none" strike="noStrike">
              <a:solidFill>
                <a:schemeClr val="dk1"/>
              </a:solidFill>
              <a:latin typeface="Calibri"/>
              <a:ea typeface="Calibri"/>
              <a:cs typeface="Calibri"/>
              <a:sym typeface="Calibri"/>
            </a:endParaRPr>
          </a:p>
        </p:txBody>
      </p:sp>
      <p:sp>
        <p:nvSpPr>
          <p:cNvPr id="74" name="Google Shape;74;p16"/>
          <p:cNvSpPr txBox="1"/>
          <p:nvPr/>
        </p:nvSpPr>
        <p:spPr>
          <a:xfrm>
            <a:off x="3614166" y="2537460"/>
            <a:ext cx="222885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100"/>
              <a:buFont typeface="Calibri"/>
              <a:buNone/>
            </a:pPr>
            <a:r>
              <a:rPr b="0" i="0" lang="en" sz="1100" u="none" cap="none" strike="noStrike">
                <a:solidFill>
                  <a:srgbClr val="546678"/>
                </a:solidFill>
                <a:latin typeface="Calibri"/>
                <a:ea typeface="Calibri"/>
                <a:cs typeface="Calibri"/>
                <a:sym typeface="Calibri"/>
              </a:rPr>
              <a:t>in attrition rate from the same data, depending on which denominator you choose</a:t>
            </a:r>
            <a:endParaRPr b="0" i="0" sz="1100" u="none" cap="none" strike="noStrike">
              <a:solidFill>
                <a:schemeClr val="dk1"/>
              </a:solidFill>
              <a:latin typeface="Calibri"/>
              <a:ea typeface="Calibri"/>
              <a:cs typeface="Calibri"/>
              <a:sym typeface="Calibri"/>
            </a:endParaRPr>
          </a:p>
        </p:txBody>
      </p:sp>
      <p:sp>
        <p:nvSpPr>
          <p:cNvPr id="75" name="Google Shape;75;p16"/>
          <p:cNvSpPr/>
          <p:nvPr/>
        </p:nvSpPr>
        <p:spPr>
          <a:xfrm>
            <a:off x="6336792" y="1988820"/>
            <a:ext cx="2640330" cy="1783080"/>
          </a:xfrm>
          <a:prstGeom prst="roundRect">
            <a:avLst>
              <a:gd fmla="val 3077"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 name="Google Shape;76;p16"/>
          <p:cNvSpPr txBox="1"/>
          <p:nvPr/>
        </p:nvSpPr>
        <p:spPr>
          <a:xfrm>
            <a:off x="6542532" y="2160270"/>
            <a:ext cx="222885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700"/>
              <a:buFont typeface="Cambria"/>
              <a:buNone/>
            </a:pPr>
            <a:r>
              <a:rPr b="1" i="0" lang="en" sz="1700" u="none" cap="none" strike="noStrike">
                <a:solidFill>
                  <a:srgbClr val="E8663C"/>
                </a:solidFill>
                <a:latin typeface="Cambria"/>
                <a:ea typeface="Cambria"/>
                <a:cs typeface="Cambria"/>
                <a:sym typeface="Cambria"/>
              </a:rPr>
              <a:t>A 7-point gap</a:t>
            </a:r>
            <a:endParaRPr b="0" i="0" sz="1700" u="none" cap="none" strike="noStrike">
              <a:solidFill>
                <a:schemeClr val="dk1"/>
              </a:solidFill>
              <a:latin typeface="Calibri"/>
              <a:ea typeface="Calibri"/>
              <a:cs typeface="Calibri"/>
              <a:sym typeface="Calibri"/>
            </a:endParaRPr>
          </a:p>
        </p:txBody>
      </p:sp>
      <p:sp>
        <p:nvSpPr>
          <p:cNvPr id="77" name="Google Shape;77;p16"/>
          <p:cNvSpPr txBox="1"/>
          <p:nvPr/>
        </p:nvSpPr>
        <p:spPr>
          <a:xfrm>
            <a:off x="6542532" y="2537460"/>
            <a:ext cx="222885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100"/>
              <a:buFont typeface="Calibri"/>
              <a:buNone/>
            </a:pPr>
            <a:r>
              <a:rPr b="0" i="0" lang="en" sz="1100" u="none" cap="none" strike="noStrike">
                <a:solidFill>
                  <a:srgbClr val="546678"/>
                </a:solidFill>
                <a:latin typeface="Calibri"/>
                <a:ea typeface="Calibri"/>
                <a:cs typeface="Calibri"/>
                <a:sym typeface="Calibri"/>
              </a:rPr>
              <a:t>between program participants and non-participants that looks causal but is entirely selection bias</a:t>
            </a:r>
            <a:endParaRPr b="0" i="0" sz="1100" u="none" cap="none" strike="noStrike">
              <a:solidFill>
                <a:schemeClr val="dk1"/>
              </a:solidFill>
              <a:latin typeface="Calibri"/>
              <a:ea typeface="Calibri"/>
              <a:cs typeface="Calibri"/>
              <a:sym typeface="Calibri"/>
            </a:endParaRPr>
          </a:p>
        </p:txBody>
      </p:sp>
      <p:sp>
        <p:nvSpPr>
          <p:cNvPr id="78" name="Google Shape;78;p16"/>
          <p:cNvSpPr txBox="1"/>
          <p:nvPr/>
        </p:nvSpPr>
        <p:spPr>
          <a:xfrm>
            <a:off x="480060" y="3977640"/>
            <a:ext cx="8181594"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b="0" i="1" lang="en" sz="1100" u="none" cap="none" strike="noStrike">
                <a:solidFill>
                  <a:srgbClr val="94A3B8"/>
                </a:solidFill>
                <a:latin typeface="Calibri"/>
                <a:ea typeface="Calibri"/>
                <a:cs typeface="Calibri"/>
                <a:sym typeface="Calibri"/>
              </a:rPr>
              <a:t>These aren't hypothetical — they're from a synthetic warehouse we built with real failure modes, and every one was measured.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7"/>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PREMISE</a:t>
            </a:r>
            <a:endParaRPr b="0" i="0" sz="800" u="none" cap="none" strike="noStrike">
              <a:solidFill>
                <a:schemeClr val="dk1"/>
              </a:solidFill>
              <a:latin typeface="Calibri"/>
              <a:ea typeface="Calibri"/>
              <a:cs typeface="Calibri"/>
              <a:sym typeface="Calibri"/>
            </a:endParaRPr>
          </a:p>
        </p:txBody>
      </p:sp>
      <p:sp>
        <p:nvSpPr>
          <p:cNvPr id="85" name="Google Shape;85;p17"/>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What happened when Anthropic tried this on their own data using Claude?</a:t>
            </a:r>
            <a:endParaRPr b="0" i="0" sz="2600" u="none" cap="none" strike="noStrike">
              <a:solidFill>
                <a:schemeClr val="dk1"/>
              </a:solidFill>
              <a:latin typeface="Calibri"/>
              <a:ea typeface="Calibri"/>
              <a:cs typeface="Calibri"/>
              <a:sym typeface="Calibri"/>
            </a:endParaRPr>
          </a:p>
        </p:txBody>
      </p:sp>
      <p:pic>
        <p:nvPicPr>
          <p:cNvPr id="86" name="Google Shape;86;p17"/>
          <p:cNvPicPr preferRelativeResize="0"/>
          <p:nvPr/>
        </p:nvPicPr>
        <p:blipFill>
          <a:blip r:embed="rId3">
            <a:alphaModFix/>
          </a:blip>
          <a:stretch>
            <a:fillRect/>
          </a:stretch>
        </p:blipFill>
        <p:spPr>
          <a:xfrm>
            <a:off x="2256363" y="1097950"/>
            <a:ext cx="4631284" cy="387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18"/>
          <p:cNvSpPr txBox="1"/>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800"/>
              <a:buFont typeface="Calibri"/>
              <a:buNone/>
            </a:pPr>
            <a:r>
              <a:rPr b="1" i="0" lang="en" sz="800" u="none" cap="none" strike="noStrike">
                <a:solidFill>
                  <a:srgbClr val="2563EB"/>
                </a:solidFill>
                <a:latin typeface="Calibri"/>
                <a:ea typeface="Calibri"/>
                <a:cs typeface="Calibri"/>
                <a:sym typeface="Calibri"/>
              </a:rPr>
              <a:t>WHY THIS MATTERS FOR HR</a:t>
            </a:r>
            <a:endParaRPr b="0" i="0" sz="800" u="none" cap="none" strike="noStrike">
              <a:solidFill>
                <a:schemeClr val="dk1"/>
              </a:solidFill>
              <a:latin typeface="Calibri"/>
              <a:ea typeface="Calibri"/>
              <a:cs typeface="Calibri"/>
              <a:sym typeface="Calibri"/>
            </a:endParaRPr>
          </a:p>
        </p:txBody>
      </p:sp>
      <p:sp>
        <p:nvSpPr>
          <p:cNvPr id="93" name="Google Shape;93;p18"/>
          <p:cNvSpPr txBox="1"/>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2100"/>
              <a:buFont typeface="Cambria"/>
              <a:buNone/>
            </a:pPr>
            <a:r>
              <a:rPr b="1" i="0" lang="en" sz="2100" u="none" cap="none" strike="noStrike">
                <a:solidFill>
                  <a:srgbClr val="1B2A3D"/>
                </a:solidFill>
                <a:latin typeface="Cambria"/>
                <a:ea typeface="Cambria"/>
                <a:cs typeface="Cambria"/>
                <a:sym typeface="Cambria"/>
              </a:rPr>
              <a:t>People data has properties that make this worse,</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D"/>
              </a:buClr>
              <a:buSzPts val="2100"/>
              <a:buFont typeface="Cambria"/>
              <a:buNone/>
            </a:pPr>
            <a:r>
              <a:rPr b="1" i="0" lang="en" sz="2100" u="none" cap="none" strike="noStrike">
                <a:solidFill>
                  <a:srgbClr val="1B2A3D"/>
                </a:solidFill>
                <a:latin typeface="Cambria"/>
                <a:ea typeface="Cambria"/>
                <a:cs typeface="Cambria"/>
                <a:sym typeface="Cambria"/>
              </a:rPr>
              <a:t>not better</a:t>
            </a:r>
            <a:endParaRPr b="0" i="0" sz="2100" u="none" cap="none" strike="noStrike">
              <a:solidFill>
                <a:schemeClr val="dk1"/>
              </a:solidFill>
              <a:latin typeface="Calibri"/>
              <a:ea typeface="Calibri"/>
              <a:cs typeface="Calibri"/>
              <a:sym typeface="Calibri"/>
            </a:endParaRPr>
          </a:p>
        </p:txBody>
      </p:sp>
      <p:sp>
        <p:nvSpPr>
          <p:cNvPr id="94" name="Google Shape;94;p18"/>
          <p:cNvSpPr/>
          <p:nvPr/>
        </p:nvSpPr>
        <p:spPr>
          <a:xfrm>
            <a:off x="480060" y="1234440"/>
            <a:ext cx="8181594" cy="603504"/>
          </a:xfrm>
          <a:prstGeom prst="roundRect">
            <a:avLst>
              <a:gd fmla="val 9091"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 name="Google Shape;95;p18"/>
          <p:cNvSpPr txBox="1"/>
          <p:nvPr/>
        </p:nvSpPr>
        <p:spPr>
          <a:xfrm>
            <a:off x="720090" y="1330452"/>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200"/>
              <a:buFont typeface="Cambria"/>
              <a:buNone/>
            </a:pPr>
            <a:r>
              <a:rPr b="1" i="0" lang="en" sz="1200" u="none" cap="none" strike="noStrike">
                <a:solidFill>
                  <a:srgbClr val="1B2A3D"/>
                </a:solidFill>
                <a:latin typeface="Cambria"/>
                <a:ea typeface="Cambria"/>
                <a:cs typeface="Cambria"/>
                <a:sym typeface="Cambria"/>
              </a:rPr>
              <a:t>Small denominators</a:t>
            </a:r>
            <a:endParaRPr b="0" i="0" sz="1200" u="none" cap="none" strike="noStrike">
              <a:solidFill>
                <a:schemeClr val="dk1"/>
              </a:solidFill>
              <a:latin typeface="Calibri"/>
              <a:ea typeface="Calibri"/>
              <a:cs typeface="Calibri"/>
              <a:sym typeface="Calibri"/>
            </a:endParaRPr>
          </a:p>
        </p:txBody>
      </p:sp>
      <p:sp>
        <p:nvSpPr>
          <p:cNvPr id="96" name="Google Shape;96;p18"/>
          <p:cNvSpPr txBox="1"/>
          <p:nvPr/>
        </p:nvSpPr>
        <p:spPr>
          <a:xfrm>
            <a:off x="3017520" y="1330452"/>
            <a:ext cx="5486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000"/>
              <a:buFont typeface="Calibri"/>
              <a:buNone/>
            </a:pPr>
            <a:r>
              <a:rPr b="0" i="0" lang="en" sz="1000" u="none" cap="none" strike="noStrike">
                <a:solidFill>
                  <a:srgbClr val="546678"/>
                </a:solidFill>
                <a:latin typeface="Calibri"/>
                <a:ea typeface="Calibri"/>
                <a:cs typeface="Calibri"/>
                <a:sym typeface="Calibri"/>
              </a:rPr>
              <a:t>A manager with 8 reports and 1 departure is '12.5% attrition' — statistically meaningless, but it shows up in a dashboard</a:t>
            </a:r>
            <a:endParaRPr b="0" i="0" sz="1000" u="none" cap="none" strike="noStrike">
              <a:solidFill>
                <a:schemeClr val="dk1"/>
              </a:solidFill>
              <a:latin typeface="Calibri"/>
              <a:ea typeface="Calibri"/>
              <a:cs typeface="Calibri"/>
              <a:sym typeface="Calibri"/>
            </a:endParaRPr>
          </a:p>
        </p:txBody>
      </p:sp>
      <p:sp>
        <p:nvSpPr>
          <p:cNvPr id="97" name="Google Shape;97;p18"/>
          <p:cNvSpPr/>
          <p:nvPr/>
        </p:nvSpPr>
        <p:spPr>
          <a:xfrm>
            <a:off x="480060" y="1865376"/>
            <a:ext cx="8181594" cy="603504"/>
          </a:xfrm>
          <a:prstGeom prst="roundRect">
            <a:avLst>
              <a:gd fmla="val 9091"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8" name="Google Shape;98;p18"/>
          <p:cNvSpPr txBox="1"/>
          <p:nvPr/>
        </p:nvSpPr>
        <p:spPr>
          <a:xfrm>
            <a:off x="720090" y="1961388"/>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200"/>
              <a:buFont typeface="Cambria"/>
              <a:buNone/>
            </a:pPr>
            <a:r>
              <a:rPr b="1" i="0" lang="en" sz="1200" u="none" cap="none" strike="noStrike">
                <a:solidFill>
                  <a:srgbClr val="1B2A3D"/>
                </a:solidFill>
                <a:latin typeface="Cambria"/>
                <a:ea typeface="Cambria"/>
                <a:cs typeface="Cambria"/>
                <a:sym typeface="Cambria"/>
              </a:rPr>
              <a:t>Protected-class sensitivity</a:t>
            </a:r>
            <a:endParaRPr b="0" i="0" sz="1200" u="none" cap="none" strike="noStrike">
              <a:solidFill>
                <a:schemeClr val="dk1"/>
              </a:solidFill>
              <a:latin typeface="Calibri"/>
              <a:ea typeface="Calibri"/>
              <a:cs typeface="Calibri"/>
              <a:sym typeface="Calibri"/>
            </a:endParaRPr>
          </a:p>
        </p:txBody>
      </p:sp>
      <p:sp>
        <p:nvSpPr>
          <p:cNvPr id="99" name="Google Shape;99;p18"/>
          <p:cNvSpPr txBox="1"/>
          <p:nvPr/>
        </p:nvSpPr>
        <p:spPr>
          <a:xfrm>
            <a:off x="3017520" y="1961388"/>
            <a:ext cx="5486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000"/>
              <a:buFont typeface="Calibri"/>
              <a:buNone/>
            </a:pPr>
            <a:r>
              <a:rPr b="0" i="0" lang="en" sz="1000" u="none" cap="none" strike="noStrike">
                <a:solidFill>
                  <a:srgbClr val="546678"/>
                </a:solidFill>
                <a:latin typeface="Calibri"/>
                <a:ea typeface="Calibri"/>
                <a:cs typeface="Calibri"/>
                <a:sym typeface="Calibri"/>
              </a:rPr>
              <a:t>An error in a compensation analysis isn't a correction — it's a compliance exposure</a:t>
            </a:r>
            <a:endParaRPr b="0" i="0" sz="1000" u="none" cap="none" strike="noStrike">
              <a:solidFill>
                <a:schemeClr val="dk1"/>
              </a:solidFill>
              <a:latin typeface="Calibri"/>
              <a:ea typeface="Calibri"/>
              <a:cs typeface="Calibri"/>
              <a:sym typeface="Calibri"/>
            </a:endParaRPr>
          </a:p>
        </p:txBody>
      </p:sp>
      <p:sp>
        <p:nvSpPr>
          <p:cNvPr id="100" name="Google Shape;100;p18"/>
          <p:cNvSpPr/>
          <p:nvPr/>
        </p:nvSpPr>
        <p:spPr>
          <a:xfrm>
            <a:off x="480060" y="2496312"/>
            <a:ext cx="8181594" cy="603504"/>
          </a:xfrm>
          <a:prstGeom prst="roundRect">
            <a:avLst>
              <a:gd fmla="val 9091"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1" name="Google Shape;101;p18"/>
          <p:cNvSpPr txBox="1"/>
          <p:nvPr/>
        </p:nvSpPr>
        <p:spPr>
          <a:xfrm>
            <a:off x="720090" y="2592324"/>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200"/>
              <a:buFont typeface="Cambria"/>
              <a:buNone/>
            </a:pPr>
            <a:r>
              <a:rPr b="1" i="0" lang="en" sz="1200" u="none" cap="none" strike="noStrike">
                <a:solidFill>
                  <a:srgbClr val="1B2A3D"/>
                </a:solidFill>
                <a:latin typeface="Cambria"/>
                <a:ea typeface="Cambria"/>
                <a:cs typeface="Cambria"/>
                <a:sym typeface="Cambria"/>
              </a:rPr>
              <a:t>No compiler for definitions</a:t>
            </a:r>
            <a:endParaRPr b="0" i="0" sz="1200" u="none" cap="none" strike="noStrike">
              <a:solidFill>
                <a:schemeClr val="dk1"/>
              </a:solidFill>
              <a:latin typeface="Calibri"/>
              <a:ea typeface="Calibri"/>
              <a:cs typeface="Calibri"/>
              <a:sym typeface="Calibri"/>
            </a:endParaRPr>
          </a:p>
        </p:txBody>
      </p:sp>
      <p:sp>
        <p:nvSpPr>
          <p:cNvPr id="102" name="Google Shape;102;p18"/>
          <p:cNvSpPr txBox="1"/>
          <p:nvPr/>
        </p:nvSpPr>
        <p:spPr>
          <a:xfrm>
            <a:off x="3017520" y="2592324"/>
            <a:ext cx="5486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000"/>
              <a:buFont typeface="Calibri"/>
              <a:buNone/>
            </a:pPr>
            <a:r>
              <a:rPr b="0" i="0" lang="en" sz="1000" u="none" cap="none" strike="noStrike">
                <a:solidFill>
                  <a:srgbClr val="546678"/>
                </a:solidFill>
                <a:latin typeface="Calibri"/>
                <a:ea typeface="Calibri"/>
                <a:cs typeface="Calibri"/>
                <a:sym typeface="Calibri"/>
              </a:rPr>
              <a:t>'Headcount' means different things in finance, HR, and operations — and nothing enforces consistency</a:t>
            </a:r>
            <a:endParaRPr b="0" i="0" sz="1000" u="none" cap="none" strike="noStrike">
              <a:solidFill>
                <a:schemeClr val="dk1"/>
              </a:solidFill>
              <a:latin typeface="Calibri"/>
              <a:ea typeface="Calibri"/>
              <a:cs typeface="Calibri"/>
              <a:sym typeface="Calibri"/>
            </a:endParaRPr>
          </a:p>
        </p:txBody>
      </p:sp>
      <p:sp>
        <p:nvSpPr>
          <p:cNvPr id="103" name="Google Shape;103;p18"/>
          <p:cNvSpPr/>
          <p:nvPr/>
        </p:nvSpPr>
        <p:spPr>
          <a:xfrm>
            <a:off x="480060" y="3127248"/>
            <a:ext cx="8181594" cy="603504"/>
          </a:xfrm>
          <a:prstGeom prst="roundRect">
            <a:avLst>
              <a:gd fmla="val 9091"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18"/>
          <p:cNvSpPr txBox="1"/>
          <p:nvPr/>
        </p:nvSpPr>
        <p:spPr>
          <a:xfrm>
            <a:off x="720090" y="3223260"/>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200"/>
              <a:buFont typeface="Cambria"/>
              <a:buNone/>
            </a:pPr>
            <a:r>
              <a:rPr b="1" i="0" lang="en" sz="1200" u="none" cap="none" strike="noStrike">
                <a:solidFill>
                  <a:srgbClr val="1B2A3D"/>
                </a:solidFill>
                <a:latin typeface="Cambria"/>
                <a:ea typeface="Cambria"/>
                <a:cs typeface="Cambria"/>
                <a:sym typeface="Cambria"/>
              </a:rPr>
              <a:t>High-stakes consumers</a:t>
            </a:r>
            <a:endParaRPr b="0" i="0" sz="1200" u="none" cap="none" strike="noStrike">
              <a:solidFill>
                <a:schemeClr val="dk1"/>
              </a:solidFill>
              <a:latin typeface="Calibri"/>
              <a:ea typeface="Calibri"/>
              <a:cs typeface="Calibri"/>
              <a:sym typeface="Calibri"/>
            </a:endParaRPr>
          </a:p>
        </p:txBody>
      </p:sp>
      <p:sp>
        <p:nvSpPr>
          <p:cNvPr id="105" name="Google Shape;105;p18"/>
          <p:cNvSpPr txBox="1"/>
          <p:nvPr/>
        </p:nvSpPr>
        <p:spPr>
          <a:xfrm>
            <a:off x="3017520" y="3223260"/>
            <a:ext cx="5486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000"/>
              <a:buFont typeface="Calibri"/>
              <a:buNone/>
            </a:pPr>
            <a:r>
              <a:rPr b="0" i="0" lang="en" sz="1000" u="none" cap="none" strike="noStrike">
                <a:solidFill>
                  <a:srgbClr val="546678"/>
                </a:solidFill>
                <a:latin typeface="Calibri"/>
                <a:ea typeface="Calibri"/>
                <a:cs typeface="Calibri"/>
                <a:sym typeface="Calibri"/>
              </a:rPr>
              <a:t>The audience for HR numbers is executives and board members, not engineers who'll spot a wrong join</a:t>
            </a:r>
            <a:endParaRPr b="0" i="0" sz="1000" u="none" cap="none" strike="noStrike">
              <a:solidFill>
                <a:schemeClr val="dk1"/>
              </a:solidFill>
              <a:latin typeface="Calibri"/>
              <a:ea typeface="Calibri"/>
              <a:cs typeface="Calibri"/>
              <a:sym typeface="Calibri"/>
            </a:endParaRPr>
          </a:p>
        </p:txBody>
      </p:sp>
      <p:sp>
        <p:nvSpPr>
          <p:cNvPr id="106" name="Google Shape;106;p18"/>
          <p:cNvSpPr/>
          <p:nvPr/>
        </p:nvSpPr>
        <p:spPr>
          <a:xfrm>
            <a:off x="480060" y="3758184"/>
            <a:ext cx="8181594" cy="603504"/>
          </a:xfrm>
          <a:prstGeom prst="roundRect">
            <a:avLst>
              <a:gd fmla="val 9091"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18"/>
          <p:cNvSpPr txBox="1"/>
          <p:nvPr/>
        </p:nvSpPr>
        <p:spPr>
          <a:xfrm>
            <a:off x="720090" y="3854196"/>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200"/>
              <a:buFont typeface="Cambria"/>
              <a:buNone/>
            </a:pPr>
            <a:r>
              <a:rPr b="1" i="0" lang="en" sz="1200" u="none" cap="none" strike="noStrike">
                <a:solidFill>
                  <a:srgbClr val="1B2A3D"/>
                </a:solidFill>
                <a:latin typeface="Cambria"/>
                <a:ea typeface="Cambria"/>
                <a:cs typeface="Cambria"/>
                <a:sym typeface="Cambria"/>
              </a:rPr>
              <a:t>Causal claims everywhere</a:t>
            </a:r>
            <a:endParaRPr b="0" i="0" sz="1200" u="none" cap="none" strike="noStrike">
              <a:solidFill>
                <a:schemeClr val="dk1"/>
              </a:solidFill>
              <a:latin typeface="Calibri"/>
              <a:ea typeface="Calibri"/>
              <a:cs typeface="Calibri"/>
              <a:sym typeface="Calibri"/>
            </a:endParaRPr>
          </a:p>
        </p:txBody>
      </p:sp>
      <p:sp>
        <p:nvSpPr>
          <p:cNvPr id="108" name="Google Shape;108;p18"/>
          <p:cNvSpPr txBox="1"/>
          <p:nvPr/>
        </p:nvSpPr>
        <p:spPr>
          <a:xfrm>
            <a:off x="3017520" y="3854196"/>
            <a:ext cx="5486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000"/>
              <a:buFont typeface="Calibri"/>
              <a:buNone/>
            </a:pPr>
            <a:r>
              <a:rPr b="0" i="0" lang="en" sz="1000" u="none" cap="none" strike="noStrike">
                <a:solidFill>
                  <a:srgbClr val="546678"/>
                </a:solidFill>
                <a:latin typeface="Calibri"/>
                <a:ea typeface="Calibri"/>
                <a:cs typeface="Calibri"/>
                <a:sym typeface="Calibri"/>
              </a:rPr>
              <a:t>'The leadership program reduced attrition by 7 points' — sounds like evidence, is actually selection bias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19"/>
          <p:cNvSpPr txBox="1"/>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800"/>
              <a:buFont typeface="Calibri"/>
              <a:buNone/>
            </a:pPr>
            <a:r>
              <a:rPr b="1" i="0" lang="en" sz="800" u="none" cap="none" strike="noStrike">
                <a:solidFill>
                  <a:srgbClr val="2563EB"/>
                </a:solidFill>
                <a:latin typeface="Calibri"/>
                <a:ea typeface="Calibri"/>
                <a:cs typeface="Calibri"/>
                <a:sym typeface="Calibri"/>
              </a:rPr>
              <a:t>THE APPROACH</a:t>
            </a:r>
            <a:endParaRPr b="0" i="0" sz="800" u="none" cap="none" strike="noStrike">
              <a:solidFill>
                <a:schemeClr val="dk1"/>
              </a:solidFill>
              <a:latin typeface="Calibri"/>
              <a:ea typeface="Calibri"/>
              <a:cs typeface="Calibri"/>
              <a:sym typeface="Calibri"/>
            </a:endParaRPr>
          </a:p>
        </p:txBody>
      </p:sp>
      <p:sp>
        <p:nvSpPr>
          <p:cNvPr id="115" name="Google Shape;115;p19"/>
          <p:cNvSpPr txBox="1"/>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2100"/>
              <a:buFont typeface="Cambria"/>
              <a:buNone/>
            </a:pPr>
            <a:r>
              <a:rPr b="1" i="0" lang="en" sz="2100" u="none" cap="none" strike="noStrike">
                <a:solidFill>
                  <a:srgbClr val="1B2A3D"/>
                </a:solidFill>
                <a:latin typeface="Cambria"/>
                <a:ea typeface="Cambria"/>
                <a:cs typeface="Cambria"/>
                <a:sym typeface="Cambria"/>
              </a:rPr>
              <a:t>Encode analyst judgment in markdown files</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D"/>
              </a:buClr>
              <a:buSzPts val="2100"/>
              <a:buFont typeface="Cambria"/>
              <a:buNone/>
            </a:pPr>
            <a:r>
              <a:rPr b="1" i="0" lang="en" sz="2100" u="none" cap="none" strike="noStrike">
                <a:solidFill>
                  <a:srgbClr val="1B2A3D"/>
                </a:solidFill>
                <a:latin typeface="Cambria"/>
                <a:ea typeface="Cambria"/>
                <a:cs typeface="Cambria"/>
                <a:sym typeface="Cambria"/>
              </a:rPr>
              <a:t>that agents can follow</a:t>
            </a:r>
            <a:endParaRPr b="0" i="0" sz="2100" u="none" cap="none" strike="noStrike">
              <a:solidFill>
                <a:schemeClr val="dk1"/>
              </a:solidFill>
              <a:latin typeface="Calibri"/>
              <a:ea typeface="Calibri"/>
              <a:cs typeface="Calibri"/>
              <a:sym typeface="Calibri"/>
            </a:endParaRPr>
          </a:p>
        </p:txBody>
      </p:sp>
      <p:sp>
        <p:nvSpPr>
          <p:cNvPr id="116" name="Google Shape;116;p19"/>
          <p:cNvSpPr txBox="1"/>
          <p:nvPr/>
        </p:nvSpPr>
        <p:spPr>
          <a:xfrm>
            <a:off x="480060" y="123444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200"/>
              <a:buFont typeface="Calibri"/>
              <a:buNone/>
            </a:pPr>
            <a:r>
              <a:rPr b="0" i="0" lang="en" sz="1200" u="none" cap="none" strike="noStrike">
                <a:solidFill>
                  <a:srgbClr val="546678"/>
                </a:solidFill>
                <a:latin typeface="Calibri"/>
                <a:ea typeface="Calibri"/>
                <a:cs typeface="Calibri"/>
                <a:sym typeface="Calibri"/>
              </a:rPr>
              <a:t>A 'skill' is a written reference document — not code, not a plugin, not a model fine-tune. It tells the agent what an experienced analyst would know: which table to trust, which shortcuts are traps, when a number needs a caveat.</a:t>
            </a:r>
            <a:endParaRPr b="0" i="0" sz="1200" u="none" cap="none" strike="noStrike">
              <a:solidFill>
                <a:schemeClr val="dk1"/>
              </a:solidFill>
              <a:latin typeface="Calibri"/>
              <a:ea typeface="Calibri"/>
              <a:cs typeface="Calibri"/>
              <a:sym typeface="Calibri"/>
            </a:endParaRPr>
          </a:p>
        </p:txBody>
      </p:sp>
      <p:sp>
        <p:nvSpPr>
          <p:cNvPr id="117" name="Google Shape;117;p19"/>
          <p:cNvSpPr/>
          <p:nvPr/>
        </p:nvSpPr>
        <p:spPr>
          <a:xfrm>
            <a:off x="480060" y="2057400"/>
            <a:ext cx="1954530" cy="1920240"/>
          </a:xfrm>
          <a:prstGeom prst="roundRect">
            <a:avLst>
              <a:gd fmla="val 2857"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9"/>
          <p:cNvSpPr txBox="1"/>
          <p:nvPr/>
        </p:nvSpPr>
        <p:spPr>
          <a:xfrm>
            <a:off x="617220" y="2194560"/>
            <a:ext cx="168021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400"/>
              <a:buFont typeface="Cambria"/>
              <a:buNone/>
            </a:pPr>
            <a:r>
              <a:rPr b="1" i="0" lang="en" sz="1400" u="none" cap="none" strike="noStrike">
                <a:solidFill>
                  <a:srgbClr val="2563EB"/>
                </a:solidFill>
                <a:latin typeface="Cambria"/>
                <a:ea typeface="Cambria"/>
                <a:cs typeface="Cambria"/>
                <a:sym typeface="Cambria"/>
              </a:rPr>
              <a:t>Define</a:t>
            </a:r>
            <a:endParaRPr b="0" i="0" sz="1400" u="none" cap="none" strike="noStrike">
              <a:solidFill>
                <a:schemeClr val="dk1"/>
              </a:solidFill>
              <a:latin typeface="Calibri"/>
              <a:ea typeface="Calibri"/>
              <a:cs typeface="Calibri"/>
              <a:sym typeface="Calibri"/>
            </a:endParaRPr>
          </a:p>
        </p:txBody>
      </p:sp>
      <p:sp>
        <p:nvSpPr>
          <p:cNvPr id="119" name="Google Shape;119;p19"/>
          <p:cNvSpPr txBox="1"/>
          <p:nvPr/>
        </p:nvSpPr>
        <p:spPr>
          <a:xfrm>
            <a:off x="617220" y="2503170"/>
            <a:ext cx="168021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000"/>
              <a:buFont typeface="Calibri"/>
              <a:buNone/>
            </a:pPr>
            <a:r>
              <a:rPr b="1" i="0" lang="en" sz="1000" u="none" cap="none" strike="noStrike">
                <a:solidFill>
                  <a:srgbClr val="1B2A3D"/>
                </a:solidFill>
                <a:latin typeface="Calibri"/>
                <a:ea typeface="Calibri"/>
                <a:cs typeface="Calibri"/>
                <a:sym typeface="Calibri"/>
              </a:rPr>
              <a:t>Spec the question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D"/>
              </a:buClr>
              <a:buSzPts val="1000"/>
              <a:buFont typeface="Calibri"/>
              <a:buNone/>
            </a:pPr>
            <a:r>
              <a:rPr b="1" i="0" lang="en" sz="1000" u="none" cap="none" strike="noStrike">
                <a:solidFill>
                  <a:srgbClr val="1B2A3D"/>
                </a:solidFill>
                <a:latin typeface="Calibri"/>
                <a:ea typeface="Calibri"/>
                <a:cs typeface="Calibri"/>
                <a:sym typeface="Calibri"/>
              </a:rPr>
              <a:t>before querying</a:t>
            </a:r>
            <a:endParaRPr b="0" i="0" sz="1000" u="none" cap="none" strike="noStrike">
              <a:solidFill>
                <a:schemeClr val="dk1"/>
              </a:solidFill>
              <a:latin typeface="Calibri"/>
              <a:ea typeface="Calibri"/>
              <a:cs typeface="Calibri"/>
              <a:sym typeface="Calibri"/>
            </a:endParaRPr>
          </a:p>
        </p:txBody>
      </p:sp>
      <p:sp>
        <p:nvSpPr>
          <p:cNvPr id="120" name="Google Shape;120;p19"/>
          <p:cNvSpPr txBox="1"/>
          <p:nvPr/>
        </p:nvSpPr>
        <p:spPr>
          <a:xfrm>
            <a:off x="617220" y="3017520"/>
            <a:ext cx="168021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Forces the assumptions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into the open</a:t>
            </a:r>
            <a:endParaRPr b="0" i="0" sz="900" u="none" cap="none" strike="noStrike">
              <a:solidFill>
                <a:schemeClr val="dk1"/>
              </a:solidFill>
              <a:latin typeface="Calibri"/>
              <a:ea typeface="Calibri"/>
              <a:cs typeface="Calibri"/>
              <a:sym typeface="Calibri"/>
            </a:endParaRPr>
          </a:p>
        </p:txBody>
      </p:sp>
      <p:sp>
        <p:nvSpPr>
          <p:cNvPr id="121" name="Google Shape;121;p19"/>
          <p:cNvSpPr/>
          <p:nvPr/>
        </p:nvSpPr>
        <p:spPr>
          <a:xfrm>
            <a:off x="2606040" y="2057400"/>
            <a:ext cx="1954530" cy="1920240"/>
          </a:xfrm>
          <a:prstGeom prst="roundRect">
            <a:avLst>
              <a:gd fmla="val 2857"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 name="Google Shape;122;p19"/>
          <p:cNvSpPr txBox="1"/>
          <p:nvPr/>
        </p:nvSpPr>
        <p:spPr>
          <a:xfrm>
            <a:off x="2743200" y="2194560"/>
            <a:ext cx="168021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400"/>
              <a:buFont typeface="Cambria"/>
              <a:buNone/>
            </a:pPr>
            <a:r>
              <a:rPr b="1" i="0" lang="en" sz="1400" u="none" cap="none" strike="noStrike">
                <a:solidFill>
                  <a:srgbClr val="2563EB"/>
                </a:solidFill>
                <a:latin typeface="Cambria"/>
                <a:ea typeface="Cambria"/>
                <a:cs typeface="Cambria"/>
                <a:sym typeface="Cambria"/>
              </a:rPr>
              <a:t>Build</a:t>
            </a:r>
            <a:endParaRPr b="0" i="0" sz="1400" u="none" cap="none" strike="noStrike">
              <a:solidFill>
                <a:schemeClr val="dk1"/>
              </a:solidFill>
              <a:latin typeface="Calibri"/>
              <a:ea typeface="Calibri"/>
              <a:cs typeface="Calibri"/>
              <a:sym typeface="Calibri"/>
            </a:endParaRPr>
          </a:p>
        </p:txBody>
      </p:sp>
      <p:sp>
        <p:nvSpPr>
          <p:cNvPr id="123" name="Google Shape;123;p19"/>
          <p:cNvSpPr txBox="1"/>
          <p:nvPr/>
        </p:nvSpPr>
        <p:spPr>
          <a:xfrm>
            <a:off x="2743200" y="2503170"/>
            <a:ext cx="168021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000"/>
              <a:buFont typeface="Calibri"/>
              <a:buNone/>
            </a:pPr>
            <a:r>
              <a:rPr b="1" i="0" lang="en" sz="1000" u="none" cap="none" strike="noStrike">
                <a:solidFill>
                  <a:srgbClr val="1B2A3D"/>
                </a:solidFill>
                <a:latin typeface="Calibri"/>
                <a:ea typeface="Calibri"/>
                <a:cs typeface="Calibri"/>
                <a:sym typeface="Calibri"/>
              </a:rPr>
              <a:t>Write the reference doc</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D"/>
              </a:buClr>
              <a:buSzPts val="1000"/>
              <a:buFont typeface="Calibri"/>
              <a:buNone/>
            </a:pPr>
            <a:r>
              <a:rPr b="1" i="0" lang="en" sz="1000" u="none" cap="none" strike="noStrike">
                <a:solidFill>
                  <a:srgbClr val="1B2A3D"/>
                </a:solidFill>
                <a:latin typeface="Calibri"/>
                <a:ea typeface="Calibri"/>
                <a:cs typeface="Calibri"/>
                <a:sym typeface="Calibri"/>
              </a:rPr>
              <a:t>for the domain</a:t>
            </a:r>
            <a:endParaRPr b="0" i="0" sz="1000" u="none" cap="none" strike="noStrike">
              <a:solidFill>
                <a:schemeClr val="dk1"/>
              </a:solidFill>
              <a:latin typeface="Calibri"/>
              <a:ea typeface="Calibri"/>
              <a:cs typeface="Calibri"/>
              <a:sym typeface="Calibri"/>
            </a:endParaRPr>
          </a:p>
        </p:txBody>
      </p:sp>
      <p:sp>
        <p:nvSpPr>
          <p:cNvPr id="124" name="Google Shape;124;p19"/>
          <p:cNvSpPr txBox="1"/>
          <p:nvPr/>
        </p:nvSpPr>
        <p:spPr>
          <a:xfrm>
            <a:off x="2743200" y="3017520"/>
            <a:ext cx="168021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The 'gotchas' section is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what models can't infer</a:t>
            </a:r>
            <a:endParaRPr b="0" i="0" sz="900" u="none" cap="none" strike="noStrike">
              <a:solidFill>
                <a:schemeClr val="dk1"/>
              </a:solidFill>
              <a:latin typeface="Calibri"/>
              <a:ea typeface="Calibri"/>
              <a:cs typeface="Calibri"/>
              <a:sym typeface="Calibri"/>
            </a:endParaRPr>
          </a:p>
        </p:txBody>
      </p:sp>
      <p:sp>
        <p:nvSpPr>
          <p:cNvPr id="125" name="Google Shape;125;p19"/>
          <p:cNvSpPr/>
          <p:nvPr/>
        </p:nvSpPr>
        <p:spPr>
          <a:xfrm>
            <a:off x="4732020" y="2057400"/>
            <a:ext cx="1954530" cy="1920240"/>
          </a:xfrm>
          <a:prstGeom prst="roundRect">
            <a:avLst>
              <a:gd fmla="val 2857"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6" name="Google Shape;126;p19"/>
          <p:cNvSpPr txBox="1"/>
          <p:nvPr/>
        </p:nvSpPr>
        <p:spPr>
          <a:xfrm>
            <a:off x="4869180" y="2194560"/>
            <a:ext cx="168021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400"/>
              <a:buFont typeface="Cambria"/>
              <a:buNone/>
            </a:pPr>
            <a:r>
              <a:rPr b="1" i="0" lang="en" sz="1400" u="none" cap="none" strike="noStrike">
                <a:solidFill>
                  <a:srgbClr val="2563EB"/>
                </a:solidFill>
                <a:latin typeface="Cambria"/>
                <a:ea typeface="Cambria"/>
                <a:cs typeface="Cambria"/>
                <a:sym typeface="Cambria"/>
              </a:rPr>
              <a:t>Validate</a:t>
            </a:r>
            <a:endParaRPr b="0" i="0" sz="1400" u="none" cap="none" strike="noStrike">
              <a:solidFill>
                <a:schemeClr val="dk1"/>
              </a:solidFill>
              <a:latin typeface="Calibri"/>
              <a:ea typeface="Calibri"/>
              <a:cs typeface="Calibri"/>
              <a:sym typeface="Calibri"/>
            </a:endParaRPr>
          </a:p>
        </p:txBody>
      </p:sp>
      <p:sp>
        <p:nvSpPr>
          <p:cNvPr id="127" name="Google Shape;127;p19"/>
          <p:cNvSpPr txBox="1"/>
          <p:nvPr/>
        </p:nvSpPr>
        <p:spPr>
          <a:xfrm>
            <a:off x="4869180" y="2503170"/>
            <a:ext cx="168021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000"/>
              <a:buFont typeface="Calibri"/>
              <a:buNone/>
            </a:pPr>
            <a:r>
              <a:rPr b="1" i="0" lang="en" sz="1000" u="none" cap="none" strike="noStrike">
                <a:solidFill>
                  <a:srgbClr val="1B2A3D"/>
                </a:solidFill>
                <a:latin typeface="Calibri"/>
                <a:ea typeface="Calibri"/>
                <a:cs typeface="Calibri"/>
                <a:sym typeface="Calibri"/>
              </a:rPr>
              <a:t>Write evals before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D"/>
              </a:buClr>
              <a:buSzPts val="1000"/>
              <a:buFont typeface="Calibri"/>
              <a:buNone/>
            </a:pPr>
            <a:r>
              <a:rPr b="1" i="0" lang="en" sz="1000" u="none" cap="none" strike="noStrike">
                <a:solidFill>
                  <a:srgbClr val="1B2A3D"/>
                </a:solidFill>
                <a:latin typeface="Calibri"/>
                <a:ea typeface="Calibri"/>
                <a:cs typeface="Calibri"/>
                <a:sym typeface="Calibri"/>
              </a:rPr>
              <a:t>the skill exists</a:t>
            </a:r>
            <a:endParaRPr b="0" i="0" sz="1000" u="none" cap="none" strike="noStrike">
              <a:solidFill>
                <a:schemeClr val="dk1"/>
              </a:solidFill>
              <a:latin typeface="Calibri"/>
              <a:ea typeface="Calibri"/>
              <a:cs typeface="Calibri"/>
              <a:sym typeface="Calibri"/>
            </a:endParaRPr>
          </a:p>
        </p:txBody>
      </p:sp>
      <p:sp>
        <p:nvSpPr>
          <p:cNvPr id="128" name="Google Shape;128;p19"/>
          <p:cNvSpPr txBox="1"/>
          <p:nvPr/>
        </p:nvSpPr>
        <p:spPr>
          <a:xfrm>
            <a:off x="4869180" y="3017520"/>
            <a:ext cx="168021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Objective, checkable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assertions</a:t>
            </a:r>
            <a:endParaRPr b="0" i="0" sz="900" u="none" cap="none" strike="noStrike">
              <a:solidFill>
                <a:schemeClr val="dk1"/>
              </a:solidFill>
              <a:latin typeface="Calibri"/>
              <a:ea typeface="Calibri"/>
              <a:cs typeface="Calibri"/>
              <a:sym typeface="Calibri"/>
            </a:endParaRPr>
          </a:p>
        </p:txBody>
      </p:sp>
      <p:sp>
        <p:nvSpPr>
          <p:cNvPr id="129" name="Google Shape;129;p19"/>
          <p:cNvSpPr/>
          <p:nvPr/>
        </p:nvSpPr>
        <p:spPr>
          <a:xfrm>
            <a:off x="6858000" y="2057400"/>
            <a:ext cx="1954530" cy="1920240"/>
          </a:xfrm>
          <a:prstGeom prst="roundRect">
            <a:avLst>
              <a:gd fmla="val 2857"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0" name="Google Shape;130;p19"/>
          <p:cNvSpPr txBox="1"/>
          <p:nvPr/>
        </p:nvSpPr>
        <p:spPr>
          <a:xfrm>
            <a:off x="6995160" y="2194560"/>
            <a:ext cx="168021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400"/>
              <a:buFont typeface="Cambria"/>
              <a:buNone/>
            </a:pPr>
            <a:r>
              <a:rPr b="1" i="0" lang="en" sz="1400" u="none" cap="none" strike="noStrike">
                <a:solidFill>
                  <a:srgbClr val="2563EB"/>
                </a:solidFill>
                <a:latin typeface="Cambria"/>
                <a:ea typeface="Cambria"/>
                <a:cs typeface="Cambria"/>
                <a:sym typeface="Cambria"/>
              </a:rPr>
              <a:t>Measure</a:t>
            </a:r>
            <a:endParaRPr b="0" i="0" sz="1400" u="none" cap="none" strike="noStrike">
              <a:solidFill>
                <a:schemeClr val="dk1"/>
              </a:solidFill>
              <a:latin typeface="Calibri"/>
              <a:ea typeface="Calibri"/>
              <a:cs typeface="Calibri"/>
              <a:sym typeface="Calibri"/>
            </a:endParaRPr>
          </a:p>
        </p:txBody>
      </p:sp>
      <p:sp>
        <p:nvSpPr>
          <p:cNvPr id="131" name="Google Shape;131;p19"/>
          <p:cNvSpPr txBox="1"/>
          <p:nvPr/>
        </p:nvSpPr>
        <p:spPr>
          <a:xfrm>
            <a:off x="6995160" y="2503170"/>
            <a:ext cx="168021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000"/>
              <a:buFont typeface="Calibri"/>
              <a:buNone/>
            </a:pPr>
            <a:r>
              <a:rPr b="1" i="0" lang="en" sz="1000" u="none" cap="none" strike="noStrike">
                <a:solidFill>
                  <a:srgbClr val="1B2A3D"/>
                </a:solidFill>
                <a:latin typeface="Calibri"/>
                <a:ea typeface="Calibri"/>
                <a:cs typeface="Calibri"/>
                <a:sym typeface="Calibri"/>
              </a:rPr>
              <a:t>Run baseline vs. skill</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D"/>
              </a:buClr>
              <a:buSzPts val="1000"/>
              <a:buFont typeface="Calibri"/>
              <a:buNone/>
            </a:pPr>
            <a:r>
              <a:rPr b="1" i="0" lang="en" sz="1000" u="none" cap="none" strike="noStrike">
                <a:solidFill>
                  <a:srgbClr val="1B2A3D"/>
                </a:solidFill>
                <a:latin typeface="Calibri"/>
                <a:ea typeface="Calibri"/>
                <a:cs typeface="Calibri"/>
                <a:sym typeface="Calibri"/>
              </a:rPr>
              <a:t>and compare</a:t>
            </a:r>
            <a:endParaRPr b="0" i="0" sz="1000" u="none" cap="none" strike="noStrike">
              <a:solidFill>
                <a:schemeClr val="dk1"/>
              </a:solidFill>
              <a:latin typeface="Calibri"/>
              <a:ea typeface="Calibri"/>
              <a:cs typeface="Calibri"/>
              <a:sym typeface="Calibri"/>
            </a:endParaRPr>
          </a:p>
        </p:txBody>
      </p:sp>
      <p:sp>
        <p:nvSpPr>
          <p:cNvPr id="132" name="Google Shape;132;p19"/>
          <p:cNvSpPr txBox="1"/>
          <p:nvPr/>
        </p:nvSpPr>
        <p:spPr>
          <a:xfrm>
            <a:off x="6995160" y="3017520"/>
            <a:ext cx="168021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The delta is the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evidence</a:t>
            </a:r>
            <a:endParaRPr b="0" i="0" sz="900" u="none" cap="none" strike="noStrike">
              <a:solidFill>
                <a:schemeClr val="dk1"/>
              </a:solidFill>
              <a:latin typeface="Calibri"/>
              <a:ea typeface="Calibri"/>
              <a:cs typeface="Calibri"/>
              <a:sym typeface="Calibri"/>
            </a:endParaRPr>
          </a:p>
        </p:txBody>
      </p:sp>
      <p:sp>
        <p:nvSpPr>
          <p:cNvPr id="133" name="Google Shape;133;p19"/>
          <p:cNvSpPr txBox="1"/>
          <p:nvPr/>
        </p:nvSpPr>
        <p:spPr>
          <a:xfrm>
            <a:off x="480060" y="4183380"/>
            <a:ext cx="818159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100"/>
              <a:buFont typeface="Cambria"/>
              <a:buNone/>
            </a:pPr>
            <a:r>
              <a:rPr b="1" i="1" lang="en" sz="1100" u="none" cap="none" strike="noStrike">
                <a:solidFill>
                  <a:srgbClr val="1B2A3D"/>
                </a:solidFill>
                <a:latin typeface="Cambria"/>
                <a:ea typeface="Cambria"/>
                <a:cs typeface="Cambria"/>
                <a:sym typeface="Cambria"/>
              </a:rPr>
              <a:t>The compound step: every stakeholder correction becomes a doc edit and a new eval. The system gets smarter every time it's wrong — but only if someone captures the correction.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3D"/>
        </a:solidFill>
      </p:bgPr>
    </p:bg>
    <p:spTree>
      <p:nvGrpSpPr>
        <p:cNvPr id="138" name="Shape 138"/>
        <p:cNvGrpSpPr/>
        <p:nvPr/>
      </p:nvGrpSpPr>
      <p:grpSpPr>
        <a:xfrm>
          <a:off x="0" y="0"/>
          <a:ext cx="0" cy="0"/>
          <a:chOff x="0" y="0"/>
          <a:chExt cx="0" cy="0"/>
        </a:xfrm>
      </p:grpSpPr>
      <p:sp>
        <p:nvSpPr>
          <p:cNvPr id="139" name="Google Shape;139;p20"/>
          <p:cNvSpPr txBox="1"/>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800"/>
              <a:buFont typeface="Calibri"/>
              <a:buNone/>
            </a:pPr>
            <a:r>
              <a:rPr b="1" i="0" lang="en" sz="800" u="none" cap="none" strike="noStrike">
                <a:solidFill>
                  <a:srgbClr val="2563EB"/>
                </a:solidFill>
                <a:latin typeface="Calibri"/>
                <a:ea typeface="Calibri"/>
                <a:cs typeface="Calibri"/>
                <a:sym typeface="Calibri"/>
              </a:rPr>
              <a:t>MEASURED RESULTS</a:t>
            </a:r>
            <a:endParaRPr b="0" i="0" sz="800" u="none" cap="none" strike="noStrike">
              <a:solidFill>
                <a:schemeClr val="dk1"/>
              </a:solidFill>
              <a:latin typeface="Calibri"/>
              <a:ea typeface="Calibri"/>
              <a:cs typeface="Calibri"/>
              <a:sym typeface="Calibri"/>
            </a:endParaRPr>
          </a:p>
        </p:txBody>
      </p:sp>
      <p:sp>
        <p:nvSpPr>
          <p:cNvPr id="140" name="Google Shape;140;p20"/>
          <p:cNvSpPr txBox="1"/>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mbria"/>
              <a:buNone/>
            </a:pPr>
            <a:r>
              <a:rPr b="1" i="0" lang="en" sz="2300" u="none" cap="none" strike="noStrike">
                <a:solidFill>
                  <a:srgbClr val="FFFFFF"/>
                </a:solidFill>
                <a:latin typeface="Cambria"/>
                <a:ea typeface="Cambria"/>
                <a:cs typeface="Cambria"/>
                <a:sym typeface="Cambria"/>
              </a:rPr>
              <a:t>56% to 84%, across every domain we tested</a:t>
            </a:r>
            <a:endParaRPr b="0" i="0" sz="2300" u="none" cap="none" strike="noStrike">
              <a:solidFill>
                <a:schemeClr val="dk1"/>
              </a:solidFill>
              <a:latin typeface="Calibri"/>
              <a:ea typeface="Calibri"/>
              <a:cs typeface="Calibri"/>
              <a:sym typeface="Calibri"/>
            </a:endParaRPr>
          </a:p>
        </p:txBody>
      </p:sp>
      <p:sp>
        <p:nvSpPr>
          <p:cNvPr id="141" name="Google Shape;141;p20"/>
          <p:cNvSpPr txBox="1"/>
          <p:nvPr/>
        </p:nvSpPr>
        <p:spPr>
          <a:xfrm>
            <a:off x="480060" y="1028700"/>
            <a:ext cx="8181594"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Eval-assertion pass rate, claude-sonnet-5, 29 evals, 3 repeats each</a:t>
            </a:r>
            <a:endParaRPr b="0" i="0" sz="1000" u="none" cap="none" strike="noStrike">
              <a:solidFill>
                <a:schemeClr val="dk1"/>
              </a:solidFill>
              <a:latin typeface="Calibri"/>
              <a:ea typeface="Calibri"/>
              <a:cs typeface="Calibri"/>
              <a:sym typeface="Calibri"/>
            </a:endParaRPr>
          </a:p>
        </p:txBody>
      </p:sp>
      <p:sp>
        <p:nvSpPr>
          <p:cNvPr id="142" name="Google Shape;142;p20"/>
          <p:cNvSpPr/>
          <p:nvPr/>
        </p:nvSpPr>
        <p:spPr>
          <a:xfrm>
            <a:off x="480060" y="1440180"/>
            <a:ext cx="6515100" cy="377190"/>
          </a:xfrm>
          <a:prstGeom prst="roundRect">
            <a:avLst>
              <a:gd fmla="val 14545" name="adj"/>
            </a:avLst>
          </a:prstGeom>
          <a:solidFill>
            <a:srgbClr val="253B50"/>
          </a:solidFill>
          <a:ln cap="flat" cmpd="sng" w="12700">
            <a:solidFill>
              <a:srgbClr val="253B5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3" name="Google Shape;143;p20"/>
          <p:cNvSpPr txBox="1"/>
          <p:nvPr/>
        </p:nvSpPr>
        <p:spPr>
          <a:xfrm>
            <a:off x="720090" y="1508760"/>
            <a:ext cx="44577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alibri"/>
              <a:buNone/>
            </a:pPr>
            <a:r>
              <a:rPr b="0" i="0" lang="en" sz="1100" u="none" cap="none" strike="noStrike">
                <a:solidFill>
                  <a:srgbClr val="CBD5DD"/>
                </a:solidFill>
                <a:latin typeface="Calibri"/>
                <a:ea typeface="Calibri"/>
                <a:cs typeface="Calibri"/>
                <a:sym typeface="Calibri"/>
              </a:rPr>
              <a:t>Uncertainty reporting</a:t>
            </a:r>
            <a:endParaRPr b="0" i="0" sz="1100" u="none" cap="none" strike="noStrike">
              <a:solidFill>
                <a:schemeClr val="dk1"/>
              </a:solidFill>
              <a:latin typeface="Calibri"/>
              <a:ea typeface="Calibri"/>
              <a:cs typeface="Calibri"/>
              <a:sym typeface="Calibri"/>
            </a:endParaRPr>
          </a:p>
        </p:txBody>
      </p:sp>
      <p:sp>
        <p:nvSpPr>
          <p:cNvPr id="144" name="Google Shape;144;p20"/>
          <p:cNvSpPr txBox="1"/>
          <p:nvPr/>
        </p:nvSpPr>
        <p:spPr>
          <a:xfrm>
            <a:off x="5417820" y="1481328"/>
            <a:ext cx="1371600" cy="28803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864E"/>
              </a:buClr>
              <a:buSzPts val="1700"/>
              <a:buFont typeface="Cambria"/>
              <a:buNone/>
            </a:pPr>
            <a:r>
              <a:rPr b="1" i="0" lang="en" sz="1700" u="none" cap="none" strike="noStrike">
                <a:solidFill>
                  <a:srgbClr val="16864E"/>
                </a:solidFill>
                <a:latin typeface="Cambria"/>
                <a:ea typeface="Cambria"/>
                <a:cs typeface="Cambria"/>
                <a:sym typeface="Cambria"/>
              </a:rPr>
              <a:t>+50</a:t>
            </a:r>
            <a:endParaRPr b="0" i="0" sz="1700" u="none" cap="none" strike="noStrike">
              <a:solidFill>
                <a:schemeClr val="dk1"/>
              </a:solidFill>
              <a:latin typeface="Calibri"/>
              <a:ea typeface="Calibri"/>
              <a:cs typeface="Calibri"/>
              <a:sym typeface="Calibri"/>
            </a:endParaRPr>
          </a:p>
        </p:txBody>
      </p:sp>
      <p:sp>
        <p:nvSpPr>
          <p:cNvPr id="145" name="Google Shape;145;p20"/>
          <p:cNvSpPr/>
          <p:nvPr/>
        </p:nvSpPr>
        <p:spPr>
          <a:xfrm>
            <a:off x="480060" y="1851660"/>
            <a:ext cx="6515100" cy="377190"/>
          </a:xfrm>
          <a:prstGeom prst="roundRect">
            <a:avLst>
              <a:gd fmla="val 14545" name="adj"/>
            </a:avLst>
          </a:prstGeom>
          <a:solidFill>
            <a:srgbClr val="1B2A3D"/>
          </a:solidFill>
          <a:ln cap="flat" cmpd="sng" w="12700">
            <a:solidFill>
              <a:srgbClr val="1B2A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6" name="Google Shape;146;p20"/>
          <p:cNvSpPr txBox="1"/>
          <p:nvPr/>
        </p:nvSpPr>
        <p:spPr>
          <a:xfrm>
            <a:off x="720090" y="1920240"/>
            <a:ext cx="44577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alibri"/>
              <a:buNone/>
            </a:pPr>
            <a:r>
              <a:rPr b="0" i="0" lang="en" sz="1100" u="none" cap="none" strike="noStrike">
                <a:solidFill>
                  <a:srgbClr val="CBD5DD"/>
                </a:solidFill>
                <a:latin typeface="Calibri"/>
                <a:ea typeface="Calibri"/>
                <a:cs typeface="Calibri"/>
                <a:sym typeface="Calibri"/>
              </a:rPr>
              <a:t>Provenance &amp; source tracking</a:t>
            </a:r>
            <a:endParaRPr b="0" i="0" sz="1100" u="none" cap="none" strike="noStrike">
              <a:solidFill>
                <a:schemeClr val="dk1"/>
              </a:solidFill>
              <a:latin typeface="Calibri"/>
              <a:ea typeface="Calibri"/>
              <a:cs typeface="Calibri"/>
              <a:sym typeface="Calibri"/>
            </a:endParaRPr>
          </a:p>
        </p:txBody>
      </p:sp>
      <p:sp>
        <p:nvSpPr>
          <p:cNvPr id="147" name="Google Shape;147;p20"/>
          <p:cNvSpPr txBox="1"/>
          <p:nvPr/>
        </p:nvSpPr>
        <p:spPr>
          <a:xfrm>
            <a:off x="5417820" y="1892808"/>
            <a:ext cx="1371600" cy="28803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864E"/>
              </a:buClr>
              <a:buSzPts val="1700"/>
              <a:buFont typeface="Cambria"/>
              <a:buNone/>
            </a:pPr>
            <a:r>
              <a:rPr b="1" i="0" lang="en" sz="1700" u="none" cap="none" strike="noStrike">
                <a:solidFill>
                  <a:srgbClr val="16864E"/>
                </a:solidFill>
                <a:latin typeface="Cambria"/>
                <a:ea typeface="Cambria"/>
                <a:cs typeface="Cambria"/>
                <a:sym typeface="Cambria"/>
              </a:rPr>
              <a:t>+42</a:t>
            </a:r>
            <a:endParaRPr b="0" i="0" sz="1700" u="none" cap="none" strike="noStrike">
              <a:solidFill>
                <a:schemeClr val="dk1"/>
              </a:solidFill>
              <a:latin typeface="Calibri"/>
              <a:ea typeface="Calibri"/>
              <a:cs typeface="Calibri"/>
              <a:sym typeface="Calibri"/>
            </a:endParaRPr>
          </a:p>
        </p:txBody>
      </p:sp>
      <p:sp>
        <p:nvSpPr>
          <p:cNvPr id="148" name="Google Shape;148;p20"/>
          <p:cNvSpPr/>
          <p:nvPr/>
        </p:nvSpPr>
        <p:spPr>
          <a:xfrm>
            <a:off x="480060" y="2263140"/>
            <a:ext cx="6515100" cy="377190"/>
          </a:xfrm>
          <a:prstGeom prst="roundRect">
            <a:avLst>
              <a:gd fmla="val 14545" name="adj"/>
            </a:avLst>
          </a:prstGeom>
          <a:solidFill>
            <a:srgbClr val="253B50"/>
          </a:solidFill>
          <a:ln cap="flat" cmpd="sng" w="12700">
            <a:solidFill>
              <a:srgbClr val="253B5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20"/>
          <p:cNvSpPr txBox="1"/>
          <p:nvPr/>
        </p:nvSpPr>
        <p:spPr>
          <a:xfrm>
            <a:off x="720090" y="2331720"/>
            <a:ext cx="44577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alibri"/>
              <a:buNone/>
            </a:pPr>
            <a:r>
              <a:rPr b="0" i="0" lang="en" sz="1100" u="none" cap="none" strike="noStrike">
                <a:solidFill>
                  <a:srgbClr val="CBD5DD"/>
                </a:solidFill>
                <a:latin typeface="Calibri"/>
                <a:ea typeface="Calibri"/>
                <a:cs typeface="Calibri"/>
                <a:sym typeface="Calibri"/>
              </a:rPr>
              <a:t>Warehouse navigation</a:t>
            </a:r>
            <a:endParaRPr b="0" i="0" sz="1100" u="none" cap="none" strike="noStrike">
              <a:solidFill>
                <a:schemeClr val="dk1"/>
              </a:solidFill>
              <a:latin typeface="Calibri"/>
              <a:ea typeface="Calibri"/>
              <a:cs typeface="Calibri"/>
              <a:sym typeface="Calibri"/>
            </a:endParaRPr>
          </a:p>
        </p:txBody>
      </p:sp>
      <p:sp>
        <p:nvSpPr>
          <p:cNvPr id="150" name="Google Shape;150;p20"/>
          <p:cNvSpPr txBox="1"/>
          <p:nvPr/>
        </p:nvSpPr>
        <p:spPr>
          <a:xfrm>
            <a:off x="5417820" y="2304288"/>
            <a:ext cx="1371600" cy="28803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864E"/>
              </a:buClr>
              <a:buSzPts val="1700"/>
              <a:buFont typeface="Cambria"/>
              <a:buNone/>
            </a:pPr>
            <a:r>
              <a:rPr b="1" i="0" lang="en" sz="1700" u="none" cap="none" strike="noStrike">
                <a:solidFill>
                  <a:srgbClr val="16864E"/>
                </a:solidFill>
                <a:latin typeface="Cambria"/>
                <a:ea typeface="Cambria"/>
                <a:cs typeface="Cambria"/>
                <a:sym typeface="Cambria"/>
              </a:rPr>
              <a:t>+23</a:t>
            </a:r>
            <a:endParaRPr b="0" i="0" sz="1700" u="none" cap="none" strike="noStrike">
              <a:solidFill>
                <a:schemeClr val="dk1"/>
              </a:solidFill>
              <a:latin typeface="Calibri"/>
              <a:ea typeface="Calibri"/>
              <a:cs typeface="Calibri"/>
              <a:sym typeface="Calibri"/>
            </a:endParaRPr>
          </a:p>
        </p:txBody>
      </p:sp>
      <p:sp>
        <p:nvSpPr>
          <p:cNvPr id="151" name="Google Shape;151;p20"/>
          <p:cNvSpPr/>
          <p:nvPr/>
        </p:nvSpPr>
        <p:spPr>
          <a:xfrm>
            <a:off x="480060" y="2674620"/>
            <a:ext cx="6515100" cy="377190"/>
          </a:xfrm>
          <a:prstGeom prst="roundRect">
            <a:avLst>
              <a:gd fmla="val 14545" name="adj"/>
            </a:avLst>
          </a:prstGeom>
          <a:solidFill>
            <a:srgbClr val="1B2A3D"/>
          </a:solidFill>
          <a:ln cap="flat" cmpd="sng" w="12700">
            <a:solidFill>
              <a:srgbClr val="1B2A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2" name="Google Shape;152;p20"/>
          <p:cNvSpPr txBox="1"/>
          <p:nvPr/>
        </p:nvSpPr>
        <p:spPr>
          <a:xfrm>
            <a:off x="720090" y="2743200"/>
            <a:ext cx="44577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alibri"/>
              <a:buNone/>
            </a:pPr>
            <a:r>
              <a:rPr b="0" i="0" lang="en" sz="1100" u="none" cap="none" strike="noStrike">
                <a:solidFill>
                  <a:srgbClr val="CBD5DD"/>
                </a:solidFill>
                <a:latin typeface="Calibri"/>
                <a:ea typeface="Calibri"/>
                <a:cs typeface="Calibri"/>
                <a:sym typeface="Calibri"/>
              </a:rPr>
              <a:t>Question intake &amp; scoping</a:t>
            </a:r>
            <a:endParaRPr b="0" i="0" sz="1100" u="none" cap="none" strike="noStrike">
              <a:solidFill>
                <a:schemeClr val="dk1"/>
              </a:solidFill>
              <a:latin typeface="Calibri"/>
              <a:ea typeface="Calibri"/>
              <a:cs typeface="Calibri"/>
              <a:sym typeface="Calibri"/>
            </a:endParaRPr>
          </a:p>
        </p:txBody>
      </p:sp>
      <p:sp>
        <p:nvSpPr>
          <p:cNvPr id="153" name="Google Shape;153;p20"/>
          <p:cNvSpPr txBox="1"/>
          <p:nvPr/>
        </p:nvSpPr>
        <p:spPr>
          <a:xfrm>
            <a:off x="5417820" y="2715768"/>
            <a:ext cx="1371600" cy="28803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864E"/>
              </a:buClr>
              <a:buSzPts val="1700"/>
              <a:buFont typeface="Cambria"/>
              <a:buNone/>
            </a:pPr>
            <a:r>
              <a:rPr b="1" i="0" lang="en" sz="1700" u="none" cap="none" strike="noStrike">
                <a:solidFill>
                  <a:srgbClr val="16864E"/>
                </a:solidFill>
                <a:latin typeface="Cambria"/>
                <a:ea typeface="Cambria"/>
                <a:cs typeface="Cambria"/>
                <a:sym typeface="Cambria"/>
              </a:rPr>
              <a:t>+21</a:t>
            </a:r>
            <a:endParaRPr b="0" i="0" sz="1700" u="none" cap="none" strike="noStrike">
              <a:solidFill>
                <a:schemeClr val="dk1"/>
              </a:solidFill>
              <a:latin typeface="Calibri"/>
              <a:ea typeface="Calibri"/>
              <a:cs typeface="Calibri"/>
              <a:sym typeface="Calibri"/>
            </a:endParaRPr>
          </a:p>
        </p:txBody>
      </p:sp>
      <p:sp>
        <p:nvSpPr>
          <p:cNvPr id="154" name="Google Shape;154;p20"/>
          <p:cNvSpPr/>
          <p:nvPr/>
        </p:nvSpPr>
        <p:spPr>
          <a:xfrm>
            <a:off x="480060" y="3086100"/>
            <a:ext cx="6515100" cy="377190"/>
          </a:xfrm>
          <a:prstGeom prst="roundRect">
            <a:avLst>
              <a:gd fmla="val 14545" name="adj"/>
            </a:avLst>
          </a:prstGeom>
          <a:solidFill>
            <a:srgbClr val="253B50"/>
          </a:solidFill>
          <a:ln cap="flat" cmpd="sng" w="12700">
            <a:solidFill>
              <a:srgbClr val="253B5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 name="Google Shape;155;p20"/>
          <p:cNvSpPr txBox="1"/>
          <p:nvPr/>
        </p:nvSpPr>
        <p:spPr>
          <a:xfrm>
            <a:off x="720090" y="3154680"/>
            <a:ext cx="44577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alibri"/>
              <a:buNone/>
            </a:pPr>
            <a:r>
              <a:rPr b="0" i="0" lang="en" sz="1100" u="none" cap="none" strike="noStrike">
                <a:solidFill>
                  <a:srgbClr val="CBD5DD"/>
                </a:solidFill>
                <a:latin typeface="Calibri"/>
                <a:ea typeface="Calibri"/>
                <a:cs typeface="Calibri"/>
                <a:sym typeface="Calibri"/>
              </a:rPr>
              <a:t>SQL review &amp; validation</a:t>
            </a:r>
            <a:endParaRPr b="0" i="0" sz="1100" u="none" cap="none" strike="noStrike">
              <a:solidFill>
                <a:schemeClr val="dk1"/>
              </a:solidFill>
              <a:latin typeface="Calibri"/>
              <a:ea typeface="Calibri"/>
              <a:cs typeface="Calibri"/>
              <a:sym typeface="Calibri"/>
            </a:endParaRPr>
          </a:p>
        </p:txBody>
      </p:sp>
      <p:sp>
        <p:nvSpPr>
          <p:cNvPr id="156" name="Google Shape;156;p20"/>
          <p:cNvSpPr txBox="1"/>
          <p:nvPr/>
        </p:nvSpPr>
        <p:spPr>
          <a:xfrm>
            <a:off x="5417820" y="3127248"/>
            <a:ext cx="1371600" cy="28803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864E"/>
              </a:buClr>
              <a:buSzPts val="1700"/>
              <a:buFont typeface="Cambria"/>
              <a:buNone/>
            </a:pPr>
            <a:r>
              <a:rPr b="1" i="0" lang="en" sz="1700" u="none" cap="none" strike="noStrike">
                <a:solidFill>
                  <a:srgbClr val="16864E"/>
                </a:solidFill>
                <a:latin typeface="Cambria"/>
                <a:ea typeface="Cambria"/>
                <a:cs typeface="Cambria"/>
                <a:sym typeface="Cambria"/>
              </a:rPr>
              <a:t>+18</a:t>
            </a:r>
            <a:endParaRPr b="0" i="0" sz="1700" u="none" cap="none" strike="noStrike">
              <a:solidFill>
                <a:schemeClr val="dk1"/>
              </a:solidFill>
              <a:latin typeface="Calibri"/>
              <a:ea typeface="Calibri"/>
              <a:cs typeface="Calibri"/>
              <a:sym typeface="Calibri"/>
            </a:endParaRPr>
          </a:p>
        </p:txBody>
      </p:sp>
      <p:sp>
        <p:nvSpPr>
          <p:cNvPr id="157" name="Google Shape;157;p20"/>
          <p:cNvSpPr/>
          <p:nvPr/>
        </p:nvSpPr>
        <p:spPr>
          <a:xfrm>
            <a:off x="480060" y="3497580"/>
            <a:ext cx="6515100" cy="377190"/>
          </a:xfrm>
          <a:prstGeom prst="roundRect">
            <a:avLst>
              <a:gd fmla="val 14545" name="adj"/>
            </a:avLst>
          </a:prstGeom>
          <a:solidFill>
            <a:srgbClr val="1B2A3D"/>
          </a:solidFill>
          <a:ln cap="flat" cmpd="sng" w="12700">
            <a:solidFill>
              <a:srgbClr val="1B2A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20"/>
          <p:cNvSpPr txBox="1"/>
          <p:nvPr/>
        </p:nvSpPr>
        <p:spPr>
          <a:xfrm>
            <a:off x="720090" y="3566160"/>
            <a:ext cx="44577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alibri"/>
              <a:buNone/>
            </a:pPr>
            <a:r>
              <a:rPr b="0" i="0" lang="en" sz="1100" u="none" cap="none" strike="noStrike">
                <a:solidFill>
                  <a:srgbClr val="CBD5DD"/>
                </a:solidFill>
                <a:latin typeface="Calibri"/>
                <a:ea typeface="Calibri"/>
                <a:cs typeface="Calibri"/>
                <a:sym typeface="Calibri"/>
              </a:rPr>
              <a:t>Causal claim guardrails</a:t>
            </a:r>
            <a:endParaRPr b="0" i="0" sz="1100" u="none" cap="none" strike="noStrike">
              <a:solidFill>
                <a:schemeClr val="dk1"/>
              </a:solidFill>
              <a:latin typeface="Calibri"/>
              <a:ea typeface="Calibri"/>
              <a:cs typeface="Calibri"/>
              <a:sym typeface="Calibri"/>
            </a:endParaRPr>
          </a:p>
        </p:txBody>
      </p:sp>
      <p:sp>
        <p:nvSpPr>
          <p:cNvPr id="159" name="Google Shape;159;p20"/>
          <p:cNvSpPr txBox="1"/>
          <p:nvPr/>
        </p:nvSpPr>
        <p:spPr>
          <a:xfrm>
            <a:off x="5417820" y="3538728"/>
            <a:ext cx="1371600" cy="28803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864E"/>
              </a:buClr>
              <a:buSzPts val="1700"/>
              <a:buFont typeface="Cambria"/>
              <a:buNone/>
            </a:pPr>
            <a:r>
              <a:rPr b="1" i="0" lang="en" sz="1700" u="none" cap="none" strike="noStrike">
                <a:solidFill>
                  <a:srgbClr val="16864E"/>
                </a:solidFill>
                <a:latin typeface="Cambria"/>
                <a:ea typeface="Cambria"/>
                <a:cs typeface="Cambria"/>
                <a:sym typeface="Cambria"/>
              </a:rPr>
              <a:t>+13</a:t>
            </a:r>
            <a:endParaRPr b="0" i="0" sz="1700" u="none" cap="none" strike="noStrike">
              <a:solidFill>
                <a:schemeClr val="dk1"/>
              </a:solidFill>
              <a:latin typeface="Calibri"/>
              <a:ea typeface="Calibri"/>
              <a:cs typeface="Calibri"/>
              <a:sym typeface="Calibri"/>
            </a:endParaRPr>
          </a:p>
        </p:txBody>
      </p:sp>
      <p:sp>
        <p:nvSpPr>
          <p:cNvPr id="160" name="Google Shape;160;p20"/>
          <p:cNvSpPr/>
          <p:nvPr/>
        </p:nvSpPr>
        <p:spPr>
          <a:xfrm>
            <a:off x="7475220" y="1440180"/>
            <a:ext cx="1645920" cy="2537460"/>
          </a:xfrm>
          <a:prstGeom prst="roundRect">
            <a:avLst>
              <a:gd fmla="val 3333" name="adj"/>
            </a:avLst>
          </a:prstGeom>
          <a:solidFill>
            <a:srgbClr val="253B50"/>
          </a:solidFill>
          <a:ln cap="flat" cmpd="sng" w="12700">
            <a:solidFill>
              <a:srgbClr val="253B5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 name="Google Shape;161;p20"/>
          <p:cNvSpPr txBox="1"/>
          <p:nvPr/>
        </p:nvSpPr>
        <p:spPr>
          <a:xfrm>
            <a:off x="7578090" y="1577340"/>
            <a:ext cx="1440180" cy="2057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Calibri"/>
              <a:buNone/>
            </a:pPr>
            <a:r>
              <a:rPr b="0" i="0" lang="en" sz="900" u="none" cap="none" strike="noStrike">
                <a:solidFill>
                  <a:srgbClr val="94A3B8"/>
                </a:solidFill>
                <a:latin typeface="Calibri"/>
                <a:ea typeface="Calibri"/>
                <a:cs typeface="Calibri"/>
                <a:sym typeface="Calibri"/>
              </a:rPr>
              <a:t>Mean</a:t>
            </a:r>
            <a:endParaRPr b="0" i="0" sz="900" u="none" cap="none" strike="noStrike">
              <a:solidFill>
                <a:schemeClr val="dk1"/>
              </a:solidFill>
              <a:latin typeface="Calibri"/>
              <a:ea typeface="Calibri"/>
              <a:cs typeface="Calibri"/>
              <a:sym typeface="Calibri"/>
            </a:endParaRPr>
          </a:p>
        </p:txBody>
      </p:sp>
      <p:sp>
        <p:nvSpPr>
          <p:cNvPr id="162" name="Google Shape;162;p20"/>
          <p:cNvSpPr txBox="1"/>
          <p:nvPr/>
        </p:nvSpPr>
        <p:spPr>
          <a:xfrm>
            <a:off x="7578090" y="1851660"/>
            <a:ext cx="14401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864E"/>
              </a:buClr>
              <a:buSzPts val="3500"/>
              <a:buFont typeface="Cambria"/>
              <a:buNone/>
            </a:pPr>
            <a:r>
              <a:rPr b="1" i="0" lang="en" sz="3500" u="none" cap="none" strike="noStrike">
                <a:solidFill>
                  <a:srgbClr val="16864E"/>
                </a:solidFill>
                <a:latin typeface="Cambria"/>
                <a:ea typeface="Cambria"/>
                <a:cs typeface="Cambria"/>
                <a:sym typeface="Cambria"/>
              </a:rPr>
              <a:t>+28</a:t>
            </a:r>
            <a:endParaRPr b="0" i="0" sz="3500" u="none" cap="none" strike="noStrike">
              <a:solidFill>
                <a:schemeClr val="dk1"/>
              </a:solidFill>
              <a:latin typeface="Calibri"/>
              <a:ea typeface="Calibri"/>
              <a:cs typeface="Calibri"/>
              <a:sym typeface="Calibri"/>
            </a:endParaRPr>
          </a:p>
        </p:txBody>
      </p:sp>
      <p:sp>
        <p:nvSpPr>
          <p:cNvPr id="163" name="Google Shape;163;p20"/>
          <p:cNvSpPr txBox="1"/>
          <p:nvPr/>
        </p:nvSpPr>
        <p:spPr>
          <a:xfrm>
            <a:off x="7578090" y="2400300"/>
            <a:ext cx="1440180" cy="2057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864E"/>
              </a:buClr>
              <a:buSzPts val="1100"/>
              <a:buFont typeface="Calibri"/>
              <a:buNone/>
            </a:pPr>
            <a:r>
              <a:rPr b="0" i="0" lang="en" sz="1100" u="none" cap="none" strike="noStrike">
                <a:solidFill>
                  <a:srgbClr val="16864E"/>
                </a:solidFill>
                <a:latin typeface="Calibri"/>
                <a:ea typeface="Calibri"/>
                <a:cs typeface="Calibri"/>
                <a:sym typeface="Calibri"/>
              </a:rPr>
              <a:t>points</a:t>
            </a:r>
            <a:endParaRPr b="0" i="0" sz="1100" u="none" cap="none" strike="noStrike">
              <a:solidFill>
                <a:schemeClr val="dk1"/>
              </a:solidFill>
              <a:latin typeface="Calibri"/>
              <a:ea typeface="Calibri"/>
              <a:cs typeface="Calibri"/>
              <a:sym typeface="Calibri"/>
            </a:endParaRPr>
          </a:p>
        </p:txBody>
      </p:sp>
      <p:sp>
        <p:nvSpPr>
          <p:cNvPr id="164" name="Google Shape;164;p20"/>
          <p:cNvSpPr txBox="1"/>
          <p:nvPr/>
        </p:nvSpPr>
        <p:spPr>
          <a:xfrm>
            <a:off x="7578090" y="2811780"/>
            <a:ext cx="14401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Calibri"/>
              <a:buNone/>
            </a:pPr>
            <a:r>
              <a:rPr b="0" i="0" lang="en" sz="900" u="none" cap="none" strike="noStrike">
                <a:solidFill>
                  <a:srgbClr val="94A3B8"/>
                </a:solidFill>
                <a:latin typeface="Calibri"/>
                <a:ea typeface="Calibri"/>
                <a:cs typeface="Calibri"/>
                <a:sym typeface="Calibri"/>
              </a:rPr>
              <a:t>95% CI</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900"/>
              <a:buFont typeface="Calibri"/>
              <a:buNone/>
            </a:pPr>
            <a:r>
              <a:rPr b="0" i="0" lang="en" sz="900" u="none" cap="none" strike="noStrike">
                <a:solidFill>
                  <a:srgbClr val="94A3B8"/>
                </a:solidFill>
                <a:latin typeface="Calibri"/>
                <a:ea typeface="Calibri"/>
                <a:cs typeface="Calibri"/>
                <a:sym typeface="Calibri"/>
              </a:rPr>
              <a:t>+12 to +44</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900"/>
              <a:buFont typeface="Calibri"/>
              <a:buNone/>
            </a:pPr>
            <a:r>
              <a:rPr b="0" i="0" lang="en" sz="900" u="none" cap="none" strike="noStrike">
                <a:solidFill>
                  <a:srgbClr val="94A3B8"/>
                </a:solidFill>
                <a:latin typeface="Calibri"/>
                <a:ea typeface="Calibri"/>
                <a:cs typeface="Calibri"/>
                <a:sym typeface="Calibri"/>
              </a:rPr>
              <a:t>p = 0.009</a:t>
            </a:r>
            <a:endParaRPr b="0" i="0" sz="900" u="none" cap="none" strike="noStrike">
              <a:solidFill>
                <a:schemeClr val="dk1"/>
              </a:solidFill>
              <a:latin typeface="Calibri"/>
              <a:ea typeface="Calibri"/>
              <a:cs typeface="Calibri"/>
              <a:sym typeface="Calibri"/>
            </a:endParaRPr>
          </a:p>
        </p:txBody>
      </p:sp>
      <p:sp>
        <p:nvSpPr>
          <p:cNvPr id="165" name="Google Shape;165;p20"/>
          <p:cNvSpPr txBox="1"/>
          <p:nvPr/>
        </p:nvSpPr>
        <p:spPr>
          <a:xfrm>
            <a:off x="480060" y="4217670"/>
            <a:ext cx="8181594"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b="0" i="1" lang="en" sz="900" u="none" cap="none" strike="noStrike">
                <a:solidFill>
                  <a:srgbClr val="94A3B8"/>
                </a:solidFill>
                <a:latin typeface="Calibri"/>
                <a:ea typeface="Calibri"/>
                <a:cs typeface="Calibri"/>
                <a:sym typeface="Calibri"/>
              </a:rPr>
              <a:t>Single model, single session, authors' own evals — the weakest form of evidence that counts as evidence. But it's real measurement, not a claim.</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21"/>
          <p:cNvSpPr txBox="1"/>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800"/>
              <a:buFont typeface="Calibri"/>
              <a:buNone/>
            </a:pPr>
            <a:r>
              <a:rPr b="1" i="0" lang="en" sz="800" u="none" cap="none" strike="noStrike">
                <a:solidFill>
                  <a:srgbClr val="2563EB"/>
                </a:solidFill>
                <a:latin typeface="Calibri"/>
                <a:ea typeface="Calibri"/>
                <a:cs typeface="Calibri"/>
                <a:sym typeface="Calibri"/>
              </a:rPr>
              <a:t>HONEST CAVEATS</a:t>
            </a:r>
            <a:endParaRPr b="0" i="0" sz="800" u="none" cap="none" strike="noStrike">
              <a:solidFill>
                <a:schemeClr val="dk1"/>
              </a:solidFill>
              <a:latin typeface="Calibri"/>
              <a:ea typeface="Calibri"/>
              <a:cs typeface="Calibri"/>
              <a:sym typeface="Calibri"/>
            </a:endParaRPr>
          </a:p>
        </p:txBody>
      </p:sp>
      <p:sp>
        <p:nvSpPr>
          <p:cNvPr id="172" name="Google Shape;172;p21"/>
          <p:cNvSpPr txBox="1"/>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2100"/>
              <a:buFont typeface="Cambria"/>
              <a:buNone/>
            </a:pPr>
            <a:r>
              <a:rPr b="1" i="0" lang="en" sz="2100" u="none" cap="none" strike="noStrike">
                <a:solidFill>
                  <a:srgbClr val="1B2A3D"/>
                </a:solidFill>
                <a:latin typeface="Cambria"/>
                <a:ea typeface="Cambria"/>
                <a:cs typeface="Cambria"/>
                <a:sym typeface="Cambria"/>
              </a:rPr>
              <a:t>Three things we report alongside the number</a:t>
            </a:r>
            <a:endParaRPr b="0" i="0" sz="2100" u="none" cap="none" strike="noStrike">
              <a:solidFill>
                <a:schemeClr val="dk1"/>
              </a:solidFill>
              <a:latin typeface="Calibri"/>
              <a:ea typeface="Calibri"/>
              <a:cs typeface="Calibri"/>
              <a:sym typeface="Calibri"/>
            </a:endParaRPr>
          </a:p>
        </p:txBody>
      </p:sp>
      <p:sp>
        <p:nvSpPr>
          <p:cNvPr id="173" name="Google Shape;173;p21"/>
          <p:cNvSpPr/>
          <p:nvPr/>
        </p:nvSpPr>
        <p:spPr>
          <a:xfrm>
            <a:off x="480060" y="1165860"/>
            <a:ext cx="8181594" cy="925830"/>
          </a:xfrm>
          <a:prstGeom prst="roundRect">
            <a:avLst>
              <a:gd fmla="val 5926"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 name="Google Shape;174;p21"/>
          <p:cNvSpPr txBox="1"/>
          <p:nvPr/>
        </p:nvSpPr>
        <p:spPr>
          <a:xfrm>
            <a:off x="754380" y="1303020"/>
            <a:ext cx="763295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400"/>
              <a:buFont typeface="Cambria"/>
              <a:buNone/>
            </a:pPr>
            <a:r>
              <a:rPr b="1" i="0" lang="en" sz="1400" u="none" cap="none" strike="noStrike">
                <a:solidFill>
                  <a:srgbClr val="E8663C"/>
                </a:solidFill>
                <a:latin typeface="Cambria"/>
                <a:ea typeface="Cambria"/>
                <a:cs typeface="Cambria"/>
                <a:sym typeface="Cambria"/>
              </a:rPr>
              <a:t>Skills over-fire</a:t>
            </a:r>
            <a:endParaRPr b="0" i="0" sz="1400" u="none" cap="none" strike="noStrike">
              <a:solidFill>
                <a:schemeClr val="dk1"/>
              </a:solidFill>
              <a:latin typeface="Calibri"/>
              <a:ea typeface="Calibri"/>
              <a:cs typeface="Calibri"/>
              <a:sym typeface="Calibri"/>
            </a:endParaRPr>
          </a:p>
        </p:txBody>
      </p:sp>
      <p:sp>
        <p:nvSpPr>
          <p:cNvPr id="175" name="Google Shape;175;p21"/>
          <p:cNvSpPr txBox="1"/>
          <p:nvPr/>
        </p:nvSpPr>
        <p:spPr>
          <a:xfrm>
            <a:off x="754380" y="1611630"/>
            <a:ext cx="7632954"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100"/>
              <a:buFont typeface="Calibri"/>
              <a:buNone/>
            </a:pPr>
            <a:r>
              <a:rPr b="0" i="0" lang="en" sz="1100" u="none" cap="none" strike="noStrike">
                <a:solidFill>
                  <a:srgbClr val="546678"/>
                </a:solidFill>
                <a:latin typeface="Calibri"/>
                <a:ea typeface="Calibri"/>
                <a:cs typeface="Calibri"/>
                <a:sym typeface="Calibri"/>
              </a:rPr>
              <a:t>Negative-test pass rate fell from 87% to 70%. Skills sometimes add process where none is needed — that's a real cost, not noise.</a:t>
            </a:r>
            <a:endParaRPr b="0" i="0" sz="1100" u="none" cap="none" strike="noStrike">
              <a:solidFill>
                <a:schemeClr val="dk1"/>
              </a:solidFill>
              <a:latin typeface="Calibri"/>
              <a:ea typeface="Calibri"/>
              <a:cs typeface="Calibri"/>
              <a:sym typeface="Calibri"/>
            </a:endParaRPr>
          </a:p>
        </p:txBody>
      </p:sp>
      <p:sp>
        <p:nvSpPr>
          <p:cNvPr id="176" name="Google Shape;176;p21"/>
          <p:cNvSpPr/>
          <p:nvPr/>
        </p:nvSpPr>
        <p:spPr>
          <a:xfrm>
            <a:off x="480060" y="2160270"/>
            <a:ext cx="8181594" cy="925830"/>
          </a:xfrm>
          <a:prstGeom prst="roundRect">
            <a:avLst>
              <a:gd fmla="val 5926"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 name="Google Shape;177;p21"/>
          <p:cNvSpPr txBox="1"/>
          <p:nvPr/>
        </p:nvSpPr>
        <p:spPr>
          <a:xfrm>
            <a:off x="754380" y="2297430"/>
            <a:ext cx="763295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400"/>
              <a:buFont typeface="Cambria"/>
              <a:buNone/>
            </a:pPr>
            <a:r>
              <a:rPr b="1" i="0" lang="en" sz="1400" u="none" cap="none" strike="noStrike">
                <a:solidFill>
                  <a:srgbClr val="2563EB"/>
                </a:solidFill>
                <a:latin typeface="Cambria"/>
                <a:ea typeface="Cambria"/>
                <a:cs typeface="Cambria"/>
                <a:sym typeface="Cambria"/>
              </a:rPr>
              <a:t>Loading strategy matters more than content</a:t>
            </a:r>
            <a:endParaRPr b="0" i="0" sz="1400" u="none" cap="none" strike="noStrike">
              <a:solidFill>
                <a:schemeClr val="dk1"/>
              </a:solidFill>
              <a:latin typeface="Calibri"/>
              <a:ea typeface="Calibri"/>
              <a:cs typeface="Calibri"/>
              <a:sym typeface="Calibri"/>
            </a:endParaRPr>
          </a:p>
        </p:txBody>
      </p:sp>
      <p:sp>
        <p:nvSpPr>
          <p:cNvPr id="178" name="Google Shape;178;p21"/>
          <p:cNvSpPr txBox="1"/>
          <p:nvPr/>
        </p:nvSpPr>
        <p:spPr>
          <a:xfrm>
            <a:off x="754380" y="2606040"/>
            <a:ext cx="7632954"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100"/>
              <a:buFont typeface="Calibri"/>
              <a:buNone/>
            </a:pPr>
            <a:r>
              <a:rPr b="0" i="0" lang="en" sz="1100" u="none" cap="none" strike="noStrike">
                <a:solidFill>
                  <a:srgbClr val="546678"/>
                </a:solidFill>
                <a:latin typeface="Calibri"/>
                <a:ea typeface="Calibri"/>
                <a:cs typeface="Calibri"/>
                <a:sym typeface="Calibri"/>
              </a:rPr>
              <a:t>Same skills loaded differently: +28 (one at a time) vs nearly identical accuracy when all loaded at once — but discipline degrades. Routing is the hard problem.</a:t>
            </a:r>
            <a:endParaRPr b="0" i="0" sz="1100" u="none" cap="none" strike="noStrike">
              <a:solidFill>
                <a:schemeClr val="dk1"/>
              </a:solidFill>
              <a:latin typeface="Calibri"/>
              <a:ea typeface="Calibri"/>
              <a:cs typeface="Calibri"/>
              <a:sym typeface="Calibri"/>
            </a:endParaRPr>
          </a:p>
        </p:txBody>
      </p:sp>
      <p:sp>
        <p:nvSpPr>
          <p:cNvPr id="179" name="Google Shape;179;p21"/>
          <p:cNvSpPr/>
          <p:nvPr/>
        </p:nvSpPr>
        <p:spPr>
          <a:xfrm>
            <a:off x="480060" y="3154680"/>
            <a:ext cx="8181594" cy="925830"/>
          </a:xfrm>
          <a:prstGeom prst="roundRect">
            <a:avLst>
              <a:gd fmla="val 5926"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0" name="Google Shape;180;p21"/>
          <p:cNvSpPr txBox="1"/>
          <p:nvPr/>
        </p:nvSpPr>
        <p:spPr>
          <a:xfrm>
            <a:off x="754380" y="3291840"/>
            <a:ext cx="763295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400"/>
              <a:buFont typeface="Cambria"/>
              <a:buNone/>
            </a:pPr>
            <a:r>
              <a:rPr b="1" i="0" lang="en" sz="1400" u="none" cap="none" strike="noStrike">
                <a:solidFill>
                  <a:srgbClr val="546678"/>
                </a:solidFill>
                <a:latin typeface="Cambria"/>
                <a:ea typeface="Cambria"/>
                <a:cs typeface="Cambria"/>
                <a:sym typeface="Cambria"/>
              </a:rPr>
              <a:t>It's one run on synthetic data</a:t>
            </a:r>
            <a:endParaRPr b="0" i="0" sz="1400" u="none" cap="none" strike="noStrike">
              <a:solidFill>
                <a:schemeClr val="dk1"/>
              </a:solidFill>
              <a:latin typeface="Calibri"/>
              <a:ea typeface="Calibri"/>
              <a:cs typeface="Calibri"/>
              <a:sym typeface="Calibri"/>
            </a:endParaRPr>
          </a:p>
        </p:txBody>
      </p:sp>
      <p:sp>
        <p:nvSpPr>
          <p:cNvPr id="181" name="Google Shape;181;p21"/>
          <p:cNvSpPr txBox="1"/>
          <p:nvPr/>
        </p:nvSpPr>
        <p:spPr>
          <a:xfrm>
            <a:off x="754380" y="3600450"/>
            <a:ext cx="7632954"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100"/>
              <a:buFont typeface="Calibri"/>
              <a:buNone/>
            </a:pPr>
            <a:r>
              <a:rPr b="0" i="0" lang="en" sz="1100" u="none" cap="none" strike="noStrike">
                <a:solidFill>
                  <a:srgbClr val="546678"/>
                </a:solidFill>
                <a:latin typeface="Calibri"/>
                <a:ea typeface="Calibri"/>
                <a:cs typeface="Calibri"/>
                <a:sym typeface="Calibri"/>
              </a:rPr>
              <a:t>A single session by the skills' own author is the weakest form of evidence that counts. Independent validation would be worth more than another skill.</a:t>
            </a:r>
            <a:endParaRPr b="0" i="0" sz="1100" u="none" cap="none" strike="noStrike">
              <a:solidFill>
                <a:schemeClr val="dk1"/>
              </a:solidFill>
              <a:latin typeface="Calibri"/>
              <a:ea typeface="Calibri"/>
              <a:cs typeface="Calibri"/>
              <a:sym typeface="Calibri"/>
            </a:endParaRPr>
          </a:p>
        </p:txBody>
      </p:sp>
      <p:sp>
        <p:nvSpPr>
          <p:cNvPr id="182" name="Google Shape;182;p21"/>
          <p:cNvSpPr txBox="1"/>
          <p:nvPr/>
        </p:nvSpPr>
        <p:spPr>
          <a:xfrm>
            <a:off x="480060" y="4251960"/>
            <a:ext cx="8181594"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100"/>
              <a:buFont typeface="Cambria"/>
              <a:buNone/>
            </a:pPr>
            <a:r>
              <a:rPr b="0" i="1" lang="en" sz="1100" u="none" cap="none" strike="noStrike">
                <a:solidFill>
                  <a:srgbClr val="1B2A3D"/>
                </a:solidFill>
                <a:latin typeface="Cambria"/>
                <a:ea typeface="Cambria"/>
                <a:cs typeface="Cambria"/>
                <a:sym typeface="Cambria"/>
              </a:rPr>
              <a:t>We report these because the workshop teaches this exact discipline — presenting caveats alongside results, not burying them.</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22"/>
          <p:cNvSpPr txBox="1"/>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800"/>
              <a:buFont typeface="Calibri"/>
              <a:buNone/>
            </a:pPr>
            <a:r>
              <a:rPr b="1" i="0" lang="en" sz="800" u="none" cap="none" strike="noStrike">
                <a:solidFill>
                  <a:srgbClr val="2563EB"/>
                </a:solidFill>
                <a:latin typeface="Calibri"/>
                <a:ea typeface="Calibri"/>
                <a:cs typeface="Calibri"/>
                <a:sym typeface="Calibri"/>
              </a:rPr>
              <a:t>WHAT IT LOOKS LIKE IN PRACTICE</a:t>
            </a:r>
            <a:endParaRPr b="0" i="0" sz="800" u="none" cap="none" strike="noStrike">
              <a:solidFill>
                <a:schemeClr val="dk1"/>
              </a:solidFill>
              <a:latin typeface="Calibri"/>
              <a:ea typeface="Calibri"/>
              <a:cs typeface="Calibri"/>
              <a:sym typeface="Calibri"/>
            </a:endParaRPr>
          </a:p>
        </p:txBody>
      </p:sp>
      <p:sp>
        <p:nvSpPr>
          <p:cNvPr id="189" name="Google Shape;189;p22"/>
          <p:cNvSpPr txBox="1"/>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2100"/>
              <a:buFont typeface="Cambria"/>
              <a:buNone/>
            </a:pPr>
            <a:r>
              <a:rPr b="1" i="0" lang="en" sz="2100" u="none" cap="none" strike="noStrike">
                <a:solidFill>
                  <a:srgbClr val="1B2A3D"/>
                </a:solidFill>
                <a:latin typeface="Cambria"/>
                <a:ea typeface="Cambria"/>
                <a:cs typeface="Cambria"/>
                <a:sym typeface="Cambria"/>
              </a:rPr>
              <a:t>A markdown file anyone on the team can write</a:t>
            </a:r>
            <a:endParaRPr b="0" i="0" sz="2100" u="none" cap="none" strike="noStrike">
              <a:solidFill>
                <a:schemeClr val="dk1"/>
              </a:solidFill>
              <a:latin typeface="Calibri"/>
              <a:ea typeface="Calibri"/>
              <a:cs typeface="Calibri"/>
              <a:sym typeface="Calibri"/>
            </a:endParaRPr>
          </a:p>
        </p:txBody>
      </p:sp>
      <p:sp>
        <p:nvSpPr>
          <p:cNvPr id="190" name="Google Shape;190;p22"/>
          <p:cNvSpPr/>
          <p:nvPr/>
        </p:nvSpPr>
        <p:spPr>
          <a:xfrm>
            <a:off x="480060" y="1165860"/>
            <a:ext cx="8181594" cy="3291840"/>
          </a:xfrm>
          <a:prstGeom prst="roundRect">
            <a:avLst>
              <a:gd fmla="val 1667" name="adj"/>
            </a:avLst>
          </a:prstGeom>
          <a:solidFill>
            <a:srgbClr val="F8F9FB"/>
          </a:solidFill>
          <a:ln cap="flat" cmpd="sng" w="12700">
            <a:solidFill>
              <a:srgbClr val="F8F9F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 name="Google Shape;191;p22"/>
          <p:cNvSpPr txBox="1"/>
          <p:nvPr/>
        </p:nvSpPr>
        <p:spPr>
          <a:xfrm>
            <a:off x="822960" y="130302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200"/>
              <a:buFont typeface="Consolas"/>
              <a:buNone/>
            </a:pPr>
            <a:r>
              <a:rPr b="1" i="0" lang="en" sz="1200" u="none" cap="none" strike="noStrike">
                <a:solidFill>
                  <a:srgbClr val="1B2A3D"/>
                </a:solidFill>
                <a:latin typeface="Consolas"/>
                <a:ea typeface="Consolas"/>
                <a:cs typeface="Consolas"/>
                <a:sym typeface="Consolas"/>
              </a:rPr>
              <a:t>Attrition — Reference</a:t>
            </a:r>
            <a:endParaRPr b="0" i="0" sz="1200" u="none" cap="none" strike="noStrike">
              <a:solidFill>
                <a:schemeClr val="dk1"/>
              </a:solidFill>
              <a:latin typeface="Calibri"/>
              <a:ea typeface="Calibri"/>
              <a:cs typeface="Calibri"/>
              <a:sym typeface="Calibri"/>
            </a:endParaRPr>
          </a:p>
        </p:txBody>
      </p:sp>
      <p:sp>
        <p:nvSpPr>
          <p:cNvPr id="192" name="Google Shape;192;p22"/>
          <p:cNvSpPr txBox="1"/>
          <p:nvPr/>
        </p:nvSpPr>
        <p:spPr>
          <a:xfrm>
            <a:off x="822960" y="1680210"/>
            <a:ext cx="24003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100"/>
              <a:buFont typeface="Cambria"/>
              <a:buNone/>
            </a:pPr>
            <a:r>
              <a:rPr b="1" i="0" lang="en" sz="1100" u="none" cap="none" strike="noStrike">
                <a:solidFill>
                  <a:srgbClr val="1B2A3D"/>
                </a:solidFill>
                <a:latin typeface="Cambria"/>
                <a:ea typeface="Cambria"/>
                <a:cs typeface="Cambria"/>
                <a:sym typeface="Cambria"/>
              </a:rPr>
              <a:t>Quick Reference</a:t>
            </a:r>
            <a:endParaRPr b="0" i="0" sz="1100" u="none" cap="none" strike="noStrike">
              <a:solidFill>
                <a:schemeClr val="dk1"/>
              </a:solidFill>
              <a:latin typeface="Calibri"/>
              <a:ea typeface="Calibri"/>
              <a:cs typeface="Calibri"/>
              <a:sym typeface="Calibri"/>
            </a:endParaRPr>
          </a:p>
        </p:txBody>
      </p:sp>
      <p:sp>
        <p:nvSpPr>
          <p:cNvPr id="193" name="Google Shape;193;p22"/>
          <p:cNvSpPr txBox="1"/>
          <p:nvPr/>
        </p:nvSpPr>
        <p:spPr>
          <a:xfrm>
            <a:off x="3291840" y="1693926"/>
            <a:ext cx="51435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Which table, what grain, person key, standard filter</a:t>
            </a:r>
            <a:endParaRPr b="0" i="0" sz="900" u="none" cap="none" strike="noStrike">
              <a:solidFill>
                <a:schemeClr val="dk1"/>
              </a:solidFill>
              <a:latin typeface="Calibri"/>
              <a:ea typeface="Calibri"/>
              <a:cs typeface="Calibri"/>
              <a:sym typeface="Calibri"/>
            </a:endParaRPr>
          </a:p>
        </p:txBody>
      </p:sp>
      <p:sp>
        <p:nvSpPr>
          <p:cNvPr id="194" name="Google Shape;194;p22"/>
          <p:cNvSpPr txBox="1"/>
          <p:nvPr/>
        </p:nvSpPr>
        <p:spPr>
          <a:xfrm>
            <a:off x="822960" y="2057400"/>
            <a:ext cx="24003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100"/>
              <a:buFont typeface="Cambria"/>
              <a:buNone/>
            </a:pPr>
            <a:r>
              <a:rPr b="1" i="0" lang="en" sz="1100" u="none" cap="none" strike="noStrike">
                <a:solidFill>
                  <a:srgbClr val="1B2A3D"/>
                </a:solidFill>
                <a:latin typeface="Cambria"/>
                <a:ea typeface="Cambria"/>
                <a:cs typeface="Cambria"/>
                <a:sym typeface="Cambria"/>
              </a:rPr>
              <a:t>Required Filters</a:t>
            </a:r>
            <a:endParaRPr b="0" i="0" sz="1100" u="none" cap="none" strike="noStrike">
              <a:solidFill>
                <a:schemeClr val="dk1"/>
              </a:solidFill>
              <a:latin typeface="Calibri"/>
              <a:ea typeface="Calibri"/>
              <a:cs typeface="Calibri"/>
              <a:sym typeface="Calibri"/>
            </a:endParaRPr>
          </a:p>
        </p:txBody>
      </p:sp>
      <p:sp>
        <p:nvSpPr>
          <p:cNvPr id="195" name="Google Shape;195;p22"/>
          <p:cNvSpPr txBox="1"/>
          <p:nvPr/>
        </p:nvSpPr>
        <p:spPr>
          <a:xfrm>
            <a:off x="3291840" y="2071116"/>
            <a:ext cx="51435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What happens if omitted — quantified, not guessed</a:t>
            </a:r>
            <a:endParaRPr b="0" i="0" sz="900" u="none" cap="none" strike="noStrike">
              <a:solidFill>
                <a:schemeClr val="dk1"/>
              </a:solidFill>
              <a:latin typeface="Calibri"/>
              <a:ea typeface="Calibri"/>
              <a:cs typeface="Calibri"/>
              <a:sym typeface="Calibri"/>
            </a:endParaRPr>
          </a:p>
        </p:txBody>
      </p:sp>
      <p:sp>
        <p:nvSpPr>
          <p:cNvPr id="196" name="Google Shape;196;p22"/>
          <p:cNvSpPr txBox="1"/>
          <p:nvPr/>
        </p:nvSpPr>
        <p:spPr>
          <a:xfrm>
            <a:off x="822960" y="2434590"/>
            <a:ext cx="24003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100"/>
              <a:buFont typeface="Cambria"/>
              <a:buNone/>
            </a:pPr>
            <a:r>
              <a:rPr b="1" i="0" lang="en" sz="1100" u="none" cap="none" strike="noStrike">
                <a:solidFill>
                  <a:srgbClr val="E8663C"/>
                </a:solidFill>
                <a:latin typeface="Cambria"/>
                <a:ea typeface="Cambria"/>
                <a:cs typeface="Cambria"/>
                <a:sym typeface="Cambria"/>
              </a:rPr>
              <a:t>Gotchas ⚠</a:t>
            </a:r>
            <a:endParaRPr b="0" i="0" sz="1100" u="none" cap="none" strike="noStrike">
              <a:solidFill>
                <a:schemeClr val="dk1"/>
              </a:solidFill>
              <a:latin typeface="Calibri"/>
              <a:ea typeface="Calibri"/>
              <a:cs typeface="Calibri"/>
              <a:sym typeface="Calibri"/>
            </a:endParaRPr>
          </a:p>
        </p:txBody>
      </p:sp>
      <p:sp>
        <p:nvSpPr>
          <p:cNvPr id="197" name="Google Shape;197;p22"/>
          <p:cNvSpPr txBox="1"/>
          <p:nvPr/>
        </p:nvSpPr>
        <p:spPr>
          <a:xfrm>
            <a:off x="3291840" y="2448306"/>
            <a:ext cx="51435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Three denominator choices produce a 6.2-point spread in attrition rate — the only section a model cannot generate</a:t>
            </a:r>
            <a:endParaRPr b="0" i="0" sz="900" u="none" cap="none" strike="noStrike">
              <a:solidFill>
                <a:schemeClr val="dk1"/>
              </a:solidFill>
              <a:latin typeface="Calibri"/>
              <a:ea typeface="Calibri"/>
              <a:cs typeface="Calibri"/>
              <a:sym typeface="Calibri"/>
            </a:endParaRPr>
          </a:p>
        </p:txBody>
      </p:sp>
      <p:sp>
        <p:nvSpPr>
          <p:cNvPr id="198" name="Google Shape;198;p22"/>
          <p:cNvSpPr txBox="1"/>
          <p:nvPr/>
        </p:nvSpPr>
        <p:spPr>
          <a:xfrm>
            <a:off x="822960" y="2880360"/>
            <a:ext cx="24003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100"/>
              <a:buFont typeface="Cambria"/>
              <a:buNone/>
            </a:pPr>
            <a:r>
              <a:rPr b="1" i="0" lang="en" sz="1100" u="none" cap="none" strike="noStrike">
                <a:solidFill>
                  <a:srgbClr val="1B2A3D"/>
                </a:solidFill>
                <a:latin typeface="Cambria"/>
                <a:ea typeface="Cambria"/>
                <a:cs typeface="Cambria"/>
                <a:sym typeface="Cambria"/>
              </a:rPr>
              <a:t>Measures</a:t>
            </a:r>
            <a:endParaRPr b="0" i="0" sz="1100" u="none" cap="none" strike="noStrike">
              <a:solidFill>
                <a:schemeClr val="dk1"/>
              </a:solidFill>
              <a:latin typeface="Calibri"/>
              <a:ea typeface="Calibri"/>
              <a:cs typeface="Calibri"/>
              <a:sym typeface="Calibri"/>
            </a:endParaRPr>
          </a:p>
        </p:txBody>
      </p:sp>
      <p:sp>
        <p:nvSpPr>
          <p:cNvPr id="199" name="Google Shape;199;p22"/>
          <p:cNvSpPr txBox="1"/>
          <p:nvPr/>
        </p:nvSpPr>
        <p:spPr>
          <a:xfrm>
            <a:off x="3291840" y="2894076"/>
            <a:ext cx="51435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Named definition with explicit numerator and denominator</a:t>
            </a:r>
            <a:endParaRPr b="0" i="0" sz="900" u="none" cap="none" strike="noStrike">
              <a:solidFill>
                <a:schemeClr val="dk1"/>
              </a:solidFill>
              <a:latin typeface="Calibri"/>
              <a:ea typeface="Calibri"/>
              <a:cs typeface="Calibri"/>
              <a:sym typeface="Calibri"/>
            </a:endParaRPr>
          </a:p>
        </p:txBody>
      </p:sp>
      <p:sp>
        <p:nvSpPr>
          <p:cNvPr id="200" name="Google Shape;200;p22"/>
          <p:cNvSpPr txBox="1"/>
          <p:nvPr/>
        </p:nvSpPr>
        <p:spPr>
          <a:xfrm>
            <a:off x="822960" y="3257550"/>
            <a:ext cx="24003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100"/>
              <a:buFont typeface="Cambria"/>
              <a:buNone/>
            </a:pPr>
            <a:r>
              <a:rPr b="1" i="0" lang="en" sz="1100" u="none" cap="none" strike="noStrike">
                <a:solidFill>
                  <a:srgbClr val="1B2A3D"/>
                </a:solidFill>
                <a:latin typeface="Cambria"/>
                <a:ea typeface="Cambria"/>
                <a:cs typeface="Cambria"/>
                <a:sym typeface="Cambria"/>
              </a:rPr>
              <a:t>Query Patterns</a:t>
            </a:r>
            <a:endParaRPr b="0" i="0" sz="1100" u="none" cap="none" strike="noStrike">
              <a:solidFill>
                <a:schemeClr val="dk1"/>
              </a:solidFill>
              <a:latin typeface="Calibri"/>
              <a:ea typeface="Calibri"/>
              <a:cs typeface="Calibri"/>
              <a:sym typeface="Calibri"/>
            </a:endParaRPr>
          </a:p>
        </p:txBody>
      </p:sp>
      <p:sp>
        <p:nvSpPr>
          <p:cNvPr id="201" name="Google Shape;201;p22"/>
          <p:cNvSpPr txBox="1"/>
          <p:nvPr/>
        </p:nvSpPr>
        <p:spPr>
          <a:xfrm>
            <a:off x="3291840" y="3271266"/>
            <a:ext cx="51435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Copy-pasteable SQL that runs as written, verified against the warehouse</a:t>
            </a:r>
            <a:endParaRPr b="0" i="0" sz="900" u="none" cap="none" strike="noStrike">
              <a:solidFill>
                <a:schemeClr val="dk1"/>
              </a:solidFill>
              <a:latin typeface="Calibri"/>
              <a:ea typeface="Calibri"/>
              <a:cs typeface="Calibri"/>
              <a:sym typeface="Calibri"/>
            </a:endParaRPr>
          </a:p>
        </p:txBody>
      </p:sp>
      <p:sp>
        <p:nvSpPr>
          <p:cNvPr id="202" name="Google Shape;202;p22"/>
          <p:cNvSpPr txBox="1"/>
          <p:nvPr/>
        </p:nvSpPr>
        <p:spPr>
          <a:xfrm>
            <a:off x="822960" y="3634740"/>
            <a:ext cx="24003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100"/>
              <a:buFont typeface="Cambria"/>
              <a:buNone/>
            </a:pPr>
            <a:r>
              <a:rPr b="1" i="0" lang="en" sz="1100" u="none" cap="none" strike="noStrike">
                <a:solidFill>
                  <a:srgbClr val="1B2A3D"/>
                </a:solidFill>
                <a:latin typeface="Cambria"/>
                <a:ea typeface="Cambria"/>
                <a:cs typeface="Cambria"/>
                <a:sym typeface="Cambria"/>
              </a:rPr>
              <a:t>Escalate, Don't Guess</a:t>
            </a:r>
            <a:endParaRPr b="0" i="0" sz="1100" u="none" cap="none" strike="noStrike">
              <a:solidFill>
                <a:schemeClr val="dk1"/>
              </a:solidFill>
              <a:latin typeface="Calibri"/>
              <a:ea typeface="Calibri"/>
              <a:cs typeface="Calibri"/>
              <a:sym typeface="Calibri"/>
            </a:endParaRPr>
          </a:p>
        </p:txBody>
      </p:sp>
      <p:sp>
        <p:nvSpPr>
          <p:cNvPr id="203" name="Google Shape;203;p22"/>
          <p:cNvSpPr txBox="1"/>
          <p:nvPr/>
        </p:nvSpPr>
        <p:spPr>
          <a:xfrm>
            <a:off x="3291840" y="3648456"/>
            <a:ext cx="51435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Questions that should route to a human, not an agent</a:t>
            </a:r>
            <a:endParaRPr b="0" i="0" sz="900" u="none" cap="none" strike="noStrike">
              <a:solidFill>
                <a:schemeClr val="dk1"/>
              </a:solidFill>
              <a:latin typeface="Calibri"/>
              <a:ea typeface="Calibri"/>
              <a:cs typeface="Calibri"/>
              <a:sym typeface="Calibri"/>
            </a:endParaRPr>
          </a:p>
        </p:txBody>
      </p:sp>
      <p:sp>
        <p:nvSpPr>
          <p:cNvPr id="204" name="Google Shape;204;p22"/>
          <p:cNvSpPr txBox="1"/>
          <p:nvPr/>
        </p:nvSpPr>
        <p:spPr>
          <a:xfrm>
            <a:off x="480060" y="4560570"/>
            <a:ext cx="8181594"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1" lang="en" sz="1000" u="none" cap="none" strike="noStrike">
                <a:solidFill>
                  <a:srgbClr val="94A3B8"/>
                </a:solidFill>
                <a:latin typeface="Calibri"/>
                <a:ea typeface="Calibri"/>
                <a:cs typeface="Calibri"/>
                <a:sym typeface="Calibri"/>
              </a:rPr>
              <a:t>The Gotchas section is the whole point. It captures what an experienced analyst knows and a model doesn't — and it's the section that moved the number from 56% to 84%.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23"/>
          <p:cNvSpPr txBox="1"/>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800"/>
              <a:buFont typeface="Calibri"/>
              <a:buNone/>
            </a:pPr>
            <a:r>
              <a:rPr b="1" i="0" lang="en" sz="800" u="none" cap="none" strike="noStrike">
                <a:solidFill>
                  <a:srgbClr val="2563EB"/>
                </a:solidFill>
                <a:latin typeface="Calibri"/>
                <a:ea typeface="Calibri"/>
                <a:cs typeface="Calibri"/>
                <a:sym typeface="Calibri"/>
              </a:rPr>
              <a:t>A REAL EXAMPLE</a:t>
            </a:r>
            <a:endParaRPr b="0" i="0" sz="800" u="none" cap="none" strike="noStrike">
              <a:solidFill>
                <a:schemeClr val="dk1"/>
              </a:solidFill>
              <a:latin typeface="Calibri"/>
              <a:ea typeface="Calibri"/>
              <a:cs typeface="Calibri"/>
              <a:sym typeface="Calibri"/>
            </a:endParaRPr>
          </a:p>
        </p:txBody>
      </p:sp>
      <p:sp>
        <p:nvSpPr>
          <p:cNvPr id="211" name="Google Shape;211;p23"/>
          <p:cNvSpPr txBox="1"/>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2100"/>
              <a:buFont typeface="Cambria"/>
              <a:buNone/>
            </a:pPr>
            <a:r>
              <a:rPr b="1" i="0" lang="en" sz="2100" u="none" cap="none" strike="noStrike">
                <a:solidFill>
                  <a:srgbClr val="1B2A3D"/>
                </a:solidFill>
                <a:latin typeface="Cambria"/>
                <a:ea typeface="Cambria"/>
                <a:cs typeface="Cambria"/>
                <a:sym typeface="Cambria"/>
              </a:rPr>
              <a:t>Same question, same data — skill off, then on</a:t>
            </a:r>
            <a:endParaRPr b="0" i="0" sz="2100" u="none" cap="none" strike="noStrike">
              <a:solidFill>
                <a:schemeClr val="dk1"/>
              </a:solidFill>
              <a:latin typeface="Calibri"/>
              <a:ea typeface="Calibri"/>
              <a:cs typeface="Calibri"/>
              <a:sym typeface="Calibri"/>
            </a:endParaRPr>
          </a:p>
        </p:txBody>
      </p:sp>
      <p:sp>
        <p:nvSpPr>
          <p:cNvPr id="212" name="Google Shape;212;p23"/>
          <p:cNvSpPr txBox="1"/>
          <p:nvPr/>
        </p:nvSpPr>
        <p:spPr>
          <a:xfrm>
            <a:off x="480060" y="1028700"/>
            <a:ext cx="818159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200"/>
              <a:buFont typeface="Cambria"/>
              <a:buNone/>
            </a:pPr>
            <a:r>
              <a:rPr b="0" i="1" lang="en" sz="1200" u="none" cap="none" strike="noStrike">
                <a:solidFill>
                  <a:srgbClr val="546678"/>
                </a:solidFill>
                <a:latin typeface="Cambria"/>
                <a:ea typeface="Cambria"/>
                <a:cs typeface="Cambria"/>
                <a:sym typeface="Cambria"/>
              </a:rPr>
              <a:t>"How many employees do we have? Just give me the number, I'm in a hurry."</a:t>
            </a:r>
            <a:endParaRPr b="0" i="0" sz="1200" u="none" cap="none" strike="noStrike">
              <a:solidFill>
                <a:schemeClr val="dk1"/>
              </a:solidFill>
              <a:latin typeface="Calibri"/>
              <a:ea typeface="Calibri"/>
              <a:cs typeface="Calibri"/>
              <a:sym typeface="Calibri"/>
            </a:endParaRPr>
          </a:p>
        </p:txBody>
      </p:sp>
      <p:sp>
        <p:nvSpPr>
          <p:cNvPr id="213" name="Google Shape;213;p23"/>
          <p:cNvSpPr/>
          <p:nvPr/>
        </p:nvSpPr>
        <p:spPr>
          <a:xfrm>
            <a:off x="480060" y="1474470"/>
            <a:ext cx="3806190" cy="1851660"/>
          </a:xfrm>
          <a:prstGeom prst="roundRect">
            <a:avLst>
              <a:gd fmla="val 2963" name="adj"/>
            </a:avLst>
          </a:prstGeom>
          <a:solidFill>
            <a:srgbClr val="FDF2EF"/>
          </a:solidFill>
          <a:ln cap="flat" cmpd="sng" w="12700">
            <a:solidFill>
              <a:srgbClr val="FDF2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23"/>
          <p:cNvSpPr txBox="1"/>
          <p:nvPr/>
        </p:nvSpPr>
        <p:spPr>
          <a:xfrm>
            <a:off x="720090" y="1611630"/>
            <a:ext cx="332613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300"/>
              <a:buFont typeface="Cambria"/>
              <a:buNone/>
            </a:pPr>
            <a:r>
              <a:rPr b="1" i="0" lang="en" sz="1300" u="none" cap="none" strike="noStrike">
                <a:solidFill>
                  <a:srgbClr val="E8663C"/>
                </a:solidFill>
                <a:latin typeface="Cambria"/>
                <a:ea typeface="Cambria"/>
                <a:cs typeface="Cambria"/>
                <a:sym typeface="Cambria"/>
              </a:rPr>
              <a:t>Without the skill</a:t>
            </a:r>
            <a:endParaRPr b="0" i="0" sz="1300" u="none" cap="none" strike="noStrike">
              <a:solidFill>
                <a:schemeClr val="dk1"/>
              </a:solidFill>
              <a:latin typeface="Calibri"/>
              <a:ea typeface="Calibri"/>
              <a:cs typeface="Calibri"/>
              <a:sym typeface="Calibri"/>
            </a:endParaRPr>
          </a:p>
        </p:txBody>
      </p:sp>
      <p:sp>
        <p:nvSpPr>
          <p:cNvPr id="215" name="Google Shape;215;p23"/>
          <p:cNvSpPr txBox="1"/>
          <p:nvPr/>
        </p:nvSpPr>
        <p:spPr>
          <a:xfrm>
            <a:off x="720090" y="1920240"/>
            <a:ext cx="332613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100"/>
              <a:buFont typeface="Consolas"/>
              <a:buNone/>
            </a:pPr>
            <a:r>
              <a:rPr b="1" i="0" lang="en" sz="1100" u="none" cap="none" strike="noStrike">
                <a:solidFill>
                  <a:srgbClr val="E8663C"/>
                </a:solidFill>
                <a:latin typeface="Consolas"/>
                <a:ea typeface="Consolas"/>
                <a:cs typeface="Consolas"/>
                <a:sym typeface="Consolas"/>
              </a:rPr>
              <a:t>"4,368 active employees."</a:t>
            </a:r>
            <a:endParaRPr b="0" i="0" sz="1100" u="none" cap="none" strike="noStrike">
              <a:solidFill>
                <a:schemeClr val="dk1"/>
              </a:solidFill>
              <a:latin typeface="Calibri"/>
              <a:ea typeface="Calibri"/>
              <a:cs typeface="Calibri"/>
              <a:sym typeface="Calibri"/>
            </a:endParaRPr>
          </a:p>
        </p:txBody>
      </p:sp>
      <p:sp>
        <p:nvSpPr>
          <p:cNvPr id="216" name="Google Shape;216;p23"/>
          <p:cNvSpPr txBox="1"/>
          <p:nvPr/>
        </p:nvSpPr>
        <p:spPr>
          <a:xfrm>
            <a:off x="720090" y="2331720"/>
            <a:ext cx="332613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4430"/>
              </a:buClr>
              <a:buSzPts val="900"/>
              <a:buFont typeface="Calibri"/>
              <a:buNone/>
            </a:pPr>
            <a:r>
              <a:rPr b="0" i="0" lang="en" sz="900" u="none" cap="none" strike="noStrike">
                <a:solidFill>
                  <a:srgbClr val="8C4430"/>
                </a:solidFill>
                <a:latin typeface="Calibri"/>
                <a:ea typeface="Calibri"/>
                <a:cs typeface="Calibri"/>
                <a:sym typeface="Calibri"/>
              </a:rPr>
              <a:t>No source. No population stated. No confidence. Includes contractors and interns. Looks fine, gets forwarded.</a:t>
            </a:r>
            <a:endParaRPr b="0" i="0" sz="900" u="none" cap="none" strike="noStrike">
              <a:solidFill>
                <a:schemeClr val="dk1"/>
              </a:solidFill>
              <a:latin typeface="Calibri"/>
              <a:ea typeface="Calibri"/>
              <a:cs typeface="Calibri"/>
              <a:sym typeface="Calibri"/>
            </a:endParaRPr>
          </a:p>
        </p:txBody>
      </p:sp>
      <p:sp>
        <p:nvSpPr>
          <p:cNvPr id="217" name="Google Shape;217;p23"/>
          <p:cNvSpPr/>
          <p:nvPr/>
        </p:nvSpPr>
        <p:spPr>
          <a:xfrm>
            <a:off x="4629150" y="1474470"/>
            <a:ext cx="3806190" cy="1851660"/>
          </a:xfrm>
          <a:prstGeom prst="roundRect">
            <a:avLst>
              <a:gd fmla="val 2963" name="adj"/>
            </a:avLst>
          </a:prstGeom>
          <a:solidFill>
            <a:srgbClr val="EFF8F5"/>
          </a:solidFill>
          <a:ln cap="flat" cmpd="sng" w="12700">
            <a:solidFill>
              <a:srgbClr val="EFF8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 name="Google Shape;218;p23"/>
          <p:cNvSpPr txBox="1"/>
          <p:nvPr/>
        </p:nvSpPr>
        <p:spPr>
          <a:xfrm>
            <a:off x="4869180" y="1611630"/>
            <a:ext cx="332613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864E"/>
              </a:buClr>
              <a:buSzPts val="1300"/>
              <a:buFont typeface="Cambria"/>
              <a:buNone/>
            </a:pPr>
            <a:r>
              <a:rPr b="1" i="0" lang="en" sz="1300" u="none" cap="none" strike="noStrike">
                <a:solidFill>
                  <a:srgbClr val="16864E"/>
                </a:solidFill>
                <a:latin typeface="Cambria"/>
                <a:ea typeface="Cambria"/>
                <a:cs typeface="Cambria"/>
                <a:sym typeface="Cambria"/>
              </a:rPr>
              <a:t>With the skill</a:t>
            </a:r>
            <a:endParaRPr b="0" i="0" sz="1300" u="none" cap="none" strike="noStrike">
              <a:solidFill>
                <a:schemeClr val="dk1"/>
              </a:solidFill>
              <a:latin typeface="Calibri"/>
              <a:ea typeface="Calibri"/>
              <a:cs typeface="Calibri"/>
              <a:sym typeface="Calibri"/>
            </a:endParaRPr>
          </a:p>
        </p:txBody>
      </p:sp>
      <p:sp>
        <p:nvSpPr>
          <p:cNvPr id="219" name="Google Shape;219;p23"/>
          <p:cNvSpPr txBox="1"/>
          <p:nvPr/>
        </p:nvSpPr>
        <p:spPr>
          <a:xfrm>
            <a:off x="4869180" y="1885950"/>
            <a:ext cx="332613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864E"/>
              </a:buClr>
              <a:buSzPts val="1000"/>
              <a:buFont typeface="Consolas"/>
              <a:buNone/>
            </a:pPr>
            <a:r>
              <a:rPr b="1" i="0" lang="en" sz="1000" u="none" cap="none" strike="noStrike">
                <a:solidFill>
                  <a:srgbClr val="16864E"/>
                </a:solidFill>
                <a:latin typeface="Consolas"/>
                <a:ea typeface="Consolas"/>
                <a:cs typeface="Consolas"/>
                <a:sym typeface="Consolas"/>
              </a:rPr>
              <a:t>"4,368 active workers (of which 3,647</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6864E"/>
              </a:buClr>
              <a:buSzPts val="1000"/>
              <a:buFont typeface="Consolas"/>
              <a:buNone/>
            </a:pPr>
            <a:r>
              <a:rPr b="1" i="0" lang="en" sz="1000" u="none" cap="none" strike="noStrike">
                <a:solidFill>
                  <a:srgbClr val="16864E"/>
                </a:solidFill>
                <a:latin typeface="Consolas"/>
                <a:ea typeface="Consolas"/>
                <a:cs typeface="Consolas"/>
                <a:sym typeface="Consolas"/>
              </a:rPr>
              <a:t>are Regular employees)"</a:t>
            </a:r>
            <a:endParaRPr b="0" i="0" sz="1000" u="none" cap="none" strike="noStrike">
              <a:solidFill>
                <a:schemeClr val="dk1"/>
              </a:solidFill>
              <a:latin typeface="Calibri"/>
              <a:ea typeface="Calibri"/>
              <a:cs typeface="Calibri"/>
              <a:sym typeface="Calibri"/>
            </a:endParaRPr>
          </a:p>
        </p:txBody>
      </p:sp>
      <p:sp>
        <p:nvSpPr>
          <p:cNvPr id="220" name="Google Shape;220;p23"/>
          <p:cNvSpPr txBox="1"/>
          <p:nvPr/>
        </p:nvSpPr>
        <p:spPr>
          <a:xfrm>
            <a:off x="4869180" y="2366010"/>
            <a:ext cx="332613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F4C"/>
              </a:buClr>
              <a:buSzPts val="900"/>
              <a:buFont typeface="Calibri"/>
              <a:buNone/>
            </a:pPr>
            <a:r>
              <a:rPr b="0" i="0" lang="en" sz="900" u="none" cap="none" strike="noStrike">
                <a:solidFill>
                  <a:srgbClr val="1F5F4C"/>
                </a:solidFill>
                <a:latin typeface="Calibri"/>
                <a:ea typeface="Calibri"/>
                <a:cs typeface="Calibri"/>
                <a:sym typeface="Calibri"/>
              </a:rPr>
              <a:t>Source table named. Population stated. Open assumption disclosed: interpreted as all worker types, flags 3,647 as the alternative. Catchable in 10 seconds.</a:t>
            </a:r>
            <a:endParaRPr b="0" i="0" sz="900" u="none" cap="none" strike="noStrike">
              <a:solidFill>
                <a:schemeClr val="dk1"/>
              </a:solidFill>
              <a:latin typeface="Calibri"/>
              <a:ea typeface="Calibri"/>
              <a:cs typeface="Calibri"/>
              <a:sym typeface="Calibri"/>
            </a:endParaRPr>
          </a:p>
        </p:txBody>
      </p:sp>
      <p:sp>
        <p:nvSpPr>
          <p:cNvPr id="221" name="Google Shape;221;p23"/>
          <p:cNvSpPr txBox="1"/>
          <p:nvPr/>
        </p:nvSpPr>
        <p:spPr>
          <a:xfrm>
            <a:off x="480060" y="3497580"/>
            <a:ext cx="8181594"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200"/>
              <a:buFont typeface="Cambria"/>
              <a:buNone/>
            </a:pPr>
            <a:r>
              <a:rPr b="1" i="1" lang="en" sz="1200" u="none" cap="none" strike="noStrike">
                <a:solidFill>
                  <a:srgbClr val="1B2A3D"/>
                </a:solidFill>
                <a:latin typeface="Cambria"/>
                <a:ea typeface="Cambria"/>
                <a:cs typeface="Cambria"/>
                <a:sym typeface="Cambria"/>
              </a:rPr>
              <a:t>The skill didn't magically get the right answer. It disclosed what it assumed — so a human can catch the error in seconds, not weeks.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24"/>
          <p:cNvSpPr txBox="1"/>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800"/>
              <a:buFont typeface="Calibri"/>
              <a:buNone/>
            </a:pPr>
            <a:r>
              <a:rPr b="1" i="0" lang="en" sz="800" u="none" cap="none" strike="noStrike">
                <a:solidFill>
                  <a:srgbClr val="2563EB"/>
                </a:solidFill>
                <a:latin typeface="Calibri"/>
                <a:ea typeface="Calibri"/>
                <a:cs typeface="Calibri"/>
                <a:sym typeface="Calibri"/>
              </a:rPr>
              <a:t>WHAT WE'VE BUILT SO FAR</a:t>
            </a:r>
            <a:endParaRPr b="0" i="0" sz="800" u="none" cap="none" strike="noStrike">
              <a:solidFill>
                <a:schemeClr val="dk1"/>
              </a:solidFill>
              <a:latin typeface="Calibri"/>
              <a:ea typeface="Calibri"/>
              <a:cs typeface="Calibri"/>
              <a:sym typeface="Calibri"/>
            </a:endParaRPr>
          </a:p>
        </p:txBody>
      </p:sp>
      <p:sp>
        <p:nvSpPr>
          <p:cNvPr id="228" name="Google Shape;228;p24"/>
          <p:cNvSpPr txBox="1"/>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2100"/>
              <a:buFont typeface="Cambria"/>
              <a:buNone/>
            </a:pPr>
            <a:r>
              <a:rPr b="1" i="0" lang="en" sz="2100" u="none" cap="none" strike="noStrike">
                <a:solidFill>
                  <a:srgbClr val="1B2A3D"/>
                </a:solidFill>
                <a:latin typeface="Cambria"/>
                <a:ea typeface="Cambria"/>
                <a:cs typeface="Cambria"/>
                <a:sym typeface="Cambria"/>
              </a:rPr>
              <a:t>Six domains with specific HR guardrails</a:t>
            </a:r>
            <a:endParaRPr b="0" i="0" sz="2100" u="none" cap="none" strike="noStrike">
              <a:solidFill>
                <a:schemeClr val="dk1"/>
              </a:solidFill>
              <a:latin typeface="Calibri"/>
              <a:ea typeface="Calibri"/>
              <a:cs typeface="Calibri"/>
              <a:sym typeface="Calibri"/>
            </a:endParaRPr>
          </a:p>
        </p:txBody>
      </p:sp>
      <p:sp>
        <p:nvSpPr>
          <p:cNvPr id="229" name="Google Shape;229;p24"/>
          <p:cNvSpPr/>
          <p:nvPr/>
        </p:nvSpPr>
        <p:spPr>
          <a:xfrm>
            <a:off x="480060" y="1131570"/>
            <a:ext cx="8181594" cy="994410"/>
          </a:xfrm>
          <a:prstGeom prst="roundRect">
            <a:avLst>
              <a:gd fmla="val 5517"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0" name="Google Shape;230;p24"/>
          <p:cNvSpPr txBox="1"/>
          <p:nvPr/>
        </p:nvSpPr>
        <p:spPr>
          <a:xfrm>
            <a:off x="754380" y="1234440"/>
            <a:ext cx="34290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300"/>
              <a:buFont typeface="Cambria"/>
              <a:buNone/>
            </a:pPr>
            <a:r>
              <a:rPr b="1" i="0" lang="en" sz="1300" u="none" cap="none" strike="noStrike">
                <a:solidFill>
                  <a:srgbClr val="1B2A3D"/>
                </a:solidFill>
                <a:latin typeface="Cambria"/>
                <a:ea typeface="Cambria"/>
                <a:cs typeface="Cambria"/>
                <a:sym typeface="Cambria"/>
              </a:rPr>
              <a:t>Causal claim guardrails</a:t>
            </a:r>
            <a:endParaRPr b="0" i="0" sz="1300" u="none" cap="none" strike="noStrike">
              <a:solidFill>
                <a:schemeClr val="dk1"/>
              </a:solidFill>
              <a:latin typeface="Calibri"/>
              <a:ea typeface="Calibri"/>
              <a:cs typeface="Calibri"/>
              <a:sym typeface="Calibri"/>
            </a:endParaRPr>
          </a:p>
        </p:txBody>
      </p:sp>
      <p:sp>
        <p:nvSpPr>
          <p:cNvPr id="231" name="Google Shape;231;p24"/>
          <p:cNvSpPr txBox="1"/>
          <p:nvPr/>
        </p:nvSpPr>
        <p:spPr>
          <a:xfrm>
            <a:off x="754380" y="1508760"/>
            <a:ext cx="582930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Prevents 'the program reduced attrition' claims from observational data. Requires randomization or quasi-experimental design before licensing causal language.</a:t>
            </a:r>
            <a:endParaRPr b="0" i="0" sz="900" u="none" cap="none" strike="noStrike">
              <a:solidFill>
                <a:schemeClr val="dk1"/>
              </a:solidFill>
              <a:latin typeface="Calibri"/>
              <a:ea typeface="Calibri"/>
              <a:cs typeface="Calibri"/>
              <a:sym typeface="Calibri"/>
            </a:endParaRPr>
          </a:p>
        </p:txBody>
      </p:sp>
      <p:sp>
        <p:nvSpPr>
          <p:cNvPr id="232" name="Google Shape;232;p24"/>
          <p:cNvSpPr txBox="1"/>
          <p:nvPr/>
        </p:nvSpPr>
        <p:spPr>
          <a:xfrm>
            <a:off x="754380" y="1885950"/>
            <a:ext cx="582930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Consolas"/>
              <a:buNone/>
            </a:pPr>
            <a:r>
              <a:rPr b="0" i="0" lang="en" sz="700" u="none" cap="none" strike="noStrike">
                <a:solidFill>
                  <a:srgbClr val="94A3B8"/>
                </a:solidFill>
                <a:latin typeface="Consolas"/>
                <a:ea typeface="Consolas"/>
                <a:cs typeface="Consolas"/>
                <a:sym typeface="Consolas"/>
              </a:rPr>
              <a:t>Selection bias · Immortal time bias · Reverse causality</a:t>
            </a:r>
            <a:endParaRPr b="0" i="0" sz="700" u="none" cap="none" strike="noStrike">
              <a:solidFill>
                <a:schemeClr val="dk1"/>
              </a:solidFill>
              <a:latin typeface="Calibri"/>
              <a:ea typeface="Calibri"/>
              <a:cs typeface="Calibri"/>
              <a:sym typeface="Calibri"/>
            </a:endParaRPr>
          </a:p>
        </p:txBody>
      </p:sp>
      <p:sp>
        <p:nvSpPr>
          <p:cNvPr id="233" name="Google Shape;233;p24"/>
          <p:cNvSpPr/>
          <p:nvPr/>
        </p:nvSpPr>
        <p:spPr>
          <a:xfrm>
            <a:off x="480060" y="2194560"/>
            <a:ext cx="8181594" cy="994410"/>
          </a:xfrm>
          <a:prstGeom prst="roundRect">
            <a:avLst>
              <a:gd fmla="val 5517"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4" name="Google Shape;234;p24"/>
          <p:cNvSpPr txBox="1"/>
          <p:nvPr/>
        </p:nvSpPr>
        <p:spPr>
          <a:xfrm>
            <a:off x="754380" y="2297430"/>
            <a:ext cx="34290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300"/>
              <a:buFont typeface="Cambria"/>
              <a:buNone/>
            </a:pPr>
            <a:r>
              <a:rPr b="1" i="0" lang="en" sz="1300" u="none" cap="none" strike="noStrike">
                <a:solidFill>
                  <a:srgbClr val="1B2A3D"/>
                </a:solidFill>
                <a:latin typeface="Cambria"/>
                <a:ea typeface="Cambria"/>
                <a:cs typeface="Cambria"/>
                <a:sym typeface="Cambria"/>
              </a:rPr>
              <a:t>Uncertainty reporting</a:t>
            </a:r>
            <a:endParaRPr b="0" i="0" sz="1300" u="none" cap="none" strike="noStrike">
              <a:solidFill>
                <a:schemeClr val="dk1"/>
              </a:solidFill>
              <a:latin typeface="Calibri"/>
              <a:ea typeface="Calibri"/>
              <a:cs typeface="Calibri"/>
              <a:sym typeface="Calibri"/>
            </a:endParaRPr>
          </a:p>
        </p:txBody>
      </p:sp>
      <p:sp>
        <p:nvSpPr>
          <p:cNvPr id="235" name="Google Shape;235;p24"/>
          <p:cNvSpPr txBox="1"/>
          <p:nvPr/>
        </p:nvSpPr>
        <p:spPr>
          <a:xfrm>
            <a:off x="754380" y="2571750"/>
            <a:ext cx="582930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Wilson intervals at small n, small-cell suppression, multiplicity correction. The statistical guard most analytics dashboards lack.</a:t>
            </a:r>
            <a:endParaRPr b="0" i="0" sz="900" u="none" cap="none" strike="noStrike">
              <a:solidFill>
                <a:schemeClr val="dk1"/>
              </a:solidFill>
              <a:latin typeface="Calibri"/>
              <a:ea typeface="Calibri"/>
              <a:cs typeface="Calibri"/>
              <a:sym typeface="Calibri"/>
            </a:endParaRPr>
          </a:p>
        </p:txBody>
      </p:sp>
      <p:sp>
        <p:nvSpPr>
          <p:cNvPr id="236" name="Google Shape;236;p24"/>
          <p:cNvSpPr txBox="1"/>
          <p:nvPr/>
        </p:nvSpPr>
        <p:spPr>
          <a:xfrm>
            <a:off x="754380" y="2948940"/>
            <a:ext cx="582930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Consolas"/>
              <a:buNone/>
            </a:pPr>
            <a:r>
              <a:rPr b="0" i="0" lang="en" sz="700" u="none" cap="none" strike="noStrike">
                <a:solidFill>
                  <a:srgbClr val="94A3B8"/>
                </a:solidFill>
                <a:latin typeface="Consolas"/>
                <a:ea typeface="Consolas"/>
                <a:cs typeface="Consolas"/>
                <a:sym typeface="Consolas"/>
              </a:rPr>
              <a:t>Wald vs Wilson · Complementary disclosure · 40 managers = 40 comparisons</a:t>
            </a:r>
            <a:endParaRPr b="0" i="0" sz="700" u="none" cap="none" strike="noStrike">
              <a:solidFill>
                <a:schemeClr val="dk1"/>
              </a:solidFill>
              <a:latin typeface="Calibri"/>
              <a:ea typeface="Calibri"/>
              <a:cs typeface="Calibri"/>
              <a:sym typeface="Calibri"/>
            </a:endParaRPr>
          </a:p>
        </p:txBody>
      </p:sp>
      <p:sp>
        <p:nvSpPr>
          <p:cNvPr id="237" name="Google Shape;237;p24"/>
          <p:cNvSpPr/>
          <p:nvPr/>
        </p:nvSpPr>
        <p:spPr>
          <a:xfrm>
            <a:off x="480060" y="3257550"/>
            <a:ext cx="8181594" cy="994410"/>
          </a:xfrm>
          <a:prstGeom prst="roundRect">
            <a:avLst>
              <a:gd fmla="val 5517"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8" name="Google Shape;238;p24"/>
          <p:cNvSpPr txBox="1"/>
          <p:nvPr/>
        </p:nvSpPr>
        <p:spPr>
          <a:xfrm>
            <a:off x="754380" y="3360420"/>
            <a:ext cx="34290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300"/>
              <a:buFont typeface="Cambria"/>
              <a:buNone/>
            </a:pPr>
            <a:r>
              <a:rPr b="1" i="0" lang="en" sz="1300" u="none" cap="none" strike="noStrike">
                <a:solidFill>
                  <a:srgbClr val="1B2A3D"/>
                </a:solidFill>
                <a:latin typeface="Cambria"/>
                <a:ea typeface="Cambria"/>
                <a:cs typeface="Cambria"/>
                <a:sym typeface="Cambria"/>
              </a:rPr>
              <a:t>Provenance footer</a:t>
            </a:r>
            <a:endParaRPr b="0" i="0" sz="1300" u="none" cap="none" strike="noStrike">
              <a:solidFill>
                <a:schemeClr val="dk1"/>
              </a:solidFill>
              <a:latin typeface="Calibri"/>
              <a:ea typeface="Calibri"/>
              <a:cs typeface="Calibri"/>
              <a:sym typeface="Calibri"/>
            </a:endParaRPr>
          </a:p>
        </p:txBody>
      </p:sp>
      <p:sp>
        <p:nvSpPr>
          <p:cNvPr id="239" name="Google Shape;239;p24"/>
          <p:cNvSpPr txBox="1"/>
          <p:nvPr/>
        </p:nvSpPr>
        <p:spPr>
          <a:xfrm>
            <a:off x="754380" y="3634740"/>
            <a:ext cx="582930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Every delivered number carries its source, confidence, freshness, and open assumptions. The reader can judge trustworthiness without re-running the query.</a:t>
            </a:r>
            <a:endParaRPr b="0" i="0" sz="900" u="none" cap="none" strike="noStrike">
              <a:solidFill>
                <a:schemeClr val="dk1"/>
              </a:solidFill>
              <a:latin typeface="Calibri"/>
              <a:ea typeface="Calibri"/>
              <a:cs typeface="Calibri"/>
              <a:sym typeface="Calibri"/>
            </a:endParaRPr>
          </a:p>
        </p:txBody>
      </p:sp>
      <p:sp>
        <p:nvSpPr>
          <p:cNvPr id="240" name="Google Shape;240;p24"/>
          <p:cNvSpPr txBox="1"/>
          <p:nvPr/>
        </p:nvSpPr>
        <p:spPr>
          <a:xfrm>
            <a:off x="754380" y="4011930"/>
            <a:ext cx="582930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Consolas"/>
              <a:buNone/>
            </a:pPr>
            <a:r>
              <a:rPr b="0" i="0" lang="en" sz="700" u="none" cap="none" strike="noStrike">
                <a:solidFill>
                  <a:srgbClr val="94A3B8"/>
                </a:solidFill>
                <a:latin typeface="Consolas"/>
                <a:ea typeface="Consolas"/>
                <a:cs typeface="Consolas"/>
                <a:sym typeface="Consolas"/>
              </a:rPr>
              <a:t>Source tier · Population stated · Assumptions disclosed</a:t>
            </a:r>
            <a:endParaRPr b="0" i="0" sz="700" u="none" cap="none" strike="noStrike">
              <a:solidFill>
                <a:schemeClr val="dk1"/>
              </a:solidFill>
              <a:latin typeface="Calibri"/>
              <a:ea typeface="Calibri"/>
              <a:cs typeface="Calibri"/>
              <a:sym typeface="Calibri"/>
            </a:endParaRPr>
          </a:p>
        </p:txBody>
      </p:sp>
      <p:sp>
        <p:nvSpPr>
          <p:cNvPr id="241" name="Google Shape;241;p24"/>
          <p:cNvSpPr txBox="1"/>
          <p:nvPr/>
        </p:nvSpPr>
        <p:spPr>
          <a:xfrm>
            <a:off x="480060" y="4389120"/>
            <a:ext cx="8181594"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b="0" i="0" lang="en" sz="900" u="none" cap="none" strike="noStrike">
                <a:solidFill>
                  <a:srgbClr val="94A3B8"/>
                </a:solidFill>
                <a:latin typeface="Calibri"/>
                <a:ea typeface="Calibri"/>
                <a:cs typeface="Calibri"/>
                <a:sym typeface="Calibri"/>
              </a:rPr>
              <a:t>+ question intake, warehouse navigation, adversarial SQL review, correction harvesting, skill freshness checking</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 name="Shape 246"/>
        <p:cNvGrpSpPr/>
        <p:nvPr/>
      </p:nvGrpSpPr>
      <p:grpSpPr>
        <a:xfrm>
          <a:off x="0" y="0"/>
          <a:ext cx="0" cy="0"/>
          <a:chOff x="0" y="0"/>
          <a:chExt cx="0" cy="0"/>
        </a:xfrm>
      </p:grpSpPr>
      <p:sp>
        <p:nvSpPr>
          <p:cNvPr id="247" name="Google Shape;247;p25"/>
          <p:cNvSpPr txBox="1"/>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800"/>
              <a:buFont typeface="Calibri"/>
              <a:buNone/>
            </a:pPr>
            <a:r>
              <a:rPr b="1" i="0" lang="en" sz="800" u="none" cap="none" strike="noStrike">
                <a:solidFill>
                  <a:srgbClr val="2563EB"/>
                </a:solidFill>
                <a:latin typeface="Calibri"/>
                <a:ea typeface="Calibri"/>
                <a:cs typeface="Calibri"/>
                <a:sym typeface="Calibri"/>
              </a:rPr>
              <a:t>WHAT ADOPTION LOOKS LIKE</a:t>
            </a:r>
            <a:endParaRPr b="0" i="0" sz="800" u="none" cap="none" strike="noStrike">
              <a:solidFill>
                <a:schemeClr val="dk1"/>
              </a:solidFill>
              <a:latin typeface="Calibri"/>
              <a:ea typeface="Calibri"/>
              <a:cs typeface="Calibri"/>
              <a:sym typeface="Calibri"/>
            </a:endParaRPr>
          </a:p>
        </p:txBody>
      </p:sp>
      <p:sp>
        <p:nvSpPr>
          <p:cNvPr id="248" name="Google Shape;248;p25"/>
          <p:cNvSpPr txBox="1"/>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2100"/>
              <a:buFont typeface="Cambria"/>
              <a:buNone/>
            </a:pPr>
            <a:r>
              <a:rPr b="1" i="0" lang="en" sz="2100" u="none" cap="none" strike="noStrike">
                <a:solidFill>
                  <a:srgbClr val="1B2A3D"/>
                </a:solidFill>
                <a:latin typeface="Cambria"/>
                <a:ea typeface="Cambria"/>
                <a:cs typeface="Cambria"/>
                <a:sym typeface="Cambria"/>
              </a:rPr>
              <a:t>Start small, measure, then expand</a:t>
            </a:r>
            <a:endParaRPr b="0" i="0" sz="2100" u="none" cap="none" strike="noStrike">
              <a:solidFill>
                <a:schemeClr val="dk1"/>
              </a:solidFill>
              <a:latin typeface="Calibri"/>
              <a:ea typeface="Calibri"/>
              <a:cs typeface="Calibri"/>
              <a:sym typeface="Calibri"/>
            </a:endParaRPr>
          </a:p>
        </p:txBody>
      </p:sp>
      <p:sp>
        <p:nvSpPr>
          <p:cNvPr id="249" name="Google Shape;249;p25"/>
          <p:cNvSpPr/>
          <p:nvPr/>
        </p:nvSpPr>
        <p:spPr>
          <a:xfrm>
            <a:off x="480060" y="1131570"/>
            <a:ext cx="480060" cy="617220"/>
          </a:xfrm>
          <a:prstGeom prst="roundRect">
            <a:avLst>
              <a:gd fmla="val 11429" name="adj"/>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0" name="Google Shape;250;p25"/>
          <p:cNvSpPr txBox="1"/>
          <p:nvPr/>
        </p:nvSpPr>
        <p:spPr>
          <a:xfrm>
            <a:off x="548640" y="1282446"/>
            <a:ext cx="342900"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251" name="Google Shape;251;p25"/>
          <p:cNvSpPr txBox="1"/>
          <p:nvPr/>
        </p:nvSpPr>
        <p:spPr>
          <a:xfrm>
            <a:off x="1131570" y="1186434"/>
            <a:ext cx="466344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200"/>
              <a:buFont typeface="Cambria"/>
              <a:buNone/>
            </a:pPr>
            <a:r>
              <a:rPr b="1" i="0" lang="en" sz="1200" u="none" cap="none" strike="noStrike">
                <a:solidFill>
                  <a:srgbClr val="1B2A3D"/>
                </a:solidFill>
                <a:latin typeface="Cambria"/>
                <a:ea typeface="Cambria"/>
                <a:cs typeface="Cambria"/>
                <a:sym typeface="Cambria"/>
              </a:rPr>
              <a:t>Pick one recurring question</a:t>
            </a:r>
            <a:endParaRPr b="0" i="0" sz="1200" u="none" cap="none" strike="noStrike">
              <a:solidFill>
                <a:schemeClr val="dk1"/>
              </a:solidFill>
              <a:latin typeface="Calibri"/>
              <a:ea typeface="Calibri"/>
              <a:cs typeface="Calibri"/>
              <a:sym typeface="Calibri"/>
            </a:endParaRPr>
          </a:p>
        </p:txBody>
      </p:sp>
      <p:sp>
        <p:nvSpPr>
          <p:cNvPr id="252" name="Google Shape;252;p25"/>
          <p:cNvSpPr txBox="1"/>
          <p:nvPr/>
        </p:nvSpPr>
        <p:spPr>
          <a:xfrm>
            <a:off x="1131570" y="1440180"/>
            <a:ext cx="46634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Something the team answers monthly — attrition, headcount, comp benchmarks. Write the reference doc for it.</a:t>
            </a:r>
            <a:endParaRPr b="0" i="0" sz="900" u="none" cap="none" strike="noStrike">
              <a:solidFill>
                <a:schemeClr val="dk1"/>
              </a:solidFill>
              <a:latin typeface="Calibri"/>
              <a:ea typeface="Calibri"/>
              <a:cs typeface="Calibri"/>
              <a:sym typeface="Calibri"/>
            </a:endParaRPr>
          </a:p>
        </p:txBody>
      </p:sp>
      <p:sp>
        <p:nvSpPr>
          <p:cNvPr id="253" name="Google Shape;253;p25"/>
          <p:cNvSpPr txBox="1"/>
          <p:nvPr/>
        </p:nvSpPr>
        <p:spPr>
          <a:xfrm>
            <a:off x="6103620" y="1234440"/>
            <a:ext cx="109728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900"/>
              <a:buFont typeface="Calibri"/>
              <a:buNone/>
            </a:pPr>
            <a:r>
              <a:rPr b="1" i="0" lang="en" sz="900" u="none" cap="none" strike="noStrike">
                <a:solidFill>
                  <a:srgbClr val="2563EB"/>
                </a:solidFill>
                <a:latin typeface="Calibri"/>
                <a:ea typeface="Calibri"/>
                <a:cs typeface="Calibri"/>
                <a:sym typeface="Calibri"/>
              </a:rPr>
              <a:t>1–2 weeks</a:t>
            </a:r>
            <a:endParaRPr b="0" i="0" sz="900" u="none" cap="none" strike="noStrike">
              <a:solidFill>
                <a:schemeClr val="dk1"/>
              </a:solidFill>
              <a:latin typeface="Calibri"/>
              <a:ea typeface="Calibri"/>
              <a:cs typeface="Calibri"/>
              <a:sym typeface="Calibri"/>
            </a:endParaRPr>
          </a:p>
        </p:txBody>
      </p:sp>
      <p:sp>
        <p:nvSpPr>
          <p:cNvPr id="254" name="Google Shape;254;p25"/>
          <p:cNvSpPr txBox="1"/>
          <p:nvPr/>
        </p:nvSpPr>
        <p:spPr>
          <a:xfrm>
            <a:off x="6103620" y="1474470"/>
            <a:ext cx="109728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One analyst</a:t>
            </a:r>
            <a:endParaRPr b="0" i="0" sz="800" u="none" cap="none" strike="noStrike">
              <a:solidFill>
                <a:schemeClr val="dk1"/>
              </a:solidFill>
              <a:latin typeface="Calibri"/>
              <a:ea typeface="Calibri"/>
              <a:cs typeface="Calibri"/>
              <a:sym typeface="Calibri"/>
            </a:endParaRPr>
          </a:p>
        </p:txBody>
      </p:sp>
      <p:sp>
        <p:nvSpPr>
          <p:cNvPr id="255" name="Google Shape;255;p25"/>
          <p:cNvSpPr/>
          <p:nvPr/>
        </p:nvSpPr>
        <p:spPr>
          <a:xfrm>
            <a:off x="480060" y="1885950"/>
            <a:ext cx="480060" cy="617220"/>
          </a:xfrm>
          <a:prstGeom prst="roundRect">
            <a:avLst>
              <a:gd fmla="val 11429" name="adj"/>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6" name="Google Shape;256;p25"/>
          <p:cNvSpPr txBox="1"/>
          <p:nvPr/>
        </p:nvSpPr>
        <p:spPr>
          <a:xfrm>
            <a:off x="548640" y="2036826"/>
            <a:ext cx="342900"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257" name="Google Shape;257;p25"/>
          <p:cNvSpPr txBox="1"/>
          <p:nvPr/>
        </p:nvSpPr>
        <p:spPr>
          <a:xfrm>
            <a:off x="1131570" y="1940814"/>
            <a:ext cx="466344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200"/>
              <a:buFont typeface="Cambria"/>
              <a:buNone/>
            </a:pPr>
            <a:r>
              <a:rPr b="1" i="0" lang="en" sz="1200" u="none" cap="none" strike="noStrike">
                <a:solidFill>
                  <a:srgbClr val="1B2A3D"/>
                </a:solidFill>
                <a:latin typeface="Cambria"/>
                <a:ea typeface="Cambria"/>
                <a:cs typeface="Cambria"/>
                <a:sym typeface="Cambria"/>
              </a:rPr>
              <a:t>Build the eval and measure</a:t>
            </a:r>
            <a:endParaRPr b="0" i="0" sz="1200" u="none" cap="none" strike="noStrike">
              <a:solidFill>
                <a:schemeClr val="dk1"/>
              </a:solidFill>
              <a:latin typeface="Calibri"/>
              <a:ea typeface="Calibri"/>
              <a:cs typeface="Calibri"/>
              <a:sym typeface="Calibri"/>
            </a:endParaRPr>
          </a:p>
        </p:txBody>
      </p:sp>
      <p:sp>
        <p:nvSpPr>
          <p:cNvPr id="258" name="Google Shape;258;p25"/>
          <p:cNvSpPr txBox="1"/>
          <p:nvPr/>
        </p:nvSpPr>
        <p:spPr>
          <a:xfrm>
            <a:off x="1131570" y="2194560"/>
            <a:ext cx="46634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Run baseline vs. skill, document the delta. This is the evidence for expanding.</a:t>
            </a:r>
            <a:endParaRPr b="0" i="0" sz="900" u="none" cap="none" strike="noStrike">
              <a:solidFill>
                <a:schemeClr val="dk1"/>
              </a:solidFill>
              <a:latin typeface="Calibri"/>
              <a:ea typeface="Calibri"/>
              <a:cs typeface="Calibri"/>
              <a:sym typeface="Calibri"/>
            </a:endParaRPr>
          </a:p>
        </p:txBody>
      </p:sp>
      <p:sp>
        <p:nvSpPr>
          <p:cNvPr id="259" name="Google Shape;259;p25"/>
          <p:cNvSpPr txBox="1"/>
          <p:nvPr/>
        </p:nvSpPr>
        <p:spPr>
          <a:xfrm>
            <a:off x="6103620" y="1988820"/>
            <a:ext cx="109728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900"/>
              <a:buFont typeface="Calibri"/>
              <a:buNone/>
            </a:pPr>
            <a:r>
              <a:rPr b="1" i="0" lang="en" sz="900" u="none" cap="none" strike="noStrike">
                <a:solidFill>
                  <a:srgbClr val="2563EB"/>
                </a:solidFill>
                <a:latin typeface="Calibri"/>
                <a:ea typeface="Calibri"/>
                <a:cs typeface="Calibri"/>
                <a:sym typeface="Calibri"/>
              </a:rPr>
              <a:t>1 week</a:t>
            </a:r>
            <a:endParaRPr b="0" i="0" sz="900" u="none" cap="none" strike="noStrike">
              <a:solidFill>
                <a:schemeClr val="dk1"/>
              </a:solidFill>
              <a:latin typeface="Calibri"/>
              <a:ea typeface="Calibri"/>
              <a:cs typeface="Calibri"/>
              <a:sym typeface="Calibri"/>
            </a:endParaRPr>
          </a:p>
        </p:txBody>
      </p:sp>
      <p:sp>
        <p:nvSpPr>
          <p:cNvPr id="260" name="Google Shape;260;p25"/>
          <p:cNvSpPr txBox="1"/>
          <p:nvPr/>
        </p:nvSpPr>
        <p:spPr>
          <a:xfrm>
            <a:off x="6103620" y="2228850"/>
            <a:ext cx="109728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One analyst</a:t>
            </a:r>
            <a:endParaRPr b="0" i="0" sz="800" u="none" cap="none" strike="noStrike">
              <a:solidFill>
                <a:schemeClr val="dk1"/>
              </a:solidFill>
              <a:latin typeface="Calibri"/>
              <a:ea typeface="Calibri"/>
              <a:cs typeface="Calibri"/>
              <a:sym typeface="Calibri"/>
            </a:endParaRPr>
          </a:p>
        </p:txBody>
      </p:sp>
      <p:sp>
        <p:nvSpPr>
          <p:cNvPr id="261" name="Google Shape;261;p25"/>
          <p:cNvSpPr/>
          <p:nvPr/>
        </p:nvSpPr>
        <p:spPr>
          <a:xfrm>
            <a:off x="480060" y="2640330"/>
            <a:ext cx="480060" cy="617220"/>
          </a:xfrm>
          <a:prstGeom prst="roundRect">
            <a:avLst>
              <a:gd fmla="val 11429" name="adj"/>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2" name="Google Shape;262;p25"/>
          <p:cNvSpPr txBox="1"/>
          <p:nvPr/>
        </p:nvSpPr>
        <p:spPr>
          <a:xfrm>
            <a:off x="548640" y="2791206"/>
            <a:ext cx="342900"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263" name="Google Shape;263;p25"/>
          <p:cNvSpPr txBox="1"/>
          <p:nvPr/>
        </p:nvSpPr>
        <p:spPr>
          <a:xfrm>
            <a:off x="1131570" y="2695194"/>
            <a:ext cx="466344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200"/>
              <a:buFont typeface="Cambria"/>
              <a:buNone/>
            </a:pPr>
            <a:r>
              <a:rPr b="1" i="0" lang="en" sz="1200" u="none" cap="none" strike="noStrike">
                <a:solidFill>
                  <a:srgbClr val="1B2A3D"/>
                </a:solidFill>
                <a:latin typeface="Cambria"/>
                <a:ea typeface="Cambria"/>
                <a:cs typeface="Cambria"/>
                <a:sym typeface="Cambria"/>
              </a:rPr>
              <a:t>Operationalize for the team</a:t>
            </a:r>
            <a:endParaRPr b="0" i="0" sz="1200" u="none" cap="none" strike="noStrike">
              <a:solidFill>
                <a:schemeClr val="dk1"/>
              </a:solidFill>
              <a:latin typeface="Calibri"/>
              <a:ea typeface="Calibri"/>
              <a:cs typeface="Calibri"/>
              <a:sym typeface="Calibri"/>
            </a:endParaRPr>
          </a:p>
        </p:txBody>
      </p:sp>
      <p:sp>
        <p:nvSpPr>
          <p:cNvPr id="264" name="Google Shape;264;p25"/>
          <p:cNvSpPr txBox="1"/>
          <p:nvPr/>
        </p:nvSpPr>
        <p:spPr>
          <a:xfrm>
            <a:off x="1131570" y="2948940"/>
            <a:ext cx="46634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Reference doc goes in the repo, correction harvesting starts, provenance footer becomes standard.</a:t>
            </a:r>
            <a:endParaRPr b="0" i="0" sz="900" u="none" cap="none" strike="noStrike">
              <a:solidFill>
                <a:schemeClr val="dk1"/>
              </a:solidFill>
              <a:latin typeface="Calibri"/>
              <a:ea typeface="Calibri"/>
              <a:cs typeface="Calibri"/>
              <a:sym typeface="Calibri"/>
            </a:endParaRPr>
          </a:p>
        </p:txBody>
      </p:sp>
      <p:sp>
        <p:nvSpPr>
          <p:cNvPr id="265" name="Google Shape;265;p25"/>
          <p:cNvSpPr txBox="1"/>
          <p:nvPr/>
        </p:nvSpPr>
        <p:spPr>
          <a:xfrm>
            <a:off x="6103620" y="2743200"/>
            <a:ext cx="109728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900"/>
              <a:buFont typeface="Calibri"/>
              <a:buNone/>
            </a:pPr>
            <a:r>
              <a:rPr b="1" i="0" lang="en" sz="900" u="none" cap="none" strike="noStrike">
                <a:solidFill>
                  <a:srgbClr val="2563EB"/>
                </a:solidFill>
                <a:latin typeface="Calibri"/>
                <a:ea typeface="Calibri"/>
                <a:cs typeface="Calibri"/>
                <a:sym typeface="Calibri"/>
              </a:rPr>
              <a:t>2–4 weeks</a:t>
            </a:r>
            <a:endParaRPr b="0" i="0" sz="900" u="none" cap="none" strike="noStrike">
              <a:solidFill>
                <a:schemeClr val="dk1"/>
              </a:solidFill>
              <a:latin typeface="Calibri"/>
              <a:ea typeface="Calibri"/>
              <a:cs typeface="Calibri"/>
              <a:sym typeface="Calibri"/>
            </a:endParaRPr>
          </a:p>
        </p:txBody>
      </p:sp>
      <p:sp>
        <p:nvSpPr>
          <p:cNvPr id="266" name="Google Shape;266;p25"/>
          <p:cNvSpPr txBox="1"/>
          <p:nvPr/>
        </p:nvSpPr>
        <p:spPr>
          <a:xfrm>
            <a:off x="6103620" y="2983230"/>
            <a:ext cx="109728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Team adoption</a:t>
            </a:r>
            <a:endParaRPr b="0" i="0" sz="800" u="none" cap="none" strike="noStrike">
              <a:solidFill>
                <a:schemeClr val="dk1"/>
              </a:solidFill>
              <a:latin typeface="Calibri"/>
              <a:ea typeface="Calibri"/>
              <a:cs typeface="Calibri"/>
              <a:sym typeface="Calibri"/>
            </a:endParaRPr>
          </a:p>
        </p:txBody>
      </p:sp>
      <p:sp>
        <p:nvSpPr>
          <p:cNvPr id="267" name="Google Shape;267;p25"/>
          <p:cNvSpPr/>
          <p:nvPr/>
        </p:nvSpPr>
        <p:spPr>
          <a:xfrm>
            <a:off x="480060" y="3394710"/>
            <a:ext cx="480060" cy="617220"/>
          </a:xfrm>
          <a:prstGeom prst="roundRect">
            <a:avLst>
              <a:gd fmla="val 11429" name="adj"/>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25"/>
          <p:cNvSpPr txBox="1"/>
          <p:nvPr/>
        </p:nvSpPr>
        <p:spPr>
          <a:xfrm>
            <a:off x="548640" y="3545586"/>
            <a:ext cx="342900"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4</a:t>
            </a:r>
            <a:endParaRPr b="0" i="0" sz="1800" u="none" cap="none" strike="noStrike">
              <a:solidFill>
                <a:schemeClr val="dk1"/>
              </a:solidFill>
              <a:latin typeface="Calibri"/>
              <a:ea typeface="Calibri"/>
              <a:cs typeface="Calibri"/>
              <a:sym typeface="Calibri"/>
            </a:endParaRPr>
          </a:p>
        </p:txBody>
      </p:sp>
      <p:sp>
        <p:nvSpPr>
          <p:cNvPr id="269" name="Google Shape;269;p25"/>
          <p:cNvSpPr txBox="1"/>
          <p:nvPr/>
        </p:nvSpPr>
        <p:spPr>
          <a:xfrm>
            <a:off x="1131570" y="3449574"/>
            <a:ext cx="466344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200"/>
              <a:buFont typeface="Cambria"/>
              <a:buNone/>
            </a:pPr>
            <a:r>
              <a:rPr b="1" i="0" lang="en" sz="1200" u="none" cap="none" strike="noStrike">
                <a:solidFill>
                  <a:srgbClr val="1B2A3D"/>
                </a:solidFill>
                <a:latin typeface="Cambria"/>
                <a:ea typeface="Cambria"/>
                <a:cs typeface="Cambria"/>
                <a:sym typeface="Cambria"/>
              </a:rPr>
              <a:t>Expand to adjacent domains</a:t>
            </a:r>
            <a:endParaRPr b="0" i="0" sz="1200" u="none" cap="none" strike="noStrike">
              <a:solidFill>
                <a:schemeClr val="dk1"/>
              </a:solidFill>
              <a:latin typeface="Calibri"/>
              <a:ea typeface="Calibri"/>
              <a:cs typeface="Calibri"/>
              <a:sym typeface="Calibri"/>
            </a:endParaRPr>
          </a:p>
        </p:txBody>
      </p:sp>
      <p:sp>
        <p:nvSpPr>
          <p:cNvPr id="270" name="Google Shape;270;p25"/>
          <p:cNvSpPr txBox="1"/>
          <p:nvPr/>
        </p:nvSpPr>
        <p:spPr>
          <a:xfrm>
            <a:off x="1131570" y="3703320"/>
            <a:ext cx="46634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Each new domain follows the same cycle. The compound effect accelerates — new skills are faster because the workflow is learned.</a:t>
            </a:r>
            <a:endParaRPr b="0" i="0" sz="900" u="none" cap="none" strike="noStrike">
              <a:solidFill>
                <a:schemeClr val="dk1"/>
              </a:solidFill>
              <a:latin typeface="Calibri"/>
              <a:ea typeface="Calibri"/>
              <a:cs typeface="Calibri"/>
              <a:sym typeface="Calibri"/>
            </a:endParaRPr>
          </a:p>
        </p:txBody>
      </p:sp>
      <p:sp>
        <p:nvSpPr>
          <p:cNvPr id="271" name="Google Shape;271;p25"/>
          <p:cNvSpPr txBox="1"/>
          <p:nvPr/>
        </p:nvSpPr>
        <p:spPr>
          <a:xfrm>
            <a:off x="6103620" y="3497580"/>
            <a:ext cx="109728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900"/>
              <a:buFont typeface="Calibri"/>
              <a:buNone/>
            </a:pPr>
            <a:r>
              <a:rPr b="1" i="0" lang="en" sz="900" u="none" cap="none" strike="noStrike">
                <a:solidFill>
                  <a:srgbClr val="2563EB"/>
                </a:solidFill>
                <a:latin typeface="Calibri"/>
                <a:ea typeface="Calibri"/>
                <a:cs typeface="Calibri"/>
                <a:sym typeface="Calibri"/>
              </a:rPr>
              <a:t>Ongoing</a:t>
            </a:r>
            <a:endParaRPr b="0" i="0" sz="900" u="none" cap="none" strike="noStrike">
              <a:solidFill>
                <a:schemeClr val="dk1"/>
              </a:solidFill>
              <a:latin typeface="Calibri"/>
              <a:ea typeface="Calibri"/>
              <a:cs typeface="Calibri"/>
              <a:sym typeface="Calibri"/>
            </a:endParaRPr>
          </a:p>
        </p:txBody>
      </p:sp>
      <p:sp>
        <p:nvSpPr>
          <p:cNvPr id="272" name="Google Shape;272;p25"/>
          <p:cNvSpPr txBox="1"/>
          <p:nvPr/>
        </p:nvSpPr>
        <p:spPr>
          <a:xfrm>
            <a:off x="6103620" y="3737610"/>
            <a:ext cx="109728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Team + stakeholders</a:t>
            </a:r>
            <a:endParaRPr b="0" i="0" sz="800" u="none" cap="none" strike="noStrike">
              <a:solidFill>
                <a:schemeClr val="dk1"/>
              </a:solidFill>
              <a:latin typeface="Calibri"/>
              <a:ea typeface="Calibri"/>
              <a:cs typeface="Calibri"/>
              <a:sym typeface="Calibri"/>
            </a:endParaRPr>
          </a:p>
        </p:txBody>
      </p:sp>
      <p:sp>
        <p:nvSpPr>
          <p:cNvPr id="273" name="Google Shape;273;p25"/>
          <p:cNvSpPr txBox="1"/>
          <p:nvPr/>
        </p:nvSpPr>
        <p:spPr>
          <a:xfrm>
            <a:off x="480060" y="4251960"/>
            <a:ext cx="8181594"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100"/>
              <a:buFont typeface="Cambria"/>
              <a:buNone/>
            </a:pPr>
            <a:r>
              <a:rPr b="0" i="1" lang="en" sz="1100" u="none" cap="none" strike="noStrike">
                <a:solidFill>
                  <a:srgbClr val="1B2A3D"/>
                </a:solidFill>
                <a:latin typeface="Cambria"/>
                <a:ea typeface="Cambria"/>
                <a:cs typeface="Cambria"/>
                <a:sym typeface="Cambria"/>
              </a:rPr>
              <a:t>Phase 1 takes one person, one question, and about two weeks — no infrastructure, no vendor, no model training.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 name="Shape 278"/>
        <p:cNvGrpSpPr/>
        <p:nvPr/>
      </p:nvGrpSpPr>
      <p:grpSpPr>
        <a:xfrm>
          <a:off x="0" y="0"/>
          <a:ext cx="0" cy="0"/>
          <a:chOff x="0" y="0"/>
          <a:chExt cx="0" cy="0"/>
        </a:xfrm>
      </p:grpSpPr>
      <p:sp>
        <p:nvSpPr>
          <p:cNvPr id="279" name="Google Shape;279;p26"/>
          <p:cNvSpPr txBox="1"/>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800"/>
              <a:buFont typeface="Calibri"/>
              <a:buNone/>
            </a:pPr>
            <a:r>
              <a:rPr b="1" i="0" lang="en" sz="800" u="none" cap="none" strike="noStrike">
                <a:solidFill>
                  <a:srgbClr val="2563EB"/>
                </a:solidFill>
                <a:latin typeface="Calibri"/>
                <a:ea typeface="Calibri"/>
                <a:cs typeface="Calibri"/>
                <a:sym typeface="Calibri"/>
              </a:rPr>
              <a:t>COST AND RISK</a:t>
            </a:r>
            <a:endParaRPr b="0" i="0" sz="800" u="none" cap="none" strike="noStrike">
              <a:solidFill>
                <a:schemeClr val="dk1"/>
              </a:solidFill>
              <a:latin typeface="Calibri"/>
              <a:ea typeface="Calibri"/>
              <a:cs typeface="Calibri"/>
              <a:sym typeface="Calibri"/>
            </a:endParaRPr>
          </a:p>
        </p:txBody>
      </p:sp>
      <p:sp>
        <p:nvSpPr>
          <p:cNvPr id="280" name="Google Shape;280;p26"/>
          <p:cNvSpPr txBox="1"/>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2100"/>
              <a:buFont typeface="Cambria"/>
              <a:buNone/>
            </a:pPr>
            <a:r>
              <a:rPr b="1" i="0" lang="en" sz="2100" u="none" cap="none" strike="noStrike">
                <a:solidFill>
                  <a:srgbClr val="1B2A3D"/>
                </a:solidFill>
                <a:latin typeface="Cambria"/>
                <a:ea typeface="Cambria"/>
                <a:cs typeface="Cambria"/>
                <a:sym typeface="Cambria"/>
              </a:rPr>
              <a:t>What it takes, and what could go wrong</a:t>
            </a:r>
            <a:endParaRPr b="0" i="0" sz="2100" u="none" cap="none" strike="noStrike">
              <a:solidFill>
                <a:schemeClr val="dk1"/>
              </a:solidFill>
              <a:latin typeface="Calibri"/>
              <a:ea typeface="Calibri"/>
              <a:cs typeface="Calibri"/>
              <a:sym typeface="Calibri"/>
            </a:endParaRPr>
          </a:p>
        </p:txBody>
      </p:sp>
      <p:sp>
        <p:nvSpPr>
          <p:cNvPr id="281" name="Google Shape;281;p26"/>
          <p:cNvSpPr/>
          <p:nvPr/>
        </p:nvSpPr>
        <p:spPr>
          <a:xfrm>
            <a:off x="480060" y="1165860"/>
            <a:ext cx="3806190" cy="2880360"/>
          </a:xfrm>
          <a:prstGeom prst="roundRect">
            <a:avLst>
              <a:gd fmla="val 1905" name="adj"/>
            </a:avLst>
          </a:prstGeom>
          <a:solidFill>
            <a:srgbClr val="EFF8F5"/>
          </a:solidFill>
          <a:ln cap="flat" cmpd="sng" w="12700">
            <a:solidFill>
              <a:srgbClr val="EFF8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2" name="Google Shape;282;p26"/>
          <p:cNvSpPr txBox="1"/>
          <p:nvPr/>
        </p:nvSpPr>
        <p:spPr>
          <a:xfrm>
            <a:off x="754380" y="130302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864E"/>
              </a:buClr>
              <a:buSzPts val="1400"/>
              <a:buFont typeface="Cambria"/>
              <a:buNone/>
            </a:pPr>
            <a:r>
              <a:rPr b="1" i="0" lang="en" sz="1400" u="none" cap="none" strike="noStrike">
                <a:solidFill>
                  <a:srgbClr val="16864E"/>
                </a:solidFill>
                <a:latin typeface="Cambria"/>
                <a:ea typeface="Cambria"/>
                <a:cs typeface="Cambria"/>
                <a:sym typeface="Cambria"/>
              </a:rPr>
              <a:t>What it takes</a:t>
            </a:r>
            <a:endParaRPr b="0" i="0" sz="1400" u="none" cap="none" strike="noStrike">
              <a:solidFill>
                <a:schemeClr val="dk1"/>
              </a:solidFill>
              <a:latin typeface="Calibri"/>
              <a:ea typeface="Calibri"/>
              <a:cs typeface="Calibri"/>
              <a:sym typeface="Calibri"/>
            </a:endParaRPr>
          </a:p>
        </p:txBody>
      </p:sp>
      <p:sp>
        <p:nvSpPr>
          <p:cNvPr id="283" name="Google Shape;283;p26"/>
          <p:cNvSpPr txBox="1"/>
          <p:nvPr/>
        </p:nvSpPr>
        <p:spPr>
          <a:xfrm>
            <a:off x="754380" y="1680210"/>
            <a:ext cx="3291840" cy="2057400"/>
          </a:xfrm>
          <a:prstGeom prst="rect">
            <a:avLst/>
          </a:prstGeom>
          <a:noFill/>
          <a:ln>
            <a:noFill/>
          </a:ln>
        </p:spPr>
        <p:txBody>
          <a:bodyPr anchorCtr="0" anchor="ctr" bIns="0" lIns="0" spcFirstLastPara="1" rIns="0" wrap="square" tIns="0">
            <a:noAutofit/>
          </a:bodyPr>
          <a:lstStyle/>
          <a:p>
            <a:pPr indent="-254000" lvl="0" marL="254000" marR="0" rtl="0" algn="l">
              <a:spcBef>
                <a:spcPts val="0"/>
              </a:spcBef>
              <a:spcAft>
                <a:spcPts val="0"/>
              </a:spcAft>
              <a:buClr>
                <a:srgbClr val="1F5F4C"/>
              </a:buClr>
              <a:buSzPts val="1000"/>
              <a:buFont typeface="Calibri"/>
              <a:buChar char="•"/>
            </a:pPr>
            <a:r>
              <a:rPr b="0" i="0" lang="en" sz="1000" u="none" cap="none" strike="noStrike">
                <a:solidFill>
                  <a:srgbClr val="1F5F4C"/>
                </a:solidFill>
                <a:latin typeface="Calibri"/>
                <a:ea typeface="Calibri"/>
                <a:cs typeface="Calibri"/>
                <a:sym typeface="Calibri"/>
              </a:rPr>
              <a:t>Analyst time — 2 weeks for first domain, faster after that</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1F5F4C"/>
              </a:buClr>
              <a:buSzPts val="1000"/>
              <a:buFont typeface="Calibri"/>
              <a:buChar char="•"/>
            </a:pPr>
            <a:r>
              <a:rPr b="0" i="0" lang="en" sz="1000" u="none" cap="none" strike="noStrike">
                <a:solidFill>
                  <a:srgbClr val="1F5F4C"/>
                </a:solidFill>
                <a:latin typeface="Calibri"/>
                <a:ea typeface="Calibri"/>
                <a:cs typeface="Calibri"/>
                <a:sym typeface="Calibri"/>
              </a:rPr>
              <a:t>API costs — approximately $5–15 per ablation run</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1F5F4C"/>
              </a:buClr>
              <a:buSzPts val="1000"/>
              <a:buFont typeface="Calibri"/>
              <a:buChar char="•"/>
            </a:pPr>
            <a:r>
              <a:rPr b="0" i="0" lang="en" sz="1000" u="none" cap="none" strike="noStrike">
                <a:solidFill>
                  <a:srgbClr val="1F5F4C"/>
                </a:solidFill>
                <a:latin typeface="Calibri"/>
                <a:ea typeface="Calibri"/>
                <a:cs typeface="Calibri"/>
                <a:sym typeface="Calibri"/>
              </a:rPr>
              <a:t>No infrastructure — files in a git repo, no server</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1F5F4C"/>
              </a:buClr>
              <a:buSzPts val="1000"/>
              <a:buFont typeface="Calibri"/>
              <a:buChar char="•"/>
            </a:pPr>
            <a:r>
              <a:rPr b="0" i="0" lang="en" sz="1000" u="none" cap="none" strike="noStrike">
                <a:solidFill>
                  <a:srgbClr val="1F5F4C"/>
                </a:solidFill>
                <a:latin typeface="Calibri"/>
                <a:ea typeface="Calibri"/>
                <a:cs typeface="Calibri"/>
                <a:sym typeface="Calibri"/>
              </a:rPr>
              <a:t>No vendor — open source, MIT licensed</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1F5F4C"/>
              </a:buClr>
              <a:buSzPts val="1000"/>
              <a:buFont typeface="Calibri"/>
              <a:buChar char="•"/>
            </a:pPr>
            <a:r>
              <a:rPr b="0" i="0" lang="en" sz="1000" u="none" cap="none" strike="noStrike">
                <a:solidFill>
                  <a:srgbClr val="1F5F4C"/>
                </a:solidFill>
                <a:latin typeface="Calibri"/>
                <a:ea typeface="Calibri"/>
                <a:cs typeface="Calibri"/>
                <a:sym typeface="Calibri"/>
              </a:rPr>
              <a:t>No model training or fine-tuning — works with any capable LLM</a:t>
            </a:r>
            <a:endParaRPr b="0" i="0" sz="1000" u="none" cap="none" strike="noStrike">
              <a:solidFill>
                <a:schemeClr val="dk1"/>
              </a:solidFill>
              <a:latin typeface="Calibri"/>
              <a:ea typeface="Calibri"/>
              <a:cs typeface="Calibri"/>
              <a:sym typeface="Calibri"/>
            </a:endParaRPr>
          </a:p>
        </p:txBody>
      </p:sp>
      <p:sp>
        <p:nvSpPr>
          <p:cNvPr id="284" name="Google Shape;284;p26"/>
          <p:cNvSpPr/>
          <p:nvPr/>
        </p:nvSpPr>
        <p:spPr>
          <a:xfrm>
            <a:off x="4629150" y="1165860"/>
            <a:ext cx="3806190" cy="2880360"/>
          </a:xfrm>
          <a:prstGeom prst="roundRect">
            <a:avLst>
              <a:gd fmla="val 1905" name="adj"/>
            </a:avLst>
          </a:prstGeom>
          <a:solidFill>
            <a:srgbClr val="FDF2EF"/>
          </a:solidFill>
          <a:ln cap="flat" cmpd="sng" w="12700">
            <a:solidFill>
              <a:srgbClr val="FDF2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5" name="Google Shape;285;p26"/>
          <p:cNvSpPr txBox="1"/>
          <p:nvPr/>
        </p:nvSpPr>
        <p:spPr>
          <a:xfrm>
            <a:off x="4903470" y="130302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400"/>
              <a:buFont typeface="Cambria"/>
              <a:buNone/>
            </a:pPr>
            <a:r>
              <a:rPr b="1" i="0" lang="en" sz="1400" u="none" cap="none" strike="noStrike">
                <a:solidFill>
                  <a:srgbClr val="E8663C"/>
                </a:solidFill>
                <a:latin typeface="Cambria"/>
                <a:ea typeface="Cambria"/>
                <a:cs typeface="Cambria"/>
                <a:sym typeface="Cambria"/>
              </a:rPr>
              <a:t>What could go wrong</a:t>
            </a:r>
            <a:endParaRPr b="0" i="0" sz="1400" u="none" cap="none" strike="noStrike">
              <a:solidFill>
                <a:schemeClr val="dk1"/>
              </a:solidFill>
              <a:latin typeface="Calibri"/>
              <a:ea typeface="Calibri"/>
              <a:cs typeface="Calibri"/>
              <a:sym typeface="Calibri"/>
            </a:endParaRPr>
          </a:p>
        </p:txBody>
      </p:sp>
      <p:sp>
        <p:nvSpPr>
          <p:cNvPr id="286" name="Google Shape;286;p26"/>
          <p:cNvSpPr txBox="1"/>
          <p:nvPr/>
        </p:nvSpPr>
        <p:spPr>
          <a:xfrm>
            <a:off x="4903470" y="1680210"/>
            <a:ext cx="3291840" cy="2057400"/>
          </a:xfrm>
          <a:prstGeom prst="rect">
            <a:avLst/>
          </a:prstGeom>
          <a:noFill/>
          <a:ln>
            <a:noFill/>
          </a:ln>
        </p:spPr>
        <p:txBody>
          <a:bodyPr anchorCtr="0" anchor="ctr" bIns="0" lIns="0" spcFirstLastPara="1" rIns="0" wrap="square" tIns="0">
            <a:noAutofit/>
          </a:bodyPr>
          <a:lstStyle/>
          <a:p>
            <a:pPr indent="-254000" lvl="0" marL="254000" marR="0" rtl="0" algn="l">
              <a:spcBef>
                <a:spcPts val="0"/>
              </a:spcBef>
              <a:spcAft>
                <a:spcPts val="0"/>
              </a:spcAft>
              <a:buClr>
                <a:srgbClr val="8C4430"/>
              </a:buClr>
              <a:buSzPts val="1000"/>
              <a:buFont typeface="Calibri"/>
              <a:buChar char="•"/>
            </a:pPr>
            <a:r>
              <a:rPr b="0" i="0" lang="en" sz="1000" u="none" cap="none" strike="noStrike">
                <a:solidFill>
                  <a:srgbClr val="8C4430"/>
                </a:solidFill>
                <a:latin typeface="Calibri"/>
                <a:ea typeface="Calibri"/>
                <a:cs typeface="Calibri"/>
                <a:sym typeface="Calibri"/>
              </a:rPr>
              <a:t>Skills go stale if nobody owns them — unmaintained docs are worse than no docs</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8C4430"/>
              </a:buClr>
              <a:buSzPts val="1000"/>
              <a:buFont typeface="Calibri"/>
              <a:buChar char="•"/>
            </a:pPr>
            <a:r>
              <a:rPr b="0" i="0" lang="en" sz="1000" u="none" cap="none" strike="noStrike">
                <a:solidFill>
                  <a:srgbClr val="8C4430"/>
                </a:solidFill>
                <a:latin typeface="Calibri"/>
                <a:ea typeface="Calibri"/>
                <a:cs typeface="Calibri"/>
                <a:sym typeface="Calibri"/>
              </a:rPr>
              <a:t>Over-firing — skills can add unnecessary process to clean queries (we measured this at -17 pts on negative tests)</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8C4430"/>
              </a:buClr>
              <a:buSzPts val="1000"/>
              <a:buFont typeface="Calibri"/>
              <a:buChar char="•"/>
            </a:pPr>
            <a:r>
              <a:rPr b="0" i="0" lang="en" sz="1000" u="none" cap="none" strike="noStrike">
                <a:solidFill>
                  <a:srgbClr val="8C4430"/>
                </a:solidFill>
                <a:latin typeface="Calibri"/>
                <a:ea typeface="Calibri"/>
                <a:cs typeface="Calibri"/>
                <a:sym typeface="Calibri"/>
              </a:rPr>
              <a:t>False confidence — a measured +28 on synthetic data is not proof it works on production data</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8C4430"/>
              </a:buClr>
              <a:buSzPts val="1000"/>
              <a:buFont typeface="Calibri"/>
              <a:buChar char="•"/>
            </a:pPr>
            <a:r>
              <a:rPr b="0" i="0" lang="en" sz="1000" u="none" cap="none" strike="noStrike">
                <a:solidFill>
                  <a:srgbClr val="8C4430"/>
                </a:solidFill>
                <a:latin typeface="Calibri"/>
                <a:ea typeface="Calibri"/>
                <a:cs typeface="Calibri"/>
                <a:sym typeface="Calibri"/>
              </a:rPr>
              <a:t>Adoption friction — analysts need to write docs, not just write queries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27"/>
          <p:cNvSpPr txBox="1"/>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800"/>
              <a:buFont typeface="Calibri"/>
              <a:buNone/>
            </a:pPr>
            <a:r>
              <a:rPr b="1" i="0" lang="en" sz="800" u="none" cap="none" strike="noStrike">
                <a:solidFill>
                  <a:srgbClr val="2563EB"/>
                </a:solidFill>
                <a:latin typeface="Calibri"/>
                <a:ea typeface="Calibri"/>
                <a:cs typeface="Calibri"/>
                <a:sym typeface="Calibri"/>
              </a:rPr>
              <a:t>THE PROOF OF CONCEPT</a:t>
            </a:r>
            <a:endParaRPr b="0" i="0" sz="800" u="none" cap="none" strike="noStrike">
              <a:solidFill>
                <a:schemeClr val="dk1"/>
              </a:solidFill>
              <a:latin typeface="Calibri"/>
              <a:ea typeface="Calibri"/>
              <a:cs typeface="Calibri"/>
              <a:sym typeface="Calibri"/>
            </a:endParaRPr>
          </a:p>
        </p:txBody>
      </p:sp>
      <p:sp>
        <p:nvSpPr>
          <p:cNvPr id="293" name="Google Shape;293;p27"/>
          <p:cNvSpPr txBox="1"/>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2100"/>
              <a:buFont typeface="Cambria"/>
              <a:buNone/>
            </a:pPr>
            <a:r>
              <a:rPr b="1" i="0" lang="en" sz="2100" u="none" cap="none" strike="noStrike">
                <a:solidFill>
                  <a:srgbClr val="1B2A3D"/>
                </a:solidFill>
                <a:latin typeface="Cambria"/>
                <a:ea typeface="Cambria"/>
                <a:cs typeface="Cambria"/>
                <a:sym typeface="Cambria"/>
              </a:rPr>
              <a:t>A 3-hour conference workshop on September 29</a:t>
            </a:r>
            <a:endParaRPr b="0" i="0" sz="2100" u="none" cap="none" strike="noStrike">
              <a:solidFill>
                <a:schemeClr val="dk1"/>
              </a:solidFill>
              <a:latin typeface="Calibri"/>
              <a:ea typeface="Calibri"/>
              <a:cs typeface="Calibri"/>
              <a:sym typeface="Calibri"/>
            </a:endParaRPr>
          </a:p>
        </p:txBody>
      </p:sp>
      <p:sp>
        <p:nvSpPr>
          <p:cNvPr id="294" name="Google Shape;294;p27"/>
          <p:cNvSpPr txBox="1"/>
          <p:nvPr/>
        </p:nvSpPr>
        <p:spPr>
          <a:xfrm>
            <a:off x="480060" y="1097280"/>
            <a:ext cx="818159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678"/>
              </a:buClr>
              <a:buSzPts val="1200"/>
              <a:buFont typeface="Calibri"/>
              <a:buNone/>
            </a:pPr>
            <a:r>
              <a:rPr b="0" i="0" lang="en" sz="1200" u="none" cap="none" strike="noStrike">
                <a:solidFill>
                  <a:srgbClr val="546678"/>
                </a:solidFill>
                <a:latin typeface="Calibri"/>
                <a:ea typeface="Calibri"/>
                <a:cs typeface="Calibri"/>
                <a:sym typeface="Calibri"/>
              </a:rPr>
              <a:t>Participants write a real skill, test it against a real warehouse, and measure whether it helped — in one session. The workshop is simultaneously the training and the validation.</a:t>
            </a:r>
            <a:endParaRPr b="0" i="0" sz="1200" u="none" cap="none" strike="noStrike">
              <a:solidFill>
                <a:schemeClr val="dk1"/>
              </a:solidFill>
              <a:latin typeface="Calibri"/>
              <a:ea typeface="Calibri"/>
              <a:cs typeface="Calibri"/>
              <a:sym typeface="Calibri"/>
            </a:endParaRPr>
          </a:p>
        </p:txBody>
      </p:sp>
      <p:sp>
        <p:nvSpPr>
          <p:cNvPr id="295" name="Google Shape;295;p27"/>
          <p:cNvSpPr/>
          <p:nvPr/>
        </p:nvSpPr>
        <p:spPr>
          <a:xfrm>
            <a:off x="480060" y="1783080"/>
            <a:ext cx="1954530" cy="1371600"/>
          </a:xfrm>
          <a:prstGeom prst="roundRect">
            <a:avLst>
              <a:gd fmla="val 4000"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6" name="Google Shape;296;p27"/>
          <p:cNvSpPr txBox="1"/>
          <p:nvPr/>
        </p:nvSpPr>
        <p:spPr>
          <a:xfrm>
            <a:off x="582930" y="1885950"/>
            <a:ext cx="1748790"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3900"/>
              <a:buFont typeface="Cambria"/>
              <a:buNone/>
            </a:pPr>
            <a:r>
              <a:rPr b="1" i="0" lang="en" sz="3900" u="none" cap="none" strike="noStrike">
                <a:solidFill>
                  <a:srgbClr val="2563EB"/>
                </a:solidFill>
                <a:latin typeface="Cambria"/>
                <a:ea typeface="Cambria"/>
                <a:cs typeface="Cambria"/>
                <a:sym typeface="Cambria"/>
              </a:rPr>
              <a:t>11</a:t>
            </a:r>
            <a:endParaRPr b="0" i="0" sz="3900" u="none" cap="none" strike="noStrike">
              <a:solidFill>
                <a:schemeClr val="dk1"/>
              </a:solidFill>
              <a:latin typeface="Calibri"/>
              <a:ea typeface="Calibri"/>
              <a:cs typeface="Calibri"/>
              <a:sym typeface="Calibri"/>
            </a:endParaRPr>
          </a:p>
        </p:txBody>
      </p:sp>
      <p:sp>
        <p:nvSpPr>
          <p:cNvPr id="297" name="Google Shape;297;p27"/>
          <p:cNvSpPr txBox="1"/>
          <p:nvPr/>
        </p:nvSpPr>
        <p:spPr>
          <a:xfrm>
            <a:off x="582930" y="2503170"/>
            <a:ext cx="1748790" cy="4800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skills built</a:t>
            </a:r>
            <a:endParaRPr b="0" i="0" sz="900" u="none" cap="none" strike="noStrike">
              <a:solidFill>
                <a:schemeClr val="dk1"/>
              </a:solidFill>
              <a:latin typeface="Calibri"/>
              <a:ea typeface="Calibri"/>
              <a:cs typeface="Calibri"/>
              <a:sym typeface="Calibri"/>
            </a:endParaRPr>
          </a:p>
        </p:txBody>
      </p:sp>
      <p:sp>
        <p:nvSpPr>
          <p:cNvPr id="298" name="Google Shape;298;p27"/>
          <p:cNvSpPr/>
          <p:nvPr/>
        </p:nvSpPr>
        <p:spPr>
          <a:xfrm>
            <a:off x="2606040" y="1783080"/>
            <a:ext cx="1954530" cy="1371600"/>
          </a:xfrm>
          <a:prstGeom prst="roundRect">
            <a:avLst>
              <a:gd fmla="val 4000"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9" name="Google Shape;299;p27"/>
          <p:cNvSpPr txBox="1"/>
          <p:nvPr/>
        </p:nvSpPr>
        <p:spPr>
          <a:xfrm>
            <a:off x="2708910" y="1885950"/>
            <a:ext cx="1748790"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3900"/>
              <a:buFont typeface="Cambria"/>
              <a:buNone/>
            </a:pPr>
            <a:r>
              <a:rPr b="1" i="0" lang="en" sz="3900" u="none" cap="none" strike="noStrike">
                <a:solidFill>
                  <a:srgbClr val="2563EB"/>
                </a:solidFill>
                <a:latin typeface="Cambria"/>
                <a:ea typeface="Cambria"/>
                <a:cs typeface="Cambria"/>
                <a:sym typeface="Cambria"/>
              </a:rPr>
              <a:t>44</a:t>
            </a:r>
            <a:endParaRPr b="0" i="0" sz="3900" u="none" cap="none" strike="noStrike">
              <a:solidFill>
                <a:schemeClr val="dk1"/>
              </a:solidFill>
              <a:latin typeface="Calibri"/>
              <a:ea typeface="Calibri"/>
              <a:cs typeface="Calibri"/>
              <a:sym typeface="Calibri"/>
            </a:endParaRPr>
          </a:p>
        </p:txBody>
      </p:sp>
      <p:sp>
        <p:nvSpPr>
          <p:cNvPr id="300" name="Google Shape;300;p27"/>
          <p:cNvSpPr txBox="1"/>
          <p:nvPr/>
        </p:nvSpPr>
        <p:spPr>
          <a:xfrm>
            <a:off x="2708910" y="2503170"/>
            <a:ext cx="1748790" cy="4800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warehouse tables</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(16 real, 28 decoys)</a:t>
            </a:r>
            <a:endParaRPr b="0" i="0" sz="900" u="none" cap="none" strike="noStrike">
              <a:solidFill>
                <a:schemeClr val="dk1"/>
              </a:solidFill>
              <a:latin typeface="Calibri"/>
              <a:ea typeface="Calibri"/>
              <a:cs typeface="Calibri"/>
              <a:sym typeface="Calibri"/>
            </a:endParaRPr>
          </a:p>
        </p:txBody>
      </p:sp>
      <p:sp>
        <p:nvSpPr>
          <p:cNvPr id="301" name="Google Shape;301;p27"/>
          <p:cNvSpPr/>
          <p:nvPr/>
        </p:nvSpPr>
        <p:spPr>
          <a:xfrm>
            <a:off x="4732020" y="1783080"/>
            <a:ext cx="1954530" cy="1371600"/>
          </a:xfrm>
          <a:prstGeom prst="roundRect">
            <a:avLst>
              <a:gd fmla="val 4000"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2" name="Google Shape;302;p27"/>
          <p:cNvSpPr txBox="1"/>
          <p:nvPr/>
        </p:nvSpPr>
        <p:spPr>
          <a:xfrm>
            <a:off x="4834890" y="1885950"/>
            <a:ext cx="1748790"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3900"/>
              <a:buFont typeface="Cambria"/>
              <a:buNone/>
            </a:pPr>
            <a:r>
              <a:rPr b="1" i="0" lang="en" sz="3900" u="none" cap="none" strike="noStrike">
                <a:solidFill>
                  <a:srgbClr val="2563EB"/>
                </a:solidFill>
                <a:latin typeface="Cambria"/>
                <a:ea typeface="Cambria"/>
                <a:cs typeface="Cambria"/>
                <a:sym typeface="Cambria"/>
              </a:rPr>
              <a:t>29</a:t>
            </a:r>
            <a:endParaRPr b="0" i="0" sz="3900" u="none" cap="none" strike="noStrike">
              <a:solidFill>
                <a:schemeClr val="dk1"/>
              </a:solidFill>
              <a:latin typeface="Calibri"/>
              <a:ea typeface="Calibri"/>
              <a:cs typeface="Calibri"/>
              <a:sym typeface="Calibri"/>
            </a:endParaRPr>
          </a:p>
        </p:txBody>
      </p:sp>
      <p:sp>
        <p:nvSpPr>
          <p:cNvPr id="303" name="Google Shape;303;p27"/>
          <p:cNvSpPr txBox="1"/>
          <p:nvPr/>
        </p:nvSpPr>
        <p:spPr>
          <a:xfrm>
            <a:off x="4834890" y="2503170"/>
            <a:ext cx="1748790" cy="4800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evals with</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measured results</a:t>
            </a:r>
            <a:endParaRPr b="0" i="0" sz="900" u="none" cap="none" strike="noStrike">
              <a:solidFill>
                <a:schemeClr val="dk1"/>
              </a:solidFill>
              <a:latin typeface="Calibri"/>
              <a:ea typeface="Calibri"/>
              <a:cs typeface="Calibri"/>
              <a:sym typeface="Calibri"/>
            </a:endParaRPr>
          </a:p>
        </p:txBody>
      </p:sp>
      <p:sp>
        <p:nvSpPr>
          <p:cNvPr id="304" name="Google Shape;304;p27"/>
          <p:cNvSpPr/>
          <p:nvPr/>
        </p:nvSpPr>
        <p:spPr>
          <a:xfrm>
            <a:off x="6858000" y="1783080"/>
            <a:ext cx="1954530" cy="1371600"/>
          </a:xfrm>
          <a:prstGeom prst="roundRect">
            <a:avLst>
              <a:gd fmla="val 4000" name="adj"/>
            </a:avLst>
          </a:prstGeom>
          <a:solidFill>
            <a:srgbClr val="F3F5F7"/>
          </a:solidFill>
          <a:ln cap="flat" cmpd="sng" w="12700">
            <a:solidFill>
              <a:srgbClr val="F3F5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5" name="Google Shape;305;p27"/>
          <p:cNvSpPr txBox="1"/>
          <p:nvPr/>
        </p:nvSpPr>
        <p:spPr>
          <a:xfrm>
            <a:off x="6960870" y="1885950"/>
            <a:ext cx="1748790"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3900"/>
              <a:buFont typeface="Cambria"/>
              <a:buNone/>
            </a:pPr>
            <a:r>
              <a:rPr b="1" i="0" lang="en" sz="3900" u="none" cap="none" strike="noStrike">
                <a:solidFill>
                  <a:srgbClr val="2563EB"/>
                </a:solidFill>
                <a:latin typeface="Cambria"/>
                <a:ea typeface="Cambria"/>
                <a:cs typeface="Cambria"/>
                <a:sym typeface="Cambria"/>
              </a:rPr>
              <a:t>3</a:t>
            </a:r>
            <a:endParaRPr b="0" i="0" sz="3900" u="none" cap="none" strike="noStrike">
              <a:solidFill>
                <a:schemeClr val="dk1"/>
              </a:solidFill>
              <a:latin typeface="Calibri"/>
              <a:ea typeface="Calibri"/>
              <a:cs typeface="Calibri"/>
              <a:sym typeface="Calibri"/>
            </a:endParaRPr>
          </a:p>
        </p:txBody>
      </p:sp>
      <p:sp>
        <p:nvSpPr>
          <p:cNvPr id="306" name="Google Shape;306;p27"/>
          <p:cNvSpPr txBox="1"/>
          <p:nvPr/>
        </p:nvSpPr>
        <p:spPr>
          <a:xfrm>
            <a:off x="6960870" y="2503170"/>
            <a:ext cx="1748790" cy="4800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domains with full</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46678"/>
              </a:buClr>
              <a:buSzPts val="900"/>
              <a:buFont typeface="Calibri"/>
              <a:buNone/>
            </a:pPr>
            <a:r>
              <a:rPr b="0" i="0" lang="en" sz="900" u="none" cap="none" strike="noStrike">
                <a:solidFill>
                  <a:srgbClr val="546678"/>
                </a:solidFill>
                <a:latin typeface="Calibri"/>
                <a:ea typeface="Calibri"/>
                <a:cs typeface="Calibri"/>
                <a:sym typeface="Calibri"/>
              </a:rPr>
              <a:t>facilitator guides</a:t>
            </a:r>
            <a:endParaRPr b="0" i="0" sz="900" u="none" cap="none" strike="noStrike">
              <a:solidFill>
                <a:schemeClr val="dk1"/>
              </a:solidFill>
              <a:latin typeface="Calibri"/>
              <a:ea typeface="Calibri"/>
              <a:cs typeface="Calibri"/>
              <a:sym typeface="Calibri"/>
            </a:endParaRPr>
          </a:p>
        </p:txBody>
      </p:sp>
      <p:sp>
        <p:nvSpPr>
          <p:cNvPr id="307" name="Google Shape;307;p27"/>
          <p:cNvSpPr txBox="1"/>
          <p:nvPr/>
        </p:nvSpPr>
        <p:spPr>
          <a:xfrm>
            <a:off x="480060" y="3429000"/>
            <a:ext cx="8181594"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D"/>
              </a:buClr>
              <a:buSzPts val="1100"/>
              <a:buFont typeface="Calibri"/>
              <a:buNone/>
            </a:pPr>
            <a:r>
              <a:rPr b="1" i="0" lang="en" sz="1100" u="none" cap="none" strike="noStrike">
                <a:solidFill>
                  <a:srgbClr val="1B2A3D"/>
                </a:solidFill>
                <a:latin typeface="Calibri"/>
                <a:ea typeface="Calibri"/>
                <a:cs typeface="Calibri"/>
                <a:sym typeface="Calibri"/>
              </a:rPr>
              <a:t>Everything is open source at github.com/RobStilson/analytics-skills — MIT licensed, ready to fork for internal use.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3D"/>
        </a:solidFill>
      </p:bgPr>
    </p:bg>
    <p:spTree>
      <p:nvGrpSpPr>
        <p:cNvPr id="312" name="Shape 312"/>
        <p:cNvGrpSpPr/>
        <p:nvPr/>
      </p:nvGrpSpPr>
      <p:grpSpPr>
        <a:xfrm>
          <a:off x="0" y="0"/>
          <a:ext cx="0" cy="0"/>
          <a:chOff x="0" y="0"/>
          <a:chExt cx="0" cy="0"/>
        </a:xfrm>
      </p:grpSpPr>
      <p:sp>
        <p:nvSpPr>
          <p:cNvPr id="313" name="Google Shape;313;p28"/>
          <p:cNvSpPr/>
          <p:nvPr/>
        </p:nvSpPr>
        <p:spPr>
          <a:xfrm>
            <a:off x="480060" y="1234440"/>
            <a:ext cx="96012" cy="2468880"/>
          </a:xfrm>
          <a:prstGeom prst="roundRect">
            <a:avLst>
              <a:gd fmla="val 50000" name="adj"/>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4" name="Google Shape;314;p28"/>
          <p:cNvSpPr txBox="1"/>
          <p:nvPr/>
        </p:nvSpPr>
        <p:spPr>
          <a:xfrm>
            <a:off x="788670" y="1200150"/>
            <a:ext cx="685800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Cambria"/>
              <a:buNone/>
            </a:pPr>
            <a:r>
              <a:rPr b="1" i="0" lang="en" sz="2700" u="none" cap="none" strike="noStrike">
                <a:solidFill>
                  <a:srgbClr val="FFFFFF"/>
                </a:solidFill>
                <a:latin typeface="Cambria"/>
                <a:ea typeface="Cambria"/>
                <a:cs typeface="Cambria"/>
                <a:sym typeface="Cambria"/>
              </a:rPr>
              <a:t>The recommendation</a:t>
            </a:r>
            <a:endParaRPr b="0" i="0" sz="2700" u="none" cap="none" strike="noStrike">
              <a:solidFill>
                <a:schemeClr val="dk1"/>
              </a:solidFill>
              <a:latin typeface="Calibri"/>
              <a:ea typeface="Calibri"/>
              <a:cs typeface="Calibri"/>
              <a:sym typeface="Calibri"/>
            </a:endParaRPr>
          </a:p>
        </p:txBody>
      </p:sp>
      <p:sp>
        <p:nvSpPr>
          <p:cNvPr id="315" name="Google Shape;315;p28"/>
          <p:cNvSpPr txBox="1"/>
          <p:nvPr/>
        </p:nvSpPr>
        <p:spPr>
          <a:xfrm>
            <a:off x="788670" y="1817370"/>
            <a:ext cx="7200900" cy="1920240"/>
          </a:xfrm>
          <a:prstGeom prst="rect">
            <a:avLst/>
          </a:prstGeom>
          <a:noFill/>
          <a:ln>
            <a:noFill/>
          </a:ln>
        </p:spPr>
        <p:txBody>
          <a:bodyPr anchorCtr="0" anchor="ctr" bIns="0" lIns="0" spcFirstLastPara="1" rIns="0" wrap="square" tIns="0">
            <a:noAutofit/>
          </a:bodyPr>
          <a:lstStyle/>
          <a:p>
            <a:pPr indent="-254000" lvl="0" marL="254000" marR="0" rtl="0" algn="l">
              <a:spcBef>
                <a:spcPts val="0"/>
              </a:spcBef>
              <a:spcAft>
                <a:spcPts val="0"/>
              </a:spcAft>
              <a:buClr>
                <a:srgbClr val="CBD5DD"/>
              </a:buClr>
              <a:buSzPts val="1400"/>
              <a:buFont typeface="Calibri"/>
              <a:buChar char="•"/>
            </a:pPr>
            <a:r>
              <a:rPr b="0" i="0" lang="en" sz="1400" u="none" cap="none" strike="noStrike">
                <a:solidFill>
                  <a:srgbClr val="CBD5DD"/>
                </a:solidFill>
                <a:latin typeface="Calibri"/>
                <a:ea typeface="Calibri"/>
                <a:cs typeface="Calibri"/>
                <a:sym typeface="Calibri"/>
              </a:rPr>
              <a:t>Pick one recurring People Analytics question this quarter</a:t>
            </a:r>
            <a:endParaRPr b="0" i="0" sz="1400" u="none" cap="none" strike="noStrike">
              <a:solidFill>
                <a:schemeClr val="dk1"/>
              </a:solidFill>
              <a:latin typeface="Calibri"/>
              <a:ea typeface="Calibri"/>
              <a:cs typeface="Calibri"/>
              <a:sym typeface="Calibri"/>
            </a:endParaRPr>
          </a:p>
          <a:p>
            <a:pPr indent="-254000" lvl="0" marL="254000" marR="0" rtl="0" algn="l">
              <a:spcBef>
                <a:spcPts val="1100"/>
              </a:spcBef>
              <a:spcAft>
                <a:spcPts val="0"/>
              </a:spcAft>
              <a:buClr>
                <a:srgbClr val="CBD5DD"/>
              </a:buClr>
              <a:buSzPts val="1400"/>
              <a:buFont typeface="Calibri"/>
              <a:buChar char="•"/>
            </a:pPr>
            <a:r>
              <a:rPr b="0" i="0" lang="en" sz="1400" u="none" cap="none" strike="noStrike">
                <a:solidFill>
                  <a:srgbClr val="CBD5DD"/>
                </a:solidFill>
                <a:latin typeface="Calibri"/>
                <a:ea typeface="Calibri"/>
                <a:cs typeface="Calibri"/>
                <a:sym typeface="Calibri"/>
              </a:rPr>
              <a:t>Write the reference doc — I'll lead it, one analyst, two weeks</a:t>
            </a:r>
            <a:endParaRPr b="0" i="0" sz="1400" u="none" cap="none" strike="noStrike">
              <a:solidFill>
                <a:schemeClr val="dk1"/>
              </a:solidFill>
              <a:latin typeface="Calibri"/>
              <a:ea typeface="Calibri"/>
              <a:cs typeface="Calibri"/>
              <a:sym typeface="Calibri"/>
            </a:endParaRPr>
          </a:p>
          <a:p>
            <a:pPr indent="-254000" lvl="0" marL="254000" marR="0" rtl="0" algn="l">
              <a:spcBef>
                <a:spcPts val="1100"/>
              </a:spcBef>
              <a:spcAft>
                <a:spcPts val="0"/>
              </a:spcAft>
              <a:buClr>
                <a:srgbClr val="CBD5DD"/>
              </a:buClr>
              <a:buSzPts val="1400"/>
              <a:buFont typeface="Calibri"/>
              <a:buChar char="•"/>
            </a:pPr>
            <a:r>
              <a:rPr b="0" i="0" lang="en" sz="1400" u="none" cap="none" strike="noStrike">
                <a:solidFill>
                  <a:srgbClr val="CBD5DD"/>
                </a:solidFill>
                <a:latin typeface="Calibri"/>
                <a:ea typeface="Calibri"/>
                <a:cs typeface="Calibri"/>
                <a:sym typeface="Calibri"/>
              </a:rPr>
              <a:t>Measure the before and after — real evals, not subjective assessment</a:t>
            </a:r>
            <a:endParaRPr b="0" i="0" sz="1400" u="none" cap="none" strike="noStrike">
              <a:solidFill>
                <a:schemeClr val="dk1"/>
              </a:solidFill>
              <a:latin typeface="Calibri"/>
              <a:ea typeface="Calibri"/>
              <a:cs typeface="Calibri"/>
              <a:sym typeface="Calibri"/>
            </a:endParaRPr>
          </a:p>
          <a:p>
            <a:pPr indent="-254000" lvl="0" marL="254000" marR="0" rtl="0" algn="l">
              <a:spcBef>
                <a:spcPts val="1100"/>
              </a:spcBef>
              <a:spcAft>
                <a:spcPts val="0"/>
              </a:spcAft>
              <a:buClr>
                <a:srgbClr val="CBD5DD"/>
              </a:buClr>
              <a:buSzPts val="1400"/>
              <a:buFont typeface="Calibri"/>
              <a:buChar char="•"/>
            </a:pPr>
            <a:r>
              <a:rPr b="0" i="0" lang="en" sz="1400" u="none" cap="none" strike="noStrike">
                <a:solidFill>
                  <a:srgbClr val="CBD5DD"/>
                </a:solidFill>
                <a:latin typeface="Calibri"/>
                <a:ea typeface="Calibri"/>
                <a:cs typeface="Calibri"/>
                <a:sym typeface="Calibri"/>
              </a:rPr>
              <a:t>If it works on our data, expand to the next domain</a:t>
            </a:r>
            <a:endParaRPr b="0" i="0" sz="1400" u="none" cap="none" strike="noStrike">
              <a:solidFill>
                <a:schemeClr val="dk1"/>
              </a:solidFill>
              <a:latin typeface="Calibri"/>
              <a:ea typeface="Calibri"/>
              <a:cs typeface="Calibri"/>
              <a:sym typeface="Calibri"/>
            </a:endParaRPr>
          </a:p>
          <a:p>
            <a:pPr indent="-254000" lvl="0" marL="254000" marR="0" rtl="0" algn="l">
              <a:spcBef>
                <a:spcPts val="1100"/>
              </a:spcBef>
              <a:spcAft>
                <a:spcPts val="0"/>
              </a:spcAft>
              <a:buClr>
                <a:srgbClr val="CBD5DD"/>
              </a:buClr>
              <a:buSzPts val="1400"/>
              <a:buFont typeface="Calibri"/>
              <a:buChar char="•"/>
            </a:pPr>
            <a:r>
              <a:rPr b="0" i="0" lang="en" sz="1400" u="none" cap="none" strike="noStrike">
                <a:solidFill>
                  <a:srgbClr val="CBD5DD"/>
                </a:solidFill>
                <a:latin typeface="Calibri"/>
                <a:ea typeface="Calibri"/>
                <a:cs typeface="Calibri"/>
                <a:sym typeface="Calibri"/>
              </a:rPr>
              <a:t>If it doesn't, we've lost two weeks and learned something real</a:t>
            </a:r>
            <a:endParaRPr b="0" i="0" sz="1400" u="none" cap="none" strike="noStrike">
              <a:solidFill>
                <a:schemeClr val="dk1"/>
              </a:solidFill>
              <a:latin typeface="Calibri"/>
              <a:ea typeface="Calibri"/>
              <a:cs typeface="Calibri"/>
              <a:sym typeface="Calibri"/>
            </a:endParaRPr>
          </a:p>
        </p:txBody>
      </p:sp>
      <p:sp>
        <p:nvSpPr>
          <p:cNvPr id="316" name="Google Shape;316;p28"/>
          <p:cNvSpPr txBox="1"/>
          <p:nvPr/>
        </p:nvSpPr>
        <p:spPr>
          <a:xfrm>
            <a:off x="788670" y="3977640"/>
            <a:ext cx="685800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500"/>
              <a:buFont typeface="Cambria"/>
              <a:buNone/>
            </a:pPr>
            <a:r>
              <a:rPr b="0" i="1" lang="en" sz="1500" u="none" cap="none" strike="noStrike">
                <a:solidFill>
                  <a:srgbClr val="94A3B8"/>
                </a:solidFill>
                <a:latin typeface="Cambria"/>
                <a:ea typeface="Cambria"/>
                <a:cs typeface="Cambria"/>
                <a:sym typeface="Cambria"/>
              </a:rPr>
              <a:t>The workshop validates the method. Adoption validates the value.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