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4"/>
    <p:sldMasterId id="214748366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Lst>
  <p:sldSz cy="5143500" cx="9144000"/>
  <p:notesSz cx="6858000" cy="9144000"/>
  <p:embeddedFontLst>
    <p:embeddedFont>
      <p:font typeface="Roboto"/>
      <p:regular r:id="rId42"/>
      <p:bold r:id="rId43"/>
      <p:italic r:id="rId44"/>
      <p:boldItalic r:id="rId45"/>
    </p:embeddedFont>
    <p:embeddedFont>
      <p:font typeface="Roboto Mono"/>
      <p:regular r:id="rId46"/>
      <p:bold r:id="rId47"/>
      <p:italic r:id="rId48"/>
      <p:boldItalic r:id="rId4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font" Target="fonts/Roboto-regular.fntdata"/><Relationship Id="rId41" Type="http://schemas.openxmlformats.org/officeDocument/2006/relationships/slide" Target="slides/slide35.xml"/><Relationship Id="rId44" Type="http://schemas.openxmlformats.org/officeDocument/2006/relationships/font" Target="fonts/Roboto-italic.fntdata"/><Relationship Id="rId43" Type="http://schemas.openxmlformats.org/officeDocument/2006/relationships/font" Target="fonts/Roboto-bold.fntdata"/><Relationship Id="rId46" Type="http://schemas.openxmlformats.org/officeDocument/2006/relationships/font" Target="fonts/RobotoMono-regular.fntdata"/><Relationship Id="rId45" Type="http://schemas.openxmlformats.org/officeDocument/2006/relationships/font" Target="fonts/Roboto-boldItalic.fntdata"/><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48" Type="http://schemas.openxmlformats.org/officeDocument/2006/relationships/font" Target="fonts/RobotoMono-italic.fntdata"/><Relationship Id="rId47" Type="http://schemas.openxmlformats.org/officeDocument/2006/relationships/font" Target="fonts/RobotoMono-bold.fntdata"/><Relationship Id="rId49" Type="http://schemas.openxmlformats.org/officeDocument/2006/relationships/font" Target="fonts/RobotoMono-boldItalic.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lnkd.in/p/eY4fByDH" TargetMode="External"/><Relationship Id="rId3" Type="http://schemas.openxmlformats.org/officeDocument/2006/relationships/hyperlink" Target="https://www.linkedin.com/company/anthropicresearch/" TargetMode="External"/><Relationship Id="rId4" Type="http://schemas.openxmlformats.org/officeDocument/2006/relationships/hyperlink" Target="https://www.linkedin.com/in/olgaberezovsky/" TargetMode="Externa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lnkd.in/p/eHE7f8uz" TargetMode="Externa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every.to/guides/compound-engineering" TargetMode="External"/><Relationship Id="rId3" Type="http://schemas.openxmlformats.org/officeDocument/2006/relationships/hyperlink" Target="https://github.com/EveryInc/compound-engineering-plugin/blob/main/README.md" TargetMode="Externa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 name="Shape 52"/>
        <p:cNvGrpSpPr/>
        <p:nvPr/>
      </p:nvGrpSpPr>
      <p:grpSpPr>
        <a:xfrm>
          <a:off x="0" y="0"/>
          <a:ext cx="0" cy="0"/>
          <a:chOff x="0" y="0"/>
          <a:chExt cx="0" cy="0"/>
        </a:xfrm>
      </p:grpSpPr>
      <p:sp>
        <p:nvSpPr>
          <p:cNvPr id="53" name="Google Shape;53;g38b926ca763_2_2: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 name="Google Shape;54;g38b926ca763_2_2: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Open with the promise: everyone leaves with a working skill in their own repo, and a measured before/after from a real warehouse. Set expectation that we will run one workflow end to end rather than skim five.</a:t>
            </a:r>
            <a:endParaRPr/>
          </a:p>
        </p:txBody>
      </p:sp>
      <p:sp>
        <p:nvSpPr>
          <p:cNvPr id="55" name="Google Shape;55;g38b926ca763_2_2: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h5d56d75e93a07127_0_166: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4" name="Google Shape;64;h5d56d75e93a07127_0_166:notes"/>
          <p:cNvSpPr txBox="1"/>
          <p:nvPr>
            <p:ph idx="1" type="body"/>
          </p:nvPr>
        </p:nvSpPr>
        <p:spPr>
          <a:xfrm>
            <a:off x="685800" y="3300413"/>
            <a:ext cx="5486400" cy="27003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One workflow end to end. Everything else ships as reference material they take home. Depth over coverage.</a:t>
            </a:r>
            <a:endParaRPr/>
          </a:p>
        </p:txBody>
      </p:sp>
      <p:sp>
        <p:nvSpPr>
          <p:cNvPr id="65" name="Google Shape;65;h5d56d75e93a07127_0_166: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h5d56d75e93a07127_0_152: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3" name="Google Shape;103;h5d56d75e93a07127_0_152:notes"/>
          <p:cNvSpPr txBox="1"/>
          <p:nvPr>
            <p:ph idx="1" type="body"/>
          </p:nvPr>
        </p:nvSpPr>
        <p:spPr>
          <a:xfrm>
            <a:off x="685800" y="3300413"/>
            <a:ext cx="5486400" cy="27003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Open with the promise: everyone leaves with a working skill in their own repo, and a measured before/after from a real warehouse. Set expectation that we will run one workflow end to end rather than skim five.</a:t>
            </a:r>
            <a:endParaRPr/>
          </a:p>
        </p:txBody>
      </p:sp>
      <p:sp>
        <p:nvSpPr>
          <p:cNvPr id="104" name="Google Shape;104;h5d56d75e93a07127_0_152: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h5d56d75e93a07127_0_159: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1" name="Google Shape;111;h5d56d75e93a07127_0_159:notes"/>
          <p:cNvSpPr txBox="1"/>
          <p:nvPr>
            <p:ph idx="1" type="body"/>
          </p:nvPr>
        </p:nvSpPr>
        <p:spPr>
          <a:xfrm>
            <a:off x="685800" y="3300413"/>
            <a:ext cx="5486400" cy="27003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2" name="Google Shape;112;h5d56d75e93a07127_0_159: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38b926ca763_2_12: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9" name="Google Shape;119;g38b926ca763_2_12: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This is the framing that earns permission for everything else. Ask the room: who has shipped a number that was wrong and nobody noticed for weeks? Most hands go up.</a:t>
            </a:r>
            <a:endParaRPr/>
          </a:p>
        </p:txBody>
      </p:sp>
      <p:sp>
        <p:nvSpPr>
          <p:cNvPr id="120" name="Google Shape;120;g38b926ca763_2_12: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h599cc6f0234aead0_0_0: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3" name="Google Shape;133;h599cc6f0234aead0_0_0:notes"/>
          <p:cNvSpPr txBox="1"/>
          <p:nvPr>
            <p:ph idx="1" type="body"/>
          </p:nvPr>
        </p:nvSpPr>
        <p:spPr>
          <a:xfrm>
            <a:off x="685800" y="3300413"/>
            <a:ext cx="5486400" cy="27003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They went on the same journey that we are go on today and leave us with the lesson that even once this is implemented, it will need attention.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From: </a:t>
            </a:r>
            <a:r>
              <a:rPr lang="en" u="sng">
                <a:solidFill>
                  <a:srgbClr val="1155CC"/>
                </a:solidFill>
                <a:highlight>
                  <a:srgbClr val="FFFFFF"/>
                </a:highlight>
                <a:hlinkClick r:id="rId2">
                  <a:extLst>
                    <a:ext uri="{A12FA001-AC4F-418D-AE19-62706E023703}">
                      <ahyp:hlinkClr val="tx"/>
                    </a:ext>
                  </a:extLst>
                </a:hlinkClick>
              </a:rPr>
              <a:t>https://lnkd.in/p/eY4fByDH</a:t>
            </a:r>
            <a:r>
              <a:rPr lang="en">
                <a:solidFill>
                  <a:schemeClr val="dk1"/>
                </a:solidFill>
              </a:rPr>
              <a:t> </a:t>
            </a:r>
            <a:endParaRPr>
              <a:solidFill>
                <a:schemeClr val="dk1"/>
              </a:solidFill>
            </a:endParaRPr>
          </a:p>
          <a:p>
            <a:pPr indent="0" lvl="0" marL="0" rtl="0" algn="l">
              <a:spcBef>
                <a:spcPts val="0"/>
              </a:spcBef>
              <a:spcAft>
                <a:spcPts val="0"/>
              </a:spcAft>
              <a:buClr>
                <a:schemeClr val="dk1"/>
              </a:buClr>
              <a:buSzPts val="1100"/>
              <a:buFont typeface="Arial"/>
              <a:buNone/>
            </a:pPr>
            <a:r>
              <a:rPr lang="en" sz="1050">
                <a:solidFill>
                  <a:schemeClr val="hlink"/>
                </a:solidFill>
                <a:highlight>
                  <a:srgbClr val="FFFFFF"/>
                </a:highlight>
                <a:uFill>
                  <a:noFill/>
                </a:uFill>
                <a:latin typeface="Roboto"/>
                <a:ea typeface="Roboto"/>
                <a:cs typeface="Roboto"/>
                <a:sym typeface="Roboto"/>
                <a:hlinkClick r:id="rId3"/>
              </a:rPr>
              <a:t>Anthropic</a:t>
            </a:r>
            <a:r>
              <a:rPr lang="en" sz="1050">
                <a:solidFill>
                  <a:schemeClr val="dk1"/>
                </a:solidFill>
                <a:highlight>
                  <a:srgbClr val="FFFFFF"/>
                </a:highlight>
                <a:latin typeface="Roboto"/>
                <a:ea typeface="Roboto"/>
                <a:cs typeface="Roboto"/>
                <a:sym typeface="Roboto"/>
              </a:rPr>
              <a:t> pointed Claude at their own data warehouse and it answered business questions correctly 21% of the time.</a:t>
            </a:r>
            <a:endParaRPr sz="1050">
              <a:solidFill>
                <a:schemeClr val="dk1"/>
              </a:solidFill>
              <a:highlight>
                <a:srgbClr val="FFFFFF"/>
              </a:highlight>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sz="1050">
                <a:solidFill>
                  <a:schemeClr val="dk1"/>
                </a:solidFill>
                <a:highlight>
                  <a:srgbClr val="FFFFFF"/>
                </a:highlight>
                <a:latin typeface="Roboto"/>
                <a:ea typeface="Roboto"/>
                <a:cs typeface="Roboto"/>
                <a:sym typeface="Roboto"/>
              </a:rPr>
              <a:t>So they fed it everything. Thousands of existing SQL queries, notebooks, dashboards. Every bit of institutional knowledge the company had accumulated.</a:t>
            </a:r>
            <a:endParaRPr sz="1050">
              <a:solidFill>
                <a:schemeClr val="dk1"/>
              </a:solidFill>
              <a:highlight>
                <a:srgbClr val="FFFFFF"/>
              </a:highlight>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sz="1050">
                <a:solidFill>
                  <a:schemeClr val="dk1"/>
                </a:solidFill>
                <a:highlight>
                  <a:srgbClr val="FFFFFF"/>
                </a:highlight>
                <a:latin typeface="Roboto"/>
                <a:ea typeface="Roboto"/>
                <a:cs typeface="Roboto"/>
                <a:sym typeface="Roboto"/>
              </a:rPr>
              <a:t>Accuracy moved by less than a percentage point.</a:t>
            </a:r>
            <a:endParaRPr sz="1050">
              <a:solidFill>
                <a:schemeClr val="dk1"/>
              </a:solidFill>
              <a:highlight>
                <a:srgbClr val="FFFFFF"/>
              </a:highlight>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sz="1050">
                <a:solidFill>
                  <a:schemeClr val="dk1"/>
                </a:solidFill>
                <a:highlight>
                  <a:srgbClr val="FFFFFF"/>
                </a:highlight>
                <a:latin typeface="Roboto"/>
                <a:ea typeface="Roboto"/>
                <a:cs typeface="Roboto"/>
                <a:sym typeface="Roboto"/>
              </a:rPr>
              <a:t>What eventually got them above 95% wasn't a better model. It was people sitting down and writing what a metric actually means.</a:t>
            </a:r>
            <a:endParaRPr sz="1050">
              <a:solidFill>
                <a:schemeClr val="dk1"/>
              </a:solidFill>
              <a:highlight>
                <a:srgbClr val="FFFFFF"/>
              </a:highlight>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sz="1050">
                <a:solidFill>
                  <a:schemeClr val="dk1"/>
                </a:solidFill>
                <a:highlight>
                  <a:srgbClr val="FFFFFF"/>
                </a:highlight>
                <a:latin typeface="Roboto"/>
                <a:ea typeface="Roboto"/>
                <a:cs typeface="Roboto"/>
                <a:sym typeface="Roboto"/>
              </a:rPr>
              <a:t>I've built self-serve tooling before. People could get to the data on day one. What they couldn't do was tell me whether the number in front of them was the right number, because "active user" meant three different things in three different teams and nobody had ever written down which one was correct.</a:t>
            </a:r>
            <a:endParaRPr sz="1050">
              <a:solidFill>
                <a:schemeClr val="dk1"/>
              </a:solidFill>
              <a:highlight>
                <a:srgbClr val="FFFFFF"/>
              </a:highlight>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sz="1050">
                <a:solidFill>
                  <a:schemeClr val="dk1"/>
                </a:solidFill>
                <a:highlight>
                  <a:srgbClr val="FFFFFF"/>
                </a:highlight>
                <a:latin typeface="Roboto"/>
                <a:ea typeface="Roboto"/>
                <a:cs typeface="Roboto"/>
                <a:sym typeface="Roboto"/>
              </a:rPr>
              <a:t>Two other details from their writeup.</a:t>
            </a:r>
            <a:endParaRPr sz="1050">
              <a:solidFill>
                <a:schemeClr val="dk1"/>
              </a:solidFill>
              <a:highlight>
                <a:srgbClr val="FFFFFF"/>
              </a:highlight>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rPr lang="en" sz="1050">
                <a:solidFill>
                  <a:schemeClr val="dk1"/>
                </a:solidFill>
                <a:highlight>
                  <a:srgbClr val="FFFFFF"/>
                </a:highlight>
                <a:latin typeface="Roboto"/>
                <a:ea typeface="Roboto"/>
                <a:cs typeface="Roboto"/>
                <a:sym typeface="Roboto"/>
              </a:rPr>
              <a:t>They tried letting a model generate the metric definitions in the semantic layer. It made things worse. So now humans define and Claude documents, not the other way round.</a:t>
            </a:r>
            <a:endParaRPr sz="1050">
              <a:solidFill>
                <a:schemeClr val="dk1"/>
              </a:solidFill>
              <a:highlight>
                <a:srgbClr val="FFFFFF"/>
              </a:highlight>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rPr lang="en" sz="1050">
                <a:solidFill>
                  <a:schemeClr val="dk1"/>
                </a:solidFill>
                <a:highlight>
                  <a:srgbClr val="FFFFFF"/>
                </a:highlight>
                <a:latin typeface="Roboto"/>
                <a:ea typeface="Roboto"/>
                <a:cs typeface="Roboto"/>
                <a:sym typeface="Roboto"/>
              </a:rPr>
              <a:t>And when the documentation stopped being maintained, accuracy dropped from roughly 95% to roughly 65% inside a month.</a:t>
            </a:r>
            <a:endParaRPr sz="1050">
              <a:solidFill>
                <a:schemeClr val="dk1"/>
              </a:solidFill>
              <a:highlight>
                <a:srgbClr val="FFFFFF"/>
              </a:highlight>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sz="1050">
                <a:solidFill>
                  <a:schemeClr val="dk1"/>
                </a:solidFill>
                <a:highlight>
                  <a:srgbClr val="FFFFFF"/>
                </a:highlight>
                <a:latin typeface="Roboto"/>
                <a:ea typeface="Roboto"/>
                <a:cs typeface="Roboto"/>
                <a:sym typeface="Roboto"/>
              </a:rPr>
              <a:t>That second one doesn't make it onto the sales slide. Self-serve isn't a project you finish. It's something someone owns forever, and if that person leaves, your numbers quietly go wrong.</a:t>
            </a:r>
            <a:endParaRPr sz="1050">
              <a:solidFill>
                <a:schemeClr val="dk1"/>
              </a:solidFill>
              <a:highlight>
                <a:srgbClr val="FFFFFF"/>
              </a:highlight>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sz="1050">
                <a:solidFill>
                  <a:schemeClr val="hlink"/>
                </a:solidFill>
                <a:highlight>
                  <a:srgbClr val="FFFFFF"/>
                </a:highlight>
                <a:uFill>
                  <a:noFill/>
                </a:uFill>
                <a:latin typeface="Roboto"/>
                <a:ea typeface="Roboto"/>
                <a:cs typeface="Roboto"/>
                <a:sym typeface="Roboto"/>
                <a:hlinkClick r:id="rId4"/>
              </a:rPr>
              <a:t>Olga Berezovsky</a:t>
            </a:r>
            <a:r>
              <a:rPr lang="en" sz="1050">
                <a:solidFill>
                  <a:schemeClr val="dk1"/>
                </a:solidFill>
                <a:highlight>
                  <a:srgbClr val="FFFFFF"/>
                </a:highlight>
                <a:latin typeface="Roboto"/>
                <a:ea typeface="Roboto"/>
                <a:cs typeface="Roboto"/>
                <a:sym typeface="Roboto"/>
              </a:rPr>
              <a:t> wrote about this in her newsletter last week. Her read is that this is the clearest admission any AI lab has made that you can't point a model at a warehouse and get reliable answers out of it. I think that's right.</a:t>
            </a:r>
            <a:endParaRPr sz="1050">
              <a:solidFill>
                <a:schemeClr val="dk1"/>
              </a:solidFill>
              <a:highlight>
                <a:srgbClr val="FFFFFF"/>
              </a:highlight>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sz="1050">
                <a:solidFill>
                  <a:schemeClr val="dk1"/>
                </a:solidFill>
                <a:highlight>
                  <a:srgbClr val="FFFFFF"/>
                </a:highlight>
                <a:latin typeface="Roboto"/>
                <a:ea typeface="Roboto"/>
                <a:cs typeface="Roboto"/>
                <a:sym typeface="Roboto"/>
              </a:rPr>
              <a:t>Most companies have never agreed on what their own numbers mean. AI just makes that disagreement happen faster.</a:t>
            </a:r>
            <a:endParaRPr sz="1050">
              <a:solidFill>
                <a:schemeClr val="dk1"/>
              </a:solidFill>
              <a:highlight>
                <a:srgbClr val="FFFFFF"/>
              </a:highlight>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rPr lang="en" sz="1050">
                <a:solidFill>
                  <a:schemeClr val="dk1"/>
                </a:solidFill>
                <a:highlight>
                  <a:srgbClr val="FFFFFF"/>
                </a:highlight>
                <a:latin typeface="Roboto"/>
                <a:ea typeface="Roboto"/>
                <a:cs typeface="Roboto"/>
                <a:sym typeface="Roboto"/>
              </a:rPr>
              <a:t>If you've rolled out self-serve analytics, what did you have to fix first before it actually worked?</a:t>
            </a:r>
            <a:r>
              <a:rPr lang="en">
                <a:solidFill>
                  <a:schemeClr val="dk1"/>
                </a:solidFill>
              </a:rPr>
              <a:t> </a:t>
            </a:r>
            <a:endParaRPr>
              <a:solidFill>
                <a:schemeClr val="dk1"/>
              </a:solidFill>
            </a:endParaRPr>
          </a:p>
        </p:txBody>
      </p:sp>
      <p:sp>
        <p:nvSpPr>
          <p:cNvPr id="134" name="Google Shape;134;h599cc6f0234aead0_0_0: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38b926ca763_0_0: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1" name="Google Shape;141;g38b926ca763_0_0:notes"/>
          <p:cNvSpPr txBox="1"/>
          <p:nvPr>
            <p:ph idx="1" type="body"/>
          </p:nvPr>
        </p:nvSpPr>
        <p:spPr>
          <a:xfrm>
            <a:off x="685800" y="3300413"/>
            <a:ext cx="5486400" cy="27003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From: </a:t>
            </a:r>
            <a:r>
              <a:rPr lang="en" u="sng">
                <a:solidFill>
                  <a:schemeClr val="hlink"/>
                </a:solidFill>
                <a:hlinkClick r:id="rId2"/>
              </a:rPr>
              <a:t>https://lnkd.in/p/eHE7f8uz</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Jonas Thordal</a:t>
            </a:r>
            <a:endParaRPr/>
          </a:p>
          <a:p>
            <a:pPr indent="0" lvl="0" marL="0" rtl="0" algn="l">
              <a:spcBef>
                <a:spcPts val="0"/>
              </a:spcBef>
              <a:spcAft>
                <a:spcPts val="0"/>
              </a:spcAft>
              <a:buNone/>
            </a:pPr>
            <a:r>
              <a:rPr lang="en"/>
              <a:t>"I gave the agent the same prompt twice, and it came back with two different answers"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agent's numbers don't match my UI. I will keep using the UI for now, thank you"</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 don't trust the agent's answer"</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I've been helping a bunch of data teams roll out agents to business users this year, and these are the kinds of comments that keep coming up. The technology has gotten much better, but adoption is still a struggle for many data teams.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"semantic layer," and now a broader "context layer," has been gaining so much attention for a good reason. The problem isn't new. Humans needed the same context too. We just carried most of it in our heads. So we didn't "need" to do all the hard work of maintaining an "extra" layer, and focused on the very basic "need-to-haves."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If you ask me, this work has always been undervalued, but since data teams have historically been so overwhelmed with ad hoc tasks, it's understandable that it has taken a backseat.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Now, with AI agents, we want to make sure they have the same context we humans have about everything from data relationships and business definitions to exceptions to the rules, which source to trust, and why the numbers are what they are.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An analyst usually knows that "revenue" excludes refunds and test accounts. An agent doesn't know that unless you tell it. At the same time, an analyst will usually catch a bad number before it reaches the CFO. With agents, you don't have that backstop anymore, so the data and definitions the agent works from have to be right.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 what does work? This is roughly the stack I've seen work best so far ( see image below)</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Give your agents the right skills, ideally one top-level skill that routes to domain-specific ones (e.g., Finance, Customer Success, Sales). Then give them a way to access semantic and broader business context, and keep the existing data foundation and permissions underneath.</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Where do your agents break first: metric definitions, business context, data quality, or access?</a:t>
            </a:r>
            <a:endParaRPr/>
          </a:p>
        </p:txBody>
      </p:sp>
      <p:sp>
        <p:nvSpPr>
          <p:cNvPr id="142" name="Google Shape;142;g38b926ca763_0_0: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38b926ca763_2_25: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5" name="Google Shape;155;g38b926ca763_2_25: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The first three are tractable with better routing. The fourth is why provenance and review exist. Everything in the pack attacks at least one of these.</a:t>
            </a:r>
            <a:endParaRPr/>
          </a:p>
        </p:txBody>
      </p:sp>
      <p:sp>
        <p:nvSpPr>
          <p:cNvPr id="156" name="Google Shape;156;g38b926ca763_2_25: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38b926ca763_2_43: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4" name="Google Shape;174;g38b926ca763_2_43: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Credit Every's compound engineering for the loop shape. The fourth step is what separates this from ordinary AI-assisted work. A stakeholder correction is a labeled error diagnosed for free by someone with domain authority — throwing it away after patching the answer wastes the best signal you get.</a:t>
            </a:r>
            <a:endParaRPr/>
          </a:p>
          <a:p>
            <a:pPr indent="0" lvl="0" marL="0" rtl="0" algn="l">
              <a:spcBef>
                <a:spcPts val="0"/>
              </a:spcBef>
              <a:spcAft>
                <a:spcPts val="0"/>
              </a:spcAft>
              <a:buNone/>
            </a:pPr>
            <a:r>
              <a:t/>
            </a:r>
            <a:endParaRPr/>
          </a:p>
          <a:p>
            <a:pPr indent="0" lvl="0" marL="0" rtl="0" algn="l">
              <a:spcBef>
                <a:spcPts val="0"/>
              </a:spcBef>
              <a:spcAft>
                <a:spcPts val="0"/>
              </a:spcAft>
              <a:buNone/>
            </a:pPr>
            <a:r>
              <a:rPr lang="en" u="sng">
                <a:solidFill>
                  <a:schemeClr val="hlink"/>
                </a:solidFill>
                <a:hlinkClick r:id="rId2"/>
              </a:rPr>
              <a:t>https://every.to/guides/compound-engineering</a:t>
            </a:r>
            <a:endParaRPr/>
          </a:p>
          <a:p>
            <a:pPr indent="0" lvl="0" marL="0" rtl="0" algn="l">
              <a:spcBef>
                <a:spcPts val="0"/>
              </a:spcBef>
              <a:spcAft>
                <a:spcPts val="0"/>
              </a:spcAft>
              <a:buNone/>
            </a:pPr>
            <a:r>
              <a:rPr lang="en" u="sng">
                <a:solidFill>
                  <a:schemeClr val="hlink"/>
                </a:solidFill>
                <a:hlinkClick r:id="rId3"/>
              </a:rPr>
              <a:t>https://github.com/EveryInc/compound-engineering-plugin/blob/main/README.md</a:t>
            </a:r>
            <a:endParaRPr/>
          </a:p>
          <a:p>
            <a:pPr indent="0" lvl="0" marL="0" rtl="0" algn="l">
              <a:spcBef>
                <a:spcPts val="0"/>
              </a:spcBef>
              <a:spcAft>
                <a:spcPts val="0"/>
              </a:spcAft>
              <a:buNone/>
            </a:pPr>
            <a:r>
              <a:t/>
            </a:r>
            <a:endParaRPr/>
          </a:p>
        </p:txBody>
      </p:sp>
      <p:sp>
        <p:nvSpPr>
          <p:cNvPr id="175" name="Google Shape;175;g38b926ca763_2_43: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38b926ca763_2_71: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3" name="Google Shape;203;g38b926ca763_2_71: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This is the moment the room relaxes. Most arrive expecting to write Python. The hard part is domain knowledge, which they already have and have never written down.</a:t>
            </a:r>
            <a:endParaRPr/>
          </a:p>
        </p:txBody>
      </p:sp>
      <p:sp>
        <p:nvSpPr>
          <p:cNvPr id="204" name="Google Shape;204;g38b926ca763_2_71: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38b926ca763_2_87: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0" name="Google Shape;220;g38b926ca763_2_87: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The expense-justification line: they leave as a named contributor to an open-source pack, not with a certificate of attendance.</a:t>
            </a:r>
            <a:endParaRPr/>
          </a:p>
        </p:txBody>
      </p:sp>
      <p:sp>
        <p:nvSpPr>
          <p:cNvPr id="221" name="Google Shape;221;g38b926ca763_2_87: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g38b926ca763_2_107: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1" name="Google Shape;241;g38b926ca763_2_107: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One DuckDB file, no server, works offline. Reproducible from a fixed seed. Participants get no reference docs — writing one is the exercise.</a:t>
            </a:r>
            <a:endParaRPr/>
          </a:p>
        </p:txBody>
      </p:sp>
      <p:sp>
        <p:nvSpPr>
          <p:cNvPr id="242" name="Google Shape;242;g38b926ca763_2_107: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h5d56d75e93a07127_0_9: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4" name="Google Shape;264;h5d56d75e93a07127_0_9:notes"/>
          <p:cNvSpPr txBox="1"/>
          <p:nvPr>
            <p:ph idx="1" type="body"/>
          </p:nvPr>
        </p:nvSpPr>
        <p:spPr>
          <a:xfrm>
            <a:off x="685800" y="3300413"/>
            <a:ext cx="5486400" cy="27003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Open with the promise: everyone leaves with a working skill in their own repo, and a measured before/after from a real warehouse. Set expectation that we will run one workflow end to end rather than skim five.</a:t>
            </a:r>
            <a:endParaRPr/>
          </a:p>
        </p:txBody>
      </p:sp>
      <p:sp>
        <p:nvSpPr>
          <p:cNvPr id="265" name="Google Shape;265;h5d56d75e93a07127_0_9: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h5d56d75e93a07127_0_23: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2" name="Google Shape;272;h5d56d75e93a07127_0_23:notes"/>
          <p:cNvSpPr txBox="1"/>
          <p:nvPr>
            <p:ph idx="1" type="body"/>
          </p:nvPr>
        </p:nvSpPr>
        <p:spPr>
          <a:xfrm>
            <a:off x="685800" y="3300413"/>
            <a:ext cx="5486400" cy="27003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3" name="Google Shape;273;h5d56d75e93a07127_0_23: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g38b926ca763_2_129: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0" name="Google Shape;280;g38b926ca763_2_129: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Show the actual response text from results/baseline.json next to results/skills.json. Real output beats any abstract argument. Caveat honestly: one slice, one run.</a:t>
            </a:r>
            <a:endParaRPr/>
          </a:p>
        </p:txBody>
      </p:sp>
      <p:sp>
        <p:nvSpPr>
          <p:cNvPr id="281" name="Google Shape;281;g38b926ca763_2_129: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g38b926ca763_2_145: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7" name="Google Shape;297;g38b926ca763_2_145: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This is the I-O contribution. A software engineer would not think to write down immortal time bias or why Wald intervals fail exactly where workforce data lives.</a:t>
            </a:r>
            <a:endParaRPr/>
          </a:p>
        </p:txBody>
      </p:sp>
      <p:sp>
        <p:nvSpPr>
          <p:cNvPr id="298" name="Google Shape;298;g38b926ca763_2_145: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h5d56d75e93a07127_0_30: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2" name="Google Shape;312;h5d56d75e93a07127_0_30:notes"/>
          <p:cNvSpPr txBox="1"/>
          <p:nvPr>
            <p:ph idx="1" type="body"/>
          </p:nvPr>
        </p:nvSpPr>
        <p:spPr>
          <a:xfrm>
            <a:off x="685800" y="3300413"/>
            <a:ext cx="5486400" cy="27003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Open with the promise: everyone leaves with a working skill in their own repo, and a measured before/after from a real warehouse. Set expectation that we will run one workflow end to end rather than skim five.</a:t>
            </a:r>
            <a:endParaRPr/>
          </a:p>
        </p:txBody>
      </p:sp>
      <p:sp>
        <p:nvSpPr>
          <p:cNvPr id="313" name="Google Shape;313;h5d56d75e93a07127_0_30: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h5d56d75e93a07127_0_37: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0" name="Google Shape;320;h5d56d75e93a07127_0_37:notes"/>
          <p:cNvSpPr txBox="1"/>
          <p:nvPr>
            <p:ph idx="1" type="body"/>
          </p:nvPr>
        </p:nvSpPr>
        <p:spPr>
          <a:xfrm>
            <a:off x="685800" y="3300413"/>
            <a:ext cx="5486400" cy="27003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1" name="Google Shape;321;h5d56d75e93a07127_0_37: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g38b926ca763_2_159: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8" name="Google Shape;328;g38b926ca763_2_159: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Sections are ordered by how much each reduces wrong answers. If someone runs out of time at minute 30, the parts they finished are the parts that mattered. The Gotchas prompt is the one that unlocks the room — everyone has twenty of these in their head.</a:t>
            </a:r>
            <a:endParaRPr/>
          </a:p>
        </p:txBody>
      </p:sp>
      <p:sp>
        <p:nvSpPr>
          <p:cNvPr id="329" name="Google Shape;329;g38b926ca763_2_159: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h5d56d75e93a07127_0_44: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6" name="Google Shape;356;h5d56d75e93a07127_0_44:notes"/>
          <p:cNvSpPr txBox="1"/>
          <p:nvPr>
            <p:ph idx="1" type="body"/>
          </p:nvPr>
        </p:nvSpPr>
        <p:spPr>
          <a:xfrm>
            <a:off x="685800" y="3300413"/>
            <a:ext cx="5486400" cy="27003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Open with the promise: everyone leaves with a working skill in their own repo, and a measured before/after from a real warehouse. Set expectation that we will run one workflow end to end rather than skim five.</a:t>
            </a:r>
            <a:endParaRPr/>
          </a:p>
        </p:txBody>
      </p:sp>
      <p:sp>
        <p:nvSpPr>
          <p:cNvPr id="357" name="Google Shape;357;h5d56d75e93a07127_0_44: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h5d56d75e93a07127_0_51: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4" name="Google Shape;364;h5d56d75e93a07127_0_51:notes"/>
          <p:cNvSpPr txBox="1"/>
          <p:nvPr>
            <p:ph idx="1" type="body"/>
          </p:nvPr>
        </p:nvSpPr>
        <p:spPr>
          <a:xfrm>
            <a:off x="685800" y="3300413"/>
            <a:ext cx="5486400" cy="27003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5" name="Google Shape;365;h5d56d75e93a07127_0_51: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g38b926ca763_2_186: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2" name="Google Shape;372;g38b926ca763_2_186: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Evals-before-skill is the TDD analogy and it earns credibility with a rigorous audience. Nobody gets to claim their skill 'feels better'.</a:t>
            </a:r>
            <a:endParaRPr/>
          </a:p>
        </p:txBody>
      </p:sp>
      <p:sp>
        <p:nvSpPr>
          <p:cNvPr id="373" name="Google Shape;373;g38b926ca763_2_186: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h5d56d75e93a07127_0_58: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4" name="Google Shape;394;h5d56d75e93a07127_0_58:notes"/>
          <p:cNvSpPr txBox="1"/>
          <p:nvPr>
            <p:ph idx="1" type="body"/>
          </p:nvPr>
        </p:nvSpPr>
        <p:spPr>
          <a:xfrm>
            <a:off x="685800" y="3300413"/>
            <a:ext cx="5486400" cy="27003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Open with the promise: everyone leaves with a working skill in their own repo, and a measured before/after from a real warehouse. Set expectation that we will run one workflow end to end rather than skim five.</a:t>
            </a:r>
            <a:endParaRPr/>
          </a:p>
        </p:txBody>
      </p:sp>
      <p:sp>
        <p:nvSpPr>
          <p:cNvPr id="395" name="Google Shape;395;h5d56d75e93a07127_0_58: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h5d56d75e93a07127_0_65: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2" name="Google Shape;402;h5d56d75e93a07127_0_65:notes"/>
          <p:cNvSpPr txBox="1"/>
          <p:nvPr>
            <p:ph idx="1" type="body"/>
          </p:nvPr>
        </p:nvSpPr>
        <p:spPr>
          <a:xfrm>
            <a:off x="685800" y="3300413"/>
            <a:ext cx="5486400" cy="2700300"/>
          </a:xfrm>
          <a:prstGeom prst="rect">
            <a:avLst/>
          </a:prstGeom>
          <a:noFill/>
          <a:ln>
            <a:noFill/>
          </a:ln>
        </p:spPr>
        <p:txBody>
          <a:bodyPr anchorCtr="0" anchor="t" bIns="45700" lIns="91425" spcFirstLastPara="1" rIns="91425" wrap="square" tIns="45700">
            <a:noAutofit/>
          </a:bodyPr>
          <a:lstStyle/>
          <a:p>
            <a:pPr indent="0" lvl="0" marL="0" rtl="0" algn="ctr">
              <a:lnSpc>
                <a:spcPct val="115000"/>
              </a:lnSpc>
              <a:spcBef>
                <a:spcPts val="0"/>
              </a:spcBef>
              <a:spcAft>
                <a:spcPts val="0"/>
              </a:spcAft>
              <a:buNone/>
            </a:pPr>
            <a:r>
              <a:rPr b="1" lang="en"/>
              <a:t>Domain</a:t>
            </a:r>
            <a:endParaRPr b="1"/>
          </a:p>
          <a:p>
            <a:pPr indent="0" lvl="0" marL="0" rtl="0" algn="ctr">
              <a:lnSpc>
                <a:spcPct val="115000"/>
              </a:lnSpc>
              <a:spcBef>
                <a:spcPts val="0"/>
              </a:spcBef>
              <a:spcAft>
                <a:spcPts val="0"/>
              </a:spcAft>
              <a:buNone/>
            </a:pPr>
            <a:r>
              <a:rPr b="1" lang="en"/>
              <a:t>First trap they'll hit</a:t>
            </a:r>
            <a:endParaRPr b="1"/>
          </a:p>
          <a:p>
            <a:pPr indent="0" lvl="0" marL="0" rtl="0" algn="ctr">
              <a:lnSpc>
                <a:spcPct val="115000"/>
              </a:lnSpc>
              <a:spcBef>
                <a:spcPts val="0"/>
              </a:spcBef>
              <a:spcAft>
                <a:spcPts val="0"/>
              </a:spcAft>
              <a:buNone/>
            </a:pPr>
            <a:r>
              <a:rPr b="1" lang="en"/>
              <a:t>Second trap (if they get further)</a:t>
            </a:r>
            <a:endParaRPr b="1"/>
          </a:p>
          <a:p>
            <a:pPr indent="0" lvl="0" marL="0" rtl="0" algn="l">
              <a:spcBef>
                <a:spcPts val="0"/>
              </a:spcBef>
              <a:spcAft>
                <a:spcPts val="0"/>
              </a:spcAft>
              <a:buNone/>
            </a:pPr>
            <a:r>
              <a:rPr lang="en" sz="1400"/>
              <a:t>Engagement</a:t>
            </a:r>
            <a:endParaRPr sz="1400"/>
          </a:p>
          <a:p>
            <a:pPr indent="-317500" lvl="0" marL="457200" rtl="0" algn="l">
              <a:spcBef>
                <a:spcPts val="0"/>
              </a:spcBef>
              <a:spcAft>
                <a:spcPts val="0"/>
              </a:spcAft>
              <a:buSzPts val="1400"/>
              <a:buChar char="●"/>
            </a:pPr>
            <a:r>
              <a:rPr lang="en" sz="1400"/>
              <a:t>Scale 5→7 across waves</a:t>
            </a:r>
            <a:endParaRPr sz="1400"/>
          </a:p>
          <a:p>
            <a:pPr indent="-317500" lvl="0" marL="457200" rtl="0" algn="l">
              <a:spcBef>
                <a:spcPts val="0"/>
              </a:spcBef>
              <a:spcAft>
                <a:spcPts val="0"/>
              </a:spcAft>
              <a:buSzPts val="1400"/>
              <a:buChar char="●"/>
            </a:pPr>
            <a:r>
              <a:rPr lang="en" sz="1400"/>
              <a:t>Row count ≠ respondent count</a:t>
            </a:r>
            <a:endParaRPr sz="1400"/>
          </a:p>
          <a:p>
            <a:pPr indent="0" lvl="0" marL="0" rtl="0" algn="l">
              <a:spcBef>
                <a:spcPts val="0"/>
              </a:spcBef>
              <a:spcAft>
                <a:spcPts val="0"/>
              </a:spcAft>
              <a:buNone/>
            </a:pPr>
            <a:r>
              <a:rPr lang="en" sz="1400"/>
              <a:t>Compensation</a:t>
            </a:r>
            <a:endParaRPr sz="1400"/>
          </a:p>
          <a:p>
            <a:pPr indent="-317500" lvl="0" marL="457200" rtl="0" algn="l">
              <a:spcBef>
                <a:spcPts val="0"/>
              </a:spcBef>
              <a:spcAft>
                <a:spcPts val="0"/>
              </a:spcAft>
              <a:buSzPts val="1400"/>
              <a:buChar char="●"/>
            </a:pPr>
            <a:r>
              <a:rPr lang="en" sz="1400"/>
              <a:t>USD/EUR/SGD mixed in one column</a:t>
            </a:r>
            <a:endParaRPr sz="1400"/>
          </a:p>
          <a:p>
            <a:pPr indent="-317500" lvl="0" marL="457200" rtl="0" algn="l">
              <a:spcBef>
                <a:spcPts val="0"/>
              </a:spcBef>
              <a:spcAft>
                <a:spcPts val="0"/>
              </a:spcAft>
              <a:buSzPts val="1400"/>
              <a:buChar char="●"/>
            </a:pPr>
            <a:r>
              <a:rPr lang="en" sz="1400"/>
              <a:t>Historical rows mixed with current</a:t>
            </a:r>
            <a:endParaRPr sz="1400"/>
          </a:p>
          <a:p>
            <a:pPr indent="0" lvl="0" marL="0" rtl="0" algn="l">
              <a:spcBef>
                <a:spcPts val="0"/>
              </a:spcBef>
              <a:spcAft>
                <a:spcPts val="0"/>
              </a:spcAft>
              <a:buNone/>
            </a:pPr>
            <a:r>
              <a:rPr lang="en" sz="1400"/>
              <a:t>Attrition</a:t>
            </a:r>
            <a:endParaRPr sz="1400"/>
          </a:p>
          <a:p>
            <a:pPr indent="-317500" lvl="0" marL="457200" rtl="0" algn="l">
              <a:spcBef>
                <a:spcPts val="0"/>
              </a:spcBef>
              <a:spcAft>
                <a:spcPts val="0"/>
              </a:spcAft>
              <a:buSzPts val="1400"/>
              <a:buChar char="●"/>
            </a:pPr>
            <a:r>
              <a:rPr lang="en" sz="1400"/>
              <a:t>Contingent + interns included</a:t>
            </a:r>
            <a:endParaRPr sz="1400"/>
          </a:p>
          <a:p>
            <a:pPr indent="-317500" lvl="0" marL="457200" rtl="0" algn="l">
              <a:spcBef>
                <a:spcPts val="0"/>
              </a:spcBef>
              <a:spcAft>
                <a:spcPts val="0"/>
              </a:spcAft>
              <a:buSzPts val="1400"/>
              <a:buChar char="●"/>
            </a:pPr>
            <a:r>
              <a:rPr lang="en" sz="1400"/>
              <a:t>No denominator for rate; must choose headcount definition</a:t>
            </a:r>
            <a:endParaRPr sz="1400"/>
          </a:p>
          <a:p>
            <a:pPr indent="0" lvl="0" marL="0" rtl="0" algn="l">
              <a:spcBef>
                <a:spcPts val="0"/>
              </a:spcBef>
              <a:spcAft>
                <a:spcPts val="0"/>
              </a:spcAft>
              <a:buNone/>
            </a:pPr>
            <a:r>
              <a:t/>
            </a:r>
            <a:endParaRPr/>
          </a:p>
        </p:txBody>
      </p:sp>
      <p:sp>
        <p:nvSpPr>
          <p:cNvPr id="403" name="Google Shape;403;h5d56d75e93a07127_0_65: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 name="Shape 408"/>
        <p:cNvGrpSpPr/>
        <p:nvPr/>
      </p:nvGrpSpPr>
      <p:grpSpPr>
        <a:xfrm>
          <a:off x="0" y="0"/>
          <a:ext cx="0" cy="0"/>
          <a:chOff x="0" y="0"/>
          <a:chExt cx="0" cy="0"/>
        </a:xfrm>
      </p:grpSpPr>
      <p:sp>
        <p:nvSpPr>
          <p:cNvPr id="409" name="Google Shape;409;h5d56d75e93a07127_0_72: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0" name="Google Shape;410;h5d56d75e93a07127_0_72:notes"/>
          <p:cNvSpPr txBox="1"/>
          <p:nvPr>
            <p:ph idx="1" type="body"/>
          </p:nvPr>
        </p:nvSpPr>
        <p:spPr>
          <a:xfrm>
            <a:off x="685800" y="3300413"/>
            <a:ext cx="5486400" cy="27003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Open with the promise: everyone leaves with a working skill in their own repo, and a measured before/after from a real warehouse. Set expectation that we will run one workflow end to end rather than skim five.</a:t>
            </a:r>
            <a:endParaRPr/>
          </a:p>
        </p:txBody>
      </p:sp>
      <p:sp>
        <p:nvSpPr>
          <p:cNvPr id="411" name="Google Shape;411;h5d56d75e93a07127_0_72: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h5d56d75e93a07127_0_79: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8" name="Google Shape;418;h5d56d75e93a07127_0_79:notes"/>
          <p:cNvSpPr txBox="1"/>
          <p:nvPr>
            <p:ph idx="1" type="body"/>
          </p:nvPr>
        </p:nvSpPr>
        <p:spPr>
          <a:xfrm>
            <a:off x="685800" y="3300413"/>
            <a:ext cx="5486400" cy="27003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9" name="Google Shape;419;h5d56d75e93a07127_0_79: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g38b926ca763_2_207: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6" name="Google Shape;426;g38b926ca763_2_207: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Lead with the number, then immediately give the caveats on the next slide. The mean and median agree (+28.2 / +27.8), so it is not one outlier carrying the result. Say plainly that this is one run by the people who wrote the skills.</a:t>
            </a:r>
            <a:endParaRPr/>
          </a:p>
          <a:p>
            <a:pPr indent="0" lvl="0" marL="0" rtl="0" algn="l">
              <a:spcBef>
                <a:spcPts val="0"/>
              </a:spcBef>
              <a:spcAft>
                <a:spcPts val="0"/>
              </a:spcAft>
              <a:buNone/>
            </a:pPr>
            <a:r>
              <a:t/>
            </a:r>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The title is the </a:t>
            </a:r>
            <a:r>
              <a:rPr b="1" lang="en">
                <a:solidFill>
                  <a:schemeClr val="dk1"/>
                </a:solidFill>
              </a:rPr>
              <a:t>aggregate figure</a:t>
            </a:r>
            <a:r>
              <a:rPr lang="en">
                <a:solidFill>
                  <a:schemeClr val="dk1"/>
                </a:solidFill>
              </a:rPr>
              <a:t>, not one skill's number. It's the overall pass rate across all 29 eval assertions pooled together: 56% when no skill is loaded, 84% when the relevant skill is loaded. The six rows underneath show that same effect broken out per skill, so you can see it's not being driven by one outlier — everything moved in the same direction, from a low of +13 to a high of +50.</a:t>
            </a:r>
            <a:endParaRPr>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 sz="1300">
                <a:solidFill>
                  <a:schemeClr val="dk1"/>
                </a:solidFill>
              </a:rPr>
              <a:t>What "pass rate" means concretely</a:t>
            </a:r>
            <a:endParaRPr b="1" sz="13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Each of the 29 evals has 2–3 specific, checkable assertions (e.g., "the response states which table the number came from"). An LLM grader checks each assertion PASS/FAIL against the agent's response. The percentage is just: assertions passed ÷ assertions graded, once with no skill loaded and once with the skill loaded, same questions both times.</a:t>
            </a:r>
            <a:endParaRPr>
              <a:solidFill>
                <a:schemeClr val="dk1"/>
              </a:solidFill>
            </a:endParaRPr>
          </a:p>
          <a:p>
            <a:pPr indent="0" lvl="0" marL="0" rtl="0" algn="l">
              <a:spcBef>
                <a:spcPts val="1200"/>
              </a:spcBef>
              <a:spcAft>
                <a:spcPts val="0"/>
              </a:spcAft>
              <a:buNone/>
            </a:pPr>
            <a:r>
              <a:t/>
            </a:r>
            <a:endParaRPr/>
          </a:p>
        </p:txBody>
      </p:sp>
      <p:sp>
        <p:nvSpPr>
          <p:cNvPr id="427" name="Google Shape;427;g38b926ca763_2_207: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3" name="Shape 463"/>
        <p:cNvGrpSpPr/>
        <p:nvPr/>
      </p:nvGrpSpPr>
      <p:grpSpPr>
        <a:xfrm>
          <a:off x="0" y="0"/>
          <a:ext cx="0" cy="0"/>
          <a:chOff x="0" y="0"/>
          <a:chExt cx="0" cy="0"/>
        </a:xfrm>
      </p:grpSpPr>
      <p:sp>
        <p:nvSpPr>
          <p:cNvPr id="464" name="Google Shape;464;g38b926ca763_2_245: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5" name="Google Shape;465;g38b926ca763_2_245: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This slide is the point of the workshop. Anyone can report +28. Reporting +28 alongside the over-firing cost, the non-random missing data, and a sensitivity analysis is what makes it trustworthy. Note that the censoring problem here is exactly pattern 2 in analysis-patterns.md — we hit it in our own measurement.</a:t>
            </a:r>
            <a:endParaRPr/>
          </a:p>
        </p:txBody>
      </p:sp>
      <p:sp>
        <p:nvSpPr>
          <p:cNvPr id="466" name="Google Shape;466;g38b926ca763_2_245: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g38b926ca763_2_260: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1" name="Google Shape;481;g38b926ca763_2_260: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This is the sharper, more defensible version of the routing argument. The earlier broken run suggested loading everything tanks accuracy outright (-9) -- that was a harness bug, not a finding. The clean isolation shows something more interesting and more true: raw task performance barely moves, but the agent's judgment about when a rule applies degrades measurably, and it burns more of its own turn budget doing so. That is a better argument for a thin router than a scarier, less accurate one would have been.</a:t>
            </a:r>
            <a:endParaRPr/>
          </a:p>
        </p:txBody>
      </p:sp>
      <p:sp>
        <p:nvSpPr>
          <p:cNvPr id="482" name="Google Shape;482;g38b926ca763_2_260: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3" name="Shape 503"/>
        <p:cNvGrpSpPr/>
        <p:nvPr/>
      </p:nvGrpSpPr>
      <p:grpSpPr>
        <a:xfrm>
          <a:off x="0" y="0"/>
          <a:ext cx="0" cy="0"/>
          <a:chOff x="0" y="0"/>
          <a:chExt cx="0" cy="0"/>
        </a:xfrm>
      </p:grpSpPr>
      <p:sp>
        <p:nvSpPr>
          <p:cNvPr id="504" name="Google Shape;504;g38b926ca763_2_283: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5" name="Google Shape;505;g38b926ca763_2_283: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These happened while building the pack whose entire purpose is preventing them. That is not embarrassing, it is the point — the failure mode is structural, not a matter of care. Tell this story; it lands harder than any abstract warning.</a:t>
            </a:r>
            <a:endParaRPr/>
          </a:p>
        </p:txBody>
      </p:sp>
      <p:sp>
        <p:nvSpPr>
          <p:cNvPr id="506" name="Google Shape;506;g38b926ca763_2_283: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6" name="Shape 526"/>
        <p:cNvGrpSpPr/>
        <p:nvPr/>
      </p:nvGrpSpPr>
      <p:grpSpPr>
        <a:xfrm>
          <a:off x="0" y="0"/>
          <a:ext cx="0" cy="0"/>
          <a:chOff x="0" y="0"/>
          <a:chExt cx="0" cy="0"/>
        </a:xfrm>
      </p:grpSpPr>
      <p:sp>
        <p:nvSpPr>
          <p:cNvPr id="527" name="Google Shape;527;h5d56d75e93a07127_0_86: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8" name="Google Shape;528;h5d56d75e93a07127_0_86:notes"/>
          <p:cNvSpPr txBox="1"/>
          <p:nvPr>
            <p:ph idx="1" type="body"/>
          </p:nvPr>
        </p:nvSpPr>
        <p:spPr>
          <a:xfrm>
            <a:off x="685800" y="3300413"/>
            <a:ext cx="5486400" cy="27003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Open with the promise: everyone leaves with a working skill in their own repo, and a measured before/after from a real warehouse. Set expectation that we will run one workflow end to end rather than skim five.</a:t>
            </a:r>
            <a:endParaRPr/>
          </a:p>
        </p:txBody>
      </p:sp>
      <p:sp>
        <p:nvSpPr>
          <p:cNvPr id="529" name="Google Shape;529;h5d56d75e93a07127_0_86: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 name="Shape 534"/>
        <p:cNvGrpSpPr/>
        <p:nvPr/>
      </p:nvGrpSpPr>
      <p:grpSpPr>
        <a:xfrm>
          <a:off x="0" y="0"/>
          <a:ext cx="0" cy="0"/>
          <a:chOff x="0" y="0"/>
          <a:chExt cx="0" cy="0"/>
        </a:xfrm>
      </p:grpSpPr>
      <p:sp>
        <p:nvSpPr>
          <p:cNvPr id="535" name="Google Shape;535;h5d56d75e93a07127_0_93: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6" name="Google Shape;536;h5d56d75e93a07127_0_93:notes"/>
          <p:cNvSpPr txBox="1"/>
          <p:nvPr>
            <p:ph idx="1" type="body"/>
          </p:nvPr>
        </p:nvSpPr>
        <p:spPr>
          <a:xfrm>
            <a:off x="685800" y="3300413"/>
            <a:ext cx="5486400" cy="27003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Q: "Does correction harvesting happen automatically, does someone have to do it manually, or does the agent do it itself?"</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 "The correction comes from a person, that's the part you can't automate. The harvesting, turning that correction into a doc edit and an eval, is the agent's job. And over time, you can automate the detection too: an agent scans Slack for correction language and opens draft PRs. But someone still has to review them, because the domain owner is the one who knows whether 'we don't count it that way' means the doc is wrong or the stakeholder is confused."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Q: "What do I actually do when I get back to the office?"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 </a:t>
            </a:r>
            <a:r>
              <a:rPr b="1" lang="en">
                <a:solidFill>
                  <a:schemeClr val="dk1"/>
                </a:solidFill>
              </a:rPr>
              <a:t>Pick one question your team gets asked repeatedly and write a question spec for it.</a:t>
            </a:r>
            <a:r>
              <a:rPr lang="en">
                <a:solidFill>
                  <a:schemeClr val="dk1"/>
                </a:solidFill>
              </a:rPr>
              <a:t> Not the hardest question, not the most political — the one that comes up every month and gets re-answered from scratch each time. Run it through the 10-field template. That spec becomes the seed of your first reference doc, and the repetition means you'll get correction signals fast.</a:t>
            </a:r>
            <a:endParaRPr>
              <a:solidFill>
                <a:schemeClr val="dk1"/>
              </a:solidFill>
            </a:endParaRPr>
          </a:p>
          <a:p>
            <a:pPr indent="-298450" lvl="0" marL="457200" rtl="0" algn="l">
              <a:lnSpc>
                <a:spcPct val="115000"/>
              </a:lnSpc>
              <a:spcBef>
                <a:spcPts val="1200"/>
              </a:spcBef>
              <a:spcAft>
                <a:spcPts val="0"/>
              </a:spcAft>
              <a:buClr>
                <a:schemeClr val="dk1"/>
              </a:buClr>
              <a:buSzPts val="1100"/>
              <a:buAutoNum type="arabicPeriod"/>
            </a:pPr>
            <a:r>
              <a:rPr b="1" lang="en">
                <a:solidFill>
                  <a:schemeClr val="dk1"/>
                </a:solidFill>
              </a:rPr>
              <a:t>Find the table everyone uses and write down one gotcha that isn't in the schema.</a:t>
            </a:r>
            <a:r>
              <a:rPr lang="en">
                <a:solidFill>
                  <a:schemeClr val="dk1"/>
                </a:solidFill>
              </a:rPr>
              <a:t> Every warehouse has a </a:t>
            </a:r>
            <a:r>
              <a:rPr lang="en">
                <a:solidFill>
                  <a:srgbClr val="188038"/>
                </a:solidFill>
                <a:latin typeface="Roboto Mono"/>
                <a:ea typeface="Roboto Mono"/>
                <a:cs typeface="Roboto Mono"/>
                <a:sym typeface="Roboto Mono"/>
              </a:rPr>
              <a:t>department</a:t>
            </a:r>
            <a:r>
              <a:rPr lang="en">
                <a:solidFill>
                  <a:schemeClr val="dk1"/>
                </a:solidFill>
              </a:rPr>
              <a:t> column that's half-populated, or a report that stopped refreshing, or a metric that means something different than its name suggests. Write it in the Do/Don't format — one directive, one wrong query, one right query. That single gotcha, documented, is already more institutional knowledge than most teams have written down.</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en">
                <a:solidFill>
                  <a:schemeClr val="dk1"/>
                </a:solidFill>
              </a:rPr>
              <a:t>Run the question with and without your doc, and show someone the difference.</a:t>
            </a:r>
            <a:r>
              <a:rPr lang="en">
                <a:solidFill>
                  <a:schemeClr val="dk1"/>
                </a:solidFill>
              </a:rPr>
              <a:t> Not a presentation, not a proposal — just the two outputs side by side. The ablation sells the system better than any explanation, because the person seeing it can judge for themselves whether the doc-loaded answer is the one they'd trust. That's how you get a second doc written by someone who isn't you.</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The thread connecting all three: start with one question, one doc, one gotcha, one demo. The system scales by repetition, not by a big rollout.</a:t>
            </a:r>
            <a:endParaRPr>
              <a:solidFill>
                <a:schemeClr val="dk1"/>
              </a:solidFill>
            </a:endParaRPr>
          </a:p>
          <a:p>
            <a:pPr indent="0" lvl="0" marL="0" rtl="0" algn="l">
              <a:spcBef>
                <a:spcPts val="1200"/>
              </a:spcBef>
              <a:spcAft>
                <a:spcPts val="0"/>
              </a:spcAft>
              <a:buNone/>
            </a:pPr>
            <a:r>
              <a:t/>
            </a:r>
            <a:endParaRPr/>
          </a:p>
        </p:txBody>
      </p:sp>
      <p:sp>
        <p:nvSpPr>
          <p:cNvPr id="537" name="Google Shape;537;h5d56d75e93a07127_0_93: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2" name="Shape 542"/>
        <p:cNvGrpSpPr/>
        <p:nvPr/>
      </p:nvGrpSpPr>
      <p:grpSpPr>
        <a:xfrm>
          <a:off x="0" y="0"/>
          <a:ext cx="0" cy="0"/>
          <a:chOff x="0" y="0"/>
          <a:chExt cx="0" cy="0"/>
        </a:xfrm>
      </p:grpSpPr>
      <p:sp>
        <p:nvSpPr>
          <p:cNvPr id="543" name="Google Shape;543;h5d56d75e93a07127_0_100: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4" name="Google Shape;544;h5d56d75e93a07127_0_100:notes"/>
          <p:cNvSpPr txBox="1"/>
          <p:nvPr>
            <p:ph idx="1" type="body"/>
          </p:nvPr>
        </p:nvSpPr>
        <p:spPr>
          <a:xfrm>
            <a:off x="685800" y="3300413"/>
            <a:ext cx="5486400" cy="27003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Open with the promise: everyone leaves with a working skill in their own repo, and a measured before/after from a real warehouse. Set expectation that we will run one workflow end to end rather than skim five.</a:t>
            </a:r>
            <a:endParaRPr/>
          </a:p>
        </p:txBody>
      </p:sp>
      <p:sp>
        <p:nvSpPr>
          <p:cNvPr id="545" name="Google Shape;545;h5d56d75e93a07127_0_100: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0" name="Shape 550"/>
        <p:cNvGrpSpPr/>
        <p:nvPr/>
      </p:nvGrpSpPr>
      <p:grpSpPr>
        <a:xfrm>
          <a:off x="0" y="0"/>
          <a:ext cx="0" cy="0"/>
          <a:chOff x="0" y="0"/>
          <a:chExt cx="0" cy="0"/>
        </a:xfrm>
      </p:grpSpPr>
      <p:sp>
        <p:nvSpPr>
          <p:cNvPr id="551" name="Google Shape;551;h5d56d75e93a07127_0_107: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2" name="Google Shape;552;h5d56d75e93a07127_0_107:notes"/>
          <p:cNvSpPr txBox="1"/>
          <p:nvPr>
            <p:ph idx="1" type="body"/>
          </p:nvPr>
        </p:nvSpPr>
        <p:spPr>
          <a:xfrm>
            <a:off x="685800" y="3300413"/>
            <a:ext cx="5486400" cy="27003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Q: "Do I upload to the main page, the references folder, or my own fork?"</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 </a:t>
            </a:r>
            <a:r>
              <a:rPr lang="en">
                <a:solidFill>
                  <a:schemeClr val="dk1"/>
                </a:solidFill>
              </a:rPr>
              <a:t>"You go to the </a:t>
            </a:r>
            <a:r>
              <a:rPr lang="en">
                <a:solidFill>
                  <a:srgbClr val="188038"/>
                </a:solidFill>
                <a:latin typeface="Roboto Mono"/>
                <a:ea typeface="Roboto Mono"/>
                <a:cs typeface="Roboto Mono"/>
                <a:sym typeface="Roboto Mono"/>
              </a:rPr>
              <a:t>references</a:t>
            </a:r>
            <a:r>
              <a:rPr lang="en">
                <a:solidFill>
                  <a:schemeClr val="dk1"/>
                </a:solidFill>
              </a:rPr>
              <a:t> folder on the repo's main page and click 'Add file.' GitHub sees you don't have write access and silently creates a fork for you — you never have to find or click a Fork button. Then it turns your upload into a pull request back to the original repo. So the answer is: you upload to the references folder, and the fork happens automatically. The cheat sheet walks you through it step by step." </a:t>
            </a:r>
            <a:endParaRPr/>
          </a:p>
        </p:txBody>
      </p:sp>
      <p:sp>
        <p:nvSpPr>
          <p:cNvPr id="553" name="Google Shape;553;h5d56d75e93a07127_0_107: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8" name="Shape 558"/>
        <p:cNvGrpSpPr/>
        <p:nvPr/>
      </p:nvGrpSpPr>
      <p:grpSpPr>
        <a:xfrm>
          <a:off x="0" y="0"/>
          <a:ext cx="0" cy="0"/>
          <a:chOff x="0" y="0"/>
          <a:chExt cx="0" cy="0"/>
        </a:xfrm>
      </p:grpSpPr>
      <p:sp>
        <p:nvSpPr>
          <p:cNvPr id="559" name="Google Shape;559;g38b926ca763_2_343: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0" name="Google Shape;560;g38b926ca763_2_343: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Close on the habit, not the artifact. The skills will go stale; the discipline of verifying instead of eyeballing is what survives.</a:t>
            </a:r>
            <a:endParaRPr/>
          </a:p>
        </p:txBody>
      </p:sp>
      <p:sp>
        <p:nvSpPr>
          <p:cNvPr id="561" name="Google Shape;561;g38b926ca763_2_343: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51" name="Shape 51"/>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3.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 name="Shape 50"/>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5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2303C"/>
        </a:solidFill>
      </p:bgPr>
    </p:bg>
    <p:spTree>
      <p:nvGrpSpPr>
        <p:cNvPr id="56" name="Shape 56"/>
        <p:cNvGrpSpPr/>
        <p:nvPr/>
      </p:nvGrpSpPr>
      <p:grpSpPr>
        <a:xfrm>
          <a:off x="0" y="0"/>
          <a:ext cx="0" cy="0"/>
          <a:chOff x="0" y="0"/>
          <a:chExt cx="0" cy="0"/>
        </a:xfrm>
      </p:grpSpPr>
      <p:sp>
        <p:nvSpPr>
          <p:cNvPr id="57" name="Google Shape;57;p15"/>
          <p:cNvSpPr/>
          <p:nvPr/>
        </p:nvSpPr>
        <p:spPr>
          <a:xfrm>
            <a:off x="480060" y="1371600"/>
            <a:ext cx="96012" cy="1714500"/>
          </a:xfrm>
          <a:prstGeom prst="roundRect">
            <a:avLst>
              <a:gd fmla="val 50000" name="adj"/>
            </a:avLst>
          </a:prstGeom>
          <a:solidFill>
            <a:srgbClr val="E8663C"/>
          </a:solidFill>
          <a:ln cap="flat" cmpd="sng" w="12700">
            <a:solidFill>
              <a:srgbClr val="E8663C"/>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8" name="Google Shape;58;p15"/>
          <p:cNvSpPr/>
          <p:nvPr/>
        </p:nvSpPr>
        <p:spPr>
          <a:xfrm>
            <a:off x="788670" y="1371600"/>
            <a:ext cx="6515100" cy="8915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4400"/>
              <a:buFont typeface="Cambria"/>
              <a:buNone/>
            </a:pPr>
            <a:r>
              <a:rPr b="1" i="0" lang="en" sz="4400" u="none" cap="none" strike="noStrike">
                <a:solidFill>
                  <a:srgbClr val="FFFFFF"/>
                </a:solidFill>
                <a:latin typeface="Cambria"/>
                <a:ea typeface="Cambria"/>
                <a:cs typeface="Cambria"/>
                <a:sym typeface="Cambria"/>
              </a:rPr>
              <a:t>Vibe Analytics</a:t>
            </a:r>
            <a:endParaRPr b="0" i="0" sz="4400" u="none" cap="none" strike="noStrike">
              <a:solidFill>
                <a:schemeClr val="dk1"/>
              </a:solidFill>
              <a:latin typeface="Calibri"/>
              <a:ea typeface="Calibri"/>
              <a:cs typeface="Calibri"/>
              <a:sym typeface="Calibri"/>
            </a:endParaRPr>
          </a:p>
        </p:txBody>
      </p:sp>
      <p:sp>
        <p:nvSpPr>
          <p:cNvPr id="59" name="Google Shape;59;p15"/>
          <p:cNvSpPr/>
          <p:nvPr/>
        </p:nvSpPr>
        <p:spPr>
          <a:xfrm>
            <a:off x="788670" y="2263140"/>
            <a:ext cx="65151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BD5DD"/>
              </a:buClr>
              <a:buSzPts val="1700"/>
              <a:buFont typeface="Calibri"/>
              <a:buNone/>
            </a:pPr>
            <a:r>
              <a:rPr b="0" i="0" lang="en" sz="1700" u="none" cap="none" strike="noStrike">
                <a:solidFill>
                  <a:srgbClr val="CBD5DD"/>
                </a:solidFill>
                <a:latin typeface="Calibri"/>
                <a:ea typeface="Calibri"/>
                <a:cs typeface="Calibri"/>
                <a:sym typeface="Calibri"/>
              </a:rPr>
              <a:t>Reimagining the analytics lifecycle in an AI era</a:t>
            </a:r>
            <a:endParaRPr b="0" i="0" sz="1700" u="none" cap="none" strike="noStrike">
              <a:solidFill>
                <a:schemeClr val="dk1"/>
              </a:solidFill>
              <a:latin typeface="Calibri"/>
              <a:ea typeface="Calibri"/>
              <a:cs typeface="Calibri"/>
              <a:sym typeface="Calibri"/>
            </a:endParaRPr>
          </a:p>
        </p:txBody>
      </p:sp>
      <p:sp>
        <p:nvSpPr>
          <p:cNvPr id="60" name="Google Shape;60;p15"/>
          <p:cNvSpPr/>
          <p:nvPr/>
        </p:nvSpPr>
        <p:spPr>
          <a:xfrm>
            <a:off x="788670" y="2777490"/>
            <a:ext cx="7543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9A8"/>
              </a:buClr>
              <a:buSzPts val="1100"/>
              <a:buFont typeface="Calibri"/>
              <a:buNone/>
            </a:pPr>
            <a:r>
              <a:rPr b="0" i="0" lang="en" sz="1100" u="none" cap="none" strike="noStrike">
                <a:solidFill>
                  <a:srgbClr val="8A99A8"/>
                </a:solidFill>
                <a:latin typeface="Calibri"/>
                <a:ea typeface="Calibri"/>
                <a:cs typeface="Calibri"/>
                <a:sym typeface="Calibri"/>
              </a:rPr>
              <a:t>Define  →  Build  →  Validate  →  Operationalize  →  Monitor  →  Compound</a:t>
            </a:r>
            <a:endParaRPr b="0" i="0" sz="1100" u="none" cap="none" strike="noStrike">
              <a:solidFill>
                <a:schemeClr val="dk1"/>
              </a:solidFill>
              <a:latin typeface="Calibri"/>
              <a:ea typeface="Calibri"/>
              <a:cs typeface="Calibri"/>
              <a:sym typeface="Calibri"/>
            </a:endParaRPr>
          </a:p>
        </p:txBody>
      </p:sp>
      <p:sp>
        <p:nvSpPr>
          <p:cNvPr id="61" name="Google Shape;61;p15"/>
          <p:cNvSpPr/>
          <p:nvPr/>
        </p:nvSpPr>
        <p:spPr>
          <a:xfrm>
            <a:off x="788670" y="4320540"/>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9A8"/>
              </a:buClr>
              <a:buSzPts val="1000"/>
              <a:buFont typeface="Calibri"/>
              <a:buNone/>
            </a:pPr>
            <a:r>
              <a:rPr b="0" i="0" lang="en" sz="1000" u="none" cap="none" strike="noStrike">
                <a:solidFill>
                  <a:srgbClr val="8A99A8"/>
                </a:solidFill>
                <a:latin typeface="Calibri"/>
                <a:ea typeface="Calibri"/>
                <a:cs typeface="Calibri"/>
                <a:sym typeface="Calibri"/>
              </a:rPr>
              <a:t>3-hour hands-on workshop</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6" name="Shape 66"/>
        <p:cNvGrpSpPr/>
        <p:nvPr/>
      </p:nvGrpSpPr>
      <p:grpSpPr>
        <a:xfrm>
          <a:off x="0" y="0"/>
          <a:ext cx="0" cy="0"/>
          <a:chOff x="0" y="0"/>
          <a:chExt cx="0" cy="0"/>
        </a:xfrm>
      </p:grpSpPr>
      <p:sp>
        <p:nvSpPr>
          <p:cNvPr id="67" name="Google Shape;67;p16"/>
          <p:cNvSpPr/>
          <p:nvPr/>
        </p:nvSpPr>
        <p:spPr>
          <a:xfrm>
            <a:off x="480060" y="192024"/>
            <a:ext cx="81816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663C"/>
              </a:buClr>
              <a:buSzPts val="800"/>
              <a:buFont typeface="Calibri"/>
              <a:buNone/>
            </a:pPr>
            <a:r>
              <a:rPr b="1" i="0" lang="en" sz="800" u="none" cap="none" strike="noStrike">
                <a:solidFill>
                  <a:srgbClr val="E8663C"/>
                </a:solidFill>
                <a:latin typeface="Calibri"/>
                <a:ea typeface="Calibri"/>
                <a:cs typeface="Calibri"/>
                <a:sym typeface="Calibri"/>
              </a:rPr>
              <a:t>TODAY</a:t>
            </a:r>
            <a:endParaRPr b="0" i="0" sz="800" u="none" cap="none" strike="noStrike">
              <a:solidFill>
                <a:schemeClr val="dk1"/>
              </a:solidFill>
              <a:latin typeface="Calibri"/>
              <a:ea typeface="Calibri"/>
              <a:cs typeface="Calibri"/>
              <a:sym typeface="Calibri"/>
            </a:endParaRPr>
          </a:p>
        </p:txBody>
      </p:sp>
      <p:sp>
        <p:nvSpPr>
          <p:cNvPr id="68" name="Google Shape;68;p16"/>
          <p:cNvSpPr/>
          <p:nvPr/>
        </p:nvSpPr>
        <p:spPr>
          <a:xfrm>
            <a:off x="480060" y="342900"/>
            <a:ext cx="8181600" cy="617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303C"/>
              </a:buClr>
              <a:buSzPts val="2600"/>
              <a:buFont typeface="Cambria"/>
              <a:buNone/>
            </a:pPr>
            <a:r>
              <a:rPr b="1" i="0" lang="en" sz="2600" u="none" cap="none" strike="noStrike">
                <a:solidFill>
                  <a:srgbClr val="22303C"/>
                </a:solidFill>
                <a:latin typeface="Cambria"/>
                <a:ea typeface="Cambria"/>
                <a:cs typeface="Cambria"/>
                <a:sym typeface="Cambria"/>
              </a:rPr>
              <a:t>Three hours</a:t>
            </a:r>
            <a:endParaRPr b="0" i="0" sz="2600" u="none" cap="none" strike="noStrike">
              <a:solidFill>
                <a:schemeClr val="dk1"/>
              </a:solidFill>
              <a:latin typeface="Calibri"/>
              <a:ea typeface="Calibri"/>
              <a:cs typeface="Calibri"/>
              <a:sym typeface="Calibri"/>
            </a:endParaRPr>
          </a:p>
        </p:txBody>
      </p:sp>
      <p:sp>
        <p:nvSpPr>
          <p:cNvPr id="69" name="Google Shape;69;p16"/>
          <p:cNvSpPr/>
          <p:nvPr/>
        </p:nvSpPr>
        <p:spPr>
          <a:xfrm>
            <a:off x="480060" y="1131570"/>
            <a:ext cx="8181600" cy="411600"/>
          </a:xfrm>
          <a:prstGeom prst="roundRect">
            <a:avLst>
              <a:gd fmla="val 13333" name="adj"/>
            </a:avLst>
          </a:prstGeom>
          <a:solidFill>
            <a:srgbClr val="F2F4F6"/>
          </a:solidFill>
          <a:ln cap="flat" cmpd="sng" w="12700">
            <a:solidFill>
              <a:srgbClr val="F2F4F6"/>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70" name="Google Shape;70;p16"/>
          <p:cNvSpPr/>
          <p:nvPr/>
        </p:nvSpPr>
        <p:spPr>
          <a:xfrm>
            <a:off x="720090" y="1220724"/>
            <a:ext cx="617100" cy="24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9A8"/>
              </a:buClr>
              <a:buSzPts val="1100"/>
              <a:buFont typeface="Consolas"/>
              <a:buNone/>
            </a:pPr>
            <a:r>
              <a:rPr b="1" i="0" lang="en" sz="1100" u="none" cap="none" strike="noStrike">
                <a:solidFill>
                  <a:srgbClr val="8A99A8"/>
                </a:solidFill>
                <a:latin typeface="Consolas"/>
                <a:ea typeface="Consolas"/>
                <a:cs typeface="Consolas"/>
                <a:sym typeface="Consolas"/>
              </a:rPr>
              <a:t>0:00</a:t>
            </a:r>
            <a:endParaRPr b="0" i="0" sz="1100" u="none" cap="none" strike="noStrike">
              <a:solidFill>
                <a:schemeClr val="dk1"/>
              </a:solidFill>
              <a:latin typeface="Calibri"/>
              <a:ea typeface="Calibri"/>
              <a:cs typeface="Calibri"/>
              <a:sym typeface="Calibri"/>
            </a:endParaRPr>
          </a:p>
        </p:txBody>
      </p:sp>
      <p:sp>
        <p:nvSpPr>
          <p:cNvPr id="71" name="Google Shape;71;p16"/>
          <p:cNvSpPr/>
          <p:nvPr/>
        </p:nvSpPr>
        <p:spPr>
          <a:xfrm>
            <a:off x="1474470" y="1213866"/>
            <a:ext cx="4457700" cy="260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303C"/>
              </a:buClr>
              <a:buSzPts val="1100"/>
              <a:buFont typeface="Calibri"/>
              <a:buNone/>
            </a:pPr>
            <a:r>
              <a:rPr b="1" i="0" lang="en" sz="1100" u="none" cap="none" strike="noStrike">
                <a:solidFill>
                  <a:srgbClr val="22303C"/>
                </a:solidFill>
                <a:latin typeface="Calibri"/>
                <a:ea typeface="Calibri"/>
                <a:cs typeface="Calibri"/>
                <a:sym typeface="Calibri"/>
              </a:rPr>
              <a:t>Why coding agents worked first</a:t>
            </a:r>
            <a:endParaRPr b="0" i="0" sz="1100" u="none" cap="none" strike="noStrike">
              <a:solidFill>
                <a:schemeClr val="dk1"/>
              </a:solidFill>
              <a:latin typeface="Calibri"/>
              <a:ea typeface="Calibri"/>
              <a:cs typeface="Calibri"/>
              <a:sym typeface="Calibri"/>
            </a:endParaRPr>
          </a:p>
        </p:txBody>
      </p:sp>
      <p:sp>
        <p:nvSpPr>
          <p:cNvPr id="72" name="Google Shape;72;p16"/>
          <p:cNvSpPr/>
          <p:nvPr/>
        </p:nvSpPr>
        <p:spPr>
          <a:xfrm>
            <a:off x="6035040" y="1220724"/>
            <a:ext cx="2537400" cy="24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7A"/>
              </a:buClr>
              <a:buSzPts val="1000"/>
              <a:buFont typeface="Calibri"/>
              <a:buNone/>
            </a:pPr>
            <a:r>
              <a:rPr b="0" i="0" lang="en" sz="1000" u="none" cap="none" strike="noStrike">
                <a:solidFill>
                  <a:srgbClr val="5A6B7A"/>
                </a:solidFill>
                <a:latin typeface="Calibri"/>
                <a:ea typeface="Calibri"/>
                <a:cs typeface="Calibri"/>
                <a:sym typeface="Calibri"/>
              </a:rPr>
              <a:t>Framing</a:t>
            </a:r>
            <a:endParaRPr b="0" i="0" sz="1000" u="none" cap="none" strike="noStrike">
              <a:solidFill>
                <a:schemeClr val="dk1"/>
              </a:solidFill>
              <a:latin typeface="Calibri"/>
              <a:ea typeface="Calibri"/>
              <a:cs typeface="Calibri"/>
              <a:sym typeface="Calibri"/>
            </a:endParaRPr>
          </a:p>
        </p:txBody>
      </p:sp>
      <p:sp>
        <p:nvSpPr>
          <p:cNvPr id="73" name="Google Shape;73;p16"/>
          <p:cNvSpPr/>
          <p:nvPr/>
        </p:nvSpPr>
        <p:spPr>
          <a:xfrm>
            <a:off x="480060" y="1584198"/>
            <a:ext cx="8181600" cy="411600"/>
          </a:xfrm>
          <a:prstGeom prst="roundRect">
            <a:avLst>
              <a:gd fmla="val 13333" name="adj"/>
            </a:avLst>
          </a:prstGeom>
          <a:solidFill>
            <a:srgbClr val="FFFFFF"/>
          </a:solidFill>
          <a:ln cap="flat" cmpd="sng" w="12700">
            <a:solidFill>
              <a:srgbClr val="FFFFFF"/>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74" name="Google Shape;74;p16"/>
          <p:cNvSpPr/>
          <p:nvPr/>
        </p:nvSpPr>
        <p:spPr>
          <a:xfrm>
            <a:off x="720090" y="1673352"/>
            <a:ext cx="617100" cy="24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9A8"/>
              </a:buClr>
              <a:buSzPts val="1100"/>
              <a:buFont typeface="Consolas"/>
              <a:buNone/>
            </a:pPr>
            <a:r>
              <a:rPr b="1" i="0" lang="en" sz="1100" u="none" cap="none" strike="noStrike">
                <a:solidFill>
                  <a:srgbClr val="8A99A8"/>
                </a:solidFill>
                <a:latin typeface="Consolas"/>
                <a:ea typeface="Consolas"/>
                <a:cs typeface="Consolas"/>
                <a:sym typeface="Consolas"/>
              </a:rPr>
              <a:t>0:20</a:t>
            </a:r>
            <a:endParaRPr b="0" i="0" sz="1100" u="none" cap="none" strike="noStrike">
              <a:solidFill>
                <a:schemeClr val="dk1"/>
              </a:solidFill>
              <a:latin typeface="Calibri"/>
              <a:ea typeface="Calibri"/>
              <a:cs typeface="Calibri"/>
              <a:sym typeface="Calibri"/>
            </a:endParaRPr>
          </a:p>
        </p:txBody>
      </p:sp>
      <p:sp>
        <p:nvSpPr>
          <p:cNvPr id="75" name="Google Shape;75;p16"/>
          <p:cNvSpPr/>
          <p:nvPr/>
        </p:nvSpPr>
        <p:spPr>
          <a:xfrm>
            <a:off x="1474470" y="1666494"/>
            <a:ext cx="4457700" cy="260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303C"/>
              </a:buClr>
              <a:buSzPts val="1100"/>
              <a:buFont typeface="Calibri"/>
              <a:buNone/>
            </a:pPr>
            <a:r>
              <a:rPr b="1" i="0" lang="en" sz="1100" u="none" cap="none" strike="noStrike">
                <a:solidFill>
                  <a:srgbClr val="22303C"/>
                </a:solidFill>
                <a:latin typeface="Calibri"/>
                <a:ea typeface="Calibri"/>
                <a:cs typeface="Calibri"/>
                <a:sym typeface="Calibri"/>
              </a:rPr>
              <a:t>The failure demo</a:t>
            </a:r>
            <a:endParaRPr b="0" i="0" sz="1100" u="none" cap="none" strike="noStrike">
              <a:solidFill>
                <a:schemeClr val="dk1"/>
              </a:solidFill>
              <a:latin typeface="Calibri"/>
              <a:ea typeface="Calibri"/>
              <a:cs typeface="Calibri"/>
              <a:sym typeface="Calibri"/>
            </a:endParaRPr>
          </a:p>
        </p:txBody>
      </p:sp>
      <p:sp>
        <p:nvSpPr>
          <p:cNvPr id="76" name="Google Shape;76;p16"/>
          <p:cNvSpPr/>
          <p:nvPr/>
        </p:nvSpPr>
        <p:spPr>
          <a:xfrm>
            <a:off x="6035040" y="1673352"/>
            <a:ext cx="2537400" cy="24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7A"/>
              </a:buClr>
              <a:buSzPts val="1000"/>
              <a:buFont typeface="Calibri"/>
              <a:buNone/>
            </a:pPr>
            <a:r>
              <a:rPr b="0" i="0" lang="en" sz="1000" u="none" cap="none" strike="noStrike">
                <a:solidFill>
                  <a:srgbClr val="5A6B7A"/>
                </a:solidFill>
                <a:latin typeface="Calibri"/>
                <a:ea typeface="Calibri"/>
                <a:cs typeface="Calibri"/>
                <a:sym typeface="Calibri"/>
              </a:rPr>
              <a:t>Watch an agent answer confidently and wrong</a:t>
            </a:r>
            <a:endParaRPr b="0" i="0" sz="1000" u="none" cap="none" strike="noStrike">
              <a:solidFill>
                <a:schemeClr val="dk1"/>
              </a:solidFill>
              <a:latin typeface="Calibri"/>
              <a:ea typeface="Calibri"/>
              <a:cs typeface="Calibri"/>
              <a:sym typeface="Calibri"/>
            </a:endParaRPr>
          </a:p>
        </p:txBody>
      </p:sp>
      <p:sp>
        <p:nvSpPr>
          <p:cNvPr id="77" name="Google Shape;77;p16"/>
          <p:cNvSpPr/>
          <p:nvPr/>
        </p:nvSpPr>
        <p:spPr>
          <a:xfrm>
            <a:off x="480060" y="2036826"/>
            <a:ext cx="8181600" cy="411600"/>
          </a:xfrm>
          <a:prstGeom prst="roundRect">
            <a:avLst>
              <a:gd fmla="val 13333" name="adj"/>
            </a:avLst>
          </a:prstGeom>
          <a:solidFill>
            <a:srgbClr val="F2F4F6"/>
          </a:solidFill>
          <a:ln cap="flat" cmpd="sng" w="12700">
            <a:solidFill>
              <a:srgbClr val="F2F4F6"/>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78" name="Google Shape;78;p16"/>
          <p:cNvSpPr/>
          <p:nvPr/>
        </p:nvSpPr>
        <p:spPr>
          <a:xfrm>
            <a:off x="720090" y="2125980"/>
            <a:ext cx="617100" cy="24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9A8"/>
              </a:buClr>
              <a:buSzPts val="1100"/>
              <a:buFont typeface="Consolas"/>
              <a:buNone/>
            </a:pPr>
            <a:r>
              <a:rPr b="1" i="0" lang="en" sz="1100" u="none" cap="none" strike="noStrike">
                <a:solidFill>
                  <a:srgbClr val="8A99A8"/>
                </a:solidFill>
                <a:latin typeface="Consolas"/>
                <a:ea typeface="Consolas"/>
                <a:cs typeface="Consolas"/>
                <a:sym typeface="Consolas"/>
              </a:rPr>
              <a:t>0:40</a:t>
            </a:r>
            <a:endParaRPr b="0" i="0" sz="1100" u="none" cap="none" strike="noStrike">
              <a:solidFill>
                <a:schemeClr val="dk1"/>
              </a:solidFill>
              <a:latin typeface="Calibri"/>
              <a:ea typeface="Calibri"/>
              <a:cs typeface="Calibri"/>
              <a:sym typeface="Calibri"/>
            </a:endParaRPr>
          </a:p>
        </p:txBody>
      </p:sp>
      <p:sp>
        <p:nvSpPr>
          <p:cNvPr id="79" name="Google Shape;79;p16"/>
          <p:cNvSpPr/>
          <p:nvPr/>
        </p:nvSpPr>
        <p:spPr>
          <a:xfrm>
            <a:off x="1474470" y="2119122"/>
            <a:ext cx="4457700" cy="260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303C"/>
              </a:buClr>
              <a:buSzPts val="1100"/>
              <a:buFont typeface="Calibri"/>
              <a:buNone/>
            </a:pPr>
            <a:r>
              <a:rPr b="1" i="0" lang="en" sz="1100" u="none" cap="none" strike="noStrike">
                <a:solidFill>
                  <a:srgbClr val="22303C"/>
                </a:solidFill>
                <a:latin typeface="Calibri"/>
                <a:ea typeface="Calibri"/>
                <a:cs typeface="Calibri"/>
                <a:sym typeface="Calibri"/>
              </a:rPr>
              <a:t>Define — your own recurring question</a:t>
            </a:r>
            <a:endParaRPr b="0" i="0" sz="1100" u="none" cap="none" strike="noStrike">
              <a:solidFill>
                <a:schemeClr val="dk1"/>
              </a:solidFill>
              <a:latin typeface="Calibri"/>
              <a:ea typeface="Calibri"/>
              <a:cs typeface="Calibri"/>
              <a:sym typeface="Calibri"/>
            </a:endParaRPr>
          </a:p>
        </p:txBody>
      </p:sp>
      <p:sp>
        <p:nvSpPr>
          <p:cNvPr id="80" name="Google Shape;80;p16"/>
          <p:cNvSpPr/>
          <p:nvPr/>
        </p:nvSpPr>
        <p:spPr>
          <a:xfrm>
            <a:off x="6035040" y="2125980"/>
            <a:ext cx="2537400" cy="24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7A"/>
              </a:buClr>
              <a:buSzPts val="1000"/>
              <a:buFont typeface="Calibri"/>
              <a:buNone/>
            </a:pPr>
            <a:r>
              <a:rPr b="0" i="0" lang="en" sz="1000" u="none" cap="none" strike="noStrike">
                <a:solidFill>
                  <a:srgbClr val="5A6B7A"/>
                </a:solidFill>
                <a:latin typeface="Calibri"/>
                <a:ea typeface="Calibri"/>
                <a:cs typeface="Calibri"/>
                <a:sym typeface="Calibri"/>
              </a:rPr>
              <a:t>Hands on</a:t>
            </a:r>
            <a:endParaRPr b="0" i="0" sz="1000" u="none" cap="none" strike="noStrike">
              <a:solidFill>
                <a:schemeClr val="dk1"/>
              </a:solidFill>
              <a:latin typeface="Calibri"/>
              <a:ea typeface="Calibri"/>
              <a:cs typeface="Calibri"/>
              <a:sym typeface="Calibri"/>
            </a:endParaRPr>
          </a:p>
        </p:txBody>
      </p:sp>
      <p:sp>
        <p:nvSpPr>
          <p:cNvPr id="81" name="Google Shape;81;p16"/>
          <p:cNvSpPr/>
          <p:nvPr/>
        </p:nvSpPr>
        <p:spPr>
          <a:xfrm>
            <a:off x="480060" y="2489454"/>
            <a:ext cx="8181600" cy="411600"/>
          </a:xfrm>
          <a:prstGeom prst="roundRect">
            <a:avLst>
              <a:gd fmla="val 13333" name="adj"/>
            </a:avLst>
          </a:prstGeom>
          <a:solidFill>
            <a:srgbClr val="FFFFFF"/>
          </a:solidFill>
          <a:ln cap="flat" cmpd="sng" w="12700">
            <a:solidFill>
              <a:srgbClr val="FFFFFF"/>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82" name="Google Shape;82;p16"/>
          <p:cNvSpPr/>
          <p:nvPr/>
        </p:nvSpPr>
        <p:spPr>
          <a:xfrm>
            <a:off x="720090" y="2578608"/>
            <a:ext cx="617100" cy="24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9A8"/>
              </a:buClr>
              <a:buSzPts val="1100"/>
              <a:buFont typeface="Consolas"/>
              <a:buNone/>
            </a:pPr>
            <a:r>
              <a:rPr b="1" i="0" lang="en" sz="1100" u="none" cap="none" strike="noStrike">
                <a:solidFill>
                  <a:srgbClr val="8A99A8"/>
                </a:solidFill>
                <a:latin typeface="Consolas"/>
                <a:ea typeface="Consolas"/>
                <a:cs typeface="Consolas"/>
                <a:sym typeface="Consolas"/>
              </a:rPr>
              <a:t>1:00</a:t>
            </a:r>
            <a:endParaRPr b="0" i="0" sz="1100" u="none" cap="none" strike="noStrike">
              <a:solidFill>
                <a:schemeClr val="dk1"/>
              </a:solidFill>
              <a:latin typeface="Calibri"/>
              <a:ea typeface="Calibri"/>
              <a:cs typeface="Calibri"/>
              <a:sym typeface="Calibri"/>
            </a:endParaRPr>
          </a:p>
        </p:txBody>
      </p:sp>
      <p:sp>
        <p:nvSpPr>
          <p:cNvPr id="83" name="Google Shape;83;p16"/>
          <p:cNvSpPr/>
          <p:nvPr/>
        </p:nvSpPr>
        <p:spPr>
          <a:xfrm>
            <a:off x="1474470" y="2571750"/>
            <a:ext cx="4457700" cy="260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303C"/>
              </a:buClr>
              <a:buSzPts val="1100"/>
              <a:buFont typeface="Calibri"/>
              <a:buNone/>
            </a:pPr>
            <a:r>
              <a:rPr b="1" i="0" lang="en" sz="1100" u="none" cap="none" strike="noStrike">
                <a:solidFill>
                  <a:srgbClr val="22303C"/>
                </a:solidFill>
                <a:latin typeface="Calibri"/>
                <a:ea typeface="Calibri"/>
                <a:cs typeface="Calibri"/>
                <a:sym typeface="Calibri"/>
              </a:rPr>
              <a:t>Validate — write the evals first</a:t>
            </a:r>
            <a:endParaRPr b="0" i="0" sz="1100" u="none" cap="none" strike="noStrike">
              <a:solidFill>
                <a:schemeClr val="dk1"/>
              </a:solidFill>
              <a:latin typeface="Calibri"/>
              <a:ea typeface="Calibri"/>
              <a:cs typeface="Calibri"/>
              <a:sym typeface="Calibri"/>
            </a:endParaRPr>
          </a:p>
        </p:txBody>
      </p:sp>
      <p:sp>
        <p:nvSpPr>
          <p:cNvPr id="84" name="Google Shape;84;p16"/>
          <p:cNvSpPr/>
          <p:nvPr/>
        </p:nvSpPr>
        <p:spPr>
          <a:xfrm>
            <a:off x="6035040" y="2578608"/>
            <a:ext cx="2537400" cy="24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7A"/>
              </a:buClr>
              <a:buSzPts val="1000"/>
              <a:buFont typeface="Calibri"/>
              <a:buNone/>
            </a:pPr>
            <a:r>
              <a:rPr b="0" i="0" lang="en" sz="1000" u="none" cap="none" strike="noStrike">
                <a:solidFill>
                  <a:srgbClr val="5A6B7A"/>
                </a:solidFill>
                <a:latin typeface="Calibri"/>
                <a:ea typeface="Calibri"/>
                <a:cs typeface="Calibri"/>
                <a:sym typeface="Calibri"/>
              </a:rPr>
              <a:t>Hands on</a:t>
            </a:r>
            <a:endParaRPr b="0" i="0" sz="1000" u="none" cap="none" strike="noStrike">
              <a:solidFill>
                <a:schemeClr val="dk1"/>
              </a:solidFill>
              <a:latin typeface="Calibri"/>
              <a:ea typeface="Calibri"/>
              <a:cs typeface="Calibri"/>
              <a:sym typeface="Calibri"/>
            </a:endParaRPr>
          </a:p>
        </p:txBody>
      </p:sp>
      <p:sp>
        <p:nvSpPr>
          <p:cNvPr id="85" name="Google Shape;85;p16"/>
          <p:cNvSpPr/>
          <p:nvPr/>
        </p:nvSpPr>
        <p:spPr>
          <a:xfrm>
            <a:off x="480060" y="2942082"/>
            <a:ext cx="8181600" cy="411600"/>
          </a:xfrm>
          <a:prstGeom prst="roundRect">
            <a:avLst>
              <a:gd fmla="val 13333" name="adj"/>
            </a:avLst>
          </a:prstGeom>
          <a:solidFill>
            <a:srgbClr val="FBEDE8"/>
          </a:solidFill>
          <a:ln cap="flat" cmpd="sng" w="12700">
            <a:solidFill>
              <a:srgbClr val="FBEDE8"/>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86" name="Google Shape;86;p16"/>
          <p:cNvSpPr/>
          <p:nvPr/>
        </p:nvSpPr>
        <p:spPr>
          <a:xfrm>
            <a:off x="720090" y="3031236"/>
            <a:ext cx="617100" cy="24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663C"/>
              </a:buClr>
              <a:buSzPts val="1100"/>
              <a:buFont typeface="Consolas"/>
              <a:buNone/>
            </a:pPr>
            <a:r>
              <a:rPr b="1" i="0" lang="en" sz="1100" u="none" cap="none" strike="noStrike">
                <a:solidFill>
                  <a:srgbClr val="E8663C"/>
                </a:solidFill>
                <a:latin typeface="Consolas"/>
                <a:ea typeface="Consolas"/>
                <a:cs typeface="Consolas"/>
                <a:sym typeface="Consolas"/>
              </a:rPr>
              <a:t>1:30</a:t>
            </a:r>
            <a:endParaRPr b="0" i="0" sz="1100" u="none" cap="none" strike="noStrike">
              <a:solidFill>
                <a:schemeClr val="dk1"/>
              </a:solidFill>
              <a:latin typeface="Calibri"/>
              <a:ea typeface="Calibri"/>
              <a:cs typeface="Calibri"/>
              <a:sym typeface="Calibri"/>
            </a:endParaRPr>
          </a:p>
        </p:txBody>
      </p:sp>
      <p:sp>
        <p:nvSpPr>
          <p:cNvPr id="87" name="Google Shape;87;p16"/>
          <p:cNvSpPr/>
          <p:nvPr/>
        </p:nvSpPr>
        <p:spPr>
          <a:xfrm>
            <a:off x="1474470" y="3024378"/>
            <a:ext cx="4457700" cy="260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663C"/>
              </a:buClr>
              <a:buSzPts val="1100"/>
              <a:buFont typeface="Calibri"/>
              <a:buNone/>
            </a:pPr>
            <a:r>
              <a:rPr b="1" i="0" lang="en" sz="1100" u="none" cap="none" strike="noStrike">
                <a:solidFill>
                  <a:srgbClr val="E8663C"/>
                </a:solidFill>
                <a:latin typeface="Calibri"/>
                <a:ea typeface="Calibri"/>
                <a:cs typeface="Calibri"/>
                <a:sym typeface="Calibri"/>
              </a:rPr>
              <a:t>Build — author the skill</a:t>
            </a:r>
            <a:endParaRPr b="0" i="0" sz="1100" u="none" cap="none" strike="noStrike">
              <a:solidFill>
                <a:schemeClr val="dk1"/>
              </a:solidFill>
              <a:latin typeface="Calibri"/>
              <a:ea typeface="Calibri"/>
              <a:cs typeface="Calibri"/>
              <a:sym typeface="Calibri"/>
            </a:endParaRPr>
          </a:p>
        </p:txBody>
      </p:sp>
      <p:sp>
        <p:nvSpPr>
          <p:cNvPr id="88" name="Google Shape;88;p16"/>
          <p:cNvSpPr/>
          <p:nvPr/>
        </p:nvSpPr>
        <p:spPr>
          <a:xfrm>
            <a:off x="6035040" y="3031236"/>
            <a:ext cx="2537400" cy="24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C4430"/>
              </a:buClr>
              <a:buSzPts val="1000"/>
              <a:buFont typeface="Calibri"/>
              <a:buNone/>
            </a:pPr>
            <a:r>
              <a:rPr b="0" i="0" lang="en" sz="1000" u="none" cap="none" strike="noStrike">
                <a:solidFill>
                  <a:srgbClr val="8C4430"/>
                </a:solidFill>
                <a:latin typeface="Calibri"/>
                <a:ea typeface="Calibri"/>
                <a:cs typeface="Calibri"/>
                <a:sym typeface="Calibri"/>
              </a:rPr>
              <a:t>Hands on, the main block</a:t>
            </a:r>
            <a:endParaRPr b="0" i="0" sz="1000" u="none" cap="none" strike="noStrike">
              <a:solidFill>
                <a:schemeClr val="dk1"/>
              </a:solidFill>
              <a:latin typeface="Calibri"/>
              <a:ea typeface="Calibri"/>
              <a:cs typeface="Calibri"/>
              <a:sym typeface="Calibri"/>
            </a:endParaRPr>
          </a:p>
        </p:txBody>
      </p:sp>
      <p:sp>
        <p:nvSpPr>
          <p:cNvPr id="89" name="Google Shape;89;p16"/>
          <p:cNvSpPr/>
          <p:nvPr/>
        </p:nvSpPr>
        <p:spPr>
          <a:xfrm>
            <a:off x="480060" y="3394710"/>
            <a:ext cx="8181600" cy="411600"/>
          </a:xfrm>
          <a:prstGeom prst="roundRect">
            <a:avLst>
              <a:gd fmla="val 13333" name="adj"/>
            </a:avLst>
          </a:prstGeom>
          <a:solidFill>
            <a:srgbClr val="FFFFFF"/>
          </a:solidFill>
          <a:ln cap="flat" cmpd="sng" w="12700">
            <a:solidFill>
              <a:srgbClr val="FFFFFF"/>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90" name="Google Shape;90;p16"/>
          <p:cNvSpPr/>
          <p:nvPr/>
        </p:nvSpPr>
        <p:spPr>
          <a:xfrm>
            <a:off x="720090" y="3483864"/>
            <a:ext cx="617100" cy="24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9A8"/>
              </a:buClr>
              <a:buSzPts val="1100"/>
              <a:buFont typeface="Consolas"/>
              <a:buNone/>
            </a:pPr>
            <a:r>
              <a:rPr b="1" i="0" lang="en" sz="1100" u="none" cap="none" strike="noStrike">
                <a:solidFill>
                  <a:srgbClr val="8A99A8"/>
                </a:solidFill>
                <a:latin typeface="Consolas"/>
                <a:ea typeface="Consolas"/>
                <a:cs typeface="Consolas"/>
                <a:sym typeface="Consolas"/>
              </a:rPr>
              <a:t>2:15</a:t>
            </a:r>
            <a:endParaRPr b="0" i="0" sz="1100" u="none" cap="none" strike="noStrike">
              <a:solidFill>
                <a:schemeClr val="dk1"/>
              </a:solidFill>
              <a:latin typeface="Calibri"/>
              <a:ea typeface="Calibri"/>
              <a:cs typeface="Calibri"/>
              <a:sym typeface="Calibri"/>
            </a:endParaRPr>
          </a:p>
        </p:txBody>
      </p:sp>
      <p:sp>
        <p:nvSpPr>
          <p:cNvPr id="91" name="Google Shape;91;p16"/>
          <p:cNvSpPr/>
          <p:nvPr/>
        </p:nvSpPr>
        <p:spPr>
          <a:xfrm>
            <a:off x="1474470" y="3477006"/>
            <a:ext cx="4457700" cy="260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303C"/>
              </a:buClr>
              <a:buSzPts val="1100"/>
              <a:buFont typeface="Calibri"/>
              <a:buNone/>
            </a:pPr>
            <a:r>
              <a:rPr b="1" i="0" lang="en" sz="1100" u="none" cap="none" strike="noStrike">
                <a:solidFill>
                  <a:srgbClr val="22303C"/>
                </a:solidFill>
                <a:latin typeface="Calibri"/>
                <a:ea typeface="Calibri"/>
                <a:cs typeface="Calibri"/>
                <a:sym typeface="Calibri"/>
              </a:rPr>
              <a:t>Run the ablation</a:t>
            </a:r>
            <a:endParaRPr b="0" i="0" sz="1100" u="none" cap="none" strike="noStrike">
              <a:solidFill>
                <a:schemeClr val="dk1"/>
              </a:solidFill>
              <a:latin typeface="Calibri"/>
              <a:ea typeface="Calibri"/>
              <a:cs typeface="Calibri"/>
              <a:sym typeface="Calibri"/>
            </a:endParaRPr>
          </a:p>
        </p:txBody>
      </p:sp>
      <p:sp>
        <p:nvSpPr>
          <p:cNvPr id="92" name="Google Shape;92;p16"/>
          <p:cNvSpPr/>
          <p:nvPr/>
        </p:nvSpPr>
        <p:spPr>
          <a:xfrm>
            <a:off x="6035040" y="3483864"/>
            <a:ext cx="2537400" cy="24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7A"/>
              </a:buClr>
              <a:buSzPts val="1000"/>
              <a:buFont typeface="Calibri"/>
              <a:buNone/>
            </a:pPr>
            <a:r>
              <a:rPr b="0" i="0" lang="en" sz="1000" u="none" cap="none" strike="noStrike">
                <a:solidFill>
                  <a:srgbClr val="5A6B7A"/>
                </a:solidFill>
                <a:latin typeface="Calibri"/>
                <a:ea typeface="Calibri"/>
                <a:cs typeface="Calibri"/>
                <a:sym typeface="Calibri"/>
              </a:rPr>
              <a:t>Measure it</a:t>
            </a:r>
            <a:endParaRPr b="0" i="0" sz="1000" u="none" cap="none" strike="noStrike">
              <a:solidFill>
                <a:schemeClr val="dk1"/>
              </a:solidFill>
              <a:latin typeface="Calibri"/>
              <a:ea typeface="Calibri"/>
              <a:cs typeface="Calibri"/>
              <a:sym typeface="Calibri"/>
            </a:endParaRPr>
          </a:p>
        </p:txBody>
      </p:sp>
      <p:sp>
        <p:nvSpPr>
          <p:cNvPr id="93" name="Google Shape;93;p16"/>
          <p:cNvSpPr/>
          <p:nvPr/>
        </p:nvSpPr>
        <p:spPr>
          <a:xfrm>
            <a:off x="480060" y="3847338"/>
            <a:ext cx="8181600" cy="411600"/>
          </a:xfrm>
          <a:prstGeom prst="roundRect">
            <a:avLst>
              <a:gd fmla="val 13333" name="adj"/>
            </a:avLst>
          </a:prstGeom>
          <a:solidFill>
            <a:srgbClr val="F2F4F6"/>
          </a:solidFill>
          <a:ln cap="flat" cmpd="sng" w="12700">
            <a:solidFill>
              <a:srgbClr val="F2F4F6"/>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94" name="Google Shape;94;p16"/>
          <p:cNvSpPr/>
          <p:nvPr/>
        </p:nvSpPr>
        <p:spPr>
          <a:xfrm>
            <a:off x="720090" y="3936492"/>
            <a:ext cx="617100" cy="24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9A8"/>
              </a:buClr>
              <a:buSzPts val="1100"/>
              <a:buFont typeface="Consolas"/>
              <a:buNone/>
            </a:pPr>
            <a:r>
              <a:rPr b="1" i="0" lang="en" sz="1100" u="none" cap="none" strike="noStrike">
                <a:solidFill>
                  <a:srgbClr val="8A99A8"/>
                </a:solidFill>
                <a:latin typeface="Consolas"/>
                <a:ea typeface="Consolas"/>
                <a:cs typeface="Consolas"/>
                <a:sym typeface="Consolas"/>
              </a:rPr>
              <a:t>2:35</a:t>
            </a:r>
            <a:endParaRPr b="0" i="0" sz="1100" u="none" cap="none" strike="noStrike">
              <a:solidFill>
                <a:schemeClr val="dk1"/>
              </a:solidFill>
              <a:latin typeface="Calibri"/>
              <a:ea typeface="Calibri"/>
              <a:cs typeface="Calibri"/>
              <a:sym typeface="Calibri"/>
            </a:endParaRPr>
          </a:p>
        </p:txBody>
      </p:sp>
      <p:sp>
        <p:nvSpPr>
          <p:cNvPr id="95" name="Google Shape;95;p16"/>
          <p:cNvSpPr/>
          <p:nvPr/>
        </p:nvSpPr>
        <p:spPr>
          <a:xfrm>
            <a:off x="1474470" y="3929634"/>
            <a:ext cx="4457700" cy="260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303C"/>
              </a:buClr>
              <a:buSzPts val="1100"/>
              <a:buFont typeface="Calibri"/>
              <a:buNone/>
            </a:pPr>
            <a:r>
              <a:rPr b="1" i="0" lang="en" sz="1100" u="none" cap="none" strike="noStrike">
                <a:solidFill>
                  <a:srgbClr val="22303C"/>
                </a:solidFill>
                <a:latin typeface="Calibri"/>
                <a:ea typeface="Calibri"/>
                <a:cs typeface="Calibri"/>
                <a:sym typeface="Calibri"/>
              </a:rPr>
              <a:t>Operationalize and compound</a:t>
            </a:r>
            <a:endParaRPr b="0" i="0" sz="1100" u="none" cap="none" strike="noStrike">
              <a:solidFill>
                <a:schemeClr val="dk1"/>
              </a:solidFill>
              <a:latin typeface="Calibri"/>
              <a:ea typeface="Calibri"/>
              <a:cs typeface="Calibri"/>
              <a:sym typeface="Calibri"/>
            </a:endParaRPr>
          </a:p>
        </p:txBody>
      </p:sp>
      <p:sp>
        <p:nvSpPr>
          <p:cNvPr id="96" name="Google Shape;96;p16"/>
          <p:cNvSpPr/>
          <p:nvPr/>
        </p:nvSpPr>
        <p:spPr>
          <a:xfrm>
            <a:off x="6035040" y="3936492"/>
            <a:ext cx="2537400" cy="24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7A"/>
              </a:buClr>
              <a:buSzPts val="1000"/>
              <a:buFont typeface="Calibri"/>
              <a:buNone/>
            </a:pPr>
            <a:r>
              <a:rPr b="0" i="0" lang="en" sz="1000" u="none" cap="none" strike="noStrike">
                <a:solidFill>
                  <a:srgbClr val="5A6B7A"/>
                </a:solidFill>
                <a:latin typeface="Calibri"/>
                <a:ea typeface="Calibri"/>
                <a:cs typeface="Calibri"/>
                <a:sym typeface="Calibri"/>
              </a:rPr>
              <a:t>How skills stay alive</a:t>
            </a:r>
            <a:endParaRPr b="0" i="0" sz="1000" u="none" cap="none" strike="noStrike">
              <a:solidFill>
                <a:schemeClr val="dk1"/>
              </a:solidFill>
              <a:latin typeface="Calibri"/>
              <a:ea typeface="Calibri"/>
              <a:cs typeface="Calibri"/>
              <a:sym typeface="Calibri"/>
            </a:endParaRPr>
          </a:p>
        </p:txBody>
      </p:sp>
      <p:sp>
        <p:nvSpPr>
          <p:cNvPr id="97" name="Google Shape;97;p16"/>
          <p:cNvSpPr/>
          <p:nvPr/>
        </p:nvSpPr>
        <p:spPr>
          <a:xfrm>
            <a:off x="480060" y="4299966"/>
            <a:ext cx="8181600" cy="411600"/>
          </a:xfrm>
          <a:prstGeom prst="roundRect">
            <a:avLst>
              <a:gd fmla="val 13333" name="adj"/>
            </a:avLst>
          </a:prstGeom>
          <a:solidFill>
            <a:srgbClr val="FFFFFF"/>
          </a:solidFill>
          <a:ln cap="flat" cmpd="sng" w="12700">
            <a:solidFill>
              <a:srgbClr val="FFFFFF"/>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98" name="Google Shape;98;p16"/>
          <p:cNvSpPr/>
          <p:nvPr/>
        </p:nvSpPr>
        <p:spPr>
          <a:xfrm>
            <a:off x="720090" y="4389120"/>
            <a:ext cx="617100" cy="24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9A8"/>
              </a:buClr>
              <a:buSzPts val="1100"/>
              <a:buFont typeface="Consolas"/>
              <a:buNone/>
            </a:pPr>
            <a:r>
              <a:rPr b="1" i="0" lang="en" sz="1100" u="none" cap="none" strike="noStrike">
                <a:solidFill>
                  <a:srgbClr val="8A99A8"/>
                </a:solidFill>
                <a:latin typeface="Consolas"/>
                <a:ea typeface="Consolas"/>
                <a:cs typeface="Consolas"/>
                <a:sym typeface="Consolas"/>
              </a:rPr>
              <a:t>2:50</a:t>
            </a:r>
            <a:endParaRPr b="0" i="0" sz="1100" u="none" cap="none" strike="noStrike">
              <a:solidFill>
                <a:schemeClr val="dk1"/>
              </a:solidFill>
              <a:latin typeface="Calibri"/>
              <a:ea typeface="Calibri"/>
              <a:cs typeface="Calibri"/>
              <a:sym typeface="Calibri"/>
            </a:endParaRPr>
          </a:p>
        </p:txBody>
      </p:sp>
      <p:sp>
        <p:nvSpPr>
          <p:cNvPr id="99" name="Google Shape;99;p16"/>
          <p:cNvSpPr/>
          <p:nvPr/>
        </p:nvSpPr>
        <p:spPr>
          <a:xfrm>
            <a:off x="1474470" y="4382262"/>
            <a:ext cx="4457700" cy="260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303C"/>
              </a:buClr>
              <a:buSzPts val="1100"/>
              <a:buFont typeface="Calibri"/>
              <a:buNone/>
            </a:pPr>
            <a:r>
              <a:rPr b="1" i="0" lang="en" sz="1100" u="none" cap="none" strike="noStrike">
                <a:solidFill>
                  <a:srgbClr val="22303C"/>
                </a:solidFill>
                <a:latin typeface="Calibri"/>
                <a:ea typeface="Calibri"/>
                <a:cs typeface="Calibri"/>
                <a:sym typeface="Calibri"/>
              </a:rPr>
              <a:t>Contribute and wrap</a:t>
            </a:r>
            <a:endParaRPr b="0" i="0" sz="1100" u="none" cap="none" strike="noStrike">
              <a:solidFill>
                <a:schemeClr val="dk1"/>
              </a:solidFill>
              <a:latin typeface="Calibri"/>
              <a:ea typeface="Calibri"/>
              <a:cs typeface="Calibri"/>
              <a:sym typeface="Calibri"/>
            </a:endParaRPr>
          </a:p>
        </p:txBody>
      </p:sp>
      <p:sp>
        <p:nvSpPr>
          <p:cNvPr id="100" name="Google Shape;100;p16"/>
          <p:cNvSpPr/>
          <p:nvPr/>
        </p:nvSpPr>
        <p:spPr>
          <a:xfrm>
            <a:off x="6035040" y="4389120"/>
            <a:ext cx="2537400" cy="24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7A"/>
              </a:buClr>
              <a:buSzPts val="1000"/>
              <a:buFont typeface="Calibri"/>
              <a:buNone/>
            </a:pPr>
            <a:r>
              <a:rPr b="0" i="0" lang="en" sz="1000" u="none" cap="none" strike="noStrike">
                <a:solidFill>
                  <a:srgbClr val="5A6B7A"/>
                </a:solidFill>
                <a:latin typeface="Calibri"/>
                <a:ea typeface="Calibri"/>
                <a:cs typeface="Calibri"/>
                <a:sym typeface="Calibri"/>
              </a:rPr>
              <a:t>PR to the repo</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2303C"/>
        </a:solidFill>
      </p:bgPr>
    </p:bg>
    <p:spTree>
      <p:nvGrpSpPr>
        <p:cNvPr id="105" name="Shape 105"/>
        <p:cNvGrpSpPr/>
        <p:nvPr/>
      </p:nvGrpSpPr>
      <p:grpSpPr>
        <a:xfrm>
          <a:off x="0" y="0"/>
          <a:ext cx="0" cy="0"/>
          <a:chOff x="0" y="0"/>
          <a:chExt cx="0" cy="0"/>
        </a:xfrm>
      </p:grpSpPr>
      <p:sp>
        <p:nvSpPr>
          <p:cNvPr id="106" name="Google Shape;106;p17"/>
          <p:cNvSpPr/>
          <p:nvPr/>
        </p:nvSpPr>
        <p:spPr>
          <a:xfrm>
            <a:off x="480060" y="1371600"/>
            <a:ext cx="96000" cy="1714500"/>
          </a:xfrm>
          <a:prstGeom prst="roundRect">
            <a:avLst>
              <a:gd fmla="val 50000" name="adj"/>
            </a:avLst>
          </a:prstGeom>
          <a:solidFill>
            <a:srgbClr val="E8663C"/>
          </a:solidFill>
          <a:ln cap="flat" cmpd="sng" w="12700">
            <a:solidFill>
              <a:srgbClr val="E8663C"/>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07" name="Google Shape;107;p17"/>
          <p:cNvSpPr/>
          <p:nvPr/>
        </p:nvSpPr>
        <p:spPr>
          <a:xfrm>
            <a:off x="788670" y="1371600"/>
            <a:ext cx="6515100" cy="89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4400"/>
              <a:buFont typeface="Cambria"/>
              <a:buNone/>
            </a:pPr>
            <a:r>
              <a:rPr b="1" lang="en" sz="4400">
                <a:solidFill>
                  <a:srgbClr val="FFFFFF"/>
                </a:solidFill>
                <a:latin typeface="Cambria"/>
                <a:ea typeface="Cambria"/>
                <a:cs typeface="Cambria"/>
                <a:sym typeface="Cambria"/>
              </a:rPr>
              <a:t>Block 1: Framing</a:t>
            </a:r>
            <a:endParaRPr b="0" i="0" sz="4400" u="none" cap="none" strike="noStrike">
              <a:solidFill>
                <a:schemeClr val="dk1"/>
              </a:solidFill>
              <a:latin typeface="Calibri"/>
              <a:ea typeface="Calibri"/>
              <a:cs typeface="Calibri"/>
              <a:sym typeface="Calibri"/>
            </a:endParaRPr>
          </a:p>
        </p:txBody>
      </p:sp>
      <p:sp>
        <p:nvSpPr>
          <p:cNvPr id="108" name="Google Shape;108;p17"/>
          <p:cNvSpPr/>
          <p:nvPr/>
        </p:nvSpPr>
        <p:spPr>
          <a:xfrm>
            <a:off x="788670" y="4320540"/>
            <a:ext cx="54864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9A8"/>
              </a:buClr>
              <a:buSzPts val="1000"/>
              <a:buFont typeface="Calibri"/>
              <a:buNone/>
            </a:pPr>
            <a:r>
              <a:rPr b="0" i="0" lang="en" sz="1000" u="none" cap="none" strike="noStrike">
                <a:solidFill>
                  <a:srgbClr val="8A99A8"/>
                </a:solidFill>
                <a:latin typeface="Calibri"/>
                <a:ea typeface="Calibri"/>
                <a:cs typeface="Calibri"/>
                <a:sym typeface="Calibri"/>
              </a:rPr>
              <a:t>3-hour hands-on workshop</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3" name="Shape 113"/>
        <p:cNvGrpSpPr/>
        <p:nvPr/>
      </p:nvGrpSpPr>
      <p:grpSpPr>
        <a:xfrm>
          <a:off x="0" y="0"/>
          <a:ext cx="0" cy="0"/>
          <a:chOff x="0" y="0"/>
          <a:chExt cx="0" cy="0"/>
        </a:xfrm>
      </p:grpSpPr>
      <p:sp>
        <p:nvSpPr>
          <p:cNvPr id="114" name="Google Shape;114;p18"/>
          <p:cNvSpPr/>
          <p:nvPr/>
        </p:nvSpPr>
        <p:spPr>
          <a:xfrm>
            <a:off x="480060" y="192024"/>
            <a:ext cx="81816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663C"/>
              </a:buClr>
              <a:buSzPts val="800"/>
              <a:buFont typeface="Calibri"/>
              <a:buNone/>
            </a:pPr>
            <a:r>
              <a:rPr b="1" lang="en" sz="800">
                <a:solidFill>
                  <a:srgbClr val="E8663C"/>
                </a:solidFill>
                <a:latin typeface="Calibri"/>
                <a:ea typeface="Calibri"/>
                <a:cs typeface="Calibri"/>
                <a:sym typeface="Calibri"/>
              </a:rPr>
              <a:t>BLOCK OVERVIEW</a:t>
            </a:r>
            <a:endParaRPr b="0" i="0" sz="800" u="none" cap="none" strike="noStrike">
              <a:solidFill>
                <a:schemeClr val="dk1"/>
              </a:solidFill>
              <a:latin typeface="Calibri"/>
              <a:ea typeface="Calibri"/>
              <a:cs typeface="Calibri"/>
              <a:sym typeface="Calibri"/>
            </a:endParaRPr>
          </a:p>
        </p:txBody>
      </p:sp>
      <p:sp>
        <p:nvSpPr>
          <p:cNvPr id="115" name="Google Shape;115;p18"/>
          <p:cNvSpPr/>
          <p:nvPr/>
        </p:nvSpPr>
        <p:spPr>
          <a:xfrm>
            <a:off x="480060" y="342900"/>
            <a:ext cx="8181600" cy="617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303C"/>
              </a:buClr>
              <a:buSzPts val="2600"/>
              <a:buFont typeface="Cambria"/>
              <a:buNone/>
            </a:pPr>
            <a:r>
              <a:rPr b="1" lang="en" sz="2600">
                <a:solidFill>
                  <a:srgbClr val="22303C"/>
                </a:solidFill>
                <a:latin typeface="Cambria"/>
                <a:ea typeface="Cambria"/>
                <a:cs typeface="Cambria"/>
                <a:sym typeface="Cambria"/>
              </a:rPr>
              <a:t>Block 1: Framing (1:00 - 1:20 - 20 min)</a:t>
            </a:r>
            <a:endParaRPr b="0" i="0" sz="2600" u="none" cap="none" strike="noStrike">
              <a:solidFill>
                <a:schemeClr val="dk1"/>
              </a:solidFill>
              <a:latin typeface="Calibri"/>
              <a:ea typeface="Calibri"/>
              <a:cs typeface="Calibri"/>
              <a:sym typeface="Calibri"/>
            </a:endParaRPr>
          </a:p>
        </p:txBody>
      </p:sp>
      <p:sp>
        <p:nvSpPr>
          <p:cNvPr id="116" name="Google Shape;116;p18"/>
          <p:cNvSpPr txBox="1"/>
          <p:nvPr/>
        </p:nvSpPr>
        <p:spPr>
          <a:xfrm>
            <a:off x="528725" y="1073425"/>
            <a:ext cx="8181600" cy="4467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00"/>
              <a:t>For this block going to </a:t>
            </a:r>
            <a:r>
              <a:rPr b="1" lang="en" sz="900"/>
              <a:t>listen to why analytics agents fail differently than coding agents</a:t>
            </a:r>
            <a:r>
              <a:rPr lang="en" sz="900"/>
              <a:t> in order to </a:t>
            </a:r>
            <a:r>
              <a:rPr b="1" lang="en" sz="900"/>
              <a:t>understand the problem we're solving today.</a:t>
            </a:r>
            <a:r>
              <a:rPr lang="en" sz="900"/>
              <a:t> </a:t>
            </a:r>
            <a:endParaRPr sz="900"/>
          </a:p>
          <a:p>
            <a:pPr indent="0" lvl="0" marL="0" rtl="0" algn="l">
              <a:lnSpc>
                <a:spcPct val="115000"/>
              </a:lnSpc>
              <a:spcBef>
                <a:spcPts val="0"/>
              </a:spcBef>
              <a:spcAft>
                <a:spcPts val="0"/>
              </a:spcAft>
              <a:buNone/>
            </a:pPr>
            <a:r>
              <a:t/>
            </a:r>
            <a:endParaRPr sz="900">
              <a:solidFill>
                <a:srgbClr val="ED7D31"/>
              </a:solidFill>
            </a:endParaRPr>
          </a:p>
          <a:p>
            <a:pPr indent="0" lvl="0" marL="0" rtl="0" algn="l">
              <a:lnSpc>
                <a:spcPct val="115000"/>
              </a:lnSpc>
              <a:spcBef>
                <a:spcPts val="800"/>
              </a:spcBef>
              <a:spcAft>
                <a:spcPts val="0"/>
              </a:spcAft>
              <a:buClr>
                <a:schemeClr val="dk1"/>
              </a:buClr>
              <a:buSzPts val="1100"/>
              <a:buFont typeface="Arial"/>
              <a:buNone/>
            </a:pPr>
            <a:r>
              <a:rPr b="1" lang="en" sz="900">
                <a:solidFill>
                  <a:srgbClr val="ED7D31"/>
                </a:solidFill>
              </a:rPr>
              <a:t>What's happening</a:t>
            </a:r>
            <a:endParaRPr b="1" sz="900">
              <a:solidFill>
                <a:srgbClr val="ED7D31"/>
              </a:solidFill>
            </a:endParaRPr>
          </a:p>
          <a:p>
            <a:pPr indent="0" lvl="0" marL="0" rtl="0" algn="l">
              <a:lnSpc>
                <a:spcPct val="115000"/>
              </a:lnSpc>
              <a:spcBef>
                <a:spcPts val="800"/>
              </a:spcBef>
              <a:spcAft>
                <a:spcPts val="0"/>
              </a:spcAft>
              <a:buClr>
                <a:schemeClr val="dk1"/>
              </a:buClr>
              <a:buSzPts val="1100"/>
              <a:buFont typeface="Arial"/>
              <a:buNone/>
            </a:pPr>
            <a:r>
              <a:rPr lang="en" sz="900">
                <a:solidFill>
                  <a:schemeClr val="dk1"/>
                </a:solidFill>
              </a:rPr>
              <a:t>Rob presents the core idea: coding agents worked first because code has compilers and tests</a:t>
            </a:r>
            <a:endParaRPr sz="900">
              <a:solidFill>
                <a:schemeClr val="dk1"/>
              </a:solidFill>
            </a:endParaRPr>
          </a:p>
          <a:p>
            <a:pPr indent="0" lvl="0" marL="0" rtl="0" algn="l">
              <a:lnSpc>
                <a:spcPct val="115000"/>
              </a:lnSpc>
              <a:spcBef>
                <a:spcPts val="800"/>
              </a:spcBef>
              <a:spcAft>
                <a:spcPts val="0"/>
              </a:spcAft>
              <a:buClr>
                <a:schemeClr val="dk1"/>
              </a:buClr>
              <a:buSzPts val="1100"/>
              <a:buFont typeface="Arial"/>
              <a:buNone/>
            </a:pPr>
            <a:r>
              <a:rPr lang="en" sz="900">
                <a:solidFill>
                  <a:schemeClr val="dk1"/>
                </a:solidFill>
              </a:rPr>
              <a:t>— if the code is wrong, something breaks. Analytics has no compiler. One correct answer,</a:t>
            </a:r>
            <a:endParaRPr sz="900">
              <a:solidFill>
                <a:schemeClr val="dk1"/>
              </a:solidFill>
            </a:endParaRPr>
          </a:p>
          <a:p>
            <a:pPr indent="0" lvl="0" marL="0" rtl="0" algn="l">
              <a:lnSpc>
                <a:spcPct val="115000"/>
              </a:lnSpc>
              <a:spcBef>
                <a:spcPts val="800"/>
              </a:spcBef>
              <a:spcAft>
                <a:spcPts val="0"/>
              </a:spcAft>
              <a:buClr>
                <a:schemeClr val="dk1"/>
              </a:buClr>
              <a:buSzPts val="1100"/>
              <a:buFont typeface="Arial"/>
              <a:buNone/>
            </a:pPr>
            <a:r>
              <a:rPr lang="en" sz="900">
                <a:solidFill>
                  <a:schemeClr val="dk1"/>
                </a:solidFill>
              </a:rPr>
              <a:t>many plausible wrong ones, and nothing flags the difference. That's the gap skills fill.</a:t>
            </a:r>
            <a:endParaRPr sz="900">
              <a:solidFill>
                <a:schemeClr val="dk1"/>
              </a:solidFill>
            </a:endParaRPr>
          </a:p>
          <a:p>
            <a:pPr indent="0" lvl="0" marL="0" rtl="0" algn="l">
              <a:lnSpc>
                <a:spcPct val="115000"/>
              </a:lnSpc>
              <a:spcBef>
                <a:spcPts val="800"/>
              </a:spcBef>
              <a:spcAft>
                <a:spcPts val="0"/>
              </a:spcAft>
              <a:buClr>
                <a:schemeClr val="dk1"/>
              </a:buClr>
              <a:buSzPts val="1100"/>
              <a:buFont typeface="Arial"/>
              <a:buNone/>
            </a:pPr>
            <a:r>
              <a:rPr b="1" lang="en" sz="900">
                <a:solidFill>
                  <a:srgbClr val="ED7D31"/>
                </a:solidFill>
              </a:rPr>
              <a:t>What you're creating</a:t>
            </a:r>
            <a:endParaRPr b="1" sz="900">
              <a:solidFill>
                <a:srgbClr val="ED7D31"/>
              </a:solidFill>
            </a:endParaRPr>
          </a:p>
          <a:p>
            <a:pPr indent="-285750" lvl="0" marL="457200" rtl="0" algn="l">
              <a:lnSpc>
                <a:spcPct val="115000"/>
              </a:lnSpc>
              <a:spcBef>
                <a:spcPts val="800"/>
              </a:spcBef>
              <a:spcAft>
                <a:spcPts val="0"/>
              </a:spcAft>
              <a:buClr>
                <a:schemeClr val="dk1"/>
              </a:buClr>
              <a:buSzPts val="900"/>
              <a:buChar char="●"/>
            </a:pPr>
            <a:r>
              <a:rPr b="1" lang="en" sz="900">
                <a:solidFill>
                  <a:schemeClr val="dk1"/>
                </a:solidFill>
                <a:highlight>
                  <a:srgbClr val="D9EAD3"/>
                </a:highlight>
              </a:rPr>
              <a:t>Nothing yet.</a:t>
            </a:r>
            <a:r>
              <a:rPr lang="en" sz="900">
                <a:solidFill>
                  <a:schemeClr val="dk1"/>
                </a:solidFill>
                <a:highlight>
                  <a:srgbClr val="D9EAD3"/>
                </a:highlight>
              </a:rPr>
              <a:t> This is context-setting. You're watching, not working. The hands-on starts in</a:t>
            </a:r>
            <a:endParaRPr sz="900">
              <a:solidFill>
                <a:schemeClr val="dk1"/>
              </a:solidFill>
              <a:highlight>
                <a:srgbClr val="D9EAD3"/>
              </a:highlight>
            </a:endParaRPr>
          </a:p>
          <a:p>
            <a:pPr indent="0" lvl="0" marL="457200" rtl="0" algn="l">
              <a:lnSpc>
                <a:spcPct val="115000"/>
              </a:lnSpc>
              <a:spcBef>
                <a:spcPts val="800"/>
              </a:spcBef>
              <a:spcAft>
                <a:spcPts val="0"/>
              </a:spcAft>
              <a:buClr>
                <a:schemeClr val="dk1"/>
              </a:buClr>
              <a:buSzPts val="1100"/>
              <a:buFont typeface="Arial"/>
              <a:buNone/>
            </a:pPr>
            <a:r>
              <a:rPr lang="en" sz="900">
                <a:solidFill>
                  <a:schemeClr val="dk1"/>
                </a:solidFill>
                <a:highlight>
                  <a:srgbClr val="D9EAD3"/>
                </a:highlight>
              </a:rPr>
              <a:t>20 minutes.</a:t>
            </a:r>
            <a:endParaRPr sz="900">
              <a:solidFill>
                <a:schemeClr val="dk1"/>
              </a:solidFill>
              <a:highlight>
                <a:srgbClr val="D9EAD3"/>
              </a:highlight>
            </a:endParaRPr>
          </a:p>
          <a:p>
            <a:pPr indent="0" lvl="0" marL="0" rtl="0" algn="l">
              <a:lnSpc>
                <a:spcPct val="115000"/>
              </a:lnSpc>
              <a:spcBef>
                <a:spcPts val="800"/>
              </a:spcBef>
              <a:spcAft>
                <a:spcPts val="0"/>
              </a:spcAft>
              <a:buClr>
                <a:schemeClr val="dk1"/>
              </a:buClr>
              <a:buSzPts val="1100"/>
              <a:buFont typeface="Arial"/>
              <a:buNone/>
            </a:pPr>
            <a:r>
              <a:rPr b="1" lang="en" sz="900">
                <a:solidFill>
                  <a:srgbClr val="ED7D31"/>
                </a:solidFill>
              </a:rPr>
              <a:t>What to pay attention to</a:t>
            </a:r>
            <a:endParaRPr b="1" sz="900">
              <a:solidFill>
                <a:srgbClr val="ED7D31"/>
              </a:solidFill>
            </a:endParaRPr>
          </a:p>
          <a:p>
            <a:pPr indent="0" lvl="0" marL="0" rtl="0" algn="l">
              <a:lnSpc>
                <a:spcPct val="115000"/>
              </a:lnSpc>
              <a:spcBef>
                <a:spcPts val="800"/>
              </a:spcBef>
              <a:spcAft>
                <a:spcPts val="0"/>
              </a:spcAft>
              <a:buClr>
                <a:schemeClr val="dk1"/>
              </a:buClr>
              <a:buSzPts val="1100"/>
              <a:buFont typeface="Arial"/>
              <a:buNone/>
            </a:pPr>
            <a:r>
              <a:rPr lang="en" sz="900">
                <a:solidFill>
                  <a:schemeClr val="dk1"/>
                </a:solidFill>
              </a:rPr>
              <a:t>The specific claim being made: an AI agent can give a confident, precise, well-formatted</a:t>
            </a:r>
            <a:endParaRPr sz="900">
              <a:solidFill>
                <a:schemeClr val="dk1"/>
              </a:solidFill>
            </a:endParaRPr>
          </a:p>
          <a:p>
            <a:pPr indent="0" lvl="0" marL="0" rtl="0" algn="l">
              <a:lnSpc>
                <a:spcPct val="115000"/>
              </a:lnSpc>
              <a:spcBef>
                <a:spcPts val="800"/>
              </a:spcBef>
              <a:spcAft>
                <a:spcPts val="0"/>
              </a:spcAft>
              <a:buClr>
                <a:schemeClr val="dk1"/>
              </a:buClr>
              <a:buSzPts val="1100"/>
              <a:buFont typeface="Arial"/>
              <a:buNone/>
            </a:pPr>
            <a:r>
              <a:rPr lang="en" sz="900">
                <a:solidFill>
                  <a:schemeClr val="dk1"/>
                </a:solidFill>
              </a:rPr>
              <a:t>answer that is silently wrong — and the only way to catch it is to have encoded what "right"</a:t>
            </a:r>
            <a:endParaRPr sz="900">
              <a:solidFill>
                <a:schemeClr val="dk1"/>
              </a:solidFill>
            </a:endParaRPr>
          </a:p>
          <a:p>
            <a:pPr indent="0" lvl="0" marL="0" rtl="0" algn="l">
              <a:lnSpc>
                <a:spcPct val="115000"/>
              </a:lnSpc>
              <a:spcBef>
                <a:spcPts val="800"/>
              </a:spcBef>
              <a:spcAft>
                <a:spcPts val="0"/>
              </a:spcAft>
              <a:buClr>
                <a:schemeClr val="dk1"/>
              </a:buClr>
              <a:buSzPts val="1100"/>
              <a:buFont typeface="Arial"/>
              <a:buNone/>
            </a:pPr>
            <a:r>
              <a:rPr lang="en" sz="900">
                <a:solidFill>
                  <a:schemeClr val="dk1"/>
                </a:solidFill>
              </a:rPr>
              <a:t>looks like before the agent ran.</a:t>
            </a:r>
            <a:endParaRPr sz="900">
              <a:solidFill>
                <a:schemeClr val="dk1"/>
              </a:solidFill>
            </a:endParaRPr>
          </a:p>
          <a:p>
            <a:pPr indent="0" lvl="0" marL="0" rtl="0" algn="l">
              <a:lnSpc>
                <a:spcPct val="115000"/>
              </a:lnSpc>
              <a:spcBef>
                <a:spcPts val="800"/>
              </a:spcBef>
              <a:spcAft>
                <a:spcPts val="0"/>
              </a:spcAft>
              <a:buClr>
                <a:schemeClr val="dk1"/>
              </a:buClr>
              <a:buSzPts val="1100"/>
              <a:buFont typeface="Arial"/>
              <a:buNone/>
            </a:pPr>
            <a:r>
              <a:rPr b="1" lang="en" sz="900">
                <a:solidFill>
                  <a:schemeClr val="dk1"/>
                </a:solidFill>
                <a:highlight>
                  <a:srgbClr val="F9CB9C"/>
                </a:highlight>
              </a:rPr>
              <a:t>If you have a question, try framing it as multiple choice:</a:t>
            </a:r>
            <a:endParaRPr b="1" sz="900">
              <a:solidFill>
                <a:schemeClr val="dk1"/>
              </a:solidFill>
              <a:highlight>
                <a:srgbClr val="F9CB9C"/>
              </a:highlight>
            </a:endParaRPr>
          </a:p>
          <a:p>
            <a:pPr indent="0" lvl="0" marL="0" rtl="0" algn="l">
              <a:lnSpc>
                <a:spcPct val="115000"/>
              </a:lnSpc>
              <a:spcBef>
                <a:spcPts val="800"/>
              </a:spcBef>
              <a:spcAft>
                <a:spcPts val="0"/>
              </a:spcAft>
              <a:buClr>
                <a:schemeClr val="dk1"/>
              </a:buClr>
              <a:buSzPts val="1100"/>
              <a:buFont typeface="Arial"/>
              <a:buNone/>
            </a:pPr>
            <a:r>
              <a:rPr lang="en" sz="900">
                <a:solidFill>
                  <a:schemeClr val="dk1"/>
                </a:solidFill>
                <a:highlight>
                  <a:srgbClr val="F9CB9C"/>
                </a:highlight>
              </a:rPr>
              <a:t>"Is the problem that the agent picks the wrong table, that it picks the wrong rows, or that it doesn't</a:t>
            </a:r>
            <a:endParaRPr sz="900">
              <a:solidFill>
                <a:schemeClr val="dk1"/>
              </a:solidFill>
              <a:highlight>
                <a:srgbClr val="F9CB9C"/>
              </a:highlight>
            </a:endParaRPr>
          </a:p>
          <a:p>
            <a:pPr indent="0" lvl="0" marL="0" rtl="0" algn="l">
              <a:lnSpc>
                <a:spcPct val="115000"/>
              </a:lnSpc>
              <a:spcBef>
                <a:spcPts val="800"/>
              </a:spcBef>
              <a:spcAft>
                <a:spcPts val="0"/>
              </a:spcAft>
              <a:buClr>
                <a:schemeClr val="dk1"/>
              </a:buClr>
              <a:buSzPts val="1100"/>
              <a:buFont typeface="Arial"/>
              <a:buNone/>
            </a:pPr>
            <a:r>
              <a:rPr lang="en" sz="900">
                <a:solidFill>
                  <a:schemeClr val="dk1"/>
                </a:solidFill>
                <a:highlight>
                  <a:srgbClr val="F9CB9C"/>
                </a:highlight>
              </a:rPr>
              <a:t>know which definition to use?" is easier for everyone to learn from than "I don't get it."</a:t>
            </a:r>
            <a:endParaRPr sz="900">
              <a:solidFill>
                <a:schemeClr val="dk1"/>
              </a:solidFill>
              <a:highlight>
                <a:srgbClr val="F9CB9C"/>
              </a:highlight>
            </a:endParaRPr>
          </a:p>
          <a:p>
            <a:pPr indent="0" lvl="0" marL="0" rtl="0" algn="l">
              <a:spcBef>
                <a:spcPts val="800"/>
              </a:spcBef>
              <a:spcAft>
                <a:spcPts val="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1" name="Shape 121"/>
        <p:cNvGrpSpPr/>
        <p:nvPr/>
      </p:nvGrpSpPr>
      <p:grpSpPr>
        <a:xfrm>
          <a:off x="0" y="0"/>
          <a:ext cx="0" cy="0"/>
          <a:chOff x="0" y="0"/>
          <a:chExt cx="0" cy="0"/>
        </a:xfrm>
      </p:grpSpPr>
      <p:sp>
        <p:nvSpPr>
          <p:cNvPr id="122" name="Google Shape;122;p19"/>
          <p:cNvSpPr/>
          <p:nvPr/>
        </p:nvSpPr>
        <p:spPr>
          <a:xfrm>
            <a:off x="480060" y="192024"/>
            <a:ext cx="8181594"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663C"/>
              </a:buClr>
              <a:buSzPts val="800"/>
              <a:buFont typeface="Calibri"/>
              <a:buNone/>
            </a:pPr>
            <a:r>
              <a:rPr b="1" i="0" lang="en" sz="800" u="none" cap="none" strike="noStrike">
                <a:solidFill>
                  <a:srgbClr val="E8663C"/>
                </a:solidFill>
                <a:latin typeface="Calibri"/>
                <a:ea typeface="Calibri"/>
                <a:cs typeface="Calibri"/>
                <a:sym typeface="Calibri"/>
              </a:rPr>
              <a:t>THE PREMISE</a:t>
            </a:r>
            <a:endParaRPr b="0" i="0" sz="800" u="none" cap="none" strike="noStrike">
              <a:solidFill>
                <a:schemeClr val="dk1"/>
              </a:solidFill>
              <a:latin typeface="Calibri"/>
              <a:ea typeface="Calibri"/>
              <a:cs typeface="Calibri"/>
              <a:sym typeface="Calibri"/>
            </a:endParaRPr>
          </a:p>
        </p:txBody>
      </p:sp>
      <p:sp>
        <p:nvSpPr>
          <p:cNvPr id="123" name="Google Shape;123;p19"/>
          <p:cNvSpPr/>
          <p:nvPr/>
        </p:nvSpPr>
        <p:spPr>
          <a:xfrm>
            <a:off x="480060" y="342900"/>
            <a:ext cx="8181594" cy="6172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303C"/>
              </a:buClr>
              <a:buSzPts val="2600"/>
              <a:buFont typeface="Cambria"/>
              <a:buNone/>
            </a:pPr>
            <a:r>
              <a:rPr b="1" i="0" lang="en" sz="2600" u="none" cap="none" strike="noStrike">
                <a:solidFill>
                  <a:srgbClr val="22303C"/>
                </a:solidFill>
                <a:latin typeface="Cambria"/>
                <a:ea typeface="Cambria"/>
                <a:cs typeface="Cambria"/>
                <a:sym typeface="Cambria"/>
              </a:rPr>
              <a:t>Coding agents worked first for a structural reason</a:t>
            </a:r>
            <a:endParaRPr b="0" i="0" sz="2600" u="none" cap="none" strike="noStrike">
              <a:solidFill>
                <a:schemeClr val="dk1"/>
              </a:solidFill>
              <a:latin typeface="Calibri"/>
              <a:ea typeface="Calibri"/>
              <a:cs typeface="Calibri"/>
              <a:sym typeface="Calibri"/>
            </a:endParaRPr>
          </a:p>
        </p:txBody>
      </p:sp>
      <p:sp>
        <p:nvSpPr>
          <p:cNvPr id="124" name="Google Shape;124;p19"/>
          <p:cNvSpPr/>
          <p:nvPr/>
        </p:nvSpPr>
        <p:spPr>
          <a:xfrm>
            <a:off x="480060" y="1200150"/>
            <a:ext cx="3806190" cy="2674620"/>
          </a:xfrm>
          <a:prstGeom prst="roundRect">
            <a:avLst>
              <a:gd fmla="val 2051" name="adj"/>
            </a:avLst>
          </a:prstGeom>
          <a:solidFill>
            <a:srgbClr val="F2F4F6"/>
          </a:solidFill>
          <a:ln cap="flat" cmpd="sng" w="12700">
            <a:solidFill>
              <a:srgbClr val="F2F4F6"/>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25" name="Google Shape;125;p19"/>
          <p:cNvSpPr/>
          <p:nvPr/>
        </p:nvSpPr>
        <p:spPr>
          <a:xfrm>
            <a:off x="754380" y="1371600"/>
            <a:ext cx="325755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303C"/>
              </a:buClr>
              <a:buSzPts val="1700"/>
              <a:buFont typeface="Cambria"/>
              <a:buNone/>
            </a:pPr>
            <a:r>
              <a:rPr b="1" i="0" lang="en" sz="1700" u="none" cap="none" strike="noStrike">
                <a:solidFill>
                  <a:srgbClr val="22303C"/>
                </a:solidFill>
                <a:latin typeface="Cambria"/>
                <a:ea typeface="Cambria"/>
                <a:cs typeface="Cambria"/>
                <a:sym typeface="Cambria"/>
              </a:rPr>
              <a:t>Software</a:t>
            </a:r>
            <a:endParaRPr b="0" i="0" sz="1700" u="none" cap="none" strike="noStrike">
              <a:solidFill>
                <a:schemeClr val="dk1"/>
              </a:solidFill>
              <a:latin typeface="Calibri"/>
              <a:ea typeface="Calibri"/>
              <a:cs typeface="Calibri"/>
              <a:sym typeface="Calibri"/>
            </a:endParaRPr>
          </a:p>
        </p:txBody>
      </p:sp>
      <p:sp>
        <p:nvSpPr>
          <p:cNvPr id="126" name="Google Shape;126;p19"/>
          <p:cNvSpPr/>
          <p:nvPr/>
        </p:nvSpPr>
        <p:spPr>
          <a:xfrm>
            <a:off x="754380" y="1783080"/>
            <a:ext cx="3257550" cy="1920240"/>
          </a:xfrm>
          <a:prstGeom prst="rect">
            <a:avLst/>
          </a:prstGeom>
          <a:noFill/>
          <a:ln>
            <a:noFill/>
          </a:ln>
        </p:spPr>
        <p:txBody>
          <a:bodyPr anchorCtr="0" anchor="ctr" bIns="0" lIns="0" spcFirstLastPara="1" rIns="0" wrap="square" tIns="0">
            <a:noAutofit/>
          </a:bodyPr>
          <a:lstStyle/>
          <a:p>
            <a:pPr indent="-247650" lvl="0" marL="254000" marR="0" rtl="0" algn="l">
              <a:spcBef>
                <a:spcPts val="0"/>
              </a:spcBef>
              <a:spcAft>
                <a:spcPts val="0"/>
              </a:spcAft>
              <a:buClr>
                <a:srgbClr val="5A6B7A"/>
              </a:buClr>
              <a:buSzPts val="1100"/>
              <a:buFont typeface="Calibri"/>
              <a:buChar char="•"/>
            </a:pPr>
            <a:r>
              <a:rPr b="0" i="0" lang="en" sz="1100" u="none" cap="none" strike="noStrike">
                <a:solidFill>
                  <a:srgbClr val="5A6B7A"/>
                </a:solidFill>
                <a:latin typeface="Calibri"/>
                <a:ea typeface="Calibri"/>
                <a:cs typeface="Calibri"/>
                <a:sym typeface="Calibri"/>
              </a:rPr>
              <a:t>Open-ended solution space</a:t>
            </a:r>
            <a:endParaRPr b="0" i="0" sz="1100" u="none" cap="none" strike="noStrike">
              <a:solidFill>
                <a:schemeClr val="dk1"/>
              </a:solidFill>
              <a:latin typeface="Calibri"/>
              <a:ea typeface="Calibri"/>
              <a:cs typeface="Calibri"/>
              <a:sym typeface="Calibri"/>
            </a:endParaRPr>
          </a:p>
          <a:p>
            <a:pPr indent="-247650" lvl="0" marL="254000" marR="0" rtl="0" algn="l">
              <a:spcBef>
                <a:spcPts val="800"/>
              </a:spcBef>
              <a:spcAft>
                <a:spcPts val="0"/>
              </a:spcAft>
              <a:buClr>
                <a:srgbClr val="5A6B7A"/>
              </a:buClr>
              <a:buSzPts val="1100"/>
              <a:buFont typeface="Calibri"/>
              <a:buChar char="•"/>
            </a:pPr>
            <a:r>
              <a:rPr b="0" i="0" lang="en" sz="1100" u="none" cap="none" strike="noStrike">
                <a:solidFill>
                  <a:srgbClr val="5A6B7A"/>
                </a:solidFill>
                <a:latin typeface="Calibri"/>
                <a:ea typeface="Calibri"/>
                <a:cs typeface="Calibri"/>
                <a:sym typeface="Calibri"/>
              </a:rPr>
              <a:t>Many valid answers</a:t>
            </a:r>
            <a:endParaRPr b="0" i="0" sz="1100" u="none" cap="none" strike="noStrike">
              <a:solidFill>
                <a:schemeClr val="dk1"/>
              </a:solidFill>
              <a:latin typeface="Calibri"/>
              <a:ea typeface="Calibri"/>
              <a:cs typeface="Calibri"/>
              <a:sym typeface="Calibri"/>
            </a:endParaRPr>
          </a:p>
          <a:p>
            <a:pPr indent="-247650" lvl="0" marL="254000" marR="0" rtl="0" algn="l">
              <a:spcBef>
                <a:spcPts val="800"/>
              </a:spcBef>
              <a:spcAft>
                <a:spcPts val="0"/>
              </a:spcAft>
              <a:buClr>
                <a:srgbClr val="5A6B7A"/>
              </a:buClr>
              <a:buSzPts val="1100"/>
              <a:buFont typeface="Calibri"/>
              <a:buChar char="•"/>
            </a:pPr>
            <a:r>
              <a:rPr b="0" i="0" lang="en" sz="1100" u="none" cap="none" strike="noStrike">
                <a:solidFill>
                  <a:srgbClr val="5A6B7A"/>
                </a:solidFill>
                <a:latin typeface="Calibri"/>
                <a:ea typeface="Calibri"/>
                <a:cs typeface="Calibri"/>
                <a:sym typeface="Calibri"/>
              </a:rPr>
              <a:t>Tests, types, compilers catch errors</a:t>
            </a:r>
            <a:endParaRPr b="0" i="0" sz="1100" u="none" cap="none" strike="noStrike">
              <a:solidFill>
                <a:schemeClr val="dk1"/>
              </a:solidFill>
              <a:latin typeface="Calibri"/>
              <a:ea typeface="Calibri"/>
              <a:cs typeface="Calibri"/>
              <a:sym typeface="Calibri"/>
            </a:endParaRPr>
          </a:p>
          <a:p>
            <a:pPr indent="-247650" lvl="0" marL="254000" marR="0" rtl="0" algn="l">
              <a:spcBef>
                <a:spcPts val="800"/>
              </a:spcBef>
              <a:spcAft>
                <a:spcPts val="0"/>
              </a:spcAft>
              <a:buClr>
                <a:srgbClr val="5A6B7A"/>
              </a:buClr>
              <a:buSzPts val="1100"/>
              <a:buFont typeface="Calibri"/>
              <a:buChar char="•"/>
            </a:pPr>
            <a:r>
              <a:rPr b="0" i="0" lang="en" sz="1100" u="none" cap="none" strike="noStrike">
                <a:solidFill>
                  <a:srgbClr val="5A6B7A"/>
                </a:solidFill>
                <a:latin typeface="Calibri"/>
                <a:ea typeface="Calibri"/>
                <a:cs typeface="Calibri"/>
                <a:sym typeface="Calibri"/>
              </a:rPr>
              <a:t>Wrong code usually fails loudly</a:t>
            </a:r>
            <a:endParaRPr b="0" i="0" sz="1100" u="none" cap="none" strike="noStrike">
              <a:solidFill>
                <a:schemeClr val="dk1"/>
              </a:solidFill>
              <a:latin typeface="Calibri"/>
              <a:ea typeface="Calibri"/>
              <a:cs typeface="Calibri"/>
              <a:sym typeface="Calibri"/>
            </a:endParaRPr>
          </a:p>
        </p:txBody>
      </p:sp>
      <p:sp>
        <p:nvSpPr>
          <p:cNvPr id="127" name="Google Shape;127;p19"/>
          <p:cNvSpPr/>
          <p:nvPr/>
        </p:nvSpPr>
        <p:spPr>
          <a:xfrm>
            <a:off x="4629150" y="1200150"/>
            <a:ext cx="3806190" cy="2674620"/>
          </a:xfrm>
          <a:prstGeom prst="roundRect">
            <a:avLst>
              <a:gd fmla="val 2051" name="adj"/>
            </a:avLst>
          </a:prstGeom>
          <a:solidFill>
            <a:srgbClr val="FBEDE8"/>
          </a:solidFill>
          <a:ln cap="flat" cmpd="sng" w="12700">
            <a:solidFill>
              <a:srgbClr val="FBEDE8"/>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28" name="Google Shape;128;p19"/>
          <p:cNvSpPr/>
          <p:nvPr/>
        </p:nvSpPr>
        <p:spPr>
          <a:xfrm>
            <a:off x="4903470" y="1371600"/>
            <a:ext cx="325755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663C"/>
              </a:buClr>
              <a:buSzPts val="1700"/>
              <a:buFont typeface="Cambria"/>
              <a:buNone/>
            </a:pPr>
            <a:r>
              <a:rPr b="1" i="0" lang="en" sz="1700" u="none" cap="none" strike="noStrike">
                <a:solidFill>
                  <a:srgbClr val="E8663C"/>
                </a:solidFill>
                <a:latin typeface="Cambria"/>
                <a:ea typeface="Cambria"/>
                <a:cs typeface="Cambria"/>
                <a:sym typeface="Cambria"/>
              </a:rPr>
              <a:t>Analytics</a:t>
            </a:r>
            <a:endParaRPr b="0" i="0" sz="1700" u="none" cap="none" strike="noStrike">
              <a:solidFill>
                <a:schemeClr val="dk1"/>
              </a:solidFill>
              <a:latin typeface="Calibri"/>
              <a:ea typeface="Calibri"/>
              <a:cs typeface="Calibri"/>
              <a:sym typeface="Calibri"/>
            </a:endParaRPr>
          </a:p>
        </p:txBody>
      </p:sp>
      <p:sp>
        <p:nvSpPr>
          <p:cNvPr id="129" name="Google Shape;129;p19"/>
          <p:cNvSpPr/>
          <p:nvPr/>
        </p:nvSpPr>
        <p:spPr>
          <a:xfrm>
            <a:off x="4903470" y="1783080"/>
            <a:ext cx="3257550" cy="1920240"/>
          </a:xfrm>
          <a:prstGeom prst="rect">
            <a:avLst/>
          </a:prstGeom>
          <a:noFill/>
          <a:ln>
            <a:noFill/>
          </a:ln>
        </p:spPr>
        <p:txBody>
          <a:bodyPr anchorCtr="0" anchor="ctr" bIns="0" lIns="0" spcFirstLastPara="1" rIns="0" wrap="square" tIns="0">
            <a:noAutofit/>
          </a:bodyPr>
          <a:lstStyle/>
          <a:p>
            <a:pPr indent="-247650" lvl="0" marL="254000" marR="0" rtl="0" algn="l">
              <a:spcBef>
                <a:spcPts val="0"/>
              </a:spcBef>
              <a:spcAft>
                <a:spcPts val="0"/>
              </a:spcAft>
              <a:buClr>
                <a:srgbClr val="8C4430"/>
              </a:buClr>
              <a:buSzPts val="1100"/>
              <a:buFont typeface="Calibri"/>
              <a:buChar char="•"/>
            </a:pPr>
            <a:r>
              <a:rPr b="0" i="0" lang="en" sz="1100" u="none" cap="none" strike="noStrike">
                <a:solidFill>
                  <a:srgbClr val="8C4430"/>
                </a:solidFill>
                <a:latin typeface="Calibri"/>
                <a:ea typeface="Calibri"/>
                <a:cs typeface="Calibri"/>
                <a:sym typeface="Calibri"/>
              </a:rPr>
              <a:t>Usually one correct answer</a:t>
            </a:r>
            <a:endParaRPr b="0" i="0" sz="1100" u="none" cap="none" strike="noStrike">
              <a:solidFill>
                <a:schemeClr val="dk1"/>
              </a:solidFill>
              <a:latin typeface="Calibri"/>
              <a:ea typeface="Calibri"/>
              <a:cs typeface="Calibri"/>
              <a:sym typeface="Calibri"/>
            </a:endParaRPr>
          </a:p>
          <a:p>
            <a:pPr indent="-247650" lvl="0" marL="254000" marR="0" rtl="0" algn="l">
              <a:spcBef>
                <a:spcPts val="800"/>
              </a:spcBef>
              <a:spcAft>
                <a:spcPts val="0"/>
              </a:spcAft>
              <a:buClr>
                <a:srgbClr val="8C4430"/>
              </a:buClr>
              <a:buSzPts val="1100"/>
              <a:buFont typeface="Calibri"/>
              <a:buChar char="•"/>
            </a:pPr>
            <a:r>
              <a:rPr b="0" i="0" lang="en" sz="1100" u="none" cap="none" strike="noStrike">
                <a:solidFill>
                  <a:srgbClr val="8C4430"/>
                </a:solidFill>
                <a:latin typeface="Calibri"/>
                <a:ea typeface="Calibri"/>
                <a:cs typeface="Calibri"/>
                <a:sym typeface="Calibri"/>
              </a:rPr>
              <a:t>From one correct source</a:t>
            </a:r>
            <a:endParaRPr b="0" i="0" sz="1100" u="none" cap="none" strike="noStrike">
              <a:solidFill>
                <a:schemeClr val="dk1"/>
              </a:solidFill>
              <a:latin typeface="Calibri"/>
              <a:ea typeface="Calibri"/>
              <a:cs typeface="Calibri"/>
              <a:sym typeface="Calibri"/>
            </a:endParaRPr>
          </a:p>
          <a:p>
            <a:pPr indent="-247650" lvl="0" marL="254000" marR="0" rtl="0" algn="l">
              <a:spcBef>
                <a:spcPts val="800"/>
              </a:spcBef>
              <a:spcAft>
                <a:spcPts val="0"/>
              </a:spcAft>
              <a:buClr>
                <a:srgbClr val="8C4430"/>
              </a:buClr>
              <a:buSzPts val="1100"/>
              <a:buFont typeface="Calibri"/>
              <a:buChar char="•"/>
            </a:pPr>
            <a:r>
              <a:rPr b="0" i="0" lang="en" sz="1100" u="none" cap="none" strike="noStrike">
                <a:solidFill>
                  <a:srgbClr val="8C4430"/>
                </a:solidFill>
                <a:latin typeface="Calibri"/>
                <a:ea typeface="Calibri"/>
                <a:cs typeface="Calibri"/>
                <a:sym typeface="Calibri"/>
              </a:rPr>
              <a:t>No deterministic way to prove it</a:t>
            </a:r>
            <a:endParaRPr b="0" i="0" sz="1100" u="none" cap="none" strike="noStrike">
              <a:solidFill>
                <a:schemeClr val="dk1"/>
              </a:solidFill>
              <a:latin typeface="Calibri"/>
              <a:ea typeface="Calibri"/>
              <a:cs typeface="Calibri"/>
              <a:sym typeface="Calibri"/>
            </a:endParaRPr>
          </a:p>
          <a:p>
            <a:pPr indent="-247650" lvl="0" marL="254000" marR="0" rtl="0" algn="l">
              <a:spcBef>
                <a:spcPts val="800"/>
              </a:spcBef>
              <a:spcAft>
                <a:spcPts val="0"/>
              </a:spcAft>
              <a:buClr>
                <a:srgbClr val="8C4430"/>
              </a:buClr>
              <a:buSzPts val="1100"/>
              <a:buFont typeface="Calibri"/>
              <a:buChar char="•"/>
            </a:pPr>
            <a:r>
              <a:rPr b="0" i="0" lang="en" sz="1100" u="none" cap="none" strike="noStrike">
                <a:solidFill>
                  <a:srgbClr val="8C4430"/>
                </a:solidFill>
                <a:latin typeface="Calibri"/>
                <a:ea typeface="Calibri"/>
                <a:cs typeface="Calibri"/>
                <a:sym typeface="Calibri"/>
              </a:rPr>
              <a:t>Wrong queries run cleanly</a:t>
            </a:r>
            <a:endParaRPr b="0" i="0" sz="1100" u="none" cap="none" strike="noStrike">
              <a:solidFill>
                <a:schemeClr val="dk1"/>
              </a:solidFill>
              <a:latin typeface="Calibri"/>
              <a:ea typeface="Calibri"/>
              <a:cs typeface="Calibri"/>
              <a:sym typeface="Calibri"/>
            </a:endParaRPr>
          </a:p>
        </p:txBody>
      </p:sp>
      <p:sp>
        <p:nvSpPr>
          <p:cNvPr id="130" name="Google Shape;130;p19"/>
          <p:cNvSpPr/>
          <p:nvPr/>
        </p:nvSpPr>
        <p:spPr>
          <a:xfrm>
            <a:off x="480060" y="4080510"/>
            <a:ext cx="8181594" cy="34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303C"/>
              </a:buClr>
              <a:buSzPts val="1400"/>
              <a:buFont typeface="Cambria"/>
              <a:buNone/>
            </a:pPr>
            <a:r>
              <a:rPr b="1" i="1" lang="en" sz="1400" u="none" cap="none" strike="noStrike">
                <a:solidFill>
                  <a:srgbClr val="22303C"/>
                </a:solidFill>
                <a:latin typeface="Cambria"/>
                <a:ea typeface="Cambria"/>
                <a:cs typeface="Cambria"/>
                <a:sym typeface="Cambria"/>
              </a:rPr>
              <a:t>Data is not software. Skills written for software development do not transfer.</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5" name="Shape 135"/>
        <p:cNvGrpSpPr/>
        <p:nvPr/>
      </p:nvGrpSpPr>
      <p:grpSpPr>
        <a:xfrm>
          <a:off x="0" y="0"/>
          <a:ext cx="0" cy="0"/>
          <a:chOff x="0" y="0"/>
          <a:chExt cx="0" cy="0"/>
        </a:xfrm>
      </p:grpSpPr>
      <p:sp>
        <p:nvSpPr>
          <p:cNvPr id="136" name="Google Shape;136;p20"/>
          <p:cNvSpPr/>
          <p:nvPr/>
        </p:nvSpPr>
        <p:spPr>
          <a:xfrm>
            <a:off x="480060" y="192024"/>
            <a:ext cx="81816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663C"/>
              </a:buClr>
              <a:buSzPts val="800"/>
              <a:buFont typeface="Calibri"/>
              <a:buNone/>
            </a:pPr>
            <a:r>
              <a:rPr b="1" i="0" lang="en" sz="800" u="none" cap="none" strike="noStrike">
                <a:solidFill>
                  <a:srgbClr val="E8663C"/>
                </a:solidFill>
                <a:latin typeface="Calibri"/>
                <a:ea typeface="Calibri"/>
                <a:cs typeface="Calibri"/>
                <a:sym typeface="Calibri"/>
              </a:rPr>
              <a:t>THE PREMISE</a:t>
            </a:r>
            <a:endParaRPr b="0" i="0" sz="800" u="none" cap="none" strike="noStrike">
              <a:solidFill>
                <a:schemeClr val="dk1"/>
              </a:solidFill>
              <a:latin typeface="Calibri"/>
              <a:ea typeface="Calibri"/>
              <a:cs typeface="Calibri"/>
              <a:sym typeface="Calibri"/>
            </a:endParaRPr>
          </a:p>
        </p:txBody>
      </p:sp>
      <p:sp>
        <p:nvSpPr>
          <p:cNvPr id="137" name="Google Shape;137;p20"/>
          <p:cNvSpPr/>
          <p:nvPr/>
        </p:nvSpPr>
        <p:spPr>
          <a:xfrm>
            <a:off x="480060" y="342900"/>
            <a:ext cx="8181600" cy="617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303C"/>
              </a:buClr>
              <a:buSzPts val="2600"/>
              <a:buFont typeface="Cambria"/>
              <a:buNone/>
            </a:pPr>
            <a:r>
              <a:rPr b="1" lang="en" sz="2600">
                <a:solidFill>
                  <a:srgbClr val="22303C"/>
                </a:solidFill>
                <a:latin typeface="Cambria"/>
                <a:ea typeface="Cambria"/>
                <a:cs typeface="Cambria"/>
                <a:sym typeface="Cambria"/>
              </a:rPr>
              <a:t>What happened when Anthropic tried this on their own data using Claude?</a:t>
            </a:r>
            <a:endParaRPr b="0" i="0" sz="2600" u="none" cap="none" strike="noStrike">
              <a:solidFill>
                <a:schemeClr val="dk1"/>
              </a:solidFill>
              <a:latin typeface="Calibri"/>
              <a:ea typeface="Calibri"/>
              <a:cs typeface="Calibri"/>
              <a:sym typeface="Calibri"/>
            </a:endParaRPr>
          </a:p>
        </p:txBody>
      </p:sp>
      <p:pic>
        <p:nvPicPr>
          <p:cNvPr id="138" name="Google Shape;138;p20"/>
          <p:cNvPicPr preferRelativeResize="0"/>
          <p:nvPr/>
        </p:nvPicPr>
        <p:blipFill>
          <a:blip r:embed="rId3">
            <a:alphaModFix/>
          </a:blip>
          <a:stretch>
            <a:fillRect/>
          </a:stretch>
        </p:blipFill>
        <p:spPr>
          <a:xfrm>
            <a:off x="2256363" y="1097950"/>
            <a:ext cx="4631284" cy="38787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3" name="Shape 143"/>
        <p:cNvGrpSpPr/>
        <p:nvPr/>
      </p:nvGrpSpPr>
      <p:grpSpPr>
        <a:xfrm>
          <a:off x="0" y="0"/>
          <a:ext cx="0" cy="0"/>
          <a:chOff x="0" y="0"/>
          <a:chExt cx="0" cy="0"/>
        </a:xfrm>
      </p:grpSpPr>
      <p:sp>
        <p:nvSpPr>
          <p:cNvPr id="144" name="Google Shape;144;p21"/>
          <p:cNvSpPr/>
          <p:nvPr/>
        </p:nvSpPr>
        <p:spPr>
          <a:xfrm>
            <a:off x="480060" y="192024"/>
            <a:ext cx="81816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663C"/>
              </a:buClr>
              <a:buSzPts val="800"/>
              <a:buFont typeface="Calibri"/>
              <a:buNone/>
            </a:pPr>
            <a:r>
              <a:rPr b="1" lang="en" sz="800">
                <a:solidFill>
                  <a:srgbClr val="E8663C"/>
                </a:solidFill>
                <a:latin typeface="Calibri"/>
                <a:ea typeface="Calibri"/>
                <a:cs typeface="Calibri"/>
                <a:sym typeface="Calibri"/>
              </a:rPr>
              <a:t>OVERVIEW</a:t>
            </a:r>
            <a:endParaRPr b="0" i="0" sz="800" u="none" cap="none" strike="noStrike">
              <a:solidFill>
                <a:schemeClr val="dk1"/>
              </a:solidFill>
              <a:latin typeface="Calibri"/>
              <a:ea typeface="Calibri"/>
              <a:cs typeface="Calibri"/>
              <a:sym typeface="Calibri"/>
            </a:endParaRPr>
          </a:p>
        </p:txBody>
      </p:sp>
      <p:sp>
        <p:nvSpPr>
          <p:cNvPr id="145" name="Google Shape;145;p21"/>
          <p:cNvSpPr/>
          <p:nvPr/>
        </p:nvSpPr>
        <p:spPr>
          <a:xfrm>
            <a:off x="480054" y="342900"/>
            <a:ext cx="4549200" cy="617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303C"/>
              </a:buClr>
              <a:buSzPts val="2600"/>
              <a:buFont typeface="Cambria"/>
              <a:buNone/>
            </a:pPr>
            <a:r>
              <a:rPr b="1" lang="en" sz="2600">
                <a:solidFill>
                  <a:srgbClr val="22303C"/>
                </a:solidFill>
                <a:latin typeface="Cambria"/>
                <a:ea typeface="Cambria"/>
                <a:cs typeface="Cambria"/>
                <a:sym typeface="Cambria"/>
              </a:rPr>
              <a:t>Big Picture - The Agent Context Stack</a:t>
            </a:r>
            <a:endParaRPr b="0" i="0" sz="2600" u="none" cap="none" strike="noStrike">
              <a:solidFill>
                <a:schemeClr val="dk1"/>
              </a:solidFill>
              <a:latin typeface="Calibri"/>
              <a:ea typeface="Calibri"/>
              <a:cs typeface="Calibri"/>
              <a:sym typeface="Calibri"/>
            </a:endParaRPr>
          </a:p>
        </p:txBody>
      </p:sp>
      <p:pic>
        <p:nvPicPr>
          <p:cNvPr id="146" name="Google Shape;146;p21"/>
          <p:cNvPicPr preferRelativeResize="0"/>
          <p:nvPr/>
        </p:nvPicPr>
        <p:blipFill>
          <a:blip r:embed="rId3">
            <a:alphaModFix/>
          </a:blip>
          <a:stretch>
            <a:fillRect/>
          </a:stretch>
        </p:blipFill>
        <p:spPr>
          <a:xfrm>
            <a:off x="5029225" y="0"/>
            <a:ext cx="4114786" cy="5143500"/>
          </a:xfrm>
          <a:prstGeom prst="rect">
            <a:avLst/>
          </a:prstGeom>
          <a:noFill/>
          <a:ln>
            <a:noFill/>
          </a:ln>
        </p:spPr>
      </p:pic>
      <p:sp>
        <p:nvSpPr>
          <p:cNvPr id="147" name="Google Shape;147;p21"/>
          <p:cNvSpPr txBox="1"/>
          <p:nvPr/>
        </p:nvSpPr>
        <p:spPr>
          <a:xfrm>
            <a:off x="480050" y="1026638"/>
            <a:ext cx="3945600" cy="7668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a:t>Here is what I have already created and what you can help to improve and make your own.</a:t>
            </a:r>
            <a:endParaRPr/>
          </a:p>
        </p:txBody>
      </p:sp>
      <p:cxnSp>
        <p:nvCxnSpPr>
          <p:cNvPr id="148" name="Google Shape;148;p21"/>
          <p:cNvCxnSpPr/>
          <p:nvPr/>
        </p:nvCxnSpPr>
        <p:spPr>
          <a:xfrm flipH="1" rot="10800000">
            <a:off x="4425650" y="1081500"/>
            <a:ext cx="1198800" cy="261900"/>
          </a:xfrm>
          <a:prstGeom prst="straightConnector1">
            <a:avLst/>
          </a:prstGeom>
          <a:noFill/>
          <a:ln cap="flat" cmpd="sng" w="9525">
            <a:solidFill>
              <a:schemeClr val="dk2"/>
            </a:solidFill>
            <a:prstDash val="solid"/>
            <a:round/>
            <a:headEnd len="med" w="med" type="none"/>
            <a:tailEnd len="med" w="med" type="triangle"/>
          </a:ln>
        </p:spPr>
      </p:cxnSp>
      <p:sp>
        <p:nvSpPr>
          <p:cNvPr id="149" name="Google Shape;149;p21"/>
          <p:cNvSpPr txBox="1"/>
          <p:nvPr/>
        </p:nvSpPr>
        <p:spPr>
          <a:xfrm>
            <a:off x="480050" y="2288975"/>
            <a:ext cx="3945600" cy="7668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a:t>This is the area where we are going to spend most of today and that you will be able to customize for your own role.</a:t>
            </a:r>
            <a:endParaRPr/>
          </a:p>
        </p:txBody>
      </p:sp>
      <p:cxnSp>
        <p:nvCxnSpPr>
          <p:cNvPr id="150" name="Google Shape;150;p21"/>
          <p:cNvCxnSpPr/>
          <p:nvPr/>
        </p:nvCxnSpPr>
        <p:spPr>
          <a:xfrm>
            <a:off x="4425650" y="2422250"/>
            <a:ext cx="1278600" cy="24900"/>
          </a:xfrm>
          <a:prstGeom prst="straightConnector1">
            <a:avLst/>
          </a:prstGeom>
          <a:noFill/>
          <a:ln cap="flat" cmpd="sng" w="9525">
            <a:solidFill>
              <a:schemeClr val="dk2"/>
            </a:solidFill>
            <a:prstDash val="solid"/>
            <a:round/>
            <a:headEnd len="med" w="med" type="none"/>
            <a:tailEnd len="med" w="med" type="triangle"/>
          </a:ln>
        </p:spPr>
      </p:cxnSp>
      <p:sp>
        <p:nvSpPr>
          <p:cNvPr id="151" name="Google Shape;151;p21"/>
          <p:cNvSpPr txBox="1"/>
          <p:nvPr/>
        </p:nvSpPr>
        <p:spPr>
          <a:xfrm>
            <a:off x="480050" y="3735250"/>
            <a:ext cx="3945600" cy="7668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a:t>We will work out of a simulated DB with Headcount, </a:t>
            </a:r>
            <a:r>
              <a:rPr lang="en"/>
              <a:t>Attrition</a:t>
            </a:r>
            <a:r>
              <a:rPr lang="en"/>
              <a:t>, Compensation, and Employee Engagement data</a:t>
            </a:r>
            <a:endParaRPr/>
          </a:p>
        </p:txBody>
      </p:sp>
      <p:cxnSp>
        <p:nvCxnSpPr>
          <p:cNvPr id="152" name="Google Shape;152;p21"/>
          <p:cNvCxnSpPr/>
          <p:nvPr/>
        </p:nvCxnSpPr>
        <p:spPr>
          <a:xfrm>
            <a:off x="4425650" y="4106200"/>
            <a:ext cx="1278600" cy="2490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7" name="Shape 157"/>
        <p:cNvGrpSpPr/>
        <p:nvPr/>
      </p:nvGrpSpPr>
      <p:grpSpPr>
        <a:xfrm>
          <a:off x="0" y="0"/>
          <a:ext cx="0" cy="0"/>
          <a:chOff x="0" y="0"/>
          <a:chExt cx="0" cy="0"/>
        </a:xfrm>
      </p:grpSpPr>
      <p:sp>
        <p:nvSpPr>
          <p:cNvPr id="158" name="Google Shape;158;p22"/>
          <p:cNvSpPr/>
          <p:nvPr/>
        </p:nvSpPr>
        <p:spPr>
          <a:xfrm>
            <a:off x="480060" y="192024"/>
            <a:ext cx="8181594"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663C"/>
              </a:buClr>
              <a:buSzPts val="800"/>
              <a:buFont typeface="Calibri"/>
              <a:buNone/>
            </a:pPr>
            <a:r>
              <a:rPr b="1" i="0" lang="en" sz="800" u="none" cap="none" strike="noStrike">
                <a:solidFill>
                  <a:srgbClr val="E8663C"/>
                </a:solidFill>
                <a:latin typeface="Calibri"/>
                <a:ea typeface="Calibri"/>
                <a:cs typeface="Calibri"/>
                <a:sym typeface="Calibri"/>
              </a:rPr>
              <a:t>DIAGNOSIS</a:t>
            </a:r>
            <a:endParaRPr b="0" i="0" sz="800" u="none" cap="none" strike="noStrike">
              <a:solidFill>
                <a:schemeClr val="dk1"/>
              </a:solidFill>
              <a:latin typeface="Calibri"/>
              <a:ea typeface="Calibri"/>
              <a:cs typeface="Calibri"/>
              <a:sym typeface="Calibri"/>
            </a:endParaRPr>
          </a:p>
        </p:txBody>
      </p:sp>
      <p:sp>
        <p:nvSpPr>
          <p:cNvPr id="159" name="Google Shape;159;p22"/>
          <p:cNvSpPr/>
          <p:nvPr/>
        </p:nvSpPr>
        <p:spPr>
          <a:xfrm>
            <a:off x="480060" y="342900"/>
            <a:ext cx="8181594" cy="6172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303C"/>
              </a:buClr>
              <a:buSzPts val="2600"/>
              <a:buFont typeface="Cambria"/>
              <a:buNone/>
            </a:pPr>
            <a:r>
              <a:rPr b="1" i="0" lang="en" sz="2600" u="none" cap="none" strike="noStrike">
                <a:solidFill>
                  <a:srgbClr val="22303C"/>
                </a:solidFill>
                <a:latin typeface="Cambria"/>
                <a:ea typeface="Cambria"/>
                <a:cs typeface="Cambria"/>
                <a:sym typeface="Cambria"/>
              </a:rPr>
              <a:t>Three failure modes, and one that hides</a:t>
            </a:r>
            <a:endParaRPr b="0" i="0" sz="2600" u="none" cap="none" strike="noStrike">
              <a:solidFill>
                <a:schemeClr val="dk1"/>
              </a:solidFill>
              <a:latin typeface="Calibri"/>
              <a:ea typeface="Calibri"/>
              <a:cs typeface="Calibri"/>
              <a:sym typeface="Calibri"/>
            </a:endParaRPr>
          </a:p>
        </p:txBody>
      </p:sp>
      <p:sp>
        <p:nvSpPr>
          <p:cNvPr id="160" name="Google Shape;160;p22"/>
          <p:cNvSpPr/>
          <p:nvPr/>
        </p:nvSpPr>
        <p:spPr>
          <a:xfrm>
            <a:off x="480060" y="1234440"/>
            <a:ext cx="2640330" cy="1371600"/>
          </a:xfrm>
          <a:prstGeom prst="roundRect">
            <a:avLst>
              <a:gd fmla="val 4000" name="adj"/>
            </a:avLst>
          </a:prstGeom>
          <a:solidFill>
            <a:srgbClr val="F2F4F6"/>
          </a:solidFill>
          <a:ln cap="flat" cmpd="sng" w="12700">
            <a:solidFill>
              <a:srgbClr val="F2F4F6"/>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61" name="Google Shape;161;p22"/>
          <p:cNvSpPr/>
          <p:nvPr/>
        </p:nvSpPr>
        <p:spPr>
          <a:xfrm>
            <a:off x="685800" y="1405890"/>
            <a:ext cx="222885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303C"/>
              </a:buClr>
              <a:buSzPts val="1400"/>
              <a:buFont typeface="Cambria"/>
              <a:buNone/>
            </a:pPr>
            <a:r>
              <a:rPr b="1" i="0" lang="en" sz="1400" u="none" cap="none" strike="noStrike">
                <a:solidFill>
                  <a:srgbClr val="22303C"/>
                </a:solidFill>
                <a:latin typeface="Cambria"/>
                <a:ea typeface="Cambria"/>
                <a:cs typeface="Cambria"/>
                <a:sym typeface="Cambria"/>
              </a:rPr>
              <a:t>Entity ambiguity</a:t>
            </a:r>
            <a:endParaRPr b="0" i="0" sz="1400" u="none" cap="none" strike="noStrike">
              <a:solidFill>
                <a:schemeClr val="dk1"/>
              </a:solidFill>
              <a:latin typeface="Calibri"/>
              <a:ea typeface="Calibri"/>
              <a:cs typeface="Calibri"/>
              <a:sym typeface="Calibri"/>
            </a:endParaRPr>
          </a:p>
        </p:txBody>
      </p:sp>
      <p:sp>
        <p:nvSpPr>
          <p:cNvPr id="162" name="Google Shape;162;p22"/>
          <p:cNvSpPr/>
          <p:nvPr/>
        </p:nvSpPr>
        <p:spPr>
          <a:xfrm>
            <a:off x="685800" y="1714500"/>
            <a:ext cx="2228850" cy="7543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7A"/>
              </a:buClr>
              <a:buSzPts val="1000"/>
              <a:buFont typeface="Calibri"/>
              <a:buNone/>
            </a:pPr>
            <a:r>
              <a:rPr b="0" i="0" lang="en" sz="1000" u="none" cap="none" strike="noStrike">
                <a:solidFill>
                  <a:srgbClr val="5A6B7A"/>
                </a:solidFill>
                <a:latin typeface="Calibri"/>
                <a:ea typeface="Calibri"/>
                <a:cs typeface="Calibri"/>
                <a:sym typeface="Calibri"/>
              </a:rPr>
              <a:t>Forty plausible tables could answer 'headcount'. The agent picks one.</a:t>
            </a:r>
            <a:endParaRPr b="0" i="0" sz="1000" u="none" cap="none" strike="noStrike">
              <a:solidFill>
                <a:schemeClr val="dk1"/>
              </a:solidFill>
              <a:latin typeface="Calibri"/>
              <a:ea typeface="Calibri"/>
              <a:cs typeface="Calibri"/>
              <a:sym typeface="Calibri"/>
            </a:endParaRPr>
          </a:p>
        </p:txBody>
      </p:sp>
      <p:sp>
        <p:nvSpPr>
          <p:cNvPr id="163" name="Google Shape;163;p22"/>
          <p:cNvSpPr/>
          <p:nvPr/>
        </p:nvSpPr>
        <p:spPr>
          <a:xfrm>
            <a:off x="3408426" y="1234440"/>
            <a:ext cx="2640330" cy="1371600"/>
          </a:xfrm>
          <a:prstGeom prst="roundRect">
            <a:avLst>
              <a:gd fmla="val 4000" name="adj"/>
            </a:avLst>
          </a:prstGeom>
          <a:solidFill>
            <a:srgbClr val="F2F4F6"/>
          </a:solidFill>
          <a:ln cap="flat" cmpd="sng" w="12700">
            <a:solidFill>
              <a:srgbClr val="F2F4F6"/>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64" name="Google Shape;164;p22"/>
          <p:cNvSpPr/>
          <p:nvPr/>
        </p:nvSpPr>
        <p:spPr>
          <a:xfrm>
            <a:off x="3614166" y="1405890"/>
            <a:ext cx="222885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303C"/>
              </a:buClr>
              <a:buSzPts val="1400"/>
              <a:buFont typeface="Cambria"/>
              <a:buNone/>
            </a:pPr>
            <a:r>
              <a:rPr b="1" i="0" lang="en" sz="1400" u="none" cap="none" strike="noStrike">
                <a:solidFill>
                  <a:srgbClr val="22303C"/>
                </a:solidFill>
                <a:latin typeface="Cambria"/>
                <a:ea typeface="Cambria"/>
                <a:cs typeface="Cambria"/>
                <a:sym typeface="Cambria"/>
              </a:rPr>
              <a:t>Staleness</a:t>
            </a:r>
            <a:endParaRPr b="0" i="0" sz="1400" u="none" cap="none" strike="noStrike">
              <a:solidFill>
                <a:schemeClr val="dk1"/>
              </a:solidFill>
              <a:latin typeface="Calibri"/>
              <a:ea typeface="Calibri"/>
              <a:cs typeface="Calibri"/>
              <a:sym typeface="Calibri"/>
            </a:endParaRPr>
          </a:p>
        </p:txBody>
      </p:sp>
      <p:sp>
        <p:nvSpPr>
          <p:cNvPr id="165" name="Google Shape;165;p22"/>
          <p:cNvSpPr/>
          <p:nvPr/>
        </p:nvSpPr>
        <p:spPr>
          <a:xfrm>
            <a:off x="3614166" y="1714500"/>
            <a:ext cx="2228850" cy="7543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7A"/>
              </a:buClr>
              <a:buSzPts val="1000"/>
              <a:buFont typeface="Calibri"/>
              <a:buNone/>
            </a:pPr>
            <a:r>
              <a:rPr b="0" i="0" lang="en" sz="1000" u="none" cap="none" strike="noStrike">
                <a:solidFill>
                  <a:srgbClr val="5A6B7A"/>
                </a:solidFill>
                <a:latin typeface="Calibri"/>
                <a:ea typeface="Calibri"/>
                <a:cs typeface="Calibri"/>
                <a:sym typeface="Calibri"/>
              </a:rPr>
              <a:t>Definitions and schemas change. Docs and agent knowledge rot.</a:t>
            </a:r>
            <a:endParaRPr b="0" i="0" sz="1000" u="none" cap="none" strike="noStrike">
              <a:solidFill>
                <a:schemeClr val="dk1"/>
              </a:solidFill>
              <a:latin typeface="Calibri"/>
              <a:ea typeface="Calibri"/>
              <a:cs typeface="Calibri"/>
              <a:sym typeface="Calibri"/>
            </a:endParaRPr>
          </a:p>
        </p:txBody>
      </p:sp>
      <p:sp>
        <p:nvSpPr>
          <p:cNvPr id="166" name="Google Shape;166;p22"/>
          <p:cNvSpPr/>
          <p:nvPr/>
        </p:nvSpPr>
        <p:spPr>
          <a:xfrm>
            <a:off x="6336792" y="1234440"/>
            <a:ext cx="2640330" cy="1371600"/>
          </a:xfrm>
          <a:prstGeom prst="roundRect">
            <a:avLst>
              <a:gd fmla="val 4000" name="adj"/>
            </a:avLst>
          </a:prstGeom>
          <a:solidFill>
            <a:srgbClr val="F2F4F6"/>
          </a:solidFill>
          <a:ln cap="flat" cmpd="sng" w="12700">
            <a:solidFill>
              <a:srgbClr val="F2F4F6"/>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67" name="Google Shape;167;p22"/>
          <p:cNvSpPr/>
          <p:nvPr/>
        </p:nvSpPr>
        <p:spPr>
          <a:xfrm>
            <a:off x="6542532" y="1405890"/>
            <a:ext cx="222885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303C"/>
              </a:buClr>
              <a:buSzPts val="1400"/>
              <a:buFont typeface="Cambria"/>
              <a:buNone/>
            </a:pPr>
            <a:r>
              <a:rPr b="1" i="0" lang="en" sz="1400" u="none" cap="none" strike="noStrike">
                <a:solidFill>
                  <a:srgbClr val="22303C"/>
                </a:solidFill>
                <a:latin typeface="Cambria"/>
                <a:ea typeface="Cambria"/>
                <a:cs typeface="Cambria"/>
                <a:sym typeface="Cambria"/>
              </a:rPr>
              <a:t>Retrieval failure</a:t>
            </a:r>
            <a:endParaRPr b="0" i="0" sz="1400" u="none" cap="none" strike="noStrike">
              <a:solidFill>
                <a:schemeClr val="dk1"/>
              </a:solidFill>
              <a:latin typeface="Calibri"/>
              <a:ea typeface="Calibri"/>
              <a:cs typeface="Calibri"/>
              <a:sym typeface="Calibri"/>
            </a:endParaRPr>
          </a:p>
        </p:txBody>
      </p:sp>
      <p:sp>
        <p:nvSpPr>
          <p:cNvPr id="168" name="Google Shape;168;p22"/>
          <p:cNvSpPr/>
          <p:nvPr/>
        </p:nvSpPr>
        <p:spPr>
          <a:xfrm>
            <a:off x="6542532" y="1714500"/>
            <a:ext cx="2228850" cy="7543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7A"/>
              </a:buClr>
              <a:buSzPts val="1000"/>
              <a:buFont typeface="Calibri"/>
              <a:buNone/>
            </a:pPr>
            <a:r>
              <a:rPr b="0" i="0" lang="en" sz="1000" u="none" cap="none" strike="noStrike">
                <a:solidFill>
                  <a:srgbClr val="5A6B7A"/>
                </a:solidFill>
                <a:latin typeface="Calibri"/>
                <a:ea typeface="Calibri"/>
                <a:cs typeface="Calibri"/>
                <a:sym typeface="Calibri"/>
              </a:rPr>
              <a:t>The right answer is documented. The agent never finds it.</a:t>
            </a:r>
            <a:endParaRPr b="0" i="0" sz="1000" u="none" cap="none" strike="noStrike">
              <a:solidFill>
                <a:schemeClr val="dk1"/>
              </a:solidFill>
              <a:latin typeface="Calibri"/>
              <a:ea typeface="Calibri"/>
              <a:cs typeface="Calibri"/>
              <a:sym typeface="Calibri"/>
            </a:endParaRPr>
          </a:p>
        </p:txBody>
      </p:sp>
      <p:sp>
        <p:nvSpPr>
          <p:cNvPr id="169" name="Google Shape;169;p22"/>
          <p:cNvSpPr/>
          <p:nvPr/>
        </p:nvSpPr>
        <p:spPr>
          <a:xfrm>
            <a:off x="480060" y="2811780"/>
            <a:ext cx="8181594" cy="1303020"/>
          </a:xfrm>
          <a:prstGeom prst="roundRect">
            <a:avLst>
              <a:gd fmla="val 4211" name="adj"/>
            </a:avLst>
          </a:prstGeom>
          <a:solidFill>
            <a:srgbClr val="FBEDE8"/>
          </a:solidFill>
          <a:ln cap="flat" cmpd="sng" w="12700">
            <a:solidFill>
              <a:srgbClr val="FBEDE8"/>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70" name="Google Shape;170;p22"/>
          <p:cNvSpPr/>
          <p:nvPr/>
        </p:nvSpPr>
        <p:spPr>
          <a:xfrm>
            <a:off x="754380" y="2983230"/>
            <a:ext cx="4114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663C"/>
              </a:buClr>
              <a:buSzPts val="1700"/>
              <a:buFont typeface="Cambria"/>
              <a:buNone/>
            </a:pPr>
            <a:r>
              <a:rPr b="1" i="0" lang="en" sz="1700" u="none" cap="none" strike="noStrike">
                <a:solidFill>
                  <a:srgbClr val="E8663C"/>
                </a:solidFill>
                <a:latin typeface="Cambria"/>
                <a:ea typeface="Cambria"/>
                <a:cs typeface="Cambria"/>
                <a:sym typeface="Cambria"/>
              </a:rPr>
              <a:t>Silent wrongness</a:t>
            </a:r>
            <a:endParaRPr b="0" i="0" sz="1700" u="none" cap="none" strike="noStrike">
              <a:solidFill>
                <a:schemeClr val="dk1"/>
              </a:solidFill>
              <a:latin typeface="Calibri"/>
              <a:ea typeface="Calibri"/>
              <a:cs typeface="Calibri"/>
              <a:sym typeface="Calibri"/>
            </a:endParaRPr>
          </a:p>
        </p:txBody>
      </p:sp>
      <p:sp>
        <p:nvSpPr>
          <p:cNvPr id="171" name="Google Shape;171;p22"/>
          <p:cNvSpPr/>
          <p:nvPr/>
        </p:nvSpPr>
        <p:spPr>
          <a:xfrm>
            <a:off x="754380" y="3326130"/>
            <a:ext cx="7632954" cy="6172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C4430"/>
              </a:buClr>
              <a:buSzPts val="1100"/>
              <a:buFont typeface="Calibri"/>
              <a:buNone/>
            </a:pPr>
            <a:r>
              <a:rPr b="0" i="0" lang="en" sz="1100" u="none" cap="none" strike="noStrike">
                <a:solidFill>
                  <a:srgbClr val="8C4430"/>
                </a:solidFill>
                <a:latin typeface="Calibri"/>
                <a:ea typeface="Calibri"/>
                <a:cs typeface="Calibri"/>
                <a:sym typeface="Calibri"/>
              </a:rPr>
              <a:t>The answer is wrong, looks plausible, and is used without objection. None of the three fixes above fully catch it — and nothing in your stack raises an alarm.</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6" name="Shape 176"/>
        <p:cNvGrpSpPr/>
        <p:nvPr/>
      </p:nvGrpSpPr>
      <p:grpSpPr>
        <a:xfrm>
          <a:off x="0" y="0"/>
          <a:ext cx="0" cy="0"/>
          <a:chOff x="0" y="0"/>
          <a:chExt cx="0" cy="0"/>
        </a:xfrm>
      </p:grpSpPr>
      <p:sp>
        <p:nvSpPr>
          <p:cNvPr id="177" name="Google Shape;177;p23"/>
          <p:cNvSpPr/>
          <p:nvPr/>
        </p:nvSpPr>
        <p:spPr>
          <a:xfrm>
            <a:off x="480060" y="192024"/>
            <a:ext cx="8181594"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663C"/>
              </a:buClr>
              <a:buSzPts val="800"/>
              <a:buFont typeface="Calibri"/>
              <a:buNone/>
            </a:pPr>
            <a:r>
              <a:rPr b="1" i="0" lang="en" sz="800" u="none" cap="none" strike="noStrike">
                <a:solidFill>
                  <a:srgbClr val="E8663C"/>
                </a:solidFill>
                <a:latin typeface="Calibri"/>
                <a:ea typeface="Calibri"/>
                <a:cs typeface="Calibri"/>
                <a:sym typeface="Calibri"/>
              </a:rPr>
              <a:t>THE WORKFLOW</a:t>
            </a:r>
            <a:endParaRPr b="0" i="0" sz="800" u="none" cap="none" strike="noStrike">
              <a:solidFill>
                <a:schemeClr val="dk1"/>
              </a:solidFill>
              <a:latin typeface="Calibri"/>
              <a:ea typeface="Calibri"/>
              <a:cs typeface="Calibri"/>
              <a:sym typeface="Calibri"/>
            </a:endParaRPr>
          </a:p>
        </p:txBody>
      </p:sp>
      <p:sp>
        <p:nvSpPr>
          <p:cNvPr id="178" name="Google Shape;178;p23"/>
          <p:cNvSpPr/>
          <p:nvPr/>
        </p:nvSpPr>
        <p:spPr>
          <a:xfrm>
            <a:off x="480060" y="342900"/>
            <a:ext cx="8181594" cy="6172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303C"/>
              </a:buClr>
              <a:buSzPts val="2600"/>
              <a:buFont typeface="Cambria"/>
              <a:buNone/>
            </a:pPr>
            <a:r>
              <a:rPr b="1" i="0" lang="en" sz="2600" u="none" cap="none" strike="noStrike">
                <a:solidFill>
                  <a:srgbClr val="22303C"/>
                </a:solidFill>
                <a:latin typeface="Cambria"/>
                <a:ea typeface="Cambria"/>
                <a:cs typeface="Cambria"/>
                <a:sym typeface="Cambria"/>
              </a:rPr>
              <a:t>Five stages, and the one that compounds</a:t>
            </a:r>
            <a:endParaRPr b="0" i="0" sz="2600" u="none" cap="none" strike="noStrike">
              <a:solidFill>
                <a:schemeClr val="dk1"/>
              </a:solidFill>
              <a:latin typeface="Calibri"/>
              <a:ea typeface="Calibri"/>
              <a:cs typeface="Calibri"/>
              <a:sym typeface="Calibri"/>
            </a:endParaRPr>
          </a:p>
        </p:txBody>
      </p:sp>
      <p:sp>
        <p:nvSpPr>
          <p:cNvPr id="179" name="Google Shape;179;p23"/>
          <p:cNvSpPr/>
          <p:nvPr/>
        </p:nvSpPr>
        <p:spPr>
          <a:xfrm>
            <a:off x="154310" y="1424205"/>
            <a:ext cx="1563600" cy="1028700"/>
          </a:xfrm>
          <a:prstGeom prst="roundRect">
            <a:avLst>
              <a:gd fmla="val 5333" name="adj"/>
            </a:avLst>
          </a:prstGeom>
          <a:solidFill>
            <a:srgbClr val="F2F4F6"/>
          </a:solidFill>
          <a:ln cap="flat" cmpd="sng" w="12700">
            <a:solidFill>
              <a:srgbClr val="F2F4F6"/>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80" name="Google Shape;180;p23"/>
          <p:cNvSpPr/>
          <p:nvPr/>
        </p:nvSpPr>
        <p:spPr>
          <a:xfrm>
            <a:off x="257180" y="1561365"/>
            <a:ext cx="1357800" cy="240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2303C"/>
              </a:buClr>
              <a:buSzPts val="1100"/>
              <a:buFont typeface="Cambria"/>
              <a:buNone/>
            </a:pPr>
            <a:r>
              <a:rPr b="1" i="0" lang="en" sz="1100" u="none" cap="none" strike="noStrike">
                <a:solidFill>
                  <a:srgbClr val="22303C"/>
                </a:solidFill>
                <a:latin typeface="Cambria"/>
                <a:ea typeface="Cambria"/>
                <a:cs typeface="Cambria"/>
                <a:sym typeface="Cambria"/>
              </a:rPr>
              <a:t>Define</a:t>
            </a:r>
            <a:endParaRPr b="0" i="0" sz="1100" u="none" cap="none" strike="noStrike">
              <a:solidFill>
                <a:schemeClr val="dk1"/>
              </a:solidFill>
              <a:latin typeface="Calibri"/>
              <a:ea typeface="Calibri"/>
              <a:cs typeface="Calibri"/>
              <a:sym typeface="Calibri"/>
            </a:endParaRPr>
          </a:p>
        </p:txBody>
      </p:sp>
      <p:sp>
        <p:nvSpPr>
          <p:cNvPr id="181" name="Google Shape;181;p23"/>
          <p:cNvSpPr/>
          <p:nvPr/>
        </p:nvSpPr>
        <p:spPr>
          <a:xfrm>
            <a:off x="257180" y="1835685"/>
            <a:ext cx="1357800" cy="480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A6B7A"/>
              </a:buClr>
              <a:buSzPts val="800"/>
              <a:buFont typeface="Calibri"/>
              <a:buNone/>
            </a:pPr>
            <a:r>
              <a:rPr b="0" i="0" lang="en" sz="800" u="none" cap="none" strike="noStrike">
                <a:solidFill>
                  <a:srgbClr val="5A6B7A"/>
                </a:solidFill>
                <a:latin typeface="Calibri"/>
                <a:ea typeface="Calibri"/>
                <a:cs typeface="Calibri"/>
                <a:sym typeface="Calibri"/>
              </a:rPr>
              <a:t>Spec the question</a:t>
            </a:r>
            <a:endParaRPr b="0" i="0" sz="800" u="none" cap="none" strike="noStrike">
              <a:solidFill>
                <a:schemeClr val="dk1"/>
              </a:solidFill>
              <a:latin typeface="Calibri"/>
              <a:ea typeface="Calibri"/>
              <a:cs typeface="Calibri"/>
              <a:sym typeface="Calibri"/>
            </a:endParaRPr>
          </a:p>
        </p:txBody>
      </p:sp>
      <p:sp>
        <p:nvSpPr>
          <p:cNvPr id="182" name="Google Shape;182;p23"/>
          <p:cNvSpPr/>
          <p:nvPr/>
        </p:nvSpPr>
        <p:spPr>
          <a:xfrm>
            <a:off x="1731650" y="1767105"/>
            <a:ext cx="2400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A99A8"/>
              </a:buClr>
              <a:buSzPts val="1400"/>
              <a:buFont typeface="Calibri"/>
              <a:buNone/>
            </a:pPr>
            <a:r>
              <a:rPr b="0" i="0" lang="en" sz="1400" u="none" cap="none" strike="noStrike">
                <a:solidFill>
                  <a:srgbClr val="8A99A8"/>
                </a:solidFill>
                <a:latin typeface="Calibri"/>
                <a:ea typeface="Calibri"/>
                <a:cs typeface="Calibri"/>
                <a:sym typeface="Calibri"/>
              </a:rPr>
              <a:t>→</a:t>
            </a:r>
            <a:endParaRPr b="0" i="0" sz="1400" u="none" cap="none" strike="noStrike">
              <a:solidFill>
                <a:schemeClr val="dk1"/>
              </a:solidFill>
              <a:latin typeface="Calibri"/>
              <a:ea typeface="Calibri"/>
              <a:cs typeface="Calibri"/>
              <a:sym typeface="Calibri"/>
            </a:endParaRPr>
          </a:p>
        </p:txBody>
      </p:sp>
      <p:sp>
        <p:nvSpPr>
          <p:cNvPr id="183" name="Google Shape;183;p23"/>
          <p:cNvSpPr/>
          <p:nvPr/>
        </p:nvSpPr>
        <p:spPr>
          <a:xfrm>
            <a:off x="1971680" y="1424205"/>
            <a:ext cx="1563600" cy="1028700"/>
          </a:xfrm>
          <a:prstGeom prst="roundRect">
            <a:avLst>
              <a:gd fmla="val 5333" name="adj"/>
            </a:avLst>
          </a:prstGeom>
          <a:solidFill>
            <a:srgbClr val="F2F4F6"/>
          </a:solidFill>
          <a:ln cap="flat" cmpd="sng" w="12700">
            <a:solidFill>
              <a:srgbClr val="F2F4F6"/>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84" name="Google Shape;184;p23"/>
          <p:cNvSpPr/>
          <p:nvPr/>
        </p:nvSpPr>
        <p:spPr>
          <a:xfrm>
            <a:off x="2074550" y="1561365"/>
            <a:ext cx="1357800" cy="240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2303C"/>
              </a:buClr>
              <a:buSzPts val="1100"/>
              <a:buFont typeface="Cambria"/>
              <a:buNone/>
            </a:pPr>
            <a:r>
              <a:rPr b="1" i="0" lang="en" sz="1100" u="none" cap="none" strike="noStrike">
                <a:solidFill>
                  <a:srgbClr val="22303C"/>
                </a:solidFill>
                <a:latin typeface="Cambria"/>
                <a:ea typeface="Cambria"/>
                <a:cs typeface="Cambria"/>
                <a:sym typeface="Cambria"/>
              </a:rPr>
              <a:t>Build</a:t>
            </a:r>
            <a:endParaRPr b="0" i="0" sz="1100" u="none" cap="none" strike="noStrike">
              <a:solidFill>
                <a:schemeClr val="dk1"/>
              </a:solidFill>
              <a:latin typeface="Calibri"/>
              <a:ea typeface="Calibri"/>
              <a:cs typeface="Calibri"/>
              <a:sym typeface="Calibri"/>
            </a:endParaRPr>
          </a:p>
        </p:txBody>
      </p:sp>
      <p:sp>
        <p:nvSpPr>
          <p:cNvPr id="185" name="Google Shape;185;p23"/>
          <p:cNvSpPr/>
          <p:nvPr/>
        </p:nvSpPr>
        <p:spPr>
          <a:xfrm>
            <a:off x="2074550" y="1835685"/>
            <a:ext cx="1357800" cy="480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A6B7A"/>
              </a:buClr>
              <a:buSzPts val="800"/>
              <a:buFont typeface="Calibri"/>
              <a:buNone/>
            </a:pPr>
            <a:r>
              <a:rPr b="0" i="0" lang="en" sz="800" u="none" cap="none" strike="noStrike">
                <a:solidFill>
                  <a:srgbClr val="5A6B7A"/>
                </a:solidFill>
                <a:latin typeface="Calibri"/>
                <a:ea typeface="Calibri"/>
                <a:cs typeface="Calibri"/>
                <a:sym typeface="Calibri"/>
              </a:rPr>
              <a:t>Find and query</a:t>
            </a:r>
            <a:endParaRPr b="0" i="0" sz="800" u="none" cap="none" strike="noStrike">
              <a:solidFill>
                <a:schemeClr val="dk1"/>
              </a:solidFill>
              <a:latin typeface="Calibri"/>
              <a:ea typeface="Calibri"/>
              <a:cs typeface="Calibri"/>
              <a:sym typeface="Calibri"/>
            </a:endParaRPr>
          </a:p>
        </p:txBody>
      </p:sp>
      <p:sp>
        <p:nvSpPr>
          <p:cNvPr id="186" name="Google Shape;186;p23"/>
          <p:cNvSpPr/>
          <p:nvPr/>
        </p:nvSpPr>
        <p:spPr>
          <a:xfrm>
            <a:off x="3549020" y="1767105"/>
            <a:ext cx="2400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A99A8"/>
              </a:buClr>
              <a:buSzPts val="1400"/>
              <a:buFont typeface="Calibri"/>
              <a:buNone/>
            </a:pPr>
            <a:r>
              <a:rPr b="0" i="0" lang="en" sz="1400" u="none" cap="none" strike="noStrike">
                <a:solidFill>
                  <a:srgbClr val="8A99A8"/>
                </a:solidFill>
                <a:latin typeface="Calibri"/>
                <a:ea typeface="Calibri"/>
                <a:cs typeface="Calibri"/>
                <a:sym typeface="Calibri"/>
              </a:rPr>
              <a:t>→</a:t>
            </a:r>
            <a:endParaRPr b="0" i="0" sz="1400" u="none" cap="none" strike="noStrike">
              <a:solidFill>
                <a:schemeClr val="dk1"/>
              </a:solidFill>
              <a:latin typeface="Calibri"/>
              <a:ea typeface="Calibri"/>
              <a:cs typeface="Calibri"/>
              <a:sym typeface="Calibri"/>
            </a:endParaRPr>
          </a:p>
        </p:txBody>
      </p:sp>
      <p:sp>
        <p:nvSpPr>
          <p:cNvPr id="187" name="Google Shape;187;p23"/>
          <p:cNvSpPr/>
          <p:nvPr/>
        </p:nvSpPr>
        <p:spPr>
          <a:xfrm>
            <a:off x="3789050" y="1424205"/>
            <a:ext cx="1563600" cy="1028700"/>
          </a:xfrm>
          <a:prstGeom prst="roundRect">
            <a:avLst>
              <a:gd fmla="val 5333" name="adj"/>
            </a:avLst>
          </a:prstGeom>
          <a:solidFill>
            <a:srgbClr val="F2F4F6"/>
          </a:solidFill>
          <a:ln cap="flat" cmpd="sng" w="12700">
            <a:solidFill>
              <a:srgbClr val="F2F4F6"/>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88" name="Google Shape;188;p23"/>
          <p:cNvSpPr/>
          <p:nvPr/>
        </p:nvSpPr>
        <p:spPr>
          <a:xfrm>
            <a:off x="3891920" y="1561365"/>
            <a:ext cx="1357800" cy="240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2303C"/>
              </a:buClr>
              <a:buSzPts val="1100"/>
              <a:buFont typeface="Cambria"/>
              <a:buNone/>
            </a:pPr>
            <a:r>
              <a:rPr b="1" i="0" lang="en" sz="1100" u="none" cap="none" strike="noStrike">
                <a:solidFill>
                  <a:srgbClr val="22303C"/>
                </a:solidFill>
                <a:latin typeface="Cambria"/>
                <a:ea typeface="Cambria"/>
                <a:cs typeface="Cambria"/>
                <a:sym typeface="Cambria"/>
              </a:rPr>
              <a:t>Validate</a:t>
            </a:r>
            <a:endParaRPr b="0" i="0" sz="1100" u="none" cap="none" strike="noStrike">
              <a:solidFill>
                <a:schemeClr val="dk1"/>
              </a:solidFill>
              <a:latin typeface="Calibri"/>
              <a:ea typeface="Calibri"/>
              <a:cs typeface="Calibri"/>
              <a:sym typeface="Calibri"/>
            </a:endParaRPr>
          </a:p>
        </p:txBody>
      </p:sp>
      <p:sp>
        <p:nvSpPr>
          <p:cNvPr id="189" name="Google Shape;189;p23"/>
          <p:cNvSpPr/>
          <p:nvPr/>
        </p:nvSpPr>
        <p:spPr>
          <a:xfrm>
            <a:off x="3891920" y="1835685"/>
            <a:ext cx="1357800" cy="480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A6B7A"/>
              </a:buClr>
              <a:buSzPts val="800"/>
              <a:buFont typeface="Calibri"/>
              <a:buNone/>
            </a:pPr>
            <a:r>
              <a:rPr b="0" i="0" lang="en" sz="800" u="none" cap="none" strike="noStrike">
                <a:solidFill>
                  <a:srgbClr val="5A6B7A"/>
                </a:solidFill>
                <a:latin typeface="Calibri"/>
                <a:ea typeface="Calibri"/>
                <a:cs typeface="Calibri"/>
                <a:sym typeface="Calibri"/>
              </a:rPr>
              <a:t>Check and doubt</a:t>
            </a:r>
            <a:endParaRPr b="0" i="0" sz="800" u="none" cap="none" strike="noStrike">
              <a:solidFill>
                <a:schemeClr val="dk1"/>
              </a:solidFill>
              <a:latin typeface="Calibri"/>
              <a:ea typeface="Calibri"/>
              <a:cs typeface="Calibri"/>
              <a:sym typeface="Calibri"/>
            </a:endParaRPr>
          </a:p>
        </p:txBody>
      </p:sp>
      <p:sp>
        <p:nvSpPr>
          <p:cNvPr id="190" name="Google Shape;190;p23"/>
          <p:cNvSpPr/>
          <p:nvPr/>
        </p:nvSpPr>
        <p:spPr>
          <a:xfrm>
            <a:off x="5366390" y="1767105"/>
            <a:ext cx="2400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A99A8"/>
              </a:buClr>
              <a:buSzPts val="1400"/>
              <a:buFont typeface="Calibri"/>
              <a:buNone/>
            </a:pPr>
            <a:r>
              <a:rPr b="0" i="0" lang="en" sz="1400" u="none" cap="none" strike="noStrike">
                <a:solidFill>
                  <a:srgbClr val="8A99A8"/>
                </a:solidFill>
                <a:latin typeface="Calibri"/>
                <a:ea typeface="Calibri"/>
                <a:cs typeface="Calibri"/>
                <a:sym typeface="Calibri"/>
              </a:rPr>
              <a:t>→</a:t>
            </a:r>
            <a:endParaRPr b="0" i="0" sz="1400" u="none" cap="none" strike="noStrike">
              <a:solidFill>
                <a:schemeClr val="dk1"/>
              </a:solidFill>
              <a:latin typeface="Calibri"/>
              <a:ea typeface="Calibri"/>
              <a:cs typeface="Calibri"/>
              <a:sym typeface="Calibri"/>
            </a:endParaRPr>
          </a:p>
        </p:txBody>
      </p:sp>
      <p:sp>
        <p:nvSpPr>
          <p:cNvPr id="191" name="Google Shape;191;p23"/>
          <p:cNvSpPr/>
          <p:nvPr/>
        </p:nvSpPr>
        <p:spPr>
          <a:xfrm>
            <a:off x="5606420" y="1424205"/>
            <a:ext cx="1563600" cy="1028700"/>
          </a:xfrm>
          <a:prstGeom prst="roundRect">
            <a:avLst>
              <a:gd fmla="val 5333" name="adj"/>
            </a:avLst>
          </a:prstGeom>
          <a:solidFill>
            <a:srgbClr val="F2F4F6"/>
          </a:solidFill>
          <a:ln cap="flat" cmpd="sng" w="12700">
            <a:solidFill>
              <a:srgbClr val="F2F4F6"/>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92" name="Google Shape;192;p23"/>
          <p:cNvSpPr/>
          <p:nvPr/>
        </p:nvSpPr>
        <p:spPr>
          <a:xfrm>
            <a:off x="5709290" y="1561365"/>
            <a:ext cx="1357800" cy="240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2303C"/>
              </a:buClr>
              <a:buSzPts val="1100"/>
              <a:buFont typeface="Cambria"/>
              <a:buNone/>
            </a:pPr>
            <a:r>
              <a:rPr b="1" i="0" lang="en" sz="1100" u="none" cap="none" strike="noStrike">
                <a:solidFill>
                  <a:srgbClr val="22303C"/>
                </a:solidFill>
                <a:latin typeface="Cambria"/>
                <a:ea typeface="Cambria"/>
                <a:cs typeface="Cambria"/>
                <a:sym typeface="Cambria"/>
              </a:rPr>
              <a:t>Operationalize</a:t>
            </a:r>
            <a:endParaRPr b="0" i="0" sz="1100" u="none" cap="none" strike="noStrike">
              <a:solidFill>
                <a:schemeClr val="dk1"/>
              </a:solidFill>
              <a:latin typeface="Calibri"/>
              <a:ea typeface="Calibri"/>
              <a:cs typeface="Calibri"/>
              <a:sym typeface="Calibri"/>
            </a:endParaRPr>
          </a:p>
        </p:txBody>
      </p:sp>
      <p:sp>
        <p:nvSpPr>
          <p:cNvPr id="193" name="Google Shape;193;p23"/>
          <p:cNvSpPr/>
          <p:nvPr/>
        </p:nvSpPr>
        <p:spPr>
          <a:xfrm>
            <a:off x="5709290" y="1835685"/>
            <a:ext cx="1357800" cy="480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A6B7A"/>
              </a:buClr>
              <a:buSzPts val="800"/>
              <a:buFont typeface="Calibri"/>
              <a:buNone/>
            </a:pPr>
            <a:r>
              <a:rPr b="0" i="0" lang="en" sz="800" u="none" cap="none" strike="noStrike">
                <a:solidFill>
                  <a:srgbClr val="5A6B7A"/>
                </a:solidFill>
                <a:latin typeface="Calibri"/>
                <a:ea typeface="Calibri"/>
                <a:cs typeface="Calibri"/>
                <a:sym typeface="Calibri"/>
              </a:rPr>
              <a:t>Ship with provenance</a:t>
            </a:r>
            <a:endParaRPr b="0" i="0" sz="800" u="none" cap="none" strike="noStrike">
              <a:solidFill>
                <a:schemeClr val="dk1"/>
              </a:solidFill>
              <a:latin typeface="Calibri"/>
              <a:ea typeface="Calibri"/>
              <a:cs typeface="Calibri"/>
              <a:sym typeface="Calibri"/>
            </a:endParaRPr>
          </a:p>
        </p:txBody>
      </p:sp>
      <p:sp>
        <p:nvSpPr>
          <p:cNvPr id="194" name="Google Shape;194;p23"/>
          <p:cNvSpPr/>
          <p:nvPr/>
        </p:nvSpPr>
        <p:spPr>
          <a:xfrm>
            <a:off x="7183760" y="1767105"/>
            <a:ext cx="2400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A99A8"/>
              </a:buClr>
              <a:buSzPts val="1400"/>
              <a:buFont typeface="Calibri"/>
              <a:buNone/>
            </a:pPr>
            <a:r>
              <a:rPr b="0" i="0" lang="en" sz="1400" u="none" cap="none" strike="noStrike">
                <a:solidFill>
                  <a:srgbClr val="8A99A8"/>
                </a:solidFill>
                <a:latin typeface="Calibri"/>
                <a:ea typeface="Calibri"/>
                <a:cs typeface="Calibri"/>
                <a:sym typeface="Calibri"/>
              </a:rPr>
              <a:t>→</a:t>
            </a:r>
            <a:endParaRPr b="0" i="0" sz="1400" u="none" cap="none" strike="noStrike">
              <a:solidFill>
                <a:schemeClr val="dk1"/>
              </a:solidFill>
              <a:latin typeface="Calibri"/>
              <a:ea typeface="Calibri"/>
              <a:cs typeface="Calibri"/>
              <a:sym typeface="Calibri"/>
            </a:endParaRPr>
          </a:p>
        </p:txBody>
      </p:sp>
      <p:sp>
        <p:nvSpPr>
          <p:cNvPr id="195" name="Google Shape;195;p23"/>
          <p:cNvSpPr/>
          <p:nvPr/>
        </p:nvSpPr>
        <p:spPr>
          <a:xfrm>
            <a:off x="7423790" y="1424205"/>
            <a:ext cx="1563600" cy="1028700"/>
          </a:xfrm>
          <a:prstGeom prst="roundRect">
            <a:avLst>
              <a:gd fmla="val 5333" name="adj"/>
            </a:avLst>
          </a:prstGeom>
          <a:solidFill>
            <a:srgbClr val="F2F4F6"/>
          </a:solidFill>
          <a:ln cap="flat" cmpd="sng" w="12700">
            <a:solidFill>
              <a:srgbClr val="F2F4F6"/>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96" name="Google Shape;196;p23"/>
          <p:cNvSpPr/>
          <p:nvPr/>
        </p:nvSpPr>
        <p:spPr>
          <a:xfrm>
            <a:off x="7526660" y="1561365"/>
            <a:ext cx="1357800" cy="240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2303C"/>
              </a:buClr>
              <a:buSzPts val="1100"/>
              <a:buFont typeface="Cambria"/>
              <a:buNone/>
            </a:pPr>
            <a:r>
              <a:rPr b="1" i="0" lang="en" sz="1100" u="none" cap="none" strike="noStrike">
                <a:solidFill>
                  <a:srgbClr val="22303C"/>
                </a:solidFill>
                <a:latin typeface="Cambria"/>
                <a:ea typeface="Cambria"/>
                <a:cs typeface="Cambria"/>
                <a:sym typeface="Cambria"/>
              </a:rPr>
              <a:t>Monitor</a:t>
            </a:r>
            <a:endParaRPr b="0" i="0" sz="1100" u="none" cap="none" strike="noStrike">
              <a:solidFill>
                <a:schemeClr val="dk1"/>
              </a:solidFill>
              <a:latin typeface="Calibri"/>
              <a:ea typeface="Calibri"/>
              <a:cs typeface="Calibri"/>
              <a:sym typeface="Calibri"/>
            </a:endParaRPr>
          </a:p>
        </p:txBody>
      </p:sp>
      <p:sp>
        <p:nvSpPr>
          <p:cNvPr id="197" name="Google Shape;197;p23"/>
          <p:cNvSpPr/>
          <p:nvPr/>
        </p:nvSpPr>
        <p:spPr>
          <a:xfrm>
            <a:off x="7526660" y="1835685"/>
            <a:ext cx="1357800" cy="480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A6B7A"/>
              </a:buClr>
              <a:buSzPts val="800"/>
              <a:buFont typeface="Calibri"/>
              <a:buNone/>
            </a:pPr>
            <a:r>
              <a:rPr b="0" i="0" lang="en" sz="800" u="none" cap="none" strike="noStrike">
                <a:solidFill>
                  <a:srgbClr val="5A6B7A"/>
                </a:solidFill>
                <a:latin typeface="Calibri"/>
                <a:ea typeface="Calibri"/>
                <a:cs typeface="Calibri"/>
                <a:sym typeface="Calibri"/>
              </a:rPr>
              <a:t>Watch for drift</a:t>
            </a:r>
            <a:endParaRPr b="0" i="0" sz="800" u="none" cap="none" strike="noStrike">
              <a:solidFill>
                <a:schemeClr val="dk1"/>
              </a:solidFill>
              <a:latin typeface="Calibri"/>
              <a:ea typeface="Calibri"/>
              <a:cs typeface="Calibri"/>
              <a:sym typeface="Calibri"/>
            </a:endParaRPr>
          </a:p>
        </p:txBody>
      </p:sp>
      <p:sp>
        <p:nvSpPr>
          <p:cNvPr id="198" name="Google Shape;198;p23"/>
          <p:cNvSpPr/>
          <p:nvPr/>
        </p:nvSpPr>
        <p:spPr>
          <a:xfrm>
            <a:off x="480060" y="2846070"/>
            <a:ext cx="8181594" cy="1268730"/>
          </a:xfrm>
          <a:prstGeom prst="roundRect">
            <a:avLst>
              <a:gd fmla="val 4324" name="adj"/>
            </a:avLst>
          </a:prstGeom>
          <a:solidFill>
            <a:srgbClr val="E6F2EE"/>
          </a:solidFill>
          <a:ln cap="flat" cmpd="sng" w="12700">
            <a:solidFill>
              <a:srgbClr val="E6F2EE"/>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99" name="Google Shape;199;p23"/>
          <p:cNvSpPr/>
          <p:nvPr/>
        </p:nvSpPr>
        <p:spPr>
          <a:xfrm>
            <a:off x="754380" y="3017520"/>
            <a:ext cx="34290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8A72"/>
              </a:buClr>
              <a:buSzPts val="1700"/>
              <a:buFont typeface="Cambria"/>
              <a:buNone/>
            </a:pPr>
            <a:r>
              <a:rPr b="1" i="0" lang="en" sz="1700" u="none" cap="none" strike="noStrike">
                <a:solidFill>
                  <a:srgbClr val="2D8A72"/>
                </a:solidFill>
                <a:latin typeface="Cambria"/>
                <a:ea typeface="Cambria"/>
                <a:cs typeface="Cambria"/>
                <a:sym typeface="Cambria"/>
              </a:rPr>
              <a:t>Compound</a:t>
            </a:r>
            <a:endParaRPr b="0" i="0" sz="1700" u="none" cap="none" strike="noStrike">
              <a:solidFill>
                <a:schemeClr val="dk1"/>
              </a:solidFill>
              <a:latin typeface="Calibri"/>
              <a:ea typeface="Calibri"/>
              <a:cs typeface="Calibri"/>
              <a:sym typeface="Calibri"/>
            </a:endParaRPr>
          </a:p>
        </p:txBody>
      </p:sp>
      <p:sp>
        <p:nvSpPr>
          <p:cNvPr id="200" name="Google Shape;200;p23"/>
          <p:cNvSpPr/>
          <p:nvPr/>
        </p:nvSpPr>
        <p:spPr>
          <a:xfrm>
            <a:off x="754380" y="3360420"/>
            <a:ext cx="7632954" cy="58293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5F4C"/>
              </a:buClr>
              <a:buSzPts val="1100"/>
              <a:buFont typeface="Calibri"/>
              <a:buNone/>
            </a:pPr>
            <a:r>
              <a:rPr b="0" i="0" lang="en" sz="1100" u="none" cap="none" strike="noStrike">
                <a:solidFill>
                  <a:srgbClr val="1F5F4C"/>
                </a:solidFill>
                <a:latin typeface="Calibri"/>
                <a:ea typeface="Calibri"/>
                <a:cs typeface="Calibri"/>
                <a:sym typeface="Calibri"/>
              </a:rPr>
              <a:t>Every correction becomes a doc edit and an eval. Skip this step and you have done traditional analytics with an AI typing for you.</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2303C"/>
        </a:solidFill>
      </p:bgPr>
    </p:bg>
    <p:spTree>
      <p:nvGrpSpPr>
        <p:cNvPr id="205" name="Shape 205"/>
        <p:cNvGrpSpPr/>
        <p:nvPr/>
      </p:nvGrpSpPr>
      <p:grpSpPr>
        <a:xfrm>
          <a:off x="0" y="0"/>
          <a:ext cx="0" cy="0"/>
          <a:chOff x="0" y="0"/>
          <a:chExt cx="0" cy="0"/>
        </a:xfrm>
      </p:grpSpPr>
      <p:sp>
        <p:nvSpPr>
          <p:cNvPr id="206" name="Google Shape;206;p24"/>
          <p:cNvSpPr/>
          <p:nvPr/>
        </p:nvSpPr>
        <p:spPr>
          <a:xfrm>
            <a:off x="480060" y="192024"/>
            <a:ext cx="8181594"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663C"/>
              </a:buClr>
              <a:buSzPts val="800"/>
              <a:buFont typeface="Calibri"/>
              <a:buNone/>
            </a:pPr>
            <a:r>
              <a:rPr b="1" i="0" lang="en" sz="800" u="none" cap="none" strike="noStrike">
                <a:solidFill>
                  <a:srgbClr val="E8663C"/>
                </a:solidFill>
                <a:latin typeface="Calibri"/>
                <a:ea typeface="Calibri"/>
                <a:cs typeface="Calibri"/>
                <a:sym typeface="Calibri"/>
              </a:rPr>
              <a:t>THE REFRAME</a:t>
            </a:r>
            <a:endParaRPr b="0" i="0" sz="800" u="none" cap="none" strike="noStrike">
              <a:solidFill>
                <a:schemeClr val="dk1"/>
              </a:solidFill>
              <a:latin typeface="Calibri"/>
              <a:ea typeface="Calibri"/>
              <a:cs typeface="Calibri"/>
              <a:sym typeface="Calibri"/>
            </a:endParaRPr>
          </a:p>
        </p:txBody>
      </p:sp>
      <p:sp>
        <p:nvSpPr>
          <p:cNvPr id="207" name="Google Shape;207;p24"/>
          <p:cNvSpPr/>
          <p:nvPr/>
        </p:nvSpPr>
        <p:spPr>
          <a:xfrm>
            <a:off x="480060" y="342900"/>
            <a:ext cx="8181594" cy="6172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600"/>
              <a:buFont typeface="Cambria"/>
              <a:buNone/>
            </a:pPr>
            <a:r>
              <a:rPr b="1" i="0" lang="en" sz="2600" u="none" cap="none" strike="noStrike">
                <a:solidFill>
                  <a:srgbClr val="FFFFFF"/>
                </a:solidFill>
                <a:latin typeface="Cambria"/>
                <a:ea typeface="Cambria"/>
                <a:cs typeface="Cambria"/>
                <a:sym typeface="Cambria"/>
              </a:rPr>
              <a:t>A skill is markdown, not code</a:t>
            </a:r>
            <a:endParaRPr b="0" i="0" sz="2600" u="none" cap="none" strike="noStrike">
              <a:solidFill>
                <a:schemeClr val="dk1"/>
              </a:solidFill>
              <a:latin typeface="Calibri"/>
              <a:ea typeface="Calibri"/>
              <a:cs typeface="Calibri"/>
              <a:sym typeface="Calibri"/>
            </a:endParaRPr>
          </a:p>
        </p:txBody>
      </p:sp>
      <p:sp>
        <p:nvSpPr>
          <p:cNvPr id="208" name="Google Shape;208;p24"/>
          <p:cNvSpPr/>
          <p:nvPr/>
        </p:nvSpPr>
        <p:spPr>
          <a:xfrm>
            <a:off x="480060" y="1440180"/>
            <a:ext cx="7886700" cy="960120"/>
          </a:xfrm>
          <a:prstGeom prst="rect">
            <a:avLst/>
          </a:prstGeom>
          <a:noFill/>
          <a:ln>
            <a:noFill/>
          </a:ln>
        </p:spPr>
        <p:txBody>
          <a:bodyPr anchorCtr="0" anchor="ctr" bIns="0" lIns="0" spcFirstLastPara="1" rIns="0" wrap="square" tIns="0">
            <a:noAutofit/>
          </a:bodyPr>
          <a:lstStyle/>
          <a:p>
            <a:pPr indent="0" lvl="0" marL="0" marR="0" rtl="0" algn="l">
              <a:lnSpc>
                <a:spcPct val="133333"/>
              </a:lnSpc>
              <a:spcBef>
                <a:spcPts val="0"/>
              </a:spcBef>
              <a:spcAft>
                <a:spcPts val="0"/>
              </a:spcAft>
              <a:buClr>
                <a:srgbClr val="FFFFFF"/>
              </a:buClr>
              <a:buSzPts val="2300"/>
              <a:buFont typeface="Cambria"/>
              <a:buNone/>
            </a:pPr>
            <a:r>
              <a:rPr b="0" i="1" lang="en" sz="2300" u="none" cap="none" strike="noStrike">
                <a:solidFill>
                  <a:srgbClr val="FFFFFF"/>
                </a:solidFill>
                <a:latin typeface="Cambria"/>
                <a:ea typeface="Cambria"/>
                <a:cs typeface="Cambria"/>
                <a:sym typeface="Cambria"/>
              </a:rPr>
              <a:t>The agent doesn't need you to write code anymore.</a:t>
            </a:r>
            <a:endParaRPr b="0" i="0" sz="2300" u="none" cap="none" strike="noStrike">
              <a:solidFill>
                <a:schemeClr val="dk1"/>
              </a:solidFill>
              <a:latin typeface="Calibri"/>
              <a:ea typeface="Calibri"/>
              <a:cs typeface="Calibri"/>
              <a:sym typeface="Calibri"/>
            </a:endParaRPr>
          </a:p>
          <a:p>
            <a:pPr indent="0" lvl="0" marL="0" marR="0" rtl="0" algn="l">
              <a:lnSpc>
                <a:spcPct val="133333"/>
              </a:lnSpc>
              <a:spcBef>
                <a:spcPts val="0"/>
              </a:spcBef>
              <a:spcAft>
                <a:spcPts val="0"/>
              </a:spcAft>
              <a:buClr>
                <a:srgbClr val="FFFFFF"/>
              </a:buClr>
              <a:buSzPts val="2300"/>
              <a:buFont typeface="Cambria"/>
              <a:buNone/>
            </a:pPr>
            <a:r>
              <a:rPr b="0" i="1" lang="en" sz="2300" u="none" cap="none" strike="noStrike">
                <a:solidFill>
                  <a:srgbClr val="FFFFFF"/>
                </a:solidFill>
                <a:latin typeface="Cambria"/>
                <a:ea typeface="Cambria"/>
                <a:cs typeface="Cambria"/>
                <a:sym typeface="Cambria"/>
              </a:rPr>
              <a:t>It needs you to write down what you know.</a:t>
            </a:r>
            <a:endParaRPr b="0" i="0" sz="2300" u="none" cap="none" strike="noStrike">
              <a:solidFill>
                <a:schemeClr val="dk1"/>
              </a:solidFill>
              <a:latin typeface="Calibri"/>
              <a:ea typeface="Calibri"/>
              <a:cs typeface="Calibri"/>
              <a:sym typeface="Calibri"/>
            </a:endParaRPr>
          </a:p>
        </p:txBody>
      </p:sp>
      <p:sp>
        <p:nvSpPr>
          <p:cNvPr id="209" name="Google Shape;209;p24"/>
          <p:cNvSpPr/>
          <p:nvPr/>
        </p:nvSpPr>
        <p:spPr>
          <a:xfrm>
            <a:off x="480060" y="2811780"/>
            <a:ext cx="2640330" cy="1303020"/>
          </a:xfrm>
          <a:prstGeom prst="roundRect">
            <a:avLst>
              <a:gd fmla="val 4211" name="adj"/>
            </a:avLst>
          </a:prstGeom>
          <a:solidFill>
            <a:srgbClr val="2E3E4C"/>
          </a:solidFill>
          <a:ln cap="flat" cmpd="sng" w="12700">
            <a:solidFill>
              <a:srgbClr val="2E3E4C"/>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10" name="Google Shape;210;p24"/>
          <p:cNvSpPr/>
          <p:nvPr/>
        </p:nvSpPr>
        <p:spPr>
          <a:xfrm>
            <a:off x="685800" y="2983230"/>
            <a:ext cx="222885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663C"/>
              </a:buClr>
              <a:buSzPts val="1200"/>
              <a:buFont typeface="Cambria"/>
              <a:buNone/>
            </a:pPr>
            <a:r>
              <a:rPr b="1" i="0" lang="en" sz="1200" u="none" cap="none" strike="noStrike">
                <a:solidFill>
                  <a:srgbClr val="E8663C"/>
                </a:solidFill>
                <a:latin typeface="Cambria"/>
                <a:ea typeface="Cambria"/>
                <a:cs typeface="Cambria"/>
                <a:sym typeface="Cambria"/>
              </a:rPr>
              <a:t>Anyone can contribute</a:t>
            </a:r>
            <a:endParaRPr b="0" i="0" sz="1200" u="none" cap="none" strike="noStrike">
              <a:solidFill>
                <a:schemeClr val="dk1"/>
              </a:solidFill>
              <a:latin typeface="Calibri"/>
              <a:ea typeface="Calibri"/>
              <a:cs typeface="Calibri"/>
              <a:sym typeface="Calibri"/>
            </a:endParaRPr>
          </a:p>
        </p:txBody>
      </p:sp>
      <p:sp>
        <p:nvSpPr>
          <p:cNvPr id="211" name="Google Shape;211;p24"/>
          <p:cNvSpPr/>
          <p:nvPr/>
        </p:nvSpPr>
        <p:spPr>
          <a:xfrm>
            <a:off x="685800" y="3278124"/>
            <a:ext cx="2228850" cy="72009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BD5DD"/>
              </a:buClr>
              <a:buSzPts val="1000"/>
              <a:buFont typeface="Calibri"/>
              <a:buNone/>
            </a:pPr>
            <a:r>
              <a:rPr b="0" i="0" lang="en" sz="1000" u="none" cap="none" strike="noStrike">
                <a:solidFill>
                  <a:srgbClr val="CBD5DD"/>
                </a:solidFill>
                <a:latin typeface="Calibri"/>
                <a:ea typeface="Calibri"/>
                <a:cs typeface="Calibri"/>
                <a:sym typeface="Calibri"/>
              </a:rPr>
              <a:t>A SQL analyst and a senior DS both ship a real artifact in 90 minutes</a:t>
            </a:r>
            <a:endParaRPr b="0" i="0" sz="1000" u="none" cap="none" strike="noStrike">
              <a:solidFill>
                <a:schemeClr val="dk1"/>
              </a:solidFill>
              <a:latin typeface="Calibri"/>
              <a:ea typeface="Calibri"/>
              <a:cs typeface="Calibri"/>
              <a:sym typeface="Calibri"/>
            </a:endParaRPr>
          </a:p>
        </p:txBody>
      </p:sp>
      <p:sp>
        <p:nvSpPr>
          <p:cNvPr id="212" name="Google Shape;212;p24"/>
          <p:cNvSpPr/>
          <p:nvPr/>
        </p:nvSpPr>
        <p:spPr>
          <a:xfrm>
            <a:off x="3408426" y="2811780"/>
            <a:ext cx="2640330" cy="1303020"/>
          </a:xfrm>
          <a:prstGeom prst="roundRect">
            <a:avLst>
              <a:gd fmla="val 4211" name="adj"/>
            </a:avLst>
          </a:prstGeom>
          <a:solidFill>
            <a:srgbClr val="2E3E4C"/>
          </a:solidFill>
          <a:ln cap="flat" cmpd="sng" w="12700">
            <a:solidFill>
              <a:srgbClr val="2E3E4C"/>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13" name="Google Shape;213;p24"/>
          <p:cNvSpPr/>
          <p:nvPr/>
        </p:nvSpPr>
        <p:spPr>
          <a:xfrm>
            <a:off x="3614166" y="2983230"/>
            <a:ext cx="222885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663C"/>
              </a:buClr>
              <a:buSzPts val="1200"/>
              <a:buFont typeface="Cambria"/>
              <a:buNone/>
            </a:pPr>
            <a:r>
              <a:rPr b="1" i="0" lang="en" sz="1200" u="none" cap="none" strike="noStrike">
                <a:solidFill>
                  <a:srgbClr val="E8663C"/>
                </a:solidFill>
                <a:latin typeface="Cambria"/>
                <a:ea typeface="Cambria"/>
                <a:cs typeface="Cambria"/>
                <a:sym typeface="Cambria"/>
              </a:rPr>
              <a:t>The bottleneck is judgment</a:t>
            </a:r>
            <a:endParaRPr b="0" i="0" sz="1200" u="none" cap="none" strike="noStrike">
              <a:solidFill>
                <a:schemeClr val="dk1"/>
              </a:solidFill>
              <a:latin typeface="Calibri"/>
              <a:ea typeface="Calibri"/>
              <a:cs typeface="Calibri"/>
              <a:sym typeface="Calibri"/>
            </a:endParaRPr>
          </a:p>
        </p:txBody>
      </p:sp>
      <p:sp>
        <p:nvSpPr>
          <p:cNvPr id="214" name="Google Shape;214;p24"/>
          <p:cNvSpPr/>
          <p:nvPr/>
        </p:nvSpPr>
        <p:spPr>
          <a:xfrm>
            <a:off x="3614166" y="3278124"/>
            <a:ext cx="2228850" cy="72009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BD5DD"/>
              </a:buClr>
              <a:buSzPts val="1000"/>
              <a:buFont typeface="Calibri"/>
              <a:buNone/>
            </a:pPr>
            <a:r>
              <a:rPr b="0" i="0" lang="en" sz="1000" u="none" cap="none" strike="noStrike">
                <a:solidFill>
                  <a:srgbClr val="CBD5DD"/>
                </a:solidFill>
                <a:latin typeface="Calibri"/>
                <a:ea typeface="Calibri"/>
                <a:cs typeface="Calibri"/>
                <a:sym typeface="Calibri"/>
              </a:rPr>
              <a:t>Which analysts have, and models don't</a:t>
            </a:r>
            <a:endParaRPr b="0" i="0" sz="1000" u="none" cap="none" strike="noStrike">
              <a:solidFill>
                <a:schemeClr val="dk1"/>
              </a:solidFill>
              <a:latin typeface="Calibri"/>
              <a:ea typeface="Calibri"/>
              <a:cs typeface="Calibri"/>
              <a:sym typeface="Calibri"/>
            </a:endParaRPr>
          </a:p>
        </p:txBody>
      </p:sp>
      <p:sp>
        <p:nvSpPr>
          <p:cNvPr id="215" name="Google Shape;215;p24"/>
          <p:cNvSpPr/>
          <p:nvPr/>
        </p:nvSpPr>
        <p:spPr>
          <a:xfrm>
            <a:off x="6336792" y="2811780"/>
            <a:ext cx="2640330" cy="1303020"/>
          </a:xfrm>
          <a:prstGeom prst="roundRect">
            <a:avLst>
              <a:gd fmla="val 4211" name="adj"/>
            </a:avLst>
          </a:prstGeom>
          <a:solidFill>
            <a:srgbClr val="2E3E4C"/>
          </a:solidFill>
          <a:ln cap="flat" cmpd="sng" w="12700">
            <a:solidFill>
              <a:srgbClr val="2E3E4C"/>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16" name="Google Shape;216;p24"/>
          <p:cNvSpPr/>
          <p:nvPr/>
        </p:nvSpPr>
        <p:spPr>
          <a:xfrm>
            <a:off x="6542532" y="2983230"/>
            <a:ext cx="222885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663C"/>
              </a:buClr>
              <a:buSzPts val="1200"/>
              <a:buFont typeface="Cambria"/>
              <a:buNone/>
            </a:pPr>
            <a:r>
              <a:rPr b="1" i="0" lang="en" sz="1200" u="none" cap="none" strike="noStrike">
                <a:solidFill>
                  <a:srgbClr val="E8663C"/>
                </a:solidFill>
                <a:latin typeface="Cambria"/>
                <a:ea typeface="Cambria"/>
                <a:cs typeface="Cambria"/>
                <a:sym typeface="Cambria"/>
              </a:rPr>
              <a:t>Deployable Monday</a:t>
            </a:r>
            <a:endParaRPr b="0" i="0" sz="1200" u="none" cap="none" strike="noStrike">
              <a:solidFill>
                <a:schemeClr val="dk1"/>
              </a:solidFill>
              <a:latin typeface="Calibri"/>
              <a:ea typeface="Calibri"/>
              <a:cs typeface="Calibri"/>
              <a:sym typeface="Calibri"/>
            </a:endParaRPr>
          </a:p>
        </p:txBody>
      </p:sp>
      <p:sp>
        <p:nvSpPr>
          <p:cNvPr id="217" name="Google Shape;217;p24"/>
          <p:cNvSpPr/>
          <p:nvPr/>
        </p:nvSpPr>
        <p:spPr>
          <a:xfrm>
            <a:off x="6542532" y="3278124"/>
            <a:ext cx="2228850" cy="72009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BD5DD"/>
              </a:buClr>
              <a:buSzPts val="1000"/>
              <a:buFont typeface="Calibri"/>
              <a:buNone/>
            </a:pPr>
            <a:r>
              <a:rPr b="0" i="0" lang="en" sz="1000" u="none" cap="none" strike="noStrike">
                <a:solidFill>
                  <a:srgbClr val="CBD5DD"/>
                </a:solidFill>
                <a:latin typeface="Calibri"/>
                <a:ea typeface="Calibri"/>
                <a:cs typeface="Calibri"/>
                <a:sym typeface="Calibri"/>
              </a:rPr>
              <a:t>A folder of .md files, versioned in your repo</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2" name="Shape 222"/>
        <p:cNvGrpSpPr/>
        <p:nvPr/>
      </p:nvGrpSpPr>
      <p:grpSpPr>
        <a:xfrm>
          <a:off x="0" y="0"/>
          <a:ext cx="0" cy="0"/>
          <a:chOff x="0" y="0"/>
          <a:chExt cx="0" cy="0"/>
        </a:xfrm>
      </p:grpSpPr>
      <p:sp>
        <p:nvSpPr>
          <p:cNvPr id="223" name="Google Shape;223;p25"/>
          <p:cNvSpPr/>
          <p:nvPr/>
        </p:nvSpPr>
        <p:spPr>
          <a:xfrm>
            <a:off x="480060" y="192024"/>
            <a:ext cx="8181594"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663C"/>
              </a:buClr>
              <a:buSzPts val="800"/>
              <a:buFont typeface="Calibri"/>
              <a:buNone/>
            </a:pPr>
            <a:r>
              <a:rPr b="1" i="0" lang="en" sz="800" u="none" cap="none" strike="noStrike">
                <a:solidFill>
                  <a:srgbClr val="E8663C"/>
                </a:solidFill>
                <a:latin typeface="Calibri"/>
                <a:ea typeface="Calibri"/>
                <a:cs typeface="Calibri"/>
                <a:sym typeface="Calibri"/>
              </a:rPr>
              <a:t>THE PACK</a:t>
            </a:r>
            <a:endParaRPr b="0" i="0" sz="800" u="none" cap="none" strike="noStrike">
              <a:solidFill>
                <a:schemeClr val="dk1"/>
              </a:solidFill>
              <a:latin typeface="Calibri"/>
              <a:ea typeface="Calibri"/>
              <a:cs typeface="Calibri"/>
              <a:sym typeface="Calibri"/>
            </a:endParaRPr>
          </a:p>
        </p:txBody>
      </p:sp>
      <p:sp>
        <p:nvSpPr>
          <p:cNvPr id="224" name="Google Shape;224;p25"/>
          <p:cNvSpPr/>
          <p:nvPr/>
        </p:nvSpPr>
        <p:spPr>
          <a:xfrm>
            <a:off x="480060" y="342900"/>
            <a:ext cx="8181594" cy="6172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303C"/>
              </a:buClr>
              <a:buSzPts val="2600"/>
              <a:buFont typeface="Cambria"/>
              <a:buNone/>
            </a:pPr>
            <a:r>
              <a:rPr b="1" i="0" lang="en" sz="2600" u="none" cap="none" strike="noStrike">
                <a:solidFill>
                  <a:srgbClr val="22303C"/>
                </a:solidFill>
                <a:latin typeface="Cambria"/>
                <a:ea typeface="Cambria"/>
                <a:cs typeface="Cambria"/>
                <a:sym typeface="Cambria"/>
              </a:rPr>
              <a:t>What you're getting</a:t>
            </a:r>
            <a:endParaRPr b="0" i="0" sz="2600" u="none" cap="none" strike="noStrike">
              <a:solidFill>
                <a:schemeClr val="dk1"/>
              </a:solidFill>
              <a:latin typeface="Calibri"/>
              <a:ea typeface="Calibri"/>
              <a:cs typeface="Calibri"/>
              <a:sym typeface="Calibri"/>
            </a:endParaRPr>
          </a:p>
        </p:txBody>
      </p:sp>
      <p:sp>
        <p:nvSpPr>
          <p:cNvPr id="225" name="Google Shape;225;p25"/>
          <p:cNvSpPr/>
          <p:nvPr/>
        </p:nvSpPr>
        <p:spPr>
          <a:xfrm>
            <a:off x="480060" y="1303020"/>
            <a:ext cx="2640330" cy="1714500"/>
          </a:xfrm>
          <a:prstGeom prst="roundRect">
            <a:avLst>
              <a:gd fmla="val 3200" name="adj"/>
            </a:avLst>
          </a:prstGeom>
          <a:solidFill>
            <a:srgbClr val="F2F4F6"/>
          </a:solidFill>
          <a:ln cap="flat" cmpd="sng" w="12700">
            <a:solidFill>
              <a:srgbClr val="F2F4F6"/>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26" name="Google Shape;226;p25"/>
          <p:cNvSpPr/>
          <p:nvPr/>
        </p:nvSpPr>
        <p:spPr>
          <a:xfrm>
            <a:off x="685800" y="1440180"/>
            <a:ext cx="222885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663C"/>
              </a:buClr>
              <a:buSzPts val="4500"/>
              <a:buFont typeface="Cambria"/>
              <a:buNone/>
            </a:pPr>
            <a:r>
              <a:rPr b="1" i="0" lang="en" sz="4500" u="none" cap="none" strike="noStrike">
                <a:solidFill>
                  <a:srgbClr val="E8663C"/>
                </a:solidFill>
                <a:latin typeface="Cambria"/>
                <a:ea typeface="Cambria"/>
                <a:cs typeface="Cambria"/>
                <a:sym typeface="Cambria"/>
              </a:rPr>
              <a:t>11</a:t>
            </a:r>
            <a:endParaRPr b="0" i="0" sz="4500" u="none" cap="none" strike="noStrike">
              <a:solidFill>
                <a:schemeClr val="dk1"/>
              </a:solidFill>
              <a:latin typeface="Calibri"/>
              <a:ea typeface="Calibri"/>
              <a:cs typeface="Calibri"/>
              <a:sym typeface="Calibri"/>
            </a:endParaRPr>
          </a:p>
        </p:txBody>
      </p:sp>
      <p:sp>
        <p:nvSpPr>
          <p:cNvPr id="227" name="Google Shape;227;p25"/>
          <p:cNvSpPr/>
          <p:nvPr/>
        </p:nvSpPr>
        <p:spPr>
          <a:xfrm>
            <a:off x="685800" y="2091690"/>
            <a:ext cx="2228850" cy="24003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303C"/>
              </a:buClr>
              <a:buSzPts val="1400"/>
              <a:buFont typeface="Cambria"/>
              <a:buNone/>
            </a:pPr>
            <a:r>
              <a:rPr b="1" i="0" lang="en" sz="1400" u="none" cap="none" strike="noStrike">
                <a:solidFill>
                  <a:srgbClr val="22303C"/>
                </a:solidFill>
                <a:latin typeface="Cambria"/>
                <a:ea typeface="Cambria"/>
                <a:cs typeface="Cambria"/>
                <a:sym typeface="Cambria"/>
              </a:rPr>
              <a:t>skills</a:t>
            </a:r>
            <a:endParaRPr b="0" i="0" sz="1400" u="none" cap="none" strike="noStrike">
              <a:solidFill>
                <a:schemeClr val="dk1"/>
              </a:solidFill>
              <a:latin typeface="Calibri"/>
              <a:ea typeface="Calibri"/>
              <a:cs typeface="Calibri"/>
              <a:sym typeface="Calibri"/>
            </a:endParaRPr>
          </a:p>
        </p:txBody>
      </p:sp>
      <p:sp>
        <p:nvSpPr>
          <p:cNvPr id="228" name="Google Shape;228;p25"/>
          <p:cNvSpPr/>
          <p:nvPr/>
        </p:nvSpPr>
        <p:spPr>
          <a:xfrm>
            <a:off x="685800" y="2366010"/>
            <a:ext cx="222885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7A"/>
              </a:buClr>
              <a:buSzPts val="900"/>
              <a:buFont typeface="Calibri"/>
              <a:buNone/>
            </a:pPr>
            <a:r>
              <a:rPr b="0" i="0" lang="en" sz="900" u="none" cap="none" strike="noStrike">
                <a:solidFill>
                  <a:srgbClr val="5A6B7A"/>
                </a:solidFill>
                <a:latin typeface="Calibri"/>
                <a:ea typeface="Calibri"/>
                <a:cs typeface="Calibri"/>
                <a:sym typeface="Calibri"/>
              </a:rPr>
              <a:t>Full lifecycle plus two reviewer personas</a:t>
            </a:r>
            <a:endParaRPr b="0" i="0" sz="900" u="none" cap="none" strike="noStrike">
              <a:solidFill>
                <a:schemeClr val="dk1"/>
              </a:solidFill>
              <a:latin typeface="Calibri"/>
              <a:ea typeface="Calibri"/>
              <a:cs typeface="Calibri"/>
              <a:sym typeface="Calibri"/>
            </a:endParaRPr>
          </a:p>
        </p:txBody>
      </p:sp>
      <p:sp>
        <p:nvSpPr>
          <p:cNvPr id="229" name="Google Shape;229;p25"/>
          <p:cNvSpPr/>
          <p:nvPr/>
        </p:nvSpPr>
        <p:spPr>
          <a:xfrm>
            <a:off x="3408426" y="1303020"/>
            <a:ext cx="2640330" cy="1714500"/>
          </a:xfrm>
          <a:prstGeom prst="roundRect">
            <a:avLst>
              <a:gd fmla="val 3200" name="adj"/>
            </a:avLst>
          </a:prstGeom>
          <a:solidFill>
            <a:srgbClr val="F2F4F6"/>
          </a:solidFill>
          <a:ln cap="flat" cmpd="sng" w="12700">
            <a:solidFill>
              <a:srgbClr val="F2F4F6"/>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30" name="Google Shape;230;p25"/>
          <p:cNvSpPr/>
          <p:nvPr/>
        </p:nvSpPr>
        <p:spPr>
          <a:xfrm>
            <a:off x="3614166" y="1440180"/>
            <a:ext cx="222885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663C"/>
              </a:buClr>
              <a:buSzPts val="4500"/>
              <a:buFont typeface="Cambria"/>
              <a:buNone/>
            </a:pPr>
            <a:r>
              <a:rPr b="1" i="0" lang="en" sz="4500" u="none" cap="none" strike="noStrike">
                <a:solidFill>
                  <a:srgbClr val="E8663C"/>
                </a:solidFill>
                <a:latin typeface="Cambria"/>
                <a:ea typeface="Cambria"/>
                <a:cs typeface="Cambria"/>
                <a:sym typeface="Cambria"/>
              </a:rPr>
              <a:t>44</a:t>
            </a:r>
            <a:endParaRPr b="0" i="0" sz="4500" u="none" cap="none" strike="noStrike">
              <a:solidFill>
                <a:schemeClr val="dk1"/>
              </a:solidFill>
              <a:latin typeface="Calibri"/>
              <a:ea typeface="Calibri"/>
              <a:cs typeface="Calibri"/>
              <a:sym typeface="Calibri"/>
            </a:endParaRPr>
          </a:p>
        </p:txBody>
      </p:sp>
      <p:sp>
        <p:nvSpPr>
          <p:cNvPr id="231" name="Google Shape;231;p25"/>
          <p:cNvSpPr/>
          <p:nvPr/>
        </p:nvSpPr>
        <p:spPr>
          <a:xfrm>
            <a:off x="3614166" y="2091690"/>
            <a:ext cx="2228850" cy="24003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303C"/>
              </a:buClr>
              <a:buSzPts val="1400"/>
              <a:buFont typeface="Cambria"/>
              <a:buNone/>
            </a:pPr>
            <a:r>
              <a:rPr b="1" i="0" lang="en" sz="1400" u="none" cap="none" strike="noStrike">
                <a:solidFill>
                  <a:srgbClr val="22303C"/>
                </a:solidFill>
                <a:latin typeface="Cambria"/>
                <a:ea typeface="Cambria"/>
                <a:cs typeface="Cambria"/>
                <a:sym typeface="Cambria"/>
              </a:rPr>
              <a:t>tables</a:t>
            </a:r>
            <a:endParaRPr b="0" i="0" sz="1400" u="none" cap="none" strike="noStrike">
              <a:solidFill>
                <a:schemeClr val="dk1"/>
              </a:solidFill>
              <a:latin typeface="Calibri"/>
              <a:ea typeface="Calibri"/>
              <a:cs typeface="Calibri"/>
              <a:sym typeface="Calibri"/>
            </a:endParaRPr>
          </a:p>
        </p:txBody>
      </p:sp>
      <p:sp>
        <p:nvSpPr>
          <p:cNvPr id="232" name="Google Shape;232;p25"/>
          <p:cNvSpPr/>
          <p:nvPr/>
        </p:nvSpPr>
        <p:spPr>
          <a:xfrm>
            <a:off x="3614166" y="2366010"/>
            <a:ext cx="222885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7A"/>
              </a:buClr>
              <a:buSzPts val="900"/>
              <a:buFont typeface="Calibri"/>
              <a:buNone/>
            </a:pPr>
            <a:r>
              <a:rPr b="0" i="0" lang="en" sz="900" u="none" cap="none" strike="noStrike">
                <a:solidFill>
                  <a:srgbClr val="5A6B7A"/>
                </a:solidFill>
                <a:latin typeface="Calibri"/>
                <a:ea typeface="Calibri"/>
                <a:cs typeface="Calibri"/>
                <a:sym typeface="Calibri"/>
              </a:rPr>
              <a:t>Synthetic warehouse, eleven engineered traps</a:t>
            </a:r>
            <a:endParaRPr b="0" i="0" sz="900" u="none" cap="none" strike="noStrike">
              <a:solidFill>
                <a:schemeClr val="dk1"/>
              </a:solidFill>
              <a:latin typeface="Calibri"/>
              <a:ea typeface="Calibri"/>
              <a:cs typeface="Calibri"/>
              <a:sym typeface="Calibri"/>
            </a:endParaRPr>
          </a:p>
        </p:txBody>
      </p:sp>
      <p:sp>
        <p:nvSpPr>
          <p:cNvPr id="233" name="Google Shape;233;p25"/>
          <p:cNvSpPr/>
          <p:nvPr/>
        </p:nvSpPr>
        <p:spPr>
          <a:xfrm>
            <a:off x="6336792" y="1303020"/>
            <a:ext cx="2640330" cy="1714500"/>
          </a:xfrm>
          <a:prstGeom prst="roundRect">
            <a:avLst>
              <a:gd fmla="val 3200" name="adj"/>
            </a:avLst>
          </a:prstGeom>
          <a:solidFill>
            <a:srgbClr val="F2F4F6"/>
          </a:solidFill>
          <a:ln cap="flat" cmpd="sng" w="12700">
            <a:solidFill>
              <a:srgbClr val="F2F4F6"/>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34" name="Google Shape;234;p25"/>
          <p:cNvSpPr/>
          <p:nvPr/>
        </p:nvSpPr>
        <p:spPr>
          <a:xfrm>
            <a:off x="6542532" y="1440180"/>
            <a:ext cx="222885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663C"/>
              </a:buClr>
              <a:buSzPts val="4500"/>
              <a:buFont typeface="Cambria"/>
              <a:buNone/>
            </a:pPr>
            <a:r>
              <a:rPr b="1" i="0" lang="en" sz="4500" u="none" cap="none" strike="noStrike">
                <a:solidFill>
                  <a:srgbClr val="E8663C"/>
                </a:solidFill>
                <a:latin typeface="Cambria"/>
                <a:ea typeface="Cambria"/>
                <a:cs typeface="Cambria"/>
                <a:sym typeface="Cambria"/>
              </a:rPr>
              <a:t>29</a:t>
            </a:r>
            <a:endParaRPr b="0" i="0" sz="4500" u="none" cap="none" strike="noStrike">
              <a:solidFill>
                <a:schemeClr val="dk1"/>
              </a:solidFill>
              <a:latin typeface="Calibri"/>
              <a:ea typeface="Calibri"/>
              <a:cs typeface="Calibri"/>
              <a:sym typeface="Calibri"/>
            </a:endParaRPr>
          </a:p>
        </p:txBody>
      </p:sp>
      <p:sp>
        <p:nvSpPr>
          <p:cNvPr id="235" name="Google Shape;235;p25"/>
          <p:cNvSpPr/>
          <p:nvPr/>
        </p:nvSpPr>
        <p:spPr>
          <a:xfrm>
            <a:off x="6542532" y="2091690"/>
            <a:ext cx="2228850" cy="24003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303C"/>
              </a:buClr>
              <a:buSzPts val="1400"/>
              <a:buFont typeface="Cambria"/>
              <a:buNone/>
            </a:pPr>
            <a:r>
              <a:rPr b="1" i="0" lang="en" sz="1400" u="none" cap="none" strike="noStrike">
                <a:solidFill>
                  <a:srgbClr val="22303C"/>
                </a:solidFill>
                <a:latin typeface="Cambria"/>
                <a:ea typeface="Cambria"/>
                <a:cs typeface="Cambria"/>
                <a:sym typeface="Cambria"/>
              </a:rPr>
              <a:t>evals</a:t>
            </a:r>
            <a:endParaRPr b="0" i="0" sz="1400" u="none" cap="none" strike="noStrike">
              <a:solidFill>
                <a:schemeClr val="dk1"/>
              </a:solidFill>
              <a:latin typeface="Calibri"/>
              <a:ea typeface="Calibri"/>
              <a:cs typeface="Calibri"/>
              <a:sym typeface="Calibri"/>
            </a:endParaRPr>
          </a:p>
        </p:txBody>
      </p:sp>
      <p:sp>
        <p:nvSpPr>
          <p:cNvPr id="236" name="Google Shape;236;p25"/>
          <p:cNvSpPr/>
          <p:nvPr/>
        </p:nvSpPr>
        <p:spPr>
          <a:xfrm>
            <a:off x="6542532" y="2366010"/>
            <a:ext cx="222885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7A"/>
              </a:buClr>
              <a:buSzPts val="900"/>
              <a:buFont typeface="Calibri"/>
              <a:buNone/>
            </a:pPr>
            <a:r>
              <a:rPr b="0" i="0" lang="en" sz="900" u="none" cap="none" strike="noStrike">
                <a:solidFill>
                  <a:srgbClr val="5A6B7A"/>
                </a:solidFill>
                <a:latin typeface="Calibri"/>
                <a:ea typeface="Calibri"/>
                <a:cs typeface="Calibri"/>
                <a:sym typeface="Calibri"/>
              </a:rPr>
              <a:t>Pinned ground truth, six negative tests</a:t>
            </a:r>
            <a:endParaRPr b="0" i="0" sz="900" u="none" cap="none" strike="noStrike">
              <a:solidFill>
                <a:schemeClr val="dk1"/>
              </a:solidFill>
              <a:latin typeface="Calibri"/>
              <a:ea typeface="Calibri"/>
              <a:cs typeface="Calibri"/>
              <a:sym typeface="Calibri"/>
            </a:endParaRPr>
          </a:p>
        </p:txBody>
      </p:sp>
      <p:sp>
        <p:nvSpPr>
          <p:cNvPr id="237" name="Google Shape;237;p25"/>
          <p:cNvSpPr/>
          <p:nvPr/>
        </p:nvSpPr>
        <p:spPr>
          <a:xfrm>
            <a:off x="480060" y="3360420"/>
            <a:ext cx="818159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303C"/>
              </a:buClr>
              <a:buSzPts val="1100"/>
              <a:buFont typeface="Calibri"/>
              <a:buNone/>
            </a:pPr>
            <a:r>
              <a:rPr b="1" i="0" lang="en" sz="1100" u="none" cap="none" strike="noStrike">
                <a:solidFill>
                  <a:srgbClr val="22303C"/>
                </a:solidFill>
                <a:latin typeface="Calibri"/>
                <a:ea typeface="Calibri"/>
                <a:cs typeface="Calibri"/>
                <a:sym typeface="Calibri"/>
              </a:rPr>
              <a:t>github.com/RobStilson/analytics-skills</a:t>
            </a:r>
            <a:r>
              <a:rPr b="0" i="0" lang="en" sz="1100" u="none" cap="none" strike="noStrike">
                <a:solidFill>
                  <a:srgbClr val="5A6B7A"/>
                </a:solidFill>
                <a:latin typeface="Calibri"/>
                <a:ea typeface="Calibri"/>
                <a:cs typeface="Calibri"/>
                <a:sym typeface="Calibri"/>
              </a:rPr>
              <a:t>   ·   MIT   ·   contributors credited in the README</a:t>
            </a:r>
            <a:endParaRPr b="0" i="0" sz="1100" u="none" cap="none" strike="noStrike">
              <a:solidFill>
                <a:schemeClr val="dk1"/>
              </a:solidFill>
              <a:latin typeface="Calibri"/>
              <a:ea typeface="Calibri"/>
              <a:cs typeface="Calibri"/>
              <a:sym typeface="Calibri"/>
            </a:endParaRPr>
          </a:p>
        </p:txBody>
      </p:sp>
      <p:sp>
        <p:nvSpPr>
          <p:cNvPr id="238" name="Google Shape;238;p25"/>
          <p:cNvSpPr/>
          <p:nvPr/>
        </p:nvSpPr>
        <p:spPr>
          <a:xfrm>
            <a:off x="480060" y="3703320"/>
            <a:ext cx="818159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7A"/>
              </a:buClr>
              <a:buSzPts val="1100"/>
              <a:buFont typeface="Calibri"/>
              <a:buNone/>
            </a:pPr>
            <a:r>
              <a:rPr b="0" i="1" lang="en" sz="1100" u="none" cap="none" strike="noStrike">
                <a:solidFill>
                  <a:srgbClr val="5A6B7A"/>
                </a:solidFill>
                <a:latin typeface="Calibri"/>
                <a:ea typeface="Calibri"/>
                <a:cs typeface="Calibri"/>
                <a:sym typeface="Calibri"/>
              </a:rPr>
              <a:t>Everything open. You leave as a contributor, not an attendee.</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3" name="Shape 243"/>
        <p:cNvGrpSpPr/>
        <p:nvPr/>
      </p:nvGrpSpPr>
      <p:grpSpPr>
        <a:xfrm>
          <a:off x="0" y="0"/>
          <a:ext cx="0" cy="0"/>
          <a:chOff x="0" y="0"/>
          <a:chExt cx="0" cy="0"/>
        </a:xfrm>
      </p:grpSpPr>
      <p:sp>
        <p:nvSpPr>
          <p:cNvPr id="244" name="Google Shape;244;p26"/>
          <p:cNvSpPr/>
          <p:nvPr/>
        </p:nvSpPr>
        <p:spPr>
          <a:xfrm>
            <a:off x="480060" y="192024"/>
            <a:ext cx="8181594"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663C"/>
              </a:buClr>
              <a:buSzPts val="800"/>
              <a:buFont typeface="Calibri"/>
              <a:buNone/>
            </a:pPr>
            <a:r>
              <a:rPr b="1" i="0" lang="en" sz="800" u="none" cap="none" strike="noStrike">
                <a:solidFill>
                  <a:srgbClr val="E8663C"/>
                </a:solidFill>
                <a:latin typeface="Calibri"/>
                <a:ea typeface="Calibri"/>
                <a:cs typeface="Calibri"/>
                <a:sym typeface="Calibri"/>
              </a:rPr>
              <a:t>THE SANDBOX</a:t>
            </a:r>
            <a:endParaRPr b="0" i="0" sz="800" u="none" cap="none" strike="noStrike">
              <a:solidFill>
                <a:schemeClr val="dk1"/>
              </a:solidFill>
              <a:latin typeface="Calibri"/>
              <a:ea typeface="Calibri"/>
              <a:cs typeface="Calibri"/>
              <a:sym typeface="Calibri"/>
            </a:endParaRPr>
          </a:p>
        </p:txBody>
      </p:sp>
      <p:sp>
        <p:nvSpPr>
          <p:cNvPr id="245" name="Google Shape;245;p26"/>
          <p:cNvSpPr/>
          <p:nvPr/>
        </p:nvSpPr>
        <p:spPr>
          <a:xfrm>
            <a:off x="480060" y="342900"/>
            <a:ext cx="8181594" cy="6172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303C"/>
              </a:buClr>
              <a:buSzPts val="2600"/>
              <a:buFont typeface="Cambria"/>
              <a:buNone/>
            </a:pPr>
            <a:r>
              <a:rPr b="1" i="0" lang="en" sz="2600" u="none" cap="none" strike="noStrike">
                <a:solidFill>
                  <a:srgbClr val="22303C"/>
                </a:solidFill>
                <a:latin typeface="Cambria"/>
                <a:ea typeface="Cambria"/>
                <a:cs typeface="Cambria"/>
                <a:sym typeface="Cambria"/>
              </a:rPr>
              <a:t>A warehouse built to be wrong in specific ways</a:t>
            </a:r>
            <a:endParaRPr b="0" i="0" sz="2600" u="none" cap="none" strike="noStrike">
              <a:solidFill>
                <a:schemeClr val="dk1"/>
              </a:solidFill>
              <a:latin typeface="Calibri"/>
              <a:ea typeface="Calibri"/>
              <a:cs typeface="Calibri"/>
              <a:sym typeface="Calibri"/>
            </a:endParaRPr>
          </a:p>
        </p:txBody>
      </p:sp>
      <p:sp>
        <p:nvSpPr>
          <p:cNvPr id="246" name="Google Shape;246;p26"/>
          <p:cNvSpPr/>
          <p:nvPr/>
        </p:nvSpPr>
        <p:spPr>
          <a:xfrm>
            <a:off x="480060" y="1028700"/>
            <a:ext cx="818159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7A"/>
              </a:buClr>
              <a:buSzPts val="1100"/>
              <a:buFont typeface="Calibri"/>
              <a:buNone/>
            </a:pPr>
            <a:r>
              <a:rPr b="0" i="0" lang="en" sz="1100" u="none" cap="none" strike="noStrike">
                <a:solidFill>
                  <a:srgbClr val="5A6B7A"/>
                </a:solidFill>
                <a:latin typeface="Calibri"/>
                <a:ea typeface="Calibri"/>
                <a:cs typeface="Calibri"/>
                <a:sym typeface="Calibri"/>
              </a:rPr>
              <a:t>A clean warehouse teaches nothing. Ours has the ambiguities a real HRIS accumulates.</a:t>
            </a:r>
            <a:endParaRPr b="0" i="0" sz="1100" u="none" cap="none" strike="noStrike">
              <a:solidFill>
                <a:schemeClr val="dk1"/>
              </a:solidFill>
              <a:latin typeface="Calibri"/>
              <a:ea typeface="Calibri"/>
              <a:cs typeface="Calibri"/>
              <a:sym typeface="Calibri"/>
            </a:endParaRPr>
          </a:p>
        </p:txBody>
      </p:sp>
      <p:sp>
        <p:nvSpPr>
          <p:cNvPr id="247" name="Google Shape;247;p26"/>
          <p:cNvSpPr/>
          <p:nvPr/>
        </p:nvSpPr>
        <p:spPr>
          <a:xfrm>
            <a:off x="480060" y="1474470"/>
            <a:ext cx="8181594" cy="493776"/>
          </a:xfrm>
          <a:prstGeom prst="roundRect">
            <a:avLst>
              <a:gd fmla="val 11111" name="adj"/>
            </a:avLst>
          </a:prstGeom>
          <a:solidFill>
            <a:srgbClr val="F2F4F6"/>
          </a:solidFill>
          <a:ln cap="flat" cmpd="sng" w="12700">
            <a:solidFill>
              <a:srgbClr val="F2F4F6"/>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48" name="Google Shape;248;p26"/>
          <p:cNvSpPr/>
          <p:nvPr/>
        </p:nvSpPr>
        <p:spPr>
          <a:xfrm>
            <a:off x="720090" y="1584198"/>
            <a:ext cx="45262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303C"/>
              </a:buClr>
              <a:buSzPts val="1100"/>
              <a:buFont typeface="Calibri"/>
              <a:buNone/>
            </a:pPr>
            <a:r>
              <a:rPr b="1" i="0" lang="en" sz="1100" u="none" cap="none" strike="noStrike">
                <a:solidFill>
                  <a:srgbClr val="22303C"/>
                </a:solidFill>
                <a:latin typeface="Calibri"/>
                <a:ea typeface="Calibri"/>
                <a:cs typeface="Calibri"/>
                <a:sym typeface="Calibri"/>
              </a:rPr>
              <a:t>Four answers to "how many employees?"</a:t>
            </a:r>
            <a:endParaRPr b="0" i="0" sz="1100" u="none" cap="none" strike="noStrike">
              <a:solidFill>
                <a:schemeClr val="dk1"/>
              </a:solidFill>
              <a:latin typeface="Calibri"/>
              <a:ea typeface="Calibri"/>
              <a:cs typeface="Calibri"/>
              <a:sym typeface="Calibri"/>
            </a:endParaRPr>
          </a:p>
        </p:txBody>
      </p:sp>
      <p:sp>
        <p:nvSpPr>
          <p:cNvPr id="249" name="Google Shape;249;p26"/>
          <p:cNvSpPr/>
          <p:nvPr/>
        </p:nvSpPr>
        <p:spPr>
          <a:xfrm>
            <a:off x="5349240" y="1584198"/>
            <a:ext cx="322326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E8663C"/>
              </a:buClr>
              <a:buSzPts val="1000"/>
              <a:buFont typeface="Consolas"/>
              <a:buNone/>
            </a:pPr>
            <a:r>
              <a:rPr b="0" i="0" lang="en" sz="1000" u="none" cap="none" strike="noStrike">
                <a:solidFill>
                  <a:srgbClr val="E8663C"/>
                </a:solidFill>
                <a:latin typeface="Consolas"/>
                <a:ea typeface="Consolas"/>
                <a:cs typeface="Consolas"/>
                <a:sym typeface="Consolas"/>
              </a:rPr>
              <a:t>12,282  /  4,368  /  4,168  /  3,647</a:t>
            </a:r>
            <a:endParaRPr b="0" i="0" sz="1000" u="none" cap="none" strike="noStrike">
              <a:solidFill>
                <a:schemeClr val="dk1"/>
              </a:solidFill>
              <a:latin typeface="Calibri"/>
              <a:ea typeface="Calibri"/>
              <a:cs typeface="Calibri"/>
              <a:sym typeface="Calibri"/>
            </a:endParaRPr>
          </a:p>
        </p:txBody>
      </p:sp>
      <p:sp>
        <p:nvSpPr>
          <p:cNvPr id="250" name="Google Shape;250;p26"/>
          <p:cNvSpPr/>
          <p:nvPr/>
        </p:nvSpPr>
        <p:spPr>
          <a:xfrm>
            <a:off x="480060" y="2009394"/>
            <a:ext cx="8181594" cy="493776"/>
          </a:xfrm>
          <a:prstGeom prst="roundRect">
            <a:avLst>
              <a:gd fmla="val 11111" name="adj"/>
            </a:avLst>
          </a:prstGeom>
          <a:solidFill>
            <a:srgbClr val="FFFFFF"/>
          </a:solidFill>
          <a:ln cap="flat" cmpd="sng" w="12700">
            <a:solidFill>
              <a:srgbClr val="FFFFFF"/>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51" name="Google Shape;251;p26"/>
          <p:cNvSpPr/>
          <p:nvPr/>
        </p:nvSpPr>
        <p:spPr>
          <a:xfrm>
            <a:off x="720090" y="2119122"/>
            <a:ext cx="45262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303C"/>
              </a:buClr>
              <a:buSzPts val="1100"/>
              <a:buFont typeface="Calibri"/>
              <a:buNone/>
            </a:pPr>
            <a:r>
              <a:rPr b="1" i="0" lang="en" sz="1100" u="none" cap="none" strike="noStrike">
                <a:solidFill>
                  <a:srgbClr val="22303C"/>
                </a:solidFill>
                <a:latin typeface="Calibri"/>
                <a:ea typeface="Calibri"/>
                <a:cs typeface="Calibri"/>
                <a:sym typeface="Calibri"/>
              </a:rPr>
              <a:t>A column renamed but never dropped</a:t>
            </a:r>
            <a:endParaRPr b="0" i="0" sz="1100" u="none" cap="none" strike="noStrike">
              <a:solidFill>
                <a:schemeClr val="dk1"/>
              </a:solidFill>
              <a:latin typeface="Calibri"/>
              <a:ea typeface="Calibri"/>
              <a:cs typeface="Calibri"/>
              <a:sym typeface="Calibri"/>
            </a:endParaRPr>
          </a:p>
        </p:txBody>
      </p:sp>
      <p:sp>
        <p:nvSpPr>
          <p:cNvPr id="252" name="Google Shape;252;p26"/>
          <p:cNvSpPr/>
          <p:nvPr/>
        </p:nvSpPr>
        <p:spPr>
          <a:xfrm>
            <a:off x="5349240" y="2119122"/>
            <a:ext cx="322326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E8663C"/>
              </a:buClr>
              <a:buSzPts val="1000"/>
              <a:buFont typeface="Consolas"/>
              <a:buNone/>
            </a:pPr>
            <a:r>
              <a:rPr b="0" i="0" lang="en" sz="1000" u="none" cap="none" strike="noStrike">
                <a:solidFill>
                  <a:srgbClr val="E8663C"/>
                </a:solidFill>
                <a:latin typeface="Consolas"/>
                <a:ea typeface="Consolas"/>
                <a:cs typeface="Consolas"/>
                <a:sym typeface="Consolas"/>
              </a:rPr>
              <a:t>54% populated, silently drops 1,668 people</a:t>
            </a:r>
            <a:endParaRPr b="0" i="0" sz="1000" u="none" cap="none" strike="noStrike">
              <a:solidFill>
                <a:schemeClr val="dk1"/>
              </a:solidFill>
              <a:latin typeface="Calibri"/>
              <a:ea typeface="Calibri"/>
              <a:cs typeface="Calibri"/>
              <a:sym typeface="Calibri"/>
            </a:endParaRPr>
          </a:p>
        </p:txBody>
      </p:sp>
      <p:sp>
        <p:nvSpPr>
          <p:cNvPr id="253" name="Google Shape;253;p26"/>
          <p:cNvSpPr/>
          <p:nvPr/>
        </p:nvSpPr>
        <p:spPr>
          <a:xfrm>
            <a:off x="480060" y="2544318"/>
            <a:ext cx="8181594" cy="493776"/>
          </a:xfrm>
          <a:prstGeom prst="roundRect">
            <a:avLst>
              <a:gd fmla="val 11111" name="adj"/>
            </a:avLst>
          </a:prstGeom>
          <a:solidFill>
            <a:srgbClr val="F2F4F6"/>
          </a:solidFill>
          <a:ln cap="flat" cmpd="sng" w="12700">
            <a:solidFill>
              <a:srgbClr val="F2F4F6"/>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54" name="Google Shape;254;p26"/>
          <p:cNvSpPr/>
          <p:nvPr/>
        </p:nvSpPr>
        <p:spPr>
          <a:xfrm>
            <a:off x="720090" y="2654046"/>
            <a:ext cx="45262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303C"/>
              </a:buClr>
              <a:buSzPts val="1100"/>
              <a:buFont typeface="Calibri"/>
              <a:buNone/>
            </a:pPr>
            <a:r>
              <a:rPr b="1" i="0" lang="en" sz="1100" u="none" cap="none" strike="noStrike">
                <a:solidFill>
                  <a:srgbClr val="22303C"/>
                </a:solidFill>
                <a:latin typeface="Calibri"/>
                <a:ea typeface="Calibri"/>
                <a:cs typeface="Calibri"/>
                <a:sym typeface="Calibri"/>
              </a:rPr>
              <a:t>A rollup that stopped refreshing</a:t>
            </a:r>
            <a:endParaRPr b="0" i="0" sz="1100" u="none" cap="none" strike="noStrike">
              <a:solidFill>
                <a:schemeClr val="dk1"/>
              </a:solidFill>
              <a:latin typeface="Calibri"/>
              <a:ea typeface="Calibri"/>
              <a:cs typeface="Calibri"/>
              <a:sym typeface="Calibri"/>
            </a:endParaRPr>
          </a:p>
        </p:txBody>
      </p:sp>
      <p:sp>
        <p:nvSpPr>
          <p:cNvPr id="255" name="Google Shape;255;p26"/>
          <p:cNvSpPr/>
          <p:nvPr/>
        </p:nvSpPr>
        <p:spPr>
          <a:xfrm>
            <a:off x="5349240" y="2654046"/>
            <a:ext cx="322326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E8663C"/>
              </a:buClr>
              <a:buSzPts val="1000"/>
              <a:buFont typeface="Consolas"/>
              <a:buNone/>
            </a:pPr>
            <a:r>
              <a:rPr b="0" i="0" lang="en" sz="1000" u="none" cap="none" strike="noStrike">
                <a:solidFill>
                  <a:srgbClr val="E8663C"/>
                </a:solidFill>
                <a:latin typeface="Consolas"/>
                <a:ea typeface="Consolas"/>
                <a:cs typeface="Consolas"/>
                <a:sym typeface="Consolas"/>
              </a:rPr>
              <a:t>Frozen 2026-02-28, still looks current</a:t>
            </a:r>
            <a:endParaRPr b="0" i="0" sz="1000" u="none" cap="none" strike="noStrike">
              <a:solidFill>
                <a:schemeClr val="dk1"/>
              </a:solidFill>
              <a:latin typeface="Calibri"/>
              <a:ea typeface="Calibri"/>
              <a:cs typeface="Calibri"/>
              <a:sym typeface="Calibri"/>
            </a:endParaRPr>
          </a:p>
        </p:txBody>
      </p:sp>
      <p:sp>
        <p:nvSpPr>
          <p:cNvPr id="256" name="Google Shape;256;p26"/>
          <p:cNvSpPr/>
          <p:nvPr/>
        </p:nvSpPr>
        <p:spPr>
          <a:xfrm>
            <a:off x="480060" y="3079242"/>
            <a:ext cx="8181594" cy="493776"/>
          </a:xfrm>
          <a:prstGeom prst="roundRect">
            <a:avLst>
              <a:gd fmla="val 11111" name="adj"/>
            </a:avLst>
          </a:prstGeom>
          <a:solidFill>
            <a:srgbClr val="FFFFFF"/>
          </a:solidFill>
          <a:ln cap="flat" cmpd="sng" w="12700">
            <a:solidFill>
              <a:srgbClr val="FFFFFF"/>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57" name="Google Shape;257;p26"/>
          <p:cNvSpPr/>
          <p:nvPr/>
        </p:nvSpPr>
        <p:spPr>
          <a:xfrm>
            <a:off x="720090" y="3188970"/>
            <a:ext cx="45262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303C"/>
              </a:buClr>
              <a:buSzPts val="1100"/>
              <a:buFont typeface="Calibri"/>
              <a:buNone/>
            </a:pPr>
            <a:r>
              <a:rPr b="1" i="0" lang="en" sz="1100" u="none" cap="none" strike="noStrike">
                <a:solidFill>
                  <a:srgbClr val="22303C"/>
                </a:solidFill>
                <a:latin typeface="Calibri"/>
                <a:ea typeface="Calibri"/>
                <a:cs typeface="Calibri"/>
                <a:sym typeface="Calibri"/>
              </a:rPr>
              <a:t>A join that fans out</a:t>
            </a:r>
            <a:endParaRPr b="0" i="0" sz="1100" u="none" cap="none" strike="noStrike">
              <a:solidFill>
                <a:schemeClr val="dk1"/>
              </a:solidFill>
              <a:latin typeface="Calibri"/>
              <a:ea typeface="Calibri"/>
              <a:cs typeface="Calibri"/>
              <a:sym typeface="Calibri"/>
            </a:endParaRPr>
          </a:p>
        </p:txBody>
      </p:sp>
      <p:sp>
        <p:nvSpPr>
          <p:cNvPr id="258" name="Google Shape;258;p26"/>
          <p:cNvSpPr/>
          <p:nvPr/>
        </p:nvSpPr>
        <p:spPr>
          <a:xfrm>
            <a:off x="5349240" y="3188970"/>
            <a:ext cx="322326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E8663C"/>
              </a:buClr>
              <a:buSzPts val="1000"/>
              <a:buFont typeface="Consolas"/>
              <a:buNone/>
            </a:pPr>
            <a:r>
              <a:rPr b="0" i="0" lang="en" sz="1000" u="none" cap="none" strike="noStrike">
                <a:solidFill>
                  <a:srgbClr val="E8663C"/>
                </a:solidFill>
                <a:latin typeface="Consolas"/>
                <a:ea typeface="Consolas"/>
                <a:cs typeface="Consolas"/>
                <a:sym typeface="Consolas"/>
              </a:rPr>
              <a:t>2.32x inflation, no error raised</a:t>
            </a:r>
            <a:endParaRPr b="0" i="0" sz="1000" u="none" cap="none" strike="noStrike">
              <a:solidFill>
                <a:schemeClr val="dk1"/>
              </a:solidFill>
              <a:latin typeface="Calibri"/>
              <a:ea typeface="Calibri"/>
              <a:cs typeface="Calibri"/>
              <a:sym typeface="Calibri"/>
            </a:endParaRPr>
          </a:p>
        </p:txBody>
      </p:sp>
      <p:sp>
        <p:nvSpPr>
          <p:cNvPr id="259" name="Google Shape;259;p26"/>
          <p:cNvSpPr/>
          <p:nvPr/>
        </p:nvSpPr>
        <p:spPr>
          <a:xfrm>
            <a:off x="480060" y="3614166"/>
            <a:ext cx="8181594" cy="493776"/>
          </a:xfrm>
          <a:prstGeom prst="roundRect">
            <a:avLst>
              <a:gd fmla="val 11111" name="adj"/>
            </a:avLst>
          </a:prstGeom>
          <a:solidFill>
            <a:srgbClr val="F2F4F6"/>
          </a:solidFill>
          <a:ln cap="flat" cmpd="sng" w="12700">
            <a:solidFill>
              <a:srgbClr val="F2F4F6"/>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60" name="Google Shape;260;p26"/>
          <p:cNvSpPr/>
          <p:nvPr/>
        </p:nvSpPr>
        <p:spPr>
          <a:xfrm>
            <a:off x="720090" y="3723894"/>
            <a:ext cx="45262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303C"/>
              </a:buClr>
              <a:buSzPts val="1100"/>
              <a:buFont typeface="Calibri"/>
              <a:buNone/>
            </a:pPr>
            <a:r>
              <a:rPr b="1" i="0" lang="en" sz="1100" u="none" cap="none" strike="noStrike">
                <a:solidFill>
                  <a:srgbClr val="22303C"/>
                </a:solidFill>
                <a:latin typeface="Calibri"/>
                <a:ea typeface="Calibri"/>
                <a:cs typeface="Calibri"/>
                <a:sym typeface="Calibri"/>
              </a:rPr>
              <a:t>A program with a true effect of zero</a:t>
            </a:r>
            <a:endParaRPr b="0" i="0" sz="1100" u="none" cap="none" strike="noStrike">
              <a:solidFill>
                <a:schemeClr val="dk1"/>
              </a:solidFill>
              <a:latin typeface="Calibri"/>
              <a:ea typeface="Calibri"/>
              <a:cs typeface="Calibri"/>
              <a:sym typeface="Calibri"/>
            </a:endParaRPr>
          </a:p>
        </p:txBody>
      </p:sp>
      <p:sp>
        <p:nvSpPr>
          <p:cNvPr id="261" name="Google Shape;261;p26"/>
          <p:cNvSpPr/>
          <p:nvPr/>
        </p:nvSpPr>
        <p:spPr>
          <a:xfrm>
            <a:off x="5349240" y="3723894"/>
            <a:ext cx="322326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E8663C"/>
              </a:buClr>
              <a:buSzPts val="1000"/>
              <a:buFont typeface="Consolas"/>
              <a:buNone/>
            </a:pPr>
            <a:r>
              <a:rPr b="0" i="0" lang="en" sz="1000" u="none" cap="none" strike="noStrike">
                <a:solidFill>
                  <a:srgbClr val="E8663C"/>
                </a:solidFill>
                <a:latin typeface="Consolas"/>
                <a:ea typeface="Consolas"/>
                <a:cs typeface="Consolas"/>
                <a:sym typeface="Consolas"/>
              </a:rPr>
              <a:t>Shows a 7-point gap from selection alone</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2303C"/>
        </a:solidFill>
      </p:bgPr>
    </p:bg>
    <p:spTree>
      <p:nvGrpSpPr>
        <p:cNvPr id="266" name="Shape 266"/>
        <p:cNvGrpSpPr/>
        <p:nvPr/>
      </p:nvGrpSpPr>
      <p:grpSpPr>
        <a:xfrm>
          <a:off x="0" y="0"/>
          <a:ext cx="0" cy="0"/>
          <a:chOff x="0" y="0"/>
          <a:chExt cx="0" cy="0"/>
        </a:xfrm>
      </p:grpSpPr>
      <p:sp>
        <p:nvSpPr>
          <p:cNvPr id="267" name="Google Shape;267;p27"/>
          <p:cNvSpPr/>
          <p:nvPr/>
        </p:nvSpPr>
        <p:spPr>
          <a:xfrm>
            <a:off x="480060" y="1371600"/>
            <a:ext cx="96000" cy="1714500"/>
          </a:xfrm>
          <a:prstGeom prst="roundRect">
            <a:avLst>
              <a:gd fmla="val 50000" name="adj"/>
            </a:avLst>
          </a:prstGeom>
          <a:solidFill>
            <a:srgbClr val="E8663C"/>
          </a:solidFill>
          <a:ln cap="flat" cmpd="sng" w="12700">
            <a:solidFill>
              <a:srgbClr val="E8663C"/>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68" name="Google Shape;268;p27"/>
          <p:cNvSpPr/>
          <p:nvPr/>
        </p:nvSpPr>
        <p:spPr>
          <a:xfrm>
            <a:off x="788670" y="1371600"/>
            <a:ext cx="6515100" cy="89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4400"/>
              <a:buFont typeface="Cambria"/>
              <a:buNone/>
            </a:pPr>
            <a:r>
              <a:rPr b="1" lang="en" sz="4400">
                <a:solidFill>
                  <a:srgbClr val="FFFFFF"/>
                </a:solidFill>
                <a:latin typeface="Cambria"/>
                <a:ea typeface="Cambria"/>
                <a:cs typeface="Cambria"/>
                <a:sym typeface="Cambria"/>
              </a:rPr>
              <a:t>Block 2: Failure Demo</a:t>
            </a:r>
            <a:endParaRPr b="0" i="0" sz="4400" u="none" cap="none" strike="noStrike">
              <a:solidFill>
                <a:schemeClr val="dk1"/>
              </a:solidFill>
              <a:latin typeface="Calibri"/>
              <a:ea typeface="Calibri"/>
              <a:cs typeface="Calibri"/>
              <a:sym typeface="Calibri"/>
            </a:endParaRPr>
          </a:p>
        </p:txBody>
      </p:sp>
      <p:sp>
        <p:nvSpPr>
          <p:cNvPr id="269" name="Google Shape;269;p27"/>
          <p:cNvSpPr/>
          <p:nvPr/>
        </p:nvSpPr>
        <p:spPr>
          <a:xfrm>
            <a:off x="788670" y="4320540"/>
            <a:ext cx="54864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9A8"/>
              </a:buClr>
              <a:buSzPts val="1000"/>
              <a:buFont typeface="Calibri"/>
              <a:buNone/>
            </a:pPr>
            <a:r>
              <a:rPr b="0" i="0" lang="en" sz="1000" u="none" cap="none" strike="noStrike">
                <a:solidFill>
                  <a:srgbClr val="8A99A8"/>
                </a:solidFill>
                <a:latin typeface="Calibri"/>
                <a:ea typeface="Calibri"/>
                <a:cs typeface="Calibri"/>
                <a:sym typeface="Calibri"/>
              </a:rPr>
              <a:t>3-hour hands-on workshop</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74" name="Shape 274"/>
        <p:cNvGrpSpPr/>
        <p:nvPr/>
      </p:nvGrpSpPr>
      <p:grpSpPr>
        <a:xfrm>
          <a:off x="0" y="0"/>
          <a:ext cx="0" cy="0"/>
          <a:chOff x="0" y="0"/>
          <a:chExt cx="0" cy="0"/>
        </a:xfrm>
      </p:grpSpPr>
      <p:sp>
        <p:nvSpPr>
          <p:cNvPr id="275" name="Google Shape;275;p28"/>
          <p:cNvSpPr/>
          <p:nvPr/>
        </p:nvSpPr>
        <p:spPr>
          <a:xfrm>
            <a:off x="480060" y="192024"/>
            <a:ext cx="81816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663C"/>
              </a:buClr>
              <a:buSzPts val="800"/>
              <a:buFont typeface="Calibri"/>
              <a:buNone/>
            </a:pPr>
            <a:r>
              <a:rPr b="1" lang="en" sz="800">
                <a:solidFill>
                  <a:srgbClr val="E8663C"/>
                </a:solidFill>
                <a:latin typeface="Calibri"/>
                <a:ea typeface="Calibri"/>
                <a:cs typeface="Calibri"/>
                <a:sym typeface="Calibri"/>
              </a:rPr>
              <a:t>BLOCK OVERVIEW</a:t>
            </a:r>
            <a:endParaRPr b="0" i="0" sz="800" u="none" cap="none" strike="noStrike">
              <a:solidFill>
                <a:schemeClr val="dk1"/>
              </a:solidFill>
              <a:latin typeface="Calibri"/>
              <a:ea typeface="Calibri"/>
              <a:cs typeface="Calibri"/>
              <a:sym typeface="Calibri"/>
            </a:endParaRPr>
          </a:p>
        </p:txBody>
      </p:sp>
      <p:sp>
        <p:nvSpPr>
          <p:cNvPr id="276" name="Google Shape;276;p28"/>
          <p:cNvSpPr/>
          <p:nvPr/>
        </p:nvSpPr>
        <p:spPr>
          <a:xfrm>
            <a:off x="480060" y="342900"/>
            <a:ext cx="8181600" cy="617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303C"/>
              </a:buClr>
              <a:buSzPts val="2600"/>
              <a:buFont typeface="Cambria"/>
              <a:buNone/>
            </a:pPr>
            <a:r>
              <a:rPr b="1" lang="en" sz="2600">
                <a:solidFill>
                  <a:srgbClr val="22303C"/>
                </a:solidFill>
                <a:latin typeface="Cambria"/>
                <a:ea typeface="Cambria"/>
                <a:cs typeface="Cambria"/>
                <a:sym typeface="Cambria"/>
              </a:rPr>
              <a:t>Block 2: Failure Demo (1:20 - 1:40 - 20 min)</a:t>
            </a:r>
            <a:endParaRPr b="0" i="0" sz="2600" u="none" cap="none" strike="noStrike">
              <a:solidFill>
                <a:schemeClr val="dk1"/>
              </a:solidFill>
              <a:latin typeface="Calibri"/>
              <a:ea typeface="Calibri"/>
              <a:cs typeface="Calibri"/>
              <a:sym typeface="Calibri"/>
            </a:endParaRPr>
          </a:p>
        </p:txBody>
      </p:sp>
      <p:sp>
        <p:nvSpPr>
          <p:cNvPr id="277" name="Google Shape;277;p28"/>
          <p:cNvSpPr txBox="1"/>
          <p:nvPr/>
        </p:nvSpPr>
        <p:spPr>
          <a:xfrm>
            <a:off x="528725" y="1073425"/>
            <a:ext cx="8181600" cy="4149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00"/>
              <a:t>For this block we're going to </a:t>
            </a:r>
            <a:r>
              <a:rPr b="1" lang="en" sz="900"/>
              <a:t>watch an AI agent answer the same question twice</a:t>
            </a:r>
            <a:r>
              <a:rPr lang="en" sz="900"/>
              <a:t> — once with no instructions and once with a skill loaded — in order to </a:t>
            </a:r>
            <a:r>
              <a:rPr b="1" lang="en" sz="900"/>
              <a:t>see the difference a reference doc makes before we build one ourselves. </a:t>
            </a:r>
            <a:endParaRPr b="1" sz="900"/>
          </a:p>
          <a:p>
            <a:pPr indent="0" lvl="0" marL="0" rtl="0" algn="l">
              <a:lnSpc>
                <a:spcPct val="115000"/>
              </a:lnSpc>
              <a:spcBef>
                <a:spcPts val="0"/>
              </a:spcBef>
              <a:spcAft>
                <a:spcPts val="0"/>
              </a:spcAft>
              <a:buNone/>
            </a:pPr>
            <a:r>
              <a:t/>
            </a:r>
            <a:endParaRPr sz="900">
              <a:solidFill>
                <a:srgbClr val="ED7D31"/>
              </a:solidFill>
            </a:endParaRPr>
          </a:p>
          <a:p>
            <a:pPr indent="0" lvl="0" marL="0" rtl="0" algn="l">
              <a:lnSpc>
                <a:spcPct val="115000"/>
              </a:lnSpc>
              <a:spcBef>
                <a:spcPts val="800"/>
              </a:spcBef>
              <a:spcAft>
                <a:spcPts val="0"/>
              </a:spcAft>
              <a:buNone/>
            </a:pPr>
            <a:r>
              <a:rPr b="1" lang="en" sz="900">
                <a:solidFill>
                  <a:srgbClr val="ED7D31"/>
                </a:solidFill>
              </a:rPr>
              <a:t>What's happening</a:t>
            </a:r>
            <a:endParaRPr b="1" sz="900">
              <a:solidFill>
                <a:srgbClr val="ED7D31"/>
              </a:solidFill>
            </a:endParaRPr>
          </a:p>
          <a:p>
            <a:pPr indent="0" lvl="0" marL="0" rtl="0" algn="l">
              <a:lnSpc>
                <a:spcPct val="115000"/>
              </a:lnSpc>
              <a:spcBef>
                <a:spcPts val="800"/>
              </a:spcBef>
              <a:spcAft>
                <a:spcPts val="0"/>
              </a:spcAft>
              <a:buNone/>
            </a:pPr>
            <a:r>
              <a:rPr lang="en" sz="900">
                <a:solidFill>
                  <a:schemeClr val="dk1"/>
                </a:solidFill>
              </a:rPr>
              <a:t>Rob asks the agent: "How many employees do we have? Just give me the number, I'm in a hurry." The agent answers confidently both times, but the two answers look very different. One gives a bare number with nothing to check. The other names its source, states its assumptions, and flags what it's uncertain about. </a:t>
            </a:r>
            <a:endParaRPr sz="900">
              <a:solidFill>
                <a:schemeClr val="dk1"/>
              </a:solidFill>
            </a:endParaRPr>
          </a:p>
          <a:p>
            <a:pPr indent="0" lvl="0" marL="0" rtl="0" algn="l">
              <a:lnSpc>
                <a:spcPct val="115000"/>
              </a:lnSpc>
              <a:spcBef>
                <a:spcPts val="800"/>
              </a:spcBef>
              <a:spcAft>
                <a:spcPts val="0"/>
              </a:spcAft>
              <a:buNone/>
            </a:pPr>
            <a:r>
              <a:rPr b="1" lang="en" sz="900">
                <a:solidFill>
                  <a:srgbClr val="ED7D31"/>
                </a:solidFill>
              </a:rPr>
              <a:t>What you're creating</a:t>
            </a:r>
            <a:endParaRPr b="1" sz="900">
              <a:solidFill>
                <a:srgbClr val="ED7D31"/>
              </a:solidFill>
            </a:endParaRPr>
          </a:p>
          <a:p>
            <a:pPr indent="-285750" lvl="0" marL="457200" rtl="0" algn="l">
              <a:lnSpc>
                <a:spcPct val="115000"/>
              </a:lnSpc>
              <a:spcBef>
                <a:spcPts val="800"/>
              </a:spcBef>
              <a:spcAft>
                <a:spcPts val="0"/>
              </a:spcAft>
              <a:buClr>
                <a:schemeClr val="dk1"/>
              </a:buClr>
              <a:buSzPts val="900"/>
              <a:buChar char="●"/>
            </a:pPr>
            <a:r>
              <a:rPr b="1" lang="en" sz="900">
                <a:solidFill>
                  <a:schemeClr val="dk1"/>
                </a:solidFill>
                <a:highlight>
                  <a:srgbClr val="D9EAD3"/>
                </a:highlight>
              </a:rPr>
              <a:t>Nothing yet. </a:t>
            </a:r>
            <a:r>
              <a:rPr lang="en" sz="900">
                <a:solidFill>
                  <a:schemeClr val="dk1"/>
                </a:solidFill>
                <a:highlight>
                  <a:srgbClr val="D9EAD3"/>
                </a:highlight>
              </a:rPr>
              <a:t>Still watching. But notice what specifically made the first answer worse — you'll use those observations as raw material in the Validate block.</a:t>
            </a:r>
            <a:endParaRPr sz="900">
              <a:solidFill>
                <a:schemeClr val="dk1"/>
              </a:solidFill>
              <a:highlight>
                <a:srgbClr val="D9EAD3"/>
              </a:highlight>
            </a:endParaRPr>
          </a:p>
          <a:p>
            <a:pPr indent="0" lvl="0" marL="0" rtl="0" algn="l">
              <a:lnSpc>
                <a:spcPct val="115000"/>
              </a:lnSpc>
              <a:spcBef>
                <a:spcPts val="800"/>
              </a:spcBef>
              <a:spcAft>
                <a:spcPts val="0"/>
              </a:spcAft>
              <a:buNone/>
            </a:pPr>
            <a:r>
              <a:rPr b="1" lang="en" sz="900">
                <a:solidFill>
                  <a:srgbClr val="ED7D31"/>
                </a:solidFill>
              </a:rPr>
              <a:t>What to pay attention to</a:t>
            </a:r>
            <a:endParaRPr b="1" sz="900">
              <a:solidFill>
                <a:srgbClr val="ED7D31"/>
              </a:solidFill>
            </a:endParaRPr>
          </a:p>
          <a:p>
            <a:pPr indent="-285750" lvl="0" marL="457200" rtl="0" algn="l">
              <a:lnSpc>
                <a:spcPct val="115000"/>
              </a:lnSpc>
              <a:spcBef>
                <a:spcPts val="800"/>
              </a:spcBef>
              <a:spcAft>
                <a:spcPts val="0"/>
              </a:spcAft>
              <a:buClr>
                <a:schemeClr val="dk1"/>
              </a:buClr>
              <a:buSzPts val="900"/>
              <a:buChar char="●"/>
            </a:pPr>
            <a:r>
              <a:rPr lang="en" sz="900">
                <a:solidFill>
                  <a:schemeClr val="dk1"/>
                </a:solidFill>
              </a:rPr>
              <a:t>Did the first answer name where the number came from?</a:t>
            </a:r>
            <a:endParaRPr sz="900">
              <a:solidFill>
                <a:schemeClr val="dk1"/>
              </a:solidFill>
            </a:endParaRPr>
          </a:p>
          <a:p>
            <a:pPr indent="-285750" lvl="0" marL="457200" rtl="0" algn="l">
              <a:lnSpc>
                <a:spcPct val="115000"/>
              </a:lnSpc>
              <a:spcBef>
                <a:spcPts val="0"/>
              </a:spcBef>
              <a:spcAft>
                <a:spcPts val="0"/>
              </a:spcAft>
              <a:buClr>
                <a:schemeClr val="dk1"/>
              </a:buClr>
              <a:buSzPts val="900"/>
              <a:buChar char="●"/>
            </a:pPr>
            <a:r>
              <a:rPr lang="en" sz="900">
                <a:solidFill>
                  <a:schemeClr val="dk1"/>
                </a:solidFill>
              </a:rPr>
              <a:t>Did it say who was counted?</a:t>
            </a:r>
            <a:endParaRPr sz="900">
              <a:solidFill>
                <a:schemeClr val="dk1"/>
              </a:solidFill>
            </a:endParaRPr>
          </a:p>
          <a:p>
            <a:pPr indent="-285750" lvl="0" marL="457200" rtl="0" algn="l">
              <a:lnSpc>
                <a:spcPct val="115000"/>
              </a:lnSpc>
              <a:spcBef>
                <a:spcPts val="0"/>
              </a:spcBef>
              <a:spcAft>
                <a:spcPts val="0"/>
              </a:spcAft>
              <a:buClr>
                <a:schemeClr val="dk1"/>
              </a:buClr>
              <a:buSzPts val="900"/>
              <a:buChar char="●"/>
            </a:pPr>
            <a:r>
              <a:rPr lang="en" sz="900">
                <a:solidFill>
                  <a:schemeClr val="dk1"/>
                </a:solidFill>
              </a:rPr>
              <a:t>Did it say what it assumed?</a:t>
            </a:r>
            <a:endParaRPr sz="900">
              <a:solidFill>
                <a:schemeClr val="dk1"/>
              </a:solidFill>
            </a:endParaRPr>
          </a:p>
          <a:p>
            <a:pPr indent="-285750" lvl="0" marL="457200" rtl="0" algn="l">
              <a:lnSpc>
                <a:spcPct val="115000"/>
              </a:lnSpc>
              <a:spcBef>
                <a:spcPts val="0"/>
              </a:spcBef>
              <a:spcAft>
                <a:spcPts val="0"/>
              </a:spcAft>
              <a:buClr>
                <a:schemeClr val="dk1"/>
              </a:buClr>
              <a:buSzPts val="900"/>
              <a:buChar char="●"/>
            </a:pPr>
            <a:r>
              <a:rPr lang="en" sz="900">
                <a:solidFill>
                  <a:schemeClr val="dk1"/>
                </a:solidFill>
              </a:rPr>
              <a:t>What changed in the second answer — and could a reader tell? </a:t>
            </a:r>
            <a:endParaRPr sz="900">
              <a:solidFill>
                <a:schemeClr val="dk1"/>
              </a:solidFill>
            </a:endParaRPr>
          </a:p>
          <a:p>
            <a:pPr indent="0" lvl="0" marL="0" rtl="0" algn="l">
              <a:lnSpc>
                <a:spcPct val="115000"/>
              </a:lnSpc>
              <a:spcBef>
                <a:spcPts val="800"/>
              </a:spcBef>
              <a:spcAft>
                <a:spcPts val="0"/>
              </a:spcAft>
              <a:buNone/>
            </a:pPr>
            <a:r>
              <a:rPr b="1" lang="en" sz="900">
                <a:solidFill>
                  <a:schemeClr val="dk1"/>
                </a:solidFill>
                <a:highlight>
                  <a:srgbClr val="F9CB9C"/>
                </a:highlight>
              </a:rPr>
              <a:t>If you have a question, try framing it as multiple choice:</a:t>
            </a:r>
            <a:endParaRPr b="1" sz="900">
              <a:solidFill>
                <a:schemeClr val="dk1"/>
              </a:solidFill>
              <a:highlight>
                <a:srgbClr val="F9CB9C"/>
              </a:highlight>
            </a:endParaRPr>
          </a:p>
          <a:p>
            <a:pPr indent="0" lvl="0" marL="0" rtl="0" algn="l">
              <a:lnSpc>
                <a:spcPct val="115000"/>
              </a:lnSpc>
              <a:spcBef>
                <a:spcPts val="800"/>
              </a:spcBef>
              <a:spcAft>
                <a:spcPts val="0"/>
              </a:spcAft>
              <a:buNone/>
            </a:pPr>
            <a:r>
              <a:rPr lang="en" sz="900">
                <a:solidFill>
                  <a:schemeClr val="dk1"/>
                </a:solidFill>
                <a:highlight>
                  <a:srgbClr val="F9CB9C"/>
                </a:highlight>
              </a:rPr>
              <a:t>"Was the second answer better because it used a different table, because it added a footer, or because it clarified the population?" gives you a concrete answer. </a:t>
            </a:r>
            <a:endParaRPr sz="900">
              <a:solidFill>
                <a:schemeClr val="dk1"/>
              </a:solidFill>
              <a:highlight>
                <a:srgbClr val="F9CB9C"/>
              </a:highlight>
            </a:endParaRPr>
          </a:p>
          <a:p>
            <a:pPr indent="0" lvl="0" marL="0" rtl="0" algn="l">
              <a:spcBef>
                <a:spcPts val="800"/>
              </a:spcBef>
              <a:spcAft>
                <a:spcPts val="0"/>
              </a:spcAft>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82" name="Shape 282"/>
        <p:cNvGrpSpPr/>
        <p:nvPr/>
      </p:nvGrpSpPr>
      <p:grpSpPr>
        <a:xfrm>
          <a:off x="0" y="0"/>
          <a:ext cx="0" cy="0"/>
          <a:chOff x="0" y="0"/>
          <a:chExt cx="0" cy="0"/>
        </a:xfrm>
      </p:grpSpPr>
      <p:sp>
        <p:nvSpPr>
          <p:cNvPr id="283" name="Google Shape;283;p29"/>
          <p:cNvSpPr/>
          <p:nvPr/>
        </p:nvSpPr>
        <p:spPr>
          <a:xfrm>
            <a:off x="480060" y="192024"/>
            <a:ext cx="8181594"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663C"/>
              </a:buClr>
              <a:buSzPts val="800"/>
              <a:buFont typeface="Calibri"/>
              <a:buNone/>
            </a:pPr>
            <a:r>
              <a:rPr b="1" i="0" lang="en" sz="800" u="none" cap="none" strike="noStrike">
                <a:solidFill>
                  <a:srgbClr val="E8663C"/>
                </a:solidFill>
                <a:latin typeface="Calibri"/>
                <a:ea typeface="Calibri"/>
                <a:cs typeface="Calibri"/>
                <a:sym typeface="Calibri"/>
              </a:rPr>
              <a:t>LIVE DEMO</a:t>
            </a:r>
            <a:endParaRPr b="0" i="0" sz="800" u="none" cap="none" strike="noStrike">
              <a:solidFill>
                <a:schemeClr val="dk1"/>
              </a:solidFill>
              <a:latin typeface="Calibri"/>
              <a:ea typeface="Calibri"/>
              <a:cs typeface="Calibri"/>
              <a:sym typeface="Calibri"/>
            </a:endParaRPr>
          </a:p>
        </p:txBody>
      </p:sp>
      <p:sp>
        <p:nvSpPr>
          <p:cNvPr id="284" name="Google Shape;284;p29"/>
          <p:cNvSpPr/>
          <p:nvPr/>
        </p:nvSpPr>
        <p:spPr>
          <a:xfrm>
            <a:off x="480060" y="342900"/>
            <a:ext cx="8181594" cy="6172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303C"/>
              </a:buClr>
              <a:buSzPts val="2600"/>
              <a:buFont typeface="Cambria"/>
              <a:buNone/>
            </a:pPr>
            <a:r>
              <a:rPr b="1" i="0" lang="en" sz="2600" u="none" cap="none" strike="noStrike">
                <a:solidFill>
                  <a:srgbClr val="22303C"/>
                </a:solidFill>
                <a:latin typeface="Cambria"/>
                <a:ea typeface="Cambria"/>
                <a:cs typeface="Cambria"/>
                <a:sym typeface="Cambria"/>
              </a:rPr>
              <a:t>Same question. Same warehouse. Skill off, then on.</a:t>
            </a:r>
            <a:endParaRPr b="0" i="0" sz="2600" u="none" cap="none" strike="noStrike">
              <a:solidFill>
                <a:schemeClr val="dk1"/>
              </a:solidFill>
              <a:latin typeface="Calibri"/>
              <a:ea typeface="Calibri"/>
              <a:cs typeface="Calibri"/>
              <a:sym typeface="Calibri"/>
            </a:endParaRPr>
          </a:p>
        </p:txBody>
      </p:sp>
      <p:sp>
        <p:nvSpPr>
          <p:cNvPr id="285" name="Google Shape;285;p29"/>
          <p:cNvSpPr/>
          <p:nvPr/>
        </p:nvSpPr>
        <p:spPr>
          <a:xfrm>
            <a:off x="480060" y="1062990"/>
            <a:ext cx="8181594" cy="3086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7A"/>
              </a:buClr>
              <a:buSzPts val="1400"/>
              <a:buFont typeface="Cambria"/>
              <a:buNone/>
            </a:pPr>
            <a:r>
              <a:rPr b="0" i="1" lang="en" sz="1400" u="none" cap="none" strike="noStrike">
                <a:solidFill>
                  <a:srgbClr val="5A6B7A"/>
                </a:solidFill>
                <a:latin typeface="Cambria"/>
                <a:ea typeface="Cambria"/>
                <a:cs typeface="Cambria"/>
                <a:sym typeface="Cambria"/>
              </a:rPr>
              <a:t>"How many employees do we have? Just give me the number, I'm in a hurry."</a:t>
            </a:r>
            <a:endParaRPr b="0" i="0" sz="1400" u="none" cap="none" strike="noStrike">
              <a:solidFill>
                <a:schemeClr val="dk1"/>
              </a:solidFill>
              <a:latin typeface="Calibri"/>
              <a:ea typeface="Calibri"/>
              <a:cs typeface="Calibri"/>
              <a:sym typeface="Calibri"/>
            </a:endParaRPr>
          </a:p>
        </p:txBody>
      </p:sp>
      <p:sp>
        <p:nvSpPr>
          <p:cNvPr id="286" name="Google Shape;286;p29"/>
          <p:cNvSpPr/>
          <p:nvPr/>
        </p:nvSpPr>
        <p:spPr>
          <a:xfrm>
            <a:off x="480060" y="1543050"/>
            <a:ext cx="3806190" cy="2263140"/>
          </a:xfrm>
          <a:prstGeom prst="roundRect">
            <a:avLst>
              <a:gd fmla="val 2424" name="adj"/>
            </a:avLst>
          </a:prstGeom>
          <a:solidFill>
            <a:srgbClr val="FBEDE8"/>
          </a:solidFill>
          <a:ln cap="flat" cmpd="sng" w="12700">
            <a:solidFill>
              <a:srgbClr val="FBEDE8"/>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87" name="Google Shape;287;p29"/>
          <p:cNvSpPr/>
          <p:nvPr/>
        </p:nvSpPr>
        <p:spPr>
          <a:xfrm>
            <a:off x="720090" y="1714500"/>
            <a:ext cx="332613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663C"/>
              </a:buClr>
              <a:buSzPts val="1400"/>
              <a:buFont typeface="Cambria"/>
              <a:buNone/>
            </a:pPr>
            <a:r>
              <a:rPr b="1" i="0" lang="en" sz="1400" u="none" cap="none" strike="noStrike">
                <a:solidFill>
                  <a:srgbClr val="E8663C"/>
                </a:solidFill>
                <a:latin typeface="Cambria"/>
                <a:ea typeface="Cambria"/>
                <a:cs typeface="Cambria"/>
                <a:sym typeface="Cambria"/>
              </a:rPr>
              <a:t>Without the skill</a:t>
            </a:r>
            <a:endParaRPr b="0" i="0" sz="1400" u="none" cap="none" strike="noStrike">
              <a:solidFill>
                <a:schemeClr val="dk1"/>
              </a:solidFill>
              <a:latin typeface="Calibri"/>
              <a:ea typeface="Calibri"/>
              <a:cs typeface="Calibri"/>
              <a:sym typeface="Calibri"/>
            </a:endParaRPr>
          </a:p>
        </p:txBody>
      </p:sp>
      <p:sp>
        <p:nvSpPr>
          <p:cNvPr id="288" name="Google Shape;288;p29"/>
          <p:cNvSpPr/>
          <p:nvPr/>
        </p:nvSpPr>
        <p:spPr>
          <a:xfrm>
            <a:off x="720090" y="2057400"/>
            <a:ext cx="3326130" cy="58293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663C"/>
              </a:buClr>
              <a:buSzPts val="3500"/>
              <a:buFont typeface="Cambria"/>
              <a:buNone/>
            </a:pPr>
            <a:r>
              <a:rPr b="1" i="0" lang="en" sz="3500" u="none" cap="none" strike="noStrike">
                <a:solidFill>
                  <a:srgbClr val="E8663C"/>
                </a:solidFill>
                <a:latin typeface="Cambria"/>
                <a:ea typeface="Cambria"/>
                <a:cs typeface="Cambria"/>
                <a:sym typeface="Cambria"/>
              </a:rPr>
              <a:t>0 / 4</a:t>
            </a:r>
            <a:endParaRPr b="0" i="0" sz="3500" u="none" cap="none" strike="noStrike">
              <a:solidFill>
                <a:schemeClr val="dk1"/>
              </a:solidFill>
              <a:latin typeface="Calibri"/>
              <a:ea typeface="Calibri"/>
              <a:cs typeface="Calibri"/>
              <a:sym typeface="Calibri"/>
            </a:endParaRPr>
          </a:p>
        </p:txBody>
      </p:sp>
      <p:sp>
        <p:nvSpPr>
          <p:cNvPr id="289" name="Google Shape;289;p29"/>
          <p:cNvSpPr/>
          <p:nvPr/>
        </p:nvSpPr>
        <p:spPr>
          <a:xfrm>
            <a:off x="720090" y="2708910"/>
            <a:ext cx="332613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C4430"/>
              </a:buClr>
              <a:buSzPts val="1100"/>
              <a:buFont typeface="Calibri"/>
              <a:buNone/>
            </a:pPr>
            <a:r>
              <a:rPr b="0" i="0" lang="en" sz="1100" u="none" cap="none" strike="noStrike">
                <a:solidFill>
                  <a:srgbClr val="8C4430"/>
                </a:solidFill>
                <a:latin typeface="Calibri"/>
                <a:ea typeface="Calibri"/>
                <a:cs typeface="Calibri"/>
                <a:sym typeface="Calibri"/>
              </a:rPr>
              <a:t>No source. No confidence. No population stated. A number that will be forwarded.</a:t>
            </a:r>
            <a:endParaRPr b="0" i="0" sz="1100" u="none" cap="none" strike="noStrike">
              <a:solidFill>
                <a:schemeClr val="dk1"/>
              </a:solidFill>
              <a:latin typeface="Calibri"/>
              <a:ea typeface="Calibri"/>
              <a:cs typeface="Calibri"/>
              <a:sym typeface="Calibri"/>
            </a:endParaRPr>
          </a:p>
        </p:txBody>
      </p:sp>
      <p:sp>
        <p:nvSpPr>
          <p:cNvPr id="290" name="Google Shape;290;p29"/>
          <p:cNvSpPr/>
          <p:nvPr/>
        </p:nvSpPr>
        <p:spPr>
          <a:xfrm>
            <a:off x="4629150" y="1543050"/>
            <a:ext cx="3806190" cy="2263140"/>
          </a:xfrm>
          <a:prstGeom prst="roundRect">
            <a:avLst>
              <a:gd fmla="val 2424" name="adj"/>
            </a:avLst>
          </a:prstGeom>
          <a:solidFill>
            <a:srgbClr val="E6F2EE"/>
          </a:solidFill>
          <a:ln cap="flat" cmpd="sng" w="12700">
            <a:solidFill>
              <a:srgbClr val="E6F2EE"/>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91" name="Google Shape;291;p29"/>
          <p:cNvSpPr/>
          <p:nvPr/>
        </p:nvSpPr>
        <p:spPr>
          <a:xfrm>
            <a:off x="4869180" y="1714500"/>
            <a:ext cx="332613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8A72"/>
              </a:buClr>
              <a:buSzPts val="1400"/>
              <a:buFont typeface="Cambria"/>
              <a:buNone/>
            </a:pPr>
            <a:r>
              <a:rPr b="1" i="0" lang="en" sz="1400" u="none" cap="none" strike="noStrike">
                <a:solidFill>
                  <a:srgbClr val="2D8A72"/>
                </a:solidFill>
                <a:latin typeface="Cambria"/>
                <a:ea typeface="Cambria"/>
                <a:cs typeface="Cambria"/>
                <a:sym typeface="Cambria"/>
              </a:rPr>
              <a:t>With the skill</a:t>
            </a:r>
            <a:endParaRPr b="0" i="0" sz="1400" u="none" cap="none" strike="noStrike">
              <a:solidFill>
                <a:schemeClr val="dk1"/>
              </a:solidFill>
              <a:latin typeface="Calibri"/>
              <a:ea typeface="Calibri"/>
              <a:cs typeface="Calibri"/>
              <a:sym typeface="Calibri"/>
            </a:endParaRPr>
          </a:p>
        </p:txBody>
      </p:sp>
      <p:sp>
        <p:nvSpPr>
          <p:cNvPr id="292" name="Google Shape;292;p29"/>
          <p:cNvSpPr/>
          <p:nvPr/>
        </p:nvSpPr>
        <p:spPr>
          <a:xfrm>
            <a:off x="4869180" y="2057400"/>
            <a:ext cx="3326130" cy="58293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8A72"/>
              </a:buClr>
              <a:buSzPts val="3500"/>
              <a:buFont typeface="Cambria"/>
              <a:buNone/>
            </a:pPr>
            <a:r>
              <a:rPr b="1" i="0" lang="en" sz="3500" u="none" cap="none" strike="noStrike">
                <a:solidFill>
                  <a:srgbClr val="2D8A72"/>
                </a:solidFill>
                <a:latin typeface="Cambria"/>
                <a:ea typeface="Cambria"/>
                <a:cs typeface="Cambria"/>
                <a:sym typeface="Cambria"/>
              </a:rPr>
              <a:t>4 / 4</a:t>
            </a:r>
            <a:endParaRPr b="0" i="0" sz="3500" u="none" cap="none" strike="noStrike">
              <a:solidFill>
                <a:schemeClr val="dk1"/>
              </a:solidFill>
              <a:latin typeface="Calibri"/>
              <a:ea typeface="Calibri"/>
              <a:cs typeface="Calibri"/>
              <a:sym typeface="Calibri"/>
            </a:endParaRPr>
          </a:p>
        </p:txBody>
      </p:sp>
      <p:sp>
        <p:nvSpPr>
          <p:cNvPr id="293" name="Google Shape;293;p29"/>
          <p:cNvSpPr/>
          <p:nvPr/>
        </p:nvSpPr>
        <p:spPr>
          <a:xfrm>
            <a:off x="4869180" y="2708910"/>
            <a:ext cx="332613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5F4C"/>
              </a:buClr>
              <a:buSzPts val="1100"/>
              <a:buFont typeface="Calibri"/>
              <a:buNone/>
            </a:pPr>
            <a:r>
              <a:rPr b="0" i="0" lang="en" sz="1100" u="none" cap="none" strike="noStrike">
                <a:solidFill>
                  <a:srgbClr val="1F5F4C"/>
                </a:solidFill>
                <a:latin typeface="Calibri"/>
                <a:ea typeface="Calibri"/>
                <a:cs typeface="Calibri"/>
                <a:sym typeface="Calibri"/>
              </a:rPr>
              <a:t>Source table, confidence, freshness, population — attached despite the time pressure.</a:t>
            </a:r>
            <a:endParaRPr b="0" i="0" sz="1100" u="none" cap="none" strike="noStrike">
              <a:solidFill>
                <a:schemeClr val="dk1"/>
              </a:solidFill>
              <a:latin typeface="Calibri"/>
              <a:ea typeface="Calibri"/>
              <a:cs typeface="Calibri"/>
              <a:sym typeface="Calibri"/>
            </a:endParaRPr>
          </a:p>
        </p:txBody>
      </p:sp>
      <p:sp>
        <p:nvSpPr>
          <p:cNvPr id="294" name="Google Shape;294;p29"/>
          <p:cNvSpPr/>
          <p:nvPr/>
        </p:nvSpPr>
        <p:spPr>
          <a:xfrm>
            <a:off x="480060" y="3977640"/>
            <a:ext cx="8181594" cy="24003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9A8"/>
              </a:buClr>
              <a:buSzPts val="900"/>
              <a:buFont typeface="Calibri"/>
              <a:buNone/>
            </a:pPr>
            <a:r>
              <a:rPr b="0" i="1" lang="en" sz="900" u="none" cap="none" strike="noStrike">
                <a:solidFill>
                  <a:srgbClr val="8A99A8"/>
                </a:solidFill>
                <a:latin typeface="Calibri"/>
                <a:ea typeface="Calibri"/>
                <a:cs typeface="Calibri"/>
                <a:sym typeface="Calibri"/>
              </a:rPr>
              <a:t>Measured on claude-sonnet-5 against the workshop warehouse. Single slice, single run.</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99" name="Shape 299"/>
        <p:cNvGrpSpPr/>
        <p:nvPr/>
      </p:nvGrpSpPr>
      <p:grpSpPr>
        <a:xfrm>
          <a:off x="0" y="0"/>
          <a:ext cx="0" cy="0"/>
          <a:chOff x="0" y="0"/>
          <a:chExt cx="0" cy="0"/>
        </a:xfrm>
      </p:grpSpPr>
      <p:sp>
        <p:nvSpPr>
          <p:cNvPr id="300" name="Google Shape;300;p30"/>
          <p:cNvSpPr/>
          <p:nvPr/>
        </p:nvSpPr>
        <p:spPr>
          <a:xfrm>
            <a:off x="480060" y="192024"/>
            <a:ext cx="8181594"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663C"/>
              </a:buClr>
              <a:buSzPts val="800"/>
              <a:buFont typeface="Calibri"/>
              <a:buNone/>
            </a:pPr>
            <a:r>
              <a:rPr b="1" i="0" lang="en" sz="800" u="none" cap="none" strike="noStrike">
                <a:solidFill>
                  <a:srgbClr val="E8663C"/>
                </a:solidFill>
                <a:latin typeface="Calibri"/>
                <a:ea typeface="Calibri"/>
                <a:cs typeface="Calibri"/>
                <a:sym typeface="Calibri"/>
              </a:rPr>
              <a:t>WHAT ANALYSTS BRING THAT MODELS DON'T</a:t>
            </a:r>
            <a:endParaRPr b="0" i="0" sz="800" u="none" cap="none" strike="noStrike">
              <a:solidFill>
                <a:schemeClr val="dk1"/>
              </a:solidFill>
              <a:latin typeface="Calibri"/>
              <a:ea typeface="Calibri"/>
              <a:cs typeface="Calibri"/>
              <a:sym typeface="Calibri"/>
            </a:endParaRPr>
          </a:p>
        </p:txBody>
      </p:sp>
      <p:sp>
        <p:nvSpPr>
          <p:cNvPr id="301" name="Google Shape;301;p30"/>
          <p:cNvSpPr/>
          <p:nvPr/>
        </p:nvSpPr>
        <p:spPr>
          <a:xfrm>
            <a:off x="480060" y="342900"/>
            <a:ext cx="8181594" cy="6172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303C"/>
              </a:buClr>
              <a:buSzPts val="2600"/>
              <a:buFont typeface="Cambria"/>
              <a:buNone/>
            </a:pPr>
            <a:r>
              <a:rPr b="1" i="0" lang="en" sz="2600" u="none" cap="none" strike="noStrike">
                <a:solidFill>
                  <a:srgbClr val="22303C"/>
                </a:solidFill>
                <a:latin typeface="Cambria"/>
                <a:ea typeface="Cambria"/>
                <a:cs typeface="Cambria"/>
                <a:sym typeface="Cambria"/>
              </a:rPr>
              <a:t>Two skills with no software-engineering analogue</a:t>
            </a:r>
            <a:endParaRPr b="0" i="0" sz="2600" u="none" cap="none" strike="noStrike">
              <a:solidFill>
                <a:schemeClr val="dk1"/>
              </a:solidFill>
              <a:latin typeface="Calibri"/>
              <a:ea typeface="Calibri"/>
              <a:cs typeface="Calibri"/>
              <a:sym typeface="Calibri"/>
            </a:endParaRPr>
          </a:p>
        </p:txBody>
      </p:sp>
      <p:sp>
        <p:nvSpPr>
          <p:cNvPr id="302" name="Google Shape;302;p30"/>
          <p:cNvSpPr/>
          <p:nvPr/>
        </p:nvSpPr>
        <p:spPr>
          <a:xfrm>
            <a:off x="480060" y="1268730"/>
            <a:ext cx="3806190" cy="2811780"/>
          </a:xfrm>
          <a:prstGeom prst="roundRect">
            <a:avLst>
              <a:gd fmla="val 1951" name="adj"/>
            </a:avLst>
          </a:prstGeom>
          <a:solidFill>
            <a:srgbClr val="F2F4F6"/>
          </a:solidFill>
          <a:ln cap="flat" cmpd="sng" w="12700">
            <a:solidFill>
              <a:srgbClr val="F2F4F6"/>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03" name="Google Shape;303;p30"/>
          <p:cNvSpPr/>
          <p:nvPr/>
        </p:nvSpPr>
        <p:spPr>
          <a:xfrm>
            <a:off x="720090" y="1440180"/>
            <a:ext cx="33604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303C"/>
              </a:buClr>
              <a:buSzPts val="1300"/>
              <a:buFont typeface="Consolas"/>
              <a:buNone/>
            </a:pPr>
            <a:r>
              <a:rPr b="1" i="0" lang="en" sz="1300" u="none" cap="none" strike="noStrike">
                <a:solidFill>
                  <a:srgbClr val="22303C"/>
                </a:solidFill>
                <a:latin typeface="Consolas"/>
                <a:ea typeface="Consolas"/>
                <a:cs typeface="Consolas"/>
                <a:sym typeface="Consolas"/>
              </a:rPr>
              <a:t>causal-claim-guardrail</a:t>
            </a:r>
            <a:endParaRPr b="0" i="0" sz="1300" u="none" cap="none" strike="noStrike">
              <a:solidFill>
                <a:schemeClr val="dk1"/>
              </a:solidFill>
              <a:latin typeface="Calibri"/>
              <a:ea typeface="Calibri"/>
              <a:cs typeface="Calibri"/>
              <a:sym typeface="Calibri"/>
            </a:endParaRPr>
          </a:p>
        </p:txBody>
      </p:sp>
      <p:sp>
        <p:nvSpPr>
          <p:cNvPr id="304" name="Google Shape;304;p30"/>
          <p:cNvSpPr/>
          <p:nvPr/>
        </p:nvSpPr>
        <p:spPr>
          <a:xfrm>
            <a:off x="720090" y="1748790"/>
            <a:ext cx="3360420" cy="34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7A"/>
              </a:buClr>
              <a:buSzPts val="1100"/>
              <a:buFont typeface="Calibri"/>
              <a:buNone/>
            </a:pPr>
            <a:r>
              <a:rPr b="0" i="0" lang="en" sz="1100" u="none" cap="none" strike="noStrike">
                <a:solidFill>
                  <a:srgbClr val="5A6B7A"/>
                </a:solidFill>
                <a:latin typeface="Calibri"/>
                <a:ea typeface="Calibri"/>
                <a:cs typeface="Calibri"/>
                <a:sym typeface="Calibri"/>
              </a:rPr>
              <a:t>Licenses causal language by design, not by correlation size.</a:t>
            </a:r>
            <a:endParaRPr b="0" i="0" sz="1100" u="none" cap="none" strike="noStrike">
              <a:solidFill>
                <a:schemeClr val="dk1"/>
              </a:solidFill>
              <a:latin typeface="Calibri"/>
              <a:ea typeface="Calibri"/>
              <a:cs typeface="Calibri"/>
              <a:sym typeface="Calibri"/>
            </a:endParaRPr>
          </a:p>
        </p:txBody>
      </p:sp>
      <p:sp>
        <p:nvSpPr>
          <p:cNvPr id="305" name="Google Shape;305;p30"/>
          <p:cNvSpPr/>
          <p:nvPr/>
        </p:nvSpPr>
        <p:spPr>
          <a:xfrm>
            <a:off x="720090" y="2091690"/>
            <a:ext cx="3360420" cy="1714500"/>
          </a:xfrm>
          <a:prstGeom prst="rect">
            <a:avLst/>
          </a:prstGeom>
          <a:noFill/>
          <a:ln>
            <a:noFill/>
          </a:ln>
        </p:spPr>
        <p:txBody>
          <a:bodyPr anchorCtr="0" anchor="ctr" bIns="0" lIns="0" spcFirstLastPara="1" rIns="0" wrap="square" tIns="0">
            <a:noAutofit/>
          </a:bodyPr>
          <a:lstStyle/>
          <a:p>
            <a:pPr indent="-254000" lvl="0" marL="254000" marR="0" rtl="0" algn="l">
              <a:spcBef>
                <a:spcPts val="0"/>
              </a:spcBef>
              <a:spcAft>
                <a:spcPts val="0"/>
              </a:spcAft>
              <a:buClr>
                <a:srgbClr val="5A6B7A"/>
              </a:buClr>
              <a:buSzPts val="1000"/>
              <a:buFont typeface="Calibri"/>
              <a:buChar char="•"/>
            </a:pPr>
            <a:r>
              <a:rPr b="0" i="0" lang="en" sz="1000" u="none" cap="none" strike="noStrike">
                <a:solidFill>
                  <a:srgbClr val="5A6B7A"/>
                </a:solidFill>
                <a:latin typeface="Calibri"/>
                <a:ea typeface="Calibri"/>
                <a:cs typeface="Calibri"/>
                <a:sym typeface="Calibri"/>
              </a:rPr>
              <a:t>Selection into treatment</a:t>
            </a:r>
            <a:endParaRPr b="0" i="0" sz="1000" u="none" cap="none" strike="noStrike">
              <a:solidFill>
                <a:schemeClr val="dk1"/>
              </a:solidFill>
              <a:latin typeface="Calibri"/>
              <a:ea typeface="Calibri"/>
              <a:cs typeface="Calibri"/>
              <a:sym typeface="Calibri"/>
            </a:endParaRPr>
          </a:p>
          <a:p>
            <a:pPr indent="-254000" lvl="0" marL="254000" marR="0" rtl="0" algn="l">
              <a:spcBef>
                <a:spcPts val="600"/>
              </a:spcBef>
              <a:spcAft>
                <a:spcPts val="0"/>
              </a:spcAft>
              <a:buClr>
                <a:srgbClr val="5A6B7A"/>
              </a:buClr>
              <a:buSzPts val="1000"/>
              <a:buFont typeface="Calibri"/>
              <a:buChar char="•"/>
            </a:pPr>
            <a:r>
              <a:rPr b="0" i="0" lang="en" sz="1000" u="none" cap="none" strike="noStrike">
                <a:solidFill>
                  <a:srgbClr val="5A6B7A"/>
                </a:solidFill>
                <a:latin typeface="Calibri"/>
                <a:ea typeface="Calibri"/>
                <a:cs typeface="Calibri"/>
                <a:sym typeface="Calibri"/>
              </a:rPr>
              <a:t>Reverse causality</a:t>
            </a:r>
            <a:endParaRPr b="0" i="0" sz="1000" u="none" cap="none" strike="noStrike">
              <a:solidFill>
                <a:schemeClr val="dk1"/>
              </a:solidFill>
              <a:latin typeface="Calibri"/>
              <a:ea typeface="Calibri"/>
              <a:cs typeface="Calibri"/>
              <a:sym typeface="Calibri"/>
            </a:endParaRPr>
          </a:p>
          <a:p>
            <a:pPr indent="-254000" lvl="0" marL="254000" marR="0" rtl="0" algn="l">
              <a:spcBef>
                <a:spcPts val="600"/>
              </a:spcBef>
              <a:spcAft>
                <a:spcPts val="0"/>
              </a:spcAft>
              <a:buClr>
                <a:srgbClr val="5A6B7A"/>
              </a:buClr>
              <a:buSzPts val="1000"/>
              <a:buFont typeface="Calibri"/>
              <a:buChar char="•"/>
            </a:pPr>
            <a:r>
              <a:rPr b="0" i="0" lang="en" sz="1000" u="none" cap="none" strike="noStrike">
                <a:solidFill>
                  <a:srgbClr val="5A6B7A"/>
                </a:solidFill>
                <a:latin typeface="Calibri"/>
                <a:ea typeface="Calibri"/>
                <a:cs typeface="Calibri"/>
                <a:sym typeface="Calibri"/>
              </a:rPr>
              <a:t>Immortal time bias</a:t>
            </a:r>
            <a:endParaRPr b="0" i="0" sz="1000" u="none" cap="none" strike="noStrike">
              <a:solidFill>
                <a:schemeClr val="dk1"/>
              </a:solidFill>
              <a:latin typeface="Calibri"/>
              <a:ea typeface="Calibri"/>
              <a:cs typeface="Calibri"/>
              <a:sym typeface="Calibri"/>
            </a:endParaRPr>
          </a:p>
          <a:p>
            <a:pPr indent="-254000" lvl="0" marL="254000" marR="0" rtl="0" algn="l">
              <a:spcBef>
                <a:spcPts val="600"/>
              </a:spcBef>
              <a:spcAft>
                <a:spcPts val="0"/>
              </a:spcAft>
              <a:buClr>
                <a:srgbClr val="5A6B7A"/>
              </a:buClr>
              <a:buSzPts val="1000"/>
              <a:buFont typeface="Calibri"/>
              <a:buChar char="•"/>
            </a:pPr>
            <a:r>
              <a:rPr b="0" i="0" lang="en" sz="1000" u="none" cap="none" strike="noStrike">
                <a:solidFill>
                  <a:srgbClr val="5A6B7A"/>
                </a:solidFill>
                <a:latin typeface="Calibri"/>
                <a:ea typeface="Calibri"/>
                <a:cs typeface="Calibri"/>
                <a:sym typeface="Calibri"/>
              </a:rPr>
              <a:t>Survivorship, range restriction</a:t>
            </a:r>
            <a:endParaRPr b="0" i="0" sz="1000" u="none" cap="none" strike="noStrike">
              <a:solidFill>
                <a:schemeClr val="dk1"/>
              </a:solidFill>
              <a:latin typeface="Calibri"/>
              <a:ea typeface="Calibri"/>
              <a:cs typeface="Calibri"/>
              <a:sym typeface="Calibri"/>
            </a:endParaRPr>
          </a:p>
          <a:p>
            <a:pPr indent="-254000" lvl="0" marL="254000" marR="0" rtl="0" algn="l">
              <a:spcBef>
                <a:spcPts val="600"/>
              </a:spcBef>
              <a:spcAft>
                <a:spcPts val="0"/>
              </a:spcAft>
              <a:buClr>
                <a:srgbClr val="5A6B7A"/>
              </a:buClr>
              <a:buSzPts val="1000"/>
              <a:buFont typeface="Calibri"/>
              <a:buChar char="•"/>
            </a:pPr>
            <a:r>
              <a:rPr b="0" i="0" lang="en" sz="1000" u="none" cap="none" strike="noStrike">
                <a:solidFill>
                  <a:srgbClr val="5A6B7A"/>
                </a:solidFill>
                <a:latin typeface="Calibri"/>
                <a:ea typeface="Calibri"/>
                <a:cs typeface="Calibri"/>
                <a:sym typeface="Calibri"/>
              </a:rPr>
              <a:t>Compositional shift</a:t>
            </a:r>
            <a:endParaRPr b="0" i="0" sz="1000" u="none" cap="none" strike="noStrike">
              <a:solidFill>
                <a:schemeClr val="dk1"/>
              </a:solidFill>
              <a:latin typeface="Calibri"/>
              <a:ea typeface="Calibri"/>
              <a:cs typeface="Calibri"/>
              <a:sym typeface="Calibri"/>
            </a:endParaRPr>
          </a:p>
        </p:txBody>
      </p:sp>
      <p:sp>
        <p:nvSpPr>
          <p:cNvPr id="306" name="Google Shape;306;p30"/>
          <p:cNvSpPr/>
          <p:nvPr/>
        </p:nvSpPr>
        <p:spPr>
          <a:xfrm>
            <a:off x="4629150" y="1268730"/>
            <a:ext cx="3806190" cy="2811780"/>
          </a:xfrm>
          <a:prstGeom prst="roundRect">
            <a:avLst>
              <a:gd fmla="val 1951" name="adj"/>
            </a:avLst>
          </a:prstGeom>
          <a:solidFill>
            <a:srgbClr val="F2F4F6"/>
          </a:solidFill>
          <a:ln cap="flat" cmpd="sng" w="12700">
            <a:solidFill>
              <a:srgbClr val="F2F4F6"/>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07" name="Google Shape;307;p30"/>
          <p:cNvSpPr/>
          <p:nvPr/>
        </p:nvSpPr>
        <p:spPr>
          <a:xfrm>
            <a:off x="4869180" y="1440180"/>
            <a:ext cx="33604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303C"/>
              </a:buClr>
              <a:buSzPts val="1300"/>
              <a:buFont typeface="Consolas"/>
              <a:buNone/>
            </a:pPr>
            <a:r>
              <a:rPr b="1" i="0" lang="en" sz="1300" u="none" cap="none" strike="noStrike">
                <a:solidFill>
                  <a:srgbClr val="22303C"/>
                </a:solidFill>
                <a:latin typeface="Consolas"/>
                <a:ea typeface="Consolas"/>
                <a:cs typeface="Consolas"/>
                <a:sym typeface="Consolas"/>
              </a:rPr>
              <a:t>uncertainty-reporting</a:t>
            </a:r>
            <a:endParaRPr b="0" i="0" sz="1300" u="none" cap="none" strike="noStrike">
              <a:solidFill>
                <a:schemeClr val="dk1"/>
              </a:solidFill>
              <a:latin typeface="Calibri"/>
              <a:ea typeface="Calibri"/>
              <a:cs typeface="Calibri"/>
              <a:sym typeface="Calibri"/>
            </a:endParaRPr>
          </a:p>
        </p:txBody>
      </p:sp>
      <p:sp>
        <p:nvSpPr>
          <p:cNvPr id="308" name="Google Shape;308;p30"/>
          <p:cNvSpPr/>
          <p:nvPr/>
        </p:nvSpPr>
        <p:spPr>
          <a:xfrm>
            <a:off x="4869180" y="1748790"/>
            <a:ext cx="3360420" cy="34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7A"/>
              </a:buClr>
              <a:buSzPts val="1100"/>
              <a:buFont typeface="Calibri"/>
              <a:buNone/>
            </a:pPr>
            <a:r>
              <a:rPr b="0" i="0" lang="en" sz="1100" u="none" cap="none" strike="noStrike">
                <a:solidFill>
                  <a:srgbClr val="5A6B7A"/>
                </a:solidFill>
                <a:latin typeface="Calibri"/>
                <a:ea typeface="Calibri"/>
                <a:cs typeface="Calibri"/>
                <a:sym typeface="Calibri"/>
              </a:rPr>
              <a:t>Denominators, intervals, suppression, multiplicity.</a:t>
            </a:r>
            <a:endParaRPr b="0" i="0" sz="1100" u="none" cap="none" strike="noStrike">
              <a:solidFill>
                <a:schemeClr val="dk1"/>
              </a:solidFill>
              <a:latin typeface="Calibri"/>
              <a:ea typeface="Calibri"/>
              <a:cs typeface="Calibri"/>
              <a:sym typeface="Calibri"/>
            </a:endParaRPr>
          </a:p>
        </p:txBody>
      </p:sp>
      <p:sp>
        <p:nvSpPr>
          <p:cNvPr id="309" name="Google Shape;309;p30"/>
          <p:cNvSpPr/>
          <p:nvPr/>
        </p:nvSpPr>
        <p:spPr>
          <a:xfrm>
            <a:off x="4869180" y="2091690"/>
            <a:ext cx="3360420" cy="1714500"/>
          </a:xfrm>
          <a:prstGeom prst="rect">
            <a:avLst/>
          </a:prstGeom>
          <a:noFill/>
          <a:ln>
            <a:noFill/>
          </a:ln>
        </p:spPr>
        <p:txBody>
          <a:bodyPr anchorCtr="0" anchor="ctr" bIns="0" lIns="0" spcFirstLastPara="1" rIns="0" wrap="square" tIns="0">
            <a:noAutofit/>
          </a:bodyPr>
          <a:lstStyle/>
          <a:p>
            <a:pPr indent="-254000" lvl="0" marL="254000" marR="0" rtl="0" algn="l">
              <a:spcBef>
                <a:spcPts val="0"/>
              </a:spcBef>
              <a:spcAft>
                <a:spcPts val="0"/>
              </a:spcAft>
              <a:buClr>
                <a:srgbClr val="5A6B7A"/>
              </a:buClr>
              <a:buSzPts val="1000"/>
              <a:buFont typeface="Calibri"/>
              <a:buChar char="•"/>
            </a:pPr>
            <a:r>
              <a:rPr b="0" i="0" lang="en" sz="1000" u="none" cap="none" strike="noStrike">
                <a:solidFill>
                  <a:srgbClr val="5A6B7A"/>
                </a:solidFill>
                <a:latin typeface="Calibri"/>
                <a:ea typeface="Calibri"/>
                <a:cs typeface="Calibri"/>
                <a:sym typeface="Calibri"/>
              </a:rPr>
              <a:t>Wilson, not Wald, at small n</a:t>
            </a:r>
            <a:endParaRPr b="0" i="0" sz="1000" u="none" cap="none" strike="noStrike">
              <a:solidFill>
                <a:schemeClr val="dk1"/>
              </a:solidFill>
              <a:latin typeface="Calibri"/>
              <a:ea typeface="Calibri"/>
              <a:cs typeface="Calibri"/>
              <a:sym typeface="Calibri"/>
            </a:endParaRPr>
          </a:p>
          <a:p>
            <a:pPr indent="-254000" lvl="0" marL="254000" marR="0" rtl="0" algn="l">
              <a:spcBef>
                <a:spcPts val="600"/>
              </a:spcBef>
              <a:spcAft>
                <a:spcPts val="0"/>
              </a:spcAft>
              <a:buClr>
                <a:srgbClr val="5A6B7A"/>
              </a:buClr>
              <a:buSzPts val="1000"/>
              <a:buFont typeface="Calibri"/>
              <a:buChar char="•"/>
            </a:pPr>
            <a:r>
              <a:rPr b="0" i="0" lang="en" sz="1000" u="none" cap="none" strike="noStrike">
                <a:solidFill>
                  <a:srgbClr val="5A6B7A"/>
                </a:solidFill>
                <a:latin typeface="Calibri"/>
                <a:ea typeface="Calibri"/>
                <a:cs typeface="Calibri"/>
                <a:sym typeface="Calibri"/>
              </a:rPr>
              <a:t>Small-cell suppression is a legal duty</a:t>
            </a:r>
            <a:endParaRPr b="0" i="0" sz="1000" u="none" cap="none" strike="noStrike">
              <a:solidFill>
                <a:schemeClr val="dk1"/>
              </a:solidFill>
              <a:latin typeface="Calibri"/>
              <a:ea typeface="Calibri"/>
              <a:cs typeface="Calibri"/>
              <a:sym typeface="Calibri"/>
            </a:endParaRPr>
          </a:p>
          <a:p>
            <a:pPr indent="-254000" lvl="0" marL="254000" marR="0" rtl="0" algn="l">
              <a:spcBef>
                <a:spcPts val="600"/>
              </a:spcBef>
              <a:spcAft>
                <a:spcPts val="0"/>
              </a:spcAft>
              <a:buClr>
                <a:srgbClr val="5A6B7A"/>
              </a:buClr>
              <a:buSzPts val="1000"/>
              <a:buFont typeface="Calibri"/>
              <a:buChar char="•"/>
            </a:pPr>
            <a:r>
              <a:rPr b="0" i="0" lang="en" sz="1000" u="none" cap="none" strike="noStrike">
                <a:solidFill>
                  <a:srgbClr val="5A6B7A"/>
                </a:solidFill>
                <a:latin typeface="Calibri"/>
                <a:ea typeface="Calibri"/>
                <a:cs typeface="Calibri"/>
                <a:sym typeface="Calibri"/>
              </a:rPr>
              <a:t>Complementary disclosure</a:t>
            </a:r>
            <a:endParaRPr b="0" i="0" sz="1000" u="none" cap="none" strike="noStrike">
              <a:solidFill>
                <a:schemeClr val="dk1"/>
              </a:solidFill>
              <a:latin typeface="Calibri"/>
              <a:ea typeface="Calibri"/>
              <a:cs typeface="Calibri"/>
              <a:sym typeface="Calibri"/>
            </a:endParaRPr>
          </a:p>
          <a:p>
            <a:pPr indent="-254000" lvl="0" marL="254000" marR="0" rtl="0" algn="l">
              <a:spcBef>
                <a:spcPts val="600"/>
              </a:spcBef>
              <a:spcAft>
                <a:spcPts val="0"/>
              </a:spcAft>
              <a:buClr>
                <a:srgbClr val="5A6B7A"/>
              </a:buClr>
              <a:buSzPts val="1000"/>
              <a:buFont typeface="Calibri"/>
              <a:buChar char="•"/>
            </a:pPr>
            <a:r>
              <a:rPr b="0" i="0" lang="en" sz="1000" u="none" cap="none" strike="noStrike">
                <a:solidFill>
                  <a:srgbClr val="5A6B7A"/>
                </a:solidFill>
                <a:latin typeface="Calibri"/>
                <a:ea typeface="Calibri"/>
                <a:cs typeface="Calibri"/>
                <a:sym typeface="Calibri"/>
              </a:rPr>
              <a:t>Ranking 40 managers is 40 comparisons</a:t>
            </a:r>
            <a:endParaRPr b="0" i="0" sz="1000" u="none" cap="none" strike="noStrike">
              <a:solidFill>
                <a:schemeClr val="dk1"/>
              </a:solidFill>
              <a:latin typeface="Calibri"/>
              <a:ea typeface="Calibri"/>
              <a:cs typeface="Calibri"/>
              <a:sym typeface="Calibri"/>
            </a:endParaRPr>
          </a:p>
          <a:p>
            <a:pPr indent="-254000" lvl="0" marL="254000" marR="0" rtl="0" algn="l">
              <a:spcBef>
                <a:spcPts val="600"/>
              </a:spcBef>
              <a:spcAft>
                <a:spcPts val="0"/>
              </a:spcAft>
              <a:buClr>
                <a:srgbClr val="5A6B7A"/>
              </a:buClr>
              <a:buSzPts val="1000"/>
              <a:buFont typeface="Calibri"/>
              <a:buChar char="•"/>
            </a:pPr>
            <a:r>
              <a:rPr b="0" i="0" lang="en" sz="1000" u="none" cap="none" strike="noStrike">
                <a:solidFill>
                  <a:srgbClr val="5A6B7A"/>
                </a:solidFill>
                <a:latin typeface="Calibri"/>
                <a:ea typeface="Calibri"/>
                <a:cs typeface="Calibri"/>
                <a:sym typeface="Calibri"/>
              </a:rPr>
              <a:t>"No difference" vs "no evidence"</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2303C"/>
        </a:solidFill>
      </p:bgPr>
    </p:bg>
    <p:spTree>
      <p:nvGrpSpPr>
        <p:cNvPr id="314" name="Shape 314"/>
        <p:cNvGrpSpPr/>
        <p:nvPr/>
      </p:nvGrpSpPr>
      <p:grpSpPr>
        <a:xfrm>
          <a:off x="0" y="0"/>
          <a:ext cx="0" cy="0"/>
          <a:chOff x="0" y="0"/>
          <a:chExt cx="0" cy="0"/>
        </a:xfrm>
      </p:grpSpPr>
      <p:sp>
        <p:nvSpPr>
          <p:cNvPr id="315" name="Google Shape;315;p31"/>
          <p:cNvSpPr/>
          <p:nvPr/>
        </p:nvSpPr>
        <p:spPr>
          <a:xfrm>
            <a:off x="480060" y="1371600"/>
            <a:ext cx="96000" cy="1714500"/>
          </a:xfrm>
          <a:prstGeom prst="roundRect">
            <a:avLst>
              <a:gd fmla="val 50000" name="adj"/>
            </a:avLst>
          </a:prstGeom>
          <a:solidFill>
            <a:srgbClr val="E8663C"/>
          </a:solidFill>
          <a:ln cap="flat" cmpd="sng" w="12700">
            <a:solidFill>
              <a:srgbClr val="E8663C"/>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16" name="Google Shape;316;p31"/>
          <p:cNvSpPr/>
          <p:nvPr/>
        </p:nvSpPr>
        <p:spPr>
          <a:xfrm>
            <a:off x="788670" y="1371600"/>
            <a:ext cx="6515100" cy="89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4400"/>
              <a:buFont typeface="Cambria"/>
              <a:buNone/>
            </a:pPr>
            <a:r>
              <a:rPr b="1" lang="en" sz="4400">
                <a:solidFill>
                  <a:srgbClr val="FFFFFF"/>
                </a:solidFill>
                <a:latin typeface="Cambria"/>
                <a:ea typeface="Cambria"/>
                <a:cs typeface="Cambria"/>
                <a:sym typeface="Cambria"/>
              </a:rPr>
              <a:t>Block 3: Define</a:t>
            </a:r>
            <a:endParaRPr b="0" i="0" sz="4400" u="none" cap="none" strike="noStrike">
              <a:solidFill>
                <a:schemeClr val="dk1"/>
              </a:solidFill>
              <a:latin typeface="Calibri"/>
              <a:ea typeface="Calibri"/>
              <a:cs typeface="Calibri"/>
              <a:sym typeface="Calibri"/>
            </a:endParaRPr>
          </a:p>
        </p:txBody>
      </p:sp>
      <p:sp>
        <p:nvSpPr>
          <p:cNvPr id="317" name="Google Shape;317;p31"/>
          <p:cNvSpPr/>
          <p:nvPr/>
        </p:nvSpPr>
        <p:spPr>
          <a:xfrm>
            <a:off x="788670" y="4320540"/>
            <a:ext cx="54864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9A8"/>
              </a:buClr>
              <a:buSzPts val="1000"/>
              <a:buFont typeface="Calibri"/>
              <a:buNone/>
            </a:pPr>
            <a:r>
              <a:rPr b="0" i="0" lang="en" sz="1000" u="none" cap="none" strike="noStrike">
                <a:solidFill>
                  <a:srgbClr val="8A99A8"/>
                </a:solidFill>
                <a:latin typeface="Calibri"/>
                <a:ea typeface="Calibri"/>
                <a:cs typeface="Calibri"/>
                <a:sym typeface="Calibri"/>
              </a:rPr>
              <a:t>3-hour hands-on workshop</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22" name="Shape 322"/>
        <p:cNvGrpSpPr/>
        <p:nvPr/>
      </p:nvGrpSpPr>
      <p:grpSpPr>
        <a:xfrm>
          <a:off x="0" y="0"/>
          <a:ext cx="0" cy="0"/>
          <a:chOff x="0" y="0"/>
          <a:chExt cx="0" cy="0"/>
        </a:xfrm>
      </p:grpSpPr>
      <p:sp>
        <p:nvSpPr>
          <p:cNvPr id="323" name="Google Shape;323;p32"/>
          <p:cNvSpPr/>
          <p:nvPr/>
        </p:nvSpPr>
        <p:spPr>
          <a:xfrm>
            <a:off x="480060" y="192024"/>
            <a:ext cx="81816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663C"/>
              </a:buClr>
              <a:buSzPts val="800"/>
              <a:buFont typeface="Calibri"/>
              <a:buNone/>
            </a:pPr>
            <a:r>
              <a:rPr b="1" lang="en" sz="800">
                <a:solidFill>
                  <a:srgbClr val="E8663C"/>
                </a:solidFill>
                <a:latin typeface="Calibri"/>
                <a:ea typeface="Calibri"/>
                <a:cs typeface="Calibri"/>
                <a:sym typeface="Calibri"/>
              </a:rPr>
              <a:t>BLOCK OVERVIEW</a:t>
            </a:r>
            <a:endParaRPr b="0" i="0" sz="800" u="none" cap="none" strike="noStrike">
              <a:solidFill>
                <a:schemeClr val="dk1"/>
              </a:solidFill>
              <a:latin typeface="Calibri"/>
              <a:ea typeface="Calibri"/>
              <a:cs typeface="Calibri"/>
              <a:sym typeface="Calibri"/>
            </a:endParaRPr>
          </a:p>
        </p:txBody>
      </p:sp>
      <p:sp>
        <p:nvSpPr>
          <p:cNvPr id="324" name="Google Shape;324;p32"/>
          <p:cNvSpPr/>
          <p:nvPr/>
        </p:nvSpPr>
        <p:spPr>
          <a:xfrm>
            <a:off x="480060" y="342900"/>
            <a:ext cx="8181600" cy="617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303C"/>
              </a:buClr>
              <a:buSzPts val="2600"/>
              <a:buFont typeface="Cambria"/>
              <a:buNone/>
            </a:pPr>
            <a:r>
              <a:rPr b="1" lang="en" sz="2600">
                <a:solidFill>
                  <a:srgbClr val="22303C"/>
                </a:solidFill>
                <a:latin typeface="Cambria"/>
                <a:ea typeface="Cambria"/>
                <a:cs typeface="Cambria"/>
                <a:sym typeface="Cambria"/>
              </a:rPr>
              <a:t>Block 3: Define (1:40 - 2:00 - 20 min)</a:t>
            </a:r>
            <a:endParaRPr b="0" i="0" sz="2600" u="none" cap="none" strike="noStrike">
              <a:solidFill>
                <a:schemeClr val="dk1"/>
              </a:solidFill>
              <a:latin typeface="Calibri"/>
              <a:ea typeface="Calibri"/>
              <a:cs typeface="Calibri"/>
              <a:sym typeface="Calibri"/>
            </a:endParaRPr>
          </a:p>
        </p:txBody>
      </p:sp>
      <p:sp>
        <p:nvSpPr>
          <p:cNvPr id="325" name="Google Shape;325;p32"/>
          <p:cNvSpPr txBox="1"/>
          <p:nvPr/>
        </p:nvSpPr>
        <p:spPr>
          <a:xfrm>
            <a:off x="528725" y="1073425"/>
            <a:ext cx="8181600" cy="367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00"/>
              <a:t>For this block we're going to </a:t>
            </a:r>
            <a:r>
              <a:rPr b="1" lang="en" sz="900"/>
              <a:t>specify a question before looking at any data</a:t>
            </a:r>
            <a:r>
              <a:rPr lang="en" sz="900"/>
              <a:t> and create a </a:t>
            </a:r>
            <a:r>
              <a:rPr b="1" lang="en" sz="900"/>
              <a:t>Question Spec</a:t>
            </a:r>
            <a:r>
              <a:rPr lang="en" sz="900"/>
              <a:t> in order to </a:t>
            </a:r>
            <a:r>
              <a:rPr b="1" lang="en" sz="900"/>
              <a:t>pin down what we're actually asking — and what we're assuming — before the numbers bias us.</a:t>
            </a:r>
            <a:r>
              <a:rPr lang="en" sz="900"/>
              <a:t> </a:t>
            </a:r>
            <a:r>
              <a:rPr b="1" lang="en" sz="900"/>
              <a:t> </a:t>
            </a:r>
            <a:endParaRPr b="1" sz="900"/>
          </a:p>
          <a:p>
            <a:pPr indent="0" lvl="0" marL="0" rtl="0" algn="l">
              <a:lnSpc>
                <a:spcPct val="115000"/>
              </a:lnSpc>
              <a:spcBef>
                <a:spcPts val="0"/>
              </a:spcBef>
              <a:spcAft>
                <a:spcPts val="0"/>
              </a:spcAft>
              <a:buNone/>
            </a:pPr>
            <a:r>
              <a:t/>
            </a:r>
            <a:endParaRPr sz="900">
              <a:solidFill>
                <a:srgbClr val="ED7D31"/>
              </a:solidFill>
            </a:endParaRPr>
          </a:p>
          <a:p>
            <a:pPr indent="0" lvl="0" marL="0" rtl="0" algn="l">
              <a:lnSpc>
                <a:spcPct val="115000"/>
              </a:lnSpc>
              <a:spcBef>
                <a:spcPts val="800"/>
              </a:spcBef>
              <a:spcAft>
                <a:spcPts val="0"/>
              </a:spcAft>
              <a:buNone/>
            </a:pPr>
            <a:r>
              <a:rPr b="1" lang="en" sz="900">
                <a:solidFill>
                  <a:srgbClr val="ED7D31"/>
                </a:solidFill>
              </a:rPr>
              <a:t>What's happening</a:t>
            </a:r>
            <a:endParaRPr b="1" sz="900">
              <a:solidFill>
                <a:srgbClr val="ED7D31"/>
              </a:solidFill>
            </a:endParaRPr>
          </a:p>
          <a:p>
            <a:pPr indent="0" lvl="0" marL="0" rtl="0" algn="l">
              <a:lnSpc>
                <a:spcPct val="115000"/>
              </a:lnSpc>
              <a:spcBef>
                <a:spcPts val="800"/>
              </a:spcBef>
              <a:spcAft>
                <a:spcPts val="0"/>
              </a:spcAft>
              <a:buNone/>
            </a:pPr>
            <a:r>
              <a:rPr lang="en" sz="900">
                <a:solidFill>
                  <a:schemeClr val="dk1"/>
                </a:solidFill>
              </a:rPr>
              <a:t>You pick one of three domains (Attrition, Compensation, or Engagement), take its seed question, and fill in: who counts, what time period, what measure, what comparison, and what you're assuming. This choice carries through the rest of the day. </a:t>
            </a:r>
            <a:endParaRPr sz="900">
              <a:solidFill>
                <a:schemeClr val="dk1"/>
              </a:solidFill>
            </a:endParaRPr>
          </a:p>
          <a:p>
            <a:pPr indent="0" lvl="0" marL="0" rtl="0" algn="l">
              <a:lnSpc>
                <a:spcPct val="115000"/>
              </a:lnSpc>
              <a:spcBef>
                <a:spcPts val="800"/>
              </a:spcBef>
              <a:spcAft>
                <a:spcPts val="0"/>
              </a:spcAft>
              <a:buNone/>
            </a:pPr>
            <a:r>
              <a:rPr b="1" lang="en" sz="900">
                <a:solidFill>
                  <a:srgbClr val="ED7D31"/>
                </a:solidFill>
              </a:rPr>
              <a:t>What you're creating</a:t>
            </a:r>
            <a:endParaRPr b="1" sz="900">
              <a:solidFill>
                <a:srgbClr val="ED7D31"/>
              </a:solidFill>
            </a:endParaRPr>
          </a:p>
          <a:p>
            <a:pPr indent="-285750" lvl="0" marL="457200" rtl="0" algn="l">
              <a:lnSpc>
                <a:spcPct val="115000"/>
              </a:lnSpc>
              <a:spcBef>
                <a:spcPts val="800"/>
              </a:spcBef>
              <a:spcAft>
                <a:spcPts val="0"/>
              </a:spcAft>
              <a:buClr>
                <a:schemeClr val="dk1"/>
              </a:buClr>
              <a:buSzPts val="900"/>
              <a:buChar char="●"/>
            </a:pPr>
            <a:r>
              <a:rPr b="1" lang="en" sz="900">
                <a:solidFill>
                  <a:schemeClr val="dk1"/>
                </a:solidFill>
                <a:highlight>
                  <a:srgbClr val="D9EAD3"/>
                </a:highlight>
              </a:rPr>
              <a:t>A completed Question Spec — </a:t>
            </a:r>
            <a:r>
              <a:rPr lang="en" sz="900">
                <a:solidFill>
                  <a:schemeClr val="dk1"/>
                </a:solidFill>
                <a:highlight>
                  <a:srgbClr val="D9EAD3"/>
                </a:highlight>
              </a:rPr>
              <a:t>a structured document that names every assumption behind your question. The most useful field is the last one: </a:t>
            </a:r>
            <a:r>
              <a:rPr i="1" lang="en" sz="900">
                <a:solidFill>
                  <a:schemeClr val="dk1"/>
                </a:solidFill>
                <a:highlight>
                  <a:srgbClr val="D9EAD3"/>
                </a:highlight>
              </a:rPr>
              <a:t>Open Assumptions</a:t>
            </a:r>
            <a:r>
              <a:rPr lang="en" sz="900">
                <a:solidFill>
                  <a:schemeClr val="dk1"/>
                </a:solidFill>
                <a:highlight>
                  <a:srgbClr val="D9EAD3"/>
                </a:highlight>
              </a:rPr>
              <a:t> — the things you resolved by guessing rather than confirming. </a:t>
            </a:r>
            <a:endParaRPr sz="900">
              <a:solidFill>
                <a:schemeClr val="dk1"/>
              </a:solidFill>
              <a:highlight>
                <a:srgbClr val="D9EAD3"/>
              </a:highlight>
            </a:endParaRPr>
          </a:p>
          <a:p>
            <a:pPr indent="0" lvl="0" marL="0" rtl="0" algn="l">
              <a:lnSpc>
                <a:spcPct val="115000"/>
              </a:lnSpc>
              <a:spcBef>
                <a:spcPts val="800"/>
              </a:spcBef>
              <a:spcAft>
                <a:spcPts val="0"/>
              </a:spcAft>
              <a:buNone/>
            </a:pPr>
            <a:r>
              <a:rPr b="1" lang="en" sz="900">
                <a:solidFill>
                  <a:srgbClr val="ED7D31"/>
                </a:solidFill>
              </a:rPr>
              <a:t>What to pay attention to</a:t>
            </a:r>
            <a:endParaRPr b="1" sz="900">
              <a:solidFill>
                <a:srgbClr val="ED7D31"/>
              </a:solidFill>
            </a:endParaRPr>
          </a:p>
          <a:p>
            <a:pPr indent="-285750" lvl="0" marL="457200" rtl="0" algn="l">
              <a:lnSpc>
                <a:spcPct val="115000"/>
              </a:lnSpc>
              <a:spcBef>
                <a:spcPts val="800"/>
              </a:spcBef>
              <a:spcAft>
                <a:spcPts val="0"/>
              </a:spcAft>
              <a:buClr>
                <a:schemeClr val="dk1"/>
              </a:buClr>
              <a:buSzPts val="900"/>
              <a:buChar char="●"/>
            </a:pPr>
            <a:r>
              <a:rPr lang="en" sz="900">
                <a:solidFill>
                  <a:schemeClr val="dk1"/>
                </a:solidFill>
              </a:rPr>
              <a:t>The </a:t>
            </a:r>
            <a:r>
              <a:rPr b="1" lang="en" sz="900">
                <a:solidFill>
                  <a:schemeClr val="dk1"/>
                </a:solidFill>
              </a:rPr>
              <a:t>Define Worksheet</a:t>
            </a:r>
            <a:r>
              <a:rPr lang="en" sz="900">
                <a:solidFill>
                  <a:schemeClr val="dk1"/>
                </a:solidFill>
              </a:rPr>
              <a:t> (printed or on screen)</a:t>
            </a:r>
            <a:endParaRPr sz="900">
              <a:solidFill>
                <a:schemeClr val="dk1"/>
              </a:solidFill>
            </a:endParaRPr>
          </a:p>
          <a:p>
            <a:pPr indent="-285750" lvl="0" marL="457200" rtl="0" algn="l">
              <a:lnSpc>
                <a:spcPct val="115000"/>
              </a:lnSpc>
              <a:spcBef>
                <a:spcPts val="0"/>
              </a:spcBef>
              <a:spcAft>
                <a:spcPts val="0"/>
              </a:spcAft>
              <a:buClr>
                <a:schemeClr val="dk1"/>
              </a:buClr>
              <a:buSzPts val="900"/>
              <a:buChar char="●"/>
            </a:pPr>
            <a:r>
              <a:rPr lang="en" sz="900">
                <a:solidFill>
                  <a:schemeClr val="dk1"/>
                </a:solidFill>
              </a:rPr>
              <a:t>The </a:t>
            </a:r>
            <a:r>
              <a:rPr b="1" lang="en" sz="900">
                <a:solidFill>
                  <a:schemeClr val="dk1"/>
                </a:solidFill>
              </a:rPr>
              <a:t>Data Dictionary</a:t>
            </a:r>
            <a:r>
              <a:rPr lang="en" sz="900">
                <a:solidFill>
                  <a:schemeClr val="dk1"/>
                </a:solidFill>
              </a:rPr>
              <a:t> print out — your map of the warehouse </a:t>
            </a:r>
            <a:endParaRPr sz="900">
              <a:solidFill>
                <a:schemeClr val="dk1"/>
              </a:solidFill>
            </a:endParaRPr>
          </a:p>
          <a:p>
            <a:pPr indent="0" lvl="0" marL="0" rtl="0" algn="l">
              <a:lnSpc>
                <a:spcPct val="115000"/>
              </a:lnSpc>
              <a:spcBef>
                <a:spcPts val="800"/>
              </a:spcBef>
              <a:spcAft>
                <a:spcPts val="0"/>
              </a:spcAft>
              <a:buNone/>
            </a:pPr>
            <a:r>
              <a:rPr b="1" lang="en" sz="900">
                <a:solidFill>
                  <a:schemeClr val="dk1"/>
                </a:solidFill>
                <a:highlight>
                  <a:srgbClr val="F9CB9C"/>
                </a:highlight>
              </a:rPr>
              <a:t>If you have a question, try framing it as multiple choice:</a:t>
            </a:r>
            <a:endParaRPr b="1" sz="900">
              <a:solidFill>
                <a:schemeClr val="dk1"/>
              </a:solidFill>
              <a:highlight>
                <a:srgbClr val="F9CB9C"/>
              </a:highlight>
            </a:endParaRPr>
          </a:p>
          <a:p>
            <a:pPr indent="0" lvl="0" marL="0" rtl="0" algn="l">
              <a:lnSpc>
                <a:spcPct val="115000"/>
              </a:lnSpc>
              <a:spcBef>
                <a:spcPts val="800"/>
              </a:spcBef>
              <a:spcAft>
                <a:spcPts val="0"/>
              </a:spcAft>
              <a:buNone/>
            </a:pPr>
            <a:r>
              <a:rPr lang="en" sz="900">
                <a:solidFill>
                  <a:schemeClr val="dk1"/>
                </a:solidFill>
                <a:highlight>
                  <a:srgbClr val="F9CB9C"/>
                </a:highlight>
              </a:rPr>
              <a:t>"Should I define 'attrition rate' as voluntary only, all separations, or regrettable only?" lets Rob help you fast. "I'm not sure what to write" takes longer to untangle. </a:t>
            </a:r>
            <a:endParaRPr sz="900">
              <a:solidFill>
                <a:schemeClr val="dk1"/>
              </a:solidFill>
              <a:highlight>
                <a:srgbClr val="F9CB9C"/>
              </a:highlight>
            </a:endParaRPr>
          </a:p>
          <a:p>
            <a:pPr indent="0" lvl="0" marL="0" rtl="0" algn="l">
              <a:spcBef>
                <a:spcPts val="800"/>
              </a:spcBef>
              <a:spcAft>
                <a:spcPts val="0"/>
              </a:spcAft>
              <a:buNone/>
            </a:pPr>
            <a:r>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30" name="Shape 330"/>
        <p:cNvGrpSpPr/>
        <p:nvPr/>
      </p:nvGrpSpPr>
      <p:grpSpPr>
        <a:xfrm>
          <a:off x="0" y="0"/>
          <a:ext cx="0" cy="0"/>
          <a:chOff x="0" y="0"/>
          <a:chExt cx="0" cy="0"/>
        </a:xfrm>
      </p:grpSpPr>
      <p:sp>
        <p:nvSpPr>
          <p:cNvPr id="331" name="Google Shape;331;p33"/>
          <p:cNvSpPr/>
          <p:nvPr/>
        </p:nvSpPr>
        <p:spPr>
          <a:xfrm>
            <a:off x="480060" y="192024"/>
            <a:ext cx="8181594"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663C"/>
              </a:buClr>
              <a:buSzPts val="800"/>
              <a:buFont typeface="Calibri"/>
              <a:buNone/>
            </a:pPr>
            <a:r>
              <a:rPr b="1" i="0" lang="en" sz="800" u="none" cap="none" strike="noStrike">
                <a:solidFill>
                  <a:srgbClr val="E8663C"/>
                </a:solidFill>
                <a:latin typeface="Calibri"/>
                <a:ea typeface="Calibri"/>
                <a:cs typeface="Calibri"/>
                <a:sym typeface="Calibri"/>
              </a:rPr>
              <a:t>HANDS ON — 45 MINUTES</a:t>
            </a:r>
            <a:endParaRPr b="0" i="0" sz="800" u="none" cap="none" strike="noStrike">
              <a:solidFill>
                <a:schemeClr val="dk1"/>
              </a:solidFill>
              <a:latin typeface="Calibri"/>
              <a:ea typeface="Calibri"/>
              <a:cs typeface="Calibri"/>
              <a:sym typeface="Calibri"/>
            </a:endParaRPr>
          </a:p>
        </p:txBody>
      </p:sp>
      <p:sp>
        <p:nvSpPr>
          <p:cNvPr id="332" name="Google Shape;332;p33"/>
          <p:cNvSpPr/>
          <p:nvPr/>
        </p:nvSpPr>
        <p:spPr>
          <a:xfrm>
            <a:off x="480060" y="342900"/>
            <a:ext cx="8181594" cy="6172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303C"/>
              </a:buClr>
              <a:buSzPts val="2600"/>
              <a:buFont typeface="Cambria"/>
              <a:buNone/>
            </a:pPr>
            <a:r>
              <a:rPr b="1" i="0" lang="en" sz="2600" u="none" cap="none" strike="noStrike">
                <a:solidFill>
                  <a:srgbClr val="22303C"/>
                </a:solidFill>
                <a:latin typeface="Cambria"/>
                <a:ea typeface="Cambria"/>
                <a:cs typeface="Cambria"/>
                <a:sym typeface="Cambria"/>
              </a:rPr>
              <a:t>You write the reference doc</a:t>
            </a:r>
            <a:endParaRPr b="0" i="0" sz="2600" u="none" cap="none" strike="noStrike">
              <a:solidFill>
                <a:schemeClr val="dk1"/>
              </a:solidFill>
              <a:latin typeface="Calibri"/>
              <a:ea typeface="Calibri"/>
              <a:cs typeface="Calibri"/>
              <a:sym typeface="Calibri"/>
            </a:endParaRPr>
          </a:p>
        </p:txBody>
      </p:sp>
      <p:sp>
        <p:nvSpPr>
          <p:cNvPr id="333" name="Google Shape;333;p33"/>
          <p:cNvSpPr/>
          <p:nvPr/>
        </p:nvSpPr>
        <p:spPr>
          <a:xfrm>
            <a:off x="480060" y="1303020"/>
            <a:ext cx="8181594" cy="534924"/>
          </a:xfrm>
          <a:prstGeom prst="roundRect">
            <a:avLst>
              <a:gd fmla="val 10256" name="adj"/>
            </a:avLst>
          </a:prstGeom>
          <a:solidFill>
            <a:srgbClr val="F2F4F6"/>
          </a:solidFill>
          <a:ln cap="flat" cmpd="sng" w="12700">
            <a:solidFill>
              <a:srgbClr val="F2F4F6"/>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34" name="Google Shape;334;p33"/>
          <p:cNvSpPr/>
          <p:nvPr/>
        </p:nvSpPr>
        <p:spPr>
          <a:xfrm>
            <a:off x="720090" y="1433322"/>
            <a:ext cx="2057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303C"/>
              </a:buClr>
              <a:buSzPts val="1300"/>
              <a:buFont typeface="Cambria"/>
              <a:buNone/>
            </a:pPr>
            <a:r>
              <a:rPr b="1" i="0" lang="en" sz="1300" u="none" cap="none" strike="noStrike">
                <a:solidFill>
                  <a:srgbClr val="22303C"/>
                </a:solidFill>
                <a:latin typeface="Cambria"/>
                <a:ea typeface="Cambria"/>
                <a:cs typeface="Cambria"/>
                <a:sym typeface="Cambria"/>
              </a:rPr>
              <a:t>Quick Reference</a:t>
            </a:r>
            <a:endParaRPr b="0" i="0" sz="1300" u="none" cap="none" strike="noStrike">
              <a:solidFill>
                <a:schemeClr val="dk1"/>
              </a:solidFill>
              <a:latin typeface="Calibri"/>
              <a:ea typeface="Calibri"/>
              <a:cs typeface="Calibri"/>
              <a:sym typeface="Calibri"/>
            </a:endParaRPr>
          </a:p>
        </p:txBody>
      </p:sp>
      <p:sp>
        <p:nvSpPr>
          <p:cNvPr id="335" name="Google Shape;335;p33"/>
          <p:cNvSpPr/>
          <p:nvPr/>
        </p:nvSpPr>
        <p:spPr>
          <a:xfrm>
            <a:off x="2811780" y="1453896"/>
            <a:ext cx="685800" cy="24003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9A8"/>
              </a:buClr>
              <a:buSzPts val="1000"/>
              <a:buFont typeface="Consolas"/>
              <a:buNone/>
            </a:pPr>
            <a:r>
              <a:rPr b="0" i="0" lang="en" sz="1000" u="none" cap="none" strike="noStrike">
                <a:solidFill>
                  <a:srgbClr val="8A99A8"/>
                </a:solidFill>
                <a:latin typeface="Consolas"/>
                <a:ea typeface="Consolas"/>
                <a:cs typeface="Consolas"/>
                <a:sym typeface="Consolas"/>
              </a:rPr>
              <a:t>5 min</a:t>
            </a:r>
            <a:endParaRPr b="0" i="0" sz="1000" u="none" cap="none" strike="noStrike">
              <a:solidFill>
                <a:schemeClr val="dk1"/>
              </a:solidFill>
              <a:latin typeface="Calibri"/>
              <a:ea typeface="Calibri"/>
              <a:cs typeface="Calibri"/>
              <a:sym typeface="Calibri"/>
            </a:endParaRPr>
          </a:p>
        </p:txBody>
      </p:sp>
      <p:sp>
        <p:nvSpPr>
          <p:cNvPr id="336" name="Google Shape;336;p33"/>
          <p:cNvSpPr/>
          <p:nvPr/>
        </p:nvSpPr>
        <p:spPr>
          <a:xfrm>
            <a:off x="3634740" y="1447038"/>
            <a:ext cx="49377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7A"/>
              </a:buClr>
              <a:buSzPts val="1100"/>
              <a:buFont typeface="Calibri"/>
              <a:buNone/>
            </a:pPr>
            <a:r>
              <a:rPr b="0" i="0" lang="en" sz="1100" u="none" cap="none" strike="noStrike">
                <a:solidFill>
                  <a:srgbClr val="5A6B7A"/>
                </a:solidFill>
                <a:latin typeface="Calibri"/>
                <a:ea typeface="Calibri"/>
                <a:cs typeface="Calibri"/>
                <a:sym typeface="Calibri"/>
              </a:rPr>
              <a:t>Which table, what grain, person key</a:t>
            </a:r>
            <a:endParaRPr b="0" i="0" sz="1100" u="none" cap="none" strike="noStrike">
              <a:solidFill>
                <a:schemeClr val="dk1"/>
              </a:solidFill>
              <a:latin typeface="Calibri"/>
              <a:ea typeface="Calibri"/>
              <a:cs typeface="Calibri"/>
              <a:sym typeface="Calibri"/>
            </a:endParaRPr>
          </a:p>
        </p:txBody>
      </p:sp>
      <p:sp>
        <p:nvSpPr>
          <p:cNvPr id="337" name="Google Shape;337;p33"/>
          <p:cNvSpPr/>
          <p:nvPr/>
        </p:nvSpPr>
        <p:spPr>
          <a:xfrm>
            <a:off x="480060" y="1879092"/>
            <a:ext cx="8181594" cy="534924"/>
          </a:xfrm>
          <a:prstGeom prst="roundRect">
            <a:avLst>
              <a:gd fmla="val 10256" name="adj"/>
            </a:avLst>
          </a:prstGeom>
          <a:solidFill>
            <a:srgbClr val="F2F4F6"/>
          </a:solidFill>
          <a:ln cap="flat" cmpd="sng" w="12700">
            <a:solidFill>
              <a:srgbClr val="F2F4F6"/>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38" name="Google Shape;338;p33"/>
          <p:cNvSpPr/>
          <p:nvPr/>
        </p:nvSpPr>
        <p:spPr>
          <a:xfrm>
            <a:off x="720090" y="2009394"/>
            <a:ext cx="2057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303C"/>
              </a:buClr>
              <a:buSzPts val="1300"/>
              <a:buFont typeface="Cambria"/>
              <a:buNone/>
            </a:pPr>
            <a:r>
              <a:rPr b="1" i="0" lang="en" sz="1300" u="none" cap="none" strike="noStrike">
                <a:solidFill>
                  <a:srgbClr val="22303C"/>
                </a:solidFill>
                <a:latin typeface="Cambria"/>
                <a:ea typeface="Cambria"/>
                <a:cs typeface="Cambria"/>
                <a:sym typeface="Cambria"/>
              </a:rPr>
              <a:t>Required Filters</a:t>
            </a:r>
            <a:endParaRPr b="0" i="0" sz="1300" u="none" cap="none" strike="noStrike">
              <a:solidFill>
                <a:schemeClr val="dk1"/>
              </a:solidFill>
              <a:latin typeface="Calibri"/>
              <a:ea typeface="Calibri"/>
              <a:cs typeface="Calibri"/>
              <a:sym typeface="Calibri"/>
            </a:endParaRPr>
          </a:p>
        </p:txBody>
      </p:sp>
      <p:sp>
        <p:nvSpPr>
          <p:cNvPr id="339" name="Google Shape;339;p33"/>
          <p:cNvSpPr/>
          <p:nvPr/>
        </p:nvSpPr>
        <p:spPr>
          <a:xfrm>
            <a:off x="2811780" y="2029968"/>
            <a:ext cx="685800" cy="24003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9A8"/>
              </a:buClr>
              <a:buSzPts val="1000"/>
              <a:buFont typeface="Consolas"/>
              <a:buNone/>
            </a:pPr>
            <a:r>
              <a:rPr b="0" i="0" lang="en" sz="1000" u="none" cap="none" strike="noStrike">
                <a:solidFill>
                  <a:srgbClr val="8A99A8"/>
                </a:solidFill>
                <a:latin typeface="Consolas"/>
                <a:ea typeface="Consolas"/>
                <a:cs typeface="Consolas"/>
                <a:sym typeface="Consolas"/>
              </a:rPr>
              <a:t>10 min</a:t>
            </a:r>
            <a:endParaRPr b="0" i="0" sz="1000" u="none" cap="none" strike="noStrike">
              <a:solidFill>
                <a:schemeClr val="dk1"/>
              </a:solidFill>
              <a:latin typeface="Calibri"/>
              <a:ea typeface="Calibri"/>
              <a:cs typeface="Calibri"/>
              <a:sym typeface="Calibri"/>
            </a:endParaRPr>
          </a:p>
        </p:txBody>
      </p:sp>
      <p:sp>
        <p:nvSpPr>
          <p:cNvPr id="340" name="Google Shape;340;p33"/>
          <p:cNvSpPr/>
          <p:nvPr/>
        </p:nvSpPr>
        <p:spPr>
          <a:xfrm>
            <a:off x="3634740" y="2023110"/>
            <a:ext cx="49377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7A"/>
              </a:buClr>
              <a:buSzPts val="1100"/>
              <a:buFont typeface="Calibri"/>
              <a:buNone/>
            </a:pPr>
            <a:r>
              <a:rPr b="0" i="0" lang="en" sz="1100" u="none" cap="none" strike="noStrike">
                <a:solidFill>
                  <a:srgbClr val="5A6B7A"/>
                </a:solidFill>
                <a:latin typeface="Calibri"/>
                <a:ea typeface="Calibri"/>
                <a:cs typeface="Calibri"/>
                <a:sym typeface="Calibri"/>
              </a:rPr>
              <a:t>Largest source of silently wrong numbers</a:t>
            </a:r>
            <a:endParaRPr b="0" i="0" sz="1100" u="none" cap="none" strike="noStrike">
              <a:solidFill>
                <a:schemeClr val="dk1"/>
              </a:solidFill>
              <a:latin typeface="Calibri"/>
              <a:ea typeface="Calibri"/>
              <a:cs typeface="Calibri"/>
              <a:sym typeface="Calibri"/>
            </a:endParaRPr>
          </a:p>
        </p:txBody>
      </p:sp>
      <p:sp>
        <p:nvSpPr>
          <p:cNvPr id="341" name="Google Shape;341;p33"/>
          <p:cNvSpPr/>
          <p:nvPr/>
        </p:nvSpPr>
        <p:spPr>
          <a:xfrm>
            <a:off x="480060" y="2455164"/>
            <a:ext cx="8181594" cy="534924"/>
          </a:xfrm>
          <a:prstGeom prst="roundRect">
            <a:avLst>
              <a:gd fmla="val 10256" name="adj"/>
            </a:avLst>
          </a:prstGeom>
          <a:solidFill>
            <a:srgbClr val="FBEDE8"/>
          </a:solidFill>
          <a:ln cap="flat" cmpd="sng" w="12700">
            <a:solidFill>
              <a:srgbClr val="FBEDE8"/>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42" name="Google Shape;342;p33"/>
          <p:cNvSpPr/>
          <p:nvPr/>
        </p:nvSpPr>
        <p:spPr>
          <a:xfrm>
            <a:off x="720090" y="2585466"/>
            <a:ext cx="2057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663C"/>
              </a:buClr>
              <a:buSzPts val="1300"/>
              <a:buFont typeface="Cambria"/>
              <a:buNone/>
            </a:pPr>
            <a:r>
              <a:rPr b="1" i="0" lang="en" sz="1300" u="none" cap="none" strike="noStrike">
                <a:solidFill>
                  <a:srgbClr val="E8663C"/>
                </a:solidFill>
                <a:latin typeface="Cambria"/>
                <a:ea typeface="Cambria"/>
                <a:cs typeface="Cambria"/>
                <a:sym typeface="Cambria"/>
              </a:rPr>
              <a:t>Gotchas</a:t>
            </a:r>
            <a:endParaRPr b="0" i="0" sz="1300" u="none" cap="none" strike="noStrike">
              <a:solidFill>
                <a:schemeClr val="dk1"/>
              </a:solidFill>
              <a:latin typeface="Calibri"/>
              <a:ea typeface="Calibri"/>
              <a:cs typeface="Calibri"/>
              <a:sym typeface="Calibri"/>
            </a:endParaRPr>
          </a:p>
        </p:txBody>
      </p:sp>
      <p:sp>
        <p:nvSpPr>
          <p:cNvPr id="343" name="Google Shape;343;p33"/>
          <p:cNvSpPr/>
          <p:nvPr/>
        </p:nvSpPr>
        <p:spPr>
          <a:xfrm>
            <a:off x="2811780" y="2606040"/>
            <a:ext cx="685800" cy="24003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663C"/>
              </a:buClr>
              <a:buSzPts val="1000"/>
              <a:buFont typeface="Consolas"/>
              <a:buNone/>
            </a:pPr>
            <a:r>
              <a:rPr b="0" i="0" lang="en" sz="1000" u="none" cap="none" strike="noStrike">
                <a:solidFill>
                  <a:srgbClr val="E8663C"/>
                </a:solidFill>
                <a:latin typeface="Consolas"/>
                <a:ea typeface="Consolas"/>
                <a:cs typeface="Consolas"/>
                <a:sym typeface="Consolas"/>
              </a:rPr>
              <a:t>15 min</a:t>
            </a:r>
            <a:endParaRPr b="0" i="0" sz="1000" u="none" cap="none" strike="noStrike">
              <a:solidFill>
                <a:schemeClr val="dk1"/>
              </a:solidFill>
              <a:latin typeface="Calibri"/>
              <a:ea typeface="Calibri"/>
              <a:cs typeface="Calibri"/>
              <a:sym typeface="Calibri"/>
            </a:endParaRPr>
          </a:p>
        </p:txBody>
      </p:sp>
      <p:sp>
        <p:nvSpPr>
          <p:cNvPr id="344" name="Google Shape;344;p33"/>
          <p:cNvSpPr/>
          <p:nvPr/>
        </p:nvSpPr>
        <p:spPr>
          <a:xfrm>
            <a:off x="3634740" y="2599182"/>
            <a:ext cx="49377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C4430"/>
              </a:buClr>
              <a:buSzPts val="1100"/>
              <a:buFont typeface="Calibri"/>
              <a:buNone/>
            </a:pPr>
            <a:r>
              <a:rPr b="0" i="0" lang="en" sz="1100" u="none" cap="none" strike="noStrike">
                <a:solidFill>
                  <a:srgbClr val="8C4430"/>
                </a:solidFill>
                <a:latin typeface="Calibri"/>
                <a:ea typeface="Calibri"/>
                <a:cs typeface="Calibri"/>
                <a:sym typeface="Calibri"/>
              </a:rPr>
              <a:t>The only section a model cannot generate</a:t>
            </a:r>
            <a:endParaRPr b="0" i="0" sz="1100" u="none" cap="none" strike="noStrike">
              <a:solidFill>
                <a:schemeClr val="dk1"/>
              </a:solidFill>
              <a:latin typeface="Calibri"/>
              <a:ea typeface="Calibri"/>
              <a:cs typeface="Calibri"/>
              <a:sym typeface="Calibri"/>
            </a:endParaRPr>
          </a:p>
        </p:txBody>
      </p:sp>
      <p:sp>
        <p:nvSpPr>
          <p:cNvPr id="345" name="Google Shape;345;p33"/>
          <p:cNvSpPr/>
          <p:nvPr/>
        </p:nvSpPr>
        <p:spPr>
          <a:xfrm>
            <a:off x="480060" y="3031236"/>
            <a:ext cx="8181594" cy="534924"/>
          </a:xfrm>
          <a:prstGeom prst="roundRect">
            <a:avLst>
              <a:gd fmla="val 10256" name="adj"/>
            </a:avLst>
          </a:prstGeom>
          <a:solidFill>
            <a:srgbClr val="F2F4F6"/>
          </a:solidFill>
          <a:ln cap="flat" cmpd="sng" w="12700">
            <a:solidFill>
              <a:srgbClr val="F2F4F6"/>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46" name="Google Shape;346;p33"/>
          <p:cNvSpPr/>
          <p:nvPr/>
        </p:nvSpPr>
        <p:spPr>
          <a:xfrm>
            <a:off x="720090" y="3161538"/>
            <a:ext cx="2057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303C"/>
              </a:buClr>
              <a:buSzPts val="1300"/>
              <a:buFont typeface="Cambria"/>
              <a:buNone/>
            </a:pPr>
            <a:r>
              <a:rPr b="1" i="0" lang="en" sz="1300" u="none" cap="none" strike="noStrike">
                <a:solidFill>
                  <a:srgbClr val="22303C"/>
                </a:solidFill>
                <a:latin typeface="Cambria"/>
                <a:ea typeface="Cambria"/>
                <a:cs typeface="Cambria"/>
                <a:sym typeface="Cambria"/>
              </a:rPr>
              <a:t>Measures</a:t>
            </a:r>
            <a:endParaRPr b="0" i="0" sz="1300" u="none" cap="none" strike="noStrike">
              <a:solidFill>
                <a:schemeClr val="dk1"/>
              </a:solidFill>
              <a:latin typeface="Calibri"/>
              <a:ea typeface="Calibri"/>
              <a:cs typeface="Calibri"/>
              <a:sym typeface="Calibri"/>
            </a:endParaRPr>
          </a:p>
        </p:txBody>
      </p:sp>
      <p:sp>
        <p:nvSpPr>
          <p:cNvPr id="347" name="Google Shape;347;p33"/>
          <p:cNvSpPr/>
          <p:nvPr/>
        </p:nvSpPr>
        <p:spPr>
          <a:xfrm>
            <a:off x="2811780" y="3182112"/>
            <a:ext cx="685800" cy="24003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9A8"/>
              </a:buClr>
              <a:buSzPts val="1000"/>
              <a:buFont typeface="Consolas"/>
              <a:buNone/>
            </a:pPr>
            <a:r>
              <a:rPr b="0" i="0" lang="en" sz="1000" u="none" cap="none" strike="noStrike">
                <a:solidFill>
                  <a:srgbClr val="8A99A8"/>
                </a:solidFill>
                <a:latin typeface="Consolas"/>
                <a:ea typeface="Consolas"/>
                <a:cs typeface="Consolas"/>
                <a:sym typeface="Consolas"/>
              </a:rPr>
              <a:t>10 min</a:t>
            </a:r>
            <a:endParaRPr b="0" i="0" sz="1000" u="none" cap="none" strike="noStrike">
              <a:solidFill>
                <a:schemeClr val="dk1"/>
              </a:solidFill>
              <a:latin typeface="Calibri"/>
              <a:ea typeface="Calibri"/>
              <a:cs typeface="Calibri"/>
              <a:sym typeface="Calibri"/>
            </a:endParaRPr>
          </a:p>
        </p:txBody>
      </p:sp>
      <p:sp>
        <p:nvSpPr>
          <p:cNvPr id="348" name="Google Shape;348;p33"/>
          <p:cNvSpPr/>
          <p:nvPr/>
        </p:nvSpPr>
        <p:spPr>
          <a:xfrm>
            <a:off x="3634740" y="3175254"/>
            <a:ext cx="49377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7A"/>
              </a:buClr>
              <a:buSzPts val="1100"/>
              <a:buFont typeface="Calibri"/>
              <a:buNone/>
            </a:pPr>
            <a:r>
              <a:rPr b="0" i="0" lang="en" sz="1100" u="none" cap="none" strike="noStrike">
                <a:solidFill>
                  <a:srgbClr val="5A6B7A"/>
                </a:solidFill>
                <a:latin typeface="Calibri"/>
                <a:ea typeface="Calibri"/>
                <a:cs typeface="Calibri"/>
                <a:sym typeface="Calibri"/>
              </a:rPr>
              <a:t>Stops two teams reporting two rates</a:t>
            </a:r>
            <a:endParaRPr b="0" i="0" sz="1100" u="none" cap="none" strike="noStrike">
              <a:solidFill>
                <a:schemeClr val="dk1"/>
              </a:solidFill>
              <a:latin typeface="Calibri"/>
              <a:ea typeface="Calibri"/>
              <a:cs typeface="Calibri"/>
              <a:sym typeface="Calibri"/>
            </a:endParaRPr>
          </a:p>
        </p:txBody>
      </p:sp>
      <p:sp>
        <p:nvSpPr>
          <p:cNvPr id="349" name="Google Shape;349;p33"/>
          <p:cNvSpPr/>
          <p:nvPr/>
        </p:nvSpPr>
        <p:spPr>
          <a:xfrm>
            <a:off x="480060" y="3607308"/>
            <a:ext cx="8181594" cy="534924"/>
          </a:xfrm>
          <a:prstGeom prst="roundRect">
            <a:avLst>
              <a:gd fmla="val 10256" name="adj"/>
            </a:avLst>
          </a:prstGeom>
          <a:solidFill>
            <a:srgbClr val="F2F4F6"/>
          </a:solidFill>
          <a:ln cap="flat" cmpd="sng" w="12700">
            <a:solidFill>
              <a:srgbClr val="F2F4F6"/>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50" name="Google Shape;350;p33"/>
          <p:cNvSpPr/>
          <p:nvPr/>
        </p:nvSpPr>
        <p:spPr>
          <a:xfrm>
            <a:off x="720090" y="3737610"/>
            <a:ext cx="2057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303C"/>
              </a:buClr>
              <a:buSzPts val="1300"/>
              <a:buFont typeface="Cambria"/>
              <a:buNone/>
            </a:pPr>
            <a:r>
              <a:rPr b="1" i="0" lang="en" sz="1300" u="none" cap="none" strike="noStrike">
                <a:solidFill>
                  <a:srgbClr val="22303C"/>
                </a:solidFill>
                <a:latin typeface="Cambria"/>
                <a:ea typeface="Cambria"/>
                <a:cs typeface="Cambria"/>
                <a:sym typeface="Cambria"/>
              </a:rPr>
              <a:t>Query Patterns</a:t>
            </a:r>
            <a:endParaRPr b="0" i="0" sz="1300" u="none" cap="none" strike="noStrike">
              <a:solidFill>
                <a:schemeClr val="dk1"/>
              </a:solidFill>
              <a:latin typeface="Calibri"/>
              <a:ea typeface="Calibri"/>
              <a:cs typeface="Calibri"/>
              <a:sym typeface="Calibri"/>
            </a:endParaRPr>
          </a:p>
        </p:txBody>
      </p:sp>
      <p:sp>
        <p:nvSpPr>
          <p:cNvPr id="351" name="Google Shape;351;p33"/>
          <p:cNvSpPr/>
          <p:nvPr/>
        </p:nvSpPr>
        <p:spPr>
          <a:xfrm>
            <a:off x="2811780" y="3758184"/>
            <a:ext cx="685800" cy="24003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9A8"/>
              </a:buClr>
              <a:buSzPts val="1000"/>
              <a:buFont typeface="Consolas"/>
              <a:buNone/>
            </a:pPr>
            <a:r>
              <a:rPr b="0" i="0" lang="en" sz="1000" u="none" cap="none" strike="noStrike">
                <a:solidFill>
                  <a:srgbClr val="8A99A8"/>
                </a:solidFill>
                <a:latin typeface="Consolas"/>
                <a:ea typeface="Consolas"/>
                <a:cs typeface="Consolas"/>
                <a:sym typeface="Consolas"/>
              </a:rPr>
              <a:t>5 min</a:t>
            </a:r>
            <a:endParaRPr b="0" i="0" sz="1000" u="none" cap="none" strike="noStrike">
              <a:solidFill>
                <a:schemeClr val="dk1"/>
              </a:solidFill>
              <a:latin typeface="Calibri"/>
              <a:ea typeface="Calibri"/>
              <a:cs typeface="Calibri"/>
              <a:sym typeface="Calibri"/>
            </a:endParaRPr>
          </a:p>
        </p:txBody>
      </p:sp>
      <p:sp>
        <p:nvSpPr>
          <p:cNvPr id="352" name="Google Shape;352;p33"/>
          <p:cNvSpPr/>
          <p:nvPr/>
        </p:nvSpPr>
        <p:spPr>
          <a:xfrm>
            <a:off x="3634740" y="3751326"/>
            <a:ext cx="49377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7A"/>
              </a:buClr>
              <a:buSzPts val="1100"/>
              <a:buFont typeface="Calibri"/>
              <a:buNone/>
            </a:pPr>
            <a:r>
              <a:rPr b="0" i="0" lang="en" sz="1100" u="none" cap="none" strike="noStrike">
                <a:solidFill>
                  <a:srgbClr val="5A6B7A"/>
                </a:solidFill>
                <a:latin typeface="Calibri"/>
                <a:ea typeface="Calibri"/>
                <a:cs typeface="Calibri"/>
                <a:sym typeface="Calibri"/>
              </a:rPr>
              <a:t>Saves the next person the same join</a:t>
            </a:r>
            <a:endParaRPr b="0" i="0" sz="1100" u="none" cap="none" strike="noStrike">
              <a:solidFill>
                <a:schemeClr val="dk1"/>
              </a:solidFill>
              <a:latin typeface="Calibri"/>
              <a:ea typeface="Calibri"/>
              <a:cs typeface="Calibri"/>
              <a:sym typeface="Calibri"/>
            </a:endParaRPr>
          </a:p>
        </p:txBody>
      </p:sp>
      <p:sp>
        <p:nvSpPr>
          <p:cNvPr id="353" name="Google Shape;353;p33"/>
          <p:cNvSpPr/>
          <p:nvPr/>
        </p:nvSpPr>
        <p:spPr>
          <a:xfrm>
            <a:off x="480060" y="4217670"/>
            <a:ext cx="8181594" cy="34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303C"/>
              </a:buClr>
              <a:buSzPts val="1400"/>
              <a:buFont typeface="Cambria"/>
              <a:buNone/>
            </a:pPr>
            <a:r>
              <a:rPr b="1" i="1" lang="en" sz="1400" u="none" cap="none" strike="noStrike">
                <a:solidFill>
                  <a:srgbClr val="22303C"/>
                </a:solidFill>
                <a:latin typeface="Cambria"/>
                <a:ea typeface="Cambria"/>
                <a:cs typeface="Cambria"/>
                <a:sym typeface="Cambria"/>
              </a:rPr>
              <a:t>What would you tell a new analyst in week one so they don't embarrass themselves?</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2303C"/>
        </a:solidFill>
      </p:bgPr>
    </p:bg>
    <p:spTree>
      <p:nvGrpSpPr>
        <p:cNvPr id="358" name="Shape 358"/>
        <p:cNvGrpSpPr/>
        <p:nvPr/>
      </p:nvGrpSpPr>
      <p:grpSpPr>
        <a:xfrm>
          <a:off x="0" y="0"/>
          <a:ext cx="0" cy="0"/>
          <a:chOff x="0" y="0"/>
          <a:chExt cx="0" cy="0"/>
        </a:xfrm>
      </p:grpSpPr>
      <p:sp>
        <p:nvSpPr>
          <p:cNvPr id="359" name="Google Shape;359;p34"/>
          <p:cNvSpPr/>
          <p:nvPr/>
        </p:nvSpPr>
        <p:spPr>
          <a:xfrm>
            <a:off x="480060" y="1371600"/>
            <a:ext cx="96000" cy="1714500"/>
          </a:xfrm>
          <a:prstGeom prst="roundRect">
            <a:avLst>
              <a:gd fmla="val 50000" name="adj"/>
            </a:avLst>
          </a:prstGeom>
          <a:solidFill>
            <a:srgbClr val="E8663C"/>
          </a:solidFill>
          <a:ln cap="flat" cmpd="sng" w="12700">
            <a:solidFill>
              <a:srgbClr val="E8663C"/>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60" name="Google Shape;360;p34"/>
          <p:cNvSpPr/>
          <p:nvPr/>
        </p:nvSpPr>
        <p:spPr>
          <a:xfrm>
            <a:off x="788670" y="1371600"/>
            <a:ext cx="6515100" cy="89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4400"/>
              <a:buFont typeface="Cambria"/>
              <a:buNone/>
            </a:pPr>
            <a:r>
              <a:rPr b="1" lang="en" sz="4400">
                <a:solidFill>
                  <a:srgbClr val="FFFFFF"/>
                </a:solidFill>
                <a:latin typeface="Cambria"/>
                <a:ea typeface="Cambria"/>
                <a:cs typeface="Cambria"/>
                <a:sym typeface="Cambria"/>
              </a:rPr>
              <a:t>Block 4: Validate</a:t>
            </a:r>
            <a:endParaRPr b="0" i="0" sz="4400" u="none" cap="none" strike="noStrike">
              <a:solidFill>
                <a:schemeClr val="dk1"/>
              </a:solidFill>
              <a:latin typeface="Calibri"/>
              <a:ea typeface="Calibri"/>
              <a:cs typeface="Calibri"/>
              <a:sym typeface="Calibri"/>
            </a:endParaRPr>
          </a:p>
        </p:txBody>
      </p:sp>
      <p:sp>
        <p:nvSpPr>
          <p:cNvPr id="361" name="Google Shape;361;p34"/>
          <p:cNvSpPr/>
          <p:nvPr/>
        </p:nvSpPr>
        <p:spPr>
          <a:xfrm>
            <a:off x="788670" y="4320540"/>
            <a:ext cx="54864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9A8"/>
              </a:buClr>
              <a:buSzPts val="1000"/>
              <a:buFont typeface="Calibri"/>
              <a:buNone/>
            </a:pPr>
            <a:r>
              <a:rPr b="0" i="0" lang="en" sz="1000" u="none" cap="none" strike="noStrike">
                <a:solidFill>
                  <a:srgbClr val="8A99A8"/>
                </a:solidFill>
                <a:latin typeface="Calibri"/>
                <a:ea typeface="Calibri"/>
                <a:cs typeface="Calibri"/>
                <a:sym typeface="Calibri"/>
              </a:rPr>
              <a:t>3-hour hands-on workshop</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66" name="Shape 366"/>
        <p:cNvGrpSpPr/>
        <p:nvPr/>
      </p:nvGrpSpPr>
      <p:grpSpPr>
        <a:xfrm>
          <a:off x="0" y="0"/>
          <a:ext cx="0" cy="0"/>
          <a:chOff x="0" y="0"/>
          <a:chExt cx="0" cy="0"/>
        </a:xfrm>
      </p:grpSpPr>
      <p:sp>
        <p:nvSpPr>
          <p:cNvPr id="367" name="Google Shape;367;p35"/>
          <p:cNvSpPr/>
          <p:nvPr/>
        </p:nvSpPr>
        <p:spPr>
          <a:xfrm>
            <a:off x="480060" y="192024"/>
            <a:ext cx="81816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663C"/>
              </a:buClr>
              <a:buSzPts val="800"/>
              <a:buFont typeface="Calibri"/>
              <a:buNone/>
            </a:pPr>
            <a:r>
              <a:rPr b="1" lang="en" sz="800">
                <a:solidFill>
                  <a:srgbClr val="E8663C"/>
                </a:solidFill>
                <a:latin typeface="Calibri"/>
                <a:ea typeface="Calibri"/>
                <a:cs typeface="Calibri"/>
                <a:sym typeface="Calibri"/>
              </a:rPr>
              <a:t>BLOCK OVERVIEW</a:t>
            </a:r>
            <a:endParaRPr b="0" i="0" sz="800" u="none" cap="none" strike="noStrike">
              <a:solidFill>
                <a:schemeClr val="dk1"/>
              </a:solidFill>
              <a:latin typeface="Calibri"/>
              <a:ea typeface="Calibri"/>
              <a:cs typeface="Calibri"/>
              <a:sym typeface="Calibri"/>
            </a:endParaRPr>
          </a:p>
        </p:txBody>
      </p:sp>
      <p:sp>
        <p:nvSpPr>
          <p:cNvPr id="368" name="Google Shape;368;p35"/>
          <p:cNvSpPr/>
          <p:nvPr/>
        </p:nvSpPr>
        <p:spPr>
          <a:xfrm>
            <a:off x="480060" y="342900"/>
            <a:ext cx="8181600" cy="617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303C"/>
              </a:buClr>
              <a:buSzPts val="2600"/>
              <a:buFont typeface="Cambria"/>
              <a:buNone/>
            </a:pPr>
            <a:r>
              <a:rPr b="1" lang="en" sz="2600">
                <a:solidFill>
                  <a:srgbClr val="22303C"/>
                </a:solidFill>
                <a:latin typeface="Cambria"/>
                <a:ea typeface="Cambria"/>
                <a:cs typeface="Cambria"/>
                <a:sym typeface="Cambria"/>
              </a:rPr>
              <a:t>Block 4: Validate (2:00 - 2:30 - 30 min)</a:t>
            </a:r>
            <a:endParaRPr b="0" i="0" sz="2600" u="none" cap="none" strike="noStrike">
              <a:solidFill>
                <a:schemeClr val="dk1"/>
              </a:solidFill>
              <a:latin typeface="Calibri"/>
              <a:ea typeface="Calibri"/>
              <a:cs typeface="Calibri"/>
              <a:sym typeface="Calibri"/>
            </a:endParaRPr>
          </a:p>
        </p:txBody>
      </p:sp>
      <p:sp>
        <p:nvSpPr>
          <p:cNvPr id="369" name="Google Shape;369;p35"/>
          <p:cNvSpPr txBox="1"/>
          <p:nvPr/>
        </p:nvSpPr>
        <p:spPr>
          <a:xfrm>
            <a:off x="528725" y="1073425"/>
            <a:ext cx="8181600" cy="367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00"/>
              <a:t>For this block we're going to </a:t>
            </a:r>
            <a:r>
              <a:rPr b="1" lang="en" sz="900"/>
              <a:t>write the test before we write the answer</a:t>
            </a:r>
            <a:r>
              <a:rPr lang="en" sz="900"/>
              <a:t> and create an </a:t>
            </a:r>
            <a:r>
              <a:rPr b="1" lang="en" sz="900"/>
              <a:t>eval file</a:t>
            </a:r>
            <a:r>
              <a:rPr lang="en" sz="900"/>
              <a:t> (evals/my-eval.json) in order to </a:t>
            </a:r>
            <a:r>
              <a:rPr b="1" lang="en" sz="900"/>
              <a:t>define what "good" looks like before the data can bias our judgment.</a:t>
            </a:r>
            <a:r>
              <a:rPr lang="en" sz="900"/>
              <a:t> </a:t>
            </a:r>
            <a:endParaRPr b="1" sz="900"/>
          </a:p>
          <a:p>
            <a:pPr indent="0" lvl="0" marL="0" rtl="0" algn="l">
              <a:lnSpc>
                <a:spcPct val="115000"/>
              </a:lnSpc>
              <a:spcBef>
                <a:spcPts val="0"/>
              </a:spcBef>
              <a:spcAft>
                <a:spcPts val="0"/>
              </a:spcAft>
              <a:buNone/>
            </a:pPr>
            <a:r>
              <a:t/>
            </a:r>
            <a:endParaRPr sz="900">
              <a:solidFill>
                <a:srgbClr val="ED7D31"/>
              </a:solidFill>
            </a:endParaRPr>
          </a:p>
          <a:p>
            <a:pPr indent="0" lvl="0" marL="0" rtl="0" algn="l">
              <a:lnSpc>
                <a:spcPct val="115000"/>
              </a:lnSpc>
              <a:spcBef>
                <a:spcPts val="800"/>
              </a:spcBef>
              <a:spcAft>
                <a:spcPts val="0"/>
              </a:spcAft>
              <a:buNone/>
            </a:pPr>
            <a:r>
              <a:rPr b="1" lang="en" sz="900">
                <a:solidFill>
                  <a:srgbClr val="ED7D31"/>
                </a:solidFill>
              </a:rPr>
              <a:t>What's happening</a:t>
            </a:r>
            <a:endParaRPr b="1" sz="900">
              <a:solidFill>
                <a:srgbClr val="ED7D31"/>
              </a:solidFill>
            </a:endParaRPr>
          </a:p>
          <a:p>
            <a:pPr indent="0" lvl="0" marL="0" rtl="0" algn="l">
              <a:lnSpc>
                <a:spcPct val="115000"/>
              </a:lnSpc>
              <a:spcBef>
                <a:spcPts val="800"/>
              </a:spcBef>
              <a:spcAft>
                <a:spcPts val="0"/>
              </a:spcAft>
              <a:buNone/>
            </a:pPr>
            <a:r>
              <a:rPr lang="en" sz="900">
                <a:solidFill>
                  <a:schemeClr val="dk1"/>
                </a:solidFill>
              </a:rPr>
              <a:t>You write 2–3 assertions — specific, checkable statements about what a good answer to your question should include. Then you predict whether a plain agent with no instructions would pass or fail each one. You haven't queried the database yet, and that's by design. </a:t>
            </a:r>
            <a:endParaRPr sz="900">
              <a:solidFill>
                <a:schemeClr val="dk1"/>
              </a:solidFill>
            </a:endParaRPr>
          </a:p>
          <a:p>
            <a:pPr indent="0" lvl="0" marL="0" rtl="0" algn="l">
              <a:lnSpc>
                <a:spcPct val="115000"/>
              </a:lnSpc>
              <a:spcBef>
                <a:spcPts val="800"/>
              </a:spcBef>
              <a:spcAft>
                <a:spcPts val="0"/>
              </a:spcAft>
              <a:buNone/>
            </a:pPr>
            <a:r>
              <a:rPr b="1" lang="en" sz="900">
                <a:solidFill>
                  <a:srgbClr val="ED7D31"/>
                </a:solidFill>
              </a:rPr>
              <a:t>What you're creating</a:t>
            </a:r>
            <a:endParaRPr b="1" sz="900">
              <a:solidFill>
                <a:srgbClr val="ED7D31"/>
              </a:solidFill>
            </a:endParaRPr>
          </a:p>
          <a:p>
            <a:pPr indent="-285750" lvl="0" marL="457200" rtl="0" algn="l">
              <a:lnSpc>
                <a:spcPct val="115000"/>
              </a:lnSpc>
              <a:spcBef>
                <a:spcPts val="800"/>
              </a:spcBef>
              <a:spcAft>
                <a:spcPts val="0"/>
              </a:spcAft>
              <a:buClr>
                <a:schemeClr val="dk1"/>
              </a:buClr>
              <a:buSzPts val="900"/>
              <a:buChar char="●"/>
            </a:pPr>
            <a:r>
              <a:rPr b="1" lang="en" sz="900">
                <a:solidFill>
                  <a:schemeClr val="dk1"/>
                </a:solidFill>
                <a:highlight>
                  <a:srgbClr val="D9EAD3"/>
                </a:highlight>
              </a:rPr>
              <a:t>A JSON file saved as evals/my-eval.json</a:t>
            </a:r>
            <a:r>
              <a:rPr lang="en" sz="900">
                <a:solidFill>
                  <a:schemeClr val="dk1"/>
                </a:solidFill>
                <a:highlight>
                  <a:srgbClr val="D9EAD3"/>
                </a:highlight>
              </a:rPr>
              <a:t> containing your question, a description of a good answer, and your checklist of assertions. This file is what the ablation script will use to score your reference doc later. </a:t>
            </a:r>
            <a:endParaRPr sz="900">
              <a:solidFill>
                <a:schemeClr val="dk1"/>
              </a:solidFill>
              <a:highlight>
                <a:srgbClr val="D9EAD3"/>
              </a:highlight>
            </a:endParaRPr>
          </a:p>
          <a:p>
            <a:pPr indent="0" lvl="0" marL="0" rtl="0" algn="l">
              <a:lnSpc>
                <a:spcPct val="115000"/>
              </a:lnSpc>
              <a:spcBef>
                <a:spcPts val="800"/>
              </a:spcBef>
              <a:spcAft>
                <a:spcPts val="0"/>
              </a:spcAft>
              <a:buNone/>
            </a:pPr>
            <a:r>
              <a:rPr b="1" lang="en" sz="900">
                <a:solidFill>
                  <a:srgbClr val="ED7D31"/>
                </a:solidFill>
              </a:rPr>
              <a:t>What to pay attention to</a:t>
            </a:r>
            <a:endParaRPr b="1" sz="900">
              <a:solidFill>
                <a:srgbClr val="ED7D31"/>
              </a:solidFill>
            </a:endParaRPr>
          </a:p>
          <a:p>
            <a:pPr indent="-285750" lvl="0" marL="457200" rtl="0" algn="l">
              <a:lnSpc>
                <a:spcPct val="115000"/>
              </a:lnSpc>
              <a:spcBef>
                <a:spcPts val="800"/>
              </a:spcBef>
              <a:spcAft>
                <a:spcPts val="0"/>
              </a:spcAft>
              <a:buClr>
                <a:schemeClr val="dk1"/>
              </a:buClr>
              <a:buSzPts val="900"/>
              <a:buChar char="●"/>
            </a:pPr>
            <a:r>
              <a:rPr lang="en" sz="900">
                <a:solidFill>
                  <a:schemeClr val="dk1"/>
                </a:solidFill>
              </a:rPr>
              <a:t>The </a:t>
            </a:r>
            <a:r>
              <a:rPr b="1" lang="en" sz="900">
                <a:solidFill>
                  <a:schemeClr val="dk1"/>
                </a:solidFill>
              </a:rPr>
              <a:t>Validate Worksheet</a:t>
            </a:r>
            <a:endParaRPr b="1" sz="900">
              <a:solidFill>
                <a:schemeClr val="dk1"/>
              </a:solidFill>
            </a:endParaRPr>
          </a:p>
          <a:p>
            <a:pPr indent="-285750" lvl="0" marL="457200" rtl="0" algn="l">
              <a:lnSpc>
                <a:spcPct val="115000"/>
              </a:lnSpc>
              <a:spcBef>
                <a:spcPts val="0"/>
              </a:spcBef>
              <a:spcAft>
                <a:spcPts val="0"/>
              </a:spcAft>
              <a:buClr>
                <a:schemeClr val="dk1"/>
              </a:buClr>
              <a:buSzPts val="900"/>
              <a:buChar char="●"/>
            </a:pPr>
            <a:r>
              <a:rPr lang="en" sz="900">
                <a:solidFill>
                  <a:schemeClr val="dk1"/>
                </a:solidFill>
              </a:rPr>
              <a:t>Your completed </a:t>
            </a:r>
            <a:r>
              <a:rPr b="1" lang="en" sz="900">
                <a:solidFill>
                  <a:schemeClr val="dk1"/>
                </a:solidFill>
              </a:rPr>
              <a:t>Question Spec</a:t>
            </a:r>
            <a:r>
              <a:rPr lang="en" sz="900">
                <a:solidFill>
                  <a:schemeClr val="dk1"/>
                </a:solidFill>
              </a:rPr>
              <a:t> from Define</a:t>
            </a:r>
            <a:endParaRPr sz="900">
              <a:solidFill>
                <a:schemeClr val="dk1"/>
              </a:solidFill>
            </a:endParaRPr>
          </a:p>
          <a:p>
            <a:pPr indent="-285750" lvl="0" marL="457200" rtl="0" algn="l">
              <a:lnSpc>
                <a:spcPct val="115000"/>
              </a:lnSpc>
              <a:spcBef>
                <a:spcPts val="0"/>
              </a:spcBef>
              <a:spcAft>
                <a:spcPts val="0"/>
              </a:spcAft>
              <a:buClr>
                <a:schemeClr val="dk1"/>
              </a:buClr>
              <a:buSzPts val="900"/>
              <a:buChar char="●"/>
            </a:pPr>
            <a:r>
              <a:rPr lang="en" sz="900">
                <a:solidFill>
                  <a:schemeClr val="dk1"/>
                </a:solidFill>
              </a:rPr>
              <a:t>If stuck on the JSON format: ask Rob for the </a:t>
            </a:r>
            <a:r>
              <a:rPr b="1" lang="en" sz="900">
                <a:solidFill>
                  <a:schemeClr val="dk1"/>
                </a:solidFill>
              </a:rPr>
              <a:t>Example Evals</a:t>
            </a:r>
            <a:r>
              <a:rPr lang="en" sz="900">
                <a:solidFill>
                  <a:schemeClr val="dk1"/>
                </a:solidFill>
              </a:rPr>
              <a:t> handout </a:t>
            </a:r>
            <a:endParaRPr sz="900">
              <a:solidFill>
                <a:schemeClr val="dk1"/>
              </a:solidFill>
            </a:endParaRPr>
          </a:p>
          <a:p>
            <a:pPr indent="0" lvl="0" marL="0" rtl="0" algn="l">
              <a:lnSpc>
                <a:spcPct val="115000"/>
              </a:lnSpc>
              <a:spcBef>
                <a:spcPts val="800"/>
              </a:spcBef>
              <a:spcAft>
                <a:spcPts val="0"/>
              </a:spcAft>
              <a:buNone/>
            </a:pPr>
            <a:r>
              <a:rPr b="1" lang="en" sz="900">
                <a:solidFill>
                  <a:schemeClr val="dk1"/>
                </a:solidFill>
                <a:highlight>
                  <a:srgbClr val="F9CB9C"/>
                </a:highlight>
              </a:rPr>
              <a:t>If you have a question, try framing it as multiple choice:</a:t>
            </a:r>
            <a:endParaRPr b="1" sz="900">
              <a:solidFill>
                <a:schemeClr val="dk1"/>
              </a:solidFill>
              <a:highlight>
                <a:srgbClr val="F9CB9C"/>
              </a:highlight>
            </a:endParaRPr>
          </a:p>
          <a:p>
            <a:pPr indent="0" lvl="0" marL="0" rtl="0" algn="l">
              <a:lnSpc>
                <a:spcPct val="115000"/>
              </a:lnSpc>
              <a:spcBef>
                <a:spcPts val="800"/>
              </a:spcBef>
              <a:spcAft>
                <a:spcPts val="0"/>
              </a:spcAft>
              <a:buNone/>
            </a:pPr>
            <a:r>
              <a:rPr lang="en" sz="900">
                <a:solidFill>
                  <a:schemeClr val="dk1"/>
                </a:solidFill>
                <a:highlight>
                  <a:srgbClr val="F9CB9C"/>
                </a:highlight>
              </a:rPr>
              <a:t>"Is my assertion too vague, too specific, or checking the wrong thing?" gets you a concrete fix. "Is this right?" gets you a shrug </a:t>
            </a:r>
            <a:endParaRPr sz="900">
              <a:solidFill>
                <a:schemeClr val="dk1"/>
              </a:solidFill>
              <a:highlight>
                <a:srgbClr val="F9CB9C"/>
              </a:highlight>
            </a:endParaRPr>
          </a:p>
          <a:p>
            <a:pPr indent="0" lvl="0" marL="0" rtl="0" algn="l">
              <a:spcBef>
                <a:spcPts val="800"/>
              </a:spcBef>
              <a:spcAft>
                <a:spcPts val="0"/>
              </a:spcAft>
              <a:buNone/>
            </a:pPr>
            <a:r>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74" name="Shape 374"/>
        <p:cNvGrpSpPr/>
        <p:nvPr/>
      </p:nvGrpSpPr>
      <p:grpSpPr>
        <a:xfrm>
          <a:off x="0" y="0"/>
          <a:ext cx="0" cy="0"/>
          <a:chOff x="0" y="0"/>
          <a:chExt cx="0" cy="0"/>
        </a:xfrm>
      </p:grpSpPr>
      <p:sp>
        <p:nvSpPr>
          <p:cNvPr id="375" name="Google Shape;375;p36"/>
          <p:cNvSpPr/>
          <p:nvPr/>
        </p:nvSpPr>
        <p:spPr>
          <a:xfrm>
            <a:off x="480060" y="192024"/>
            <a:ext cx="8181594"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663C"/>
              </a:buClr>
              <a:buSzPts val="800"/>
              <a:buFont typeface="Calibri"/>
              <a:buNone/>
            </a:pPr>
            <a:r>
              <a:rPr b="1" i="0" lang="en" sz="800" u="none" cap="none" strike="noStrike">
                <a:solidFill>
                  <a:srgbClr val="E8663C"/>
                </a:solidFill>
                <a:latin typeface="Calibri"/>
                <a:ea typeface="Calibri"/>
                <a:cs typeface="Calibri"/>
                <a:sym typeface="Calibri"/>
              </a:rPr>
              <a:t>THE DISCIPLINE</a:t>
            </a:r>
            <a:endParaRPr b="0" i="0" sz="800" u="none" cap="none" strike="noStrike">
              <a:solidFill>
                <a:schemeClr val="dk1"/>
              </a:solidFill>
              <a:latin typeface="Calibri"/>
              <a:ea typeface="Calibri"/>
              <a:cs typeface="Calibri"/>
              <a:sym typeface="Calibri"/>
            </a:endParaRPr>
          </a:p>
        </p:txBody>
      </p:sp>
      <p:sp>
        <p:nvSpPr>
          <p:cNvPr id="376" name="Google Shape;376;p36"/>
          <p:cNvSpPr/>
          <p:nvPr/>
        </p:nvSpPr>
        <p:spPr>
          <a:xfrm>
            <a:off x="480060" y="342900"/>
            <a:ext cx="8181594" cy="6172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303C"/>
              </a:buClr>
              <a:buSzPts val="2600"/>
              <a:buFont typeface="Cambria"/>
              <a:buNone/>
            </a:pPr>
            <a:r>
              <a:rPr b="1" i="0" lang="en" sz="2600" u="none" cap="none" strike="noStrike">
                <a:solidFill>
                  <a:srgbClr val="22303C"/>
                </a:solidFill>
                <a:latin typeface="Cambria"/>
                <a:ea typeface="Cambria"/>
                <a:cs typeface="Cambria"/>
                <a:sym typeface="Cambria"/>
              </a:rPr>
              <a:t>Write the evals before you write the skill</a:t>
            </a:r>
            <a:endParaRPr b="0" i="0" sz="2600" u="none" cap="none" strike="noStrike">
              <a:solidFill>
                <a:schemeClr val="dk1"/>
              </a:solidFill>
              <a:latin typeface="Calibri"/>
              <a:ea typeface="Calibri"/>
              <a:cs typeface="Calibri"/>
              <a:sym typeface="Calibri"/>
            </a:endParaRPr>
          </a:p>
        </p:txBody>
      </p:sp>
      <p:sp>
        <p:nvSpPr>
          <p:cNvPr id="377" name="Google Shape;377;p36"/>
          <p:cNvSpPr/>
          <p:nvPr/>
        </p:nvSpPr>
        <p:spPr>
          <a:xfrm>
            <a:off x="480060" y="1028700"/>
            <a:ext cx="818159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7A"/>
              </a:buClr>
              <a:buSzPts val="1100"/>
              <a:buFont typeface="Calibri"/>
              <a:buNone/>
            </a:pPr>
            <a:r>
              <a:rPr b="0" i="0" lang="en" sz="1100" u="none" cap="none" strike="noStrike">
                <a:solidFill>
                  <a:srgbClr val="5A6B7A"/>
                </a:solidFill>
                <a:latin typeface="Calibri"/>
                <a:ea typeface="Calibri"/>
                <a:cs typeface="Calibri"/>
                <a:sym typeface="Calibri"/>
              </a:rPr>
              <a:t>Same 29 questions, run twice. Skills off, then on. The difference is the measurement.</a:t>
            </a:r>
            <a:endParaRPr b="0" i="0" sz="1100" u="none" cap="none" strike="noStrike">
              <a:solidFill>
                <a:schemeClr val="dk1"/>
              </a:solidFill>
              <a:latin typeface="Calibri"/>
              <a:ea typeface="Calibri"/>
              <a:cs typeface="Calibri"/>
              <a:sym typeface="Calibri"/>
            </a:endParaRPr>
          </a:p>
        </p:txBody>
      </p:sp>
      <p:sp>
        <p:nvSpPr>
          <p:cNvPr id="378" name="Google Shape;378;p36"/>
          <p:cNvSpPr/>
          <p:nvPr/>
        </p:nvSpPr>
        <p:spPr>
          <a:xfrm>
            <a:off x="480060" y="1508760"/>
            <a:ext cx="2640330" cy="1577340"/>
          </a:xfrm>
          <a:prstGeom prst="roundRect">
            <a:avLst>
              <a:gd fmla="val 3478" name="adj"/>
            </a:avLst>
          </a:prstGeom>
          <a:solidFill>
            <a:srgbClr val="F2F4F6"/>
          </a:solidFill>
          <a:ln cap="flat" cmpd="sng" w="12700">
            <a:solidFill>
              <a:srgbClr val="F2F4F6"/>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79" name="Google Shape;379;p36"/>
          <p:cNvSpPr/>
          <p:nvPr/>
        </p:nvSpPr>
        <p:spPr>
          <a:xfrm>
            <a:off x="685800" y="1645920"/>
            <a:ext cx="411480" cy="37719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663C"/>
              </a:buClr>
              <a:buSzPts val="2300"/>
              <a:buFont typeface="Cambria"/>
              <a:buNone/>
            </a:pPr>
            <a:r>
              <a:rPr b="1" i="0" lang="en" sz="2300" u="none" cap="none" strike="noStrike">
                <a:solidFill>
                  <a:srgbClr val="E8663C"/>
                </a:solidFill>
                <a:latin typeface="Cambria"/>
                <a:ea typeface="Cambria"/>
                <a:cs typeface="Cambria"/>
                <a:sym typeface="Cambria"/>
              </a:rPr>
              <a:t>1</a:t>
            </a:r>
            <a:endParaRPr b="0" i="0" sz="2300" u="none" cap="none" strike="noStrike">
              <a:solidFill>
                <a:schemeClr val="dk1"/>
              </a:solidFill>
              <a:latin typeface="Calibri"/>
              <a:ea typeface="Calibri"/>
              <a:cs typeface="Calibri"/>
              <a:sym typeface="Calibri"/>
            </a:endParaRPr>
          </a:p>
        </p:txBody>
      </p:sp>
      <p:sp>
        <p:nvSpPr>
          <p:cNvPr id="380" name="Google Shape;380;p36"/>
          <p:cNvSpPr/>
          <p:nvPr/>
        </p:nvSpPr>
        <p:spPr>
          <a:xfrm>
            <a:off x="685800" y="2057400"/>
            <a:ext cx="222885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303C"/>
              </a:buClr>
              <a:buSzPts val="1300"/>
              <a:buFont typeface="Cambria"/>
              <a:buNone/>
            </a:pPr>
            <a:r>
              <a:rPr b="1" i="0" lang="en" sz="1300" u="none" cap="none" strike="noStrike">
                <a:solidFill>
                  <a:srgbClr val="22303C"/>
                </a:solidFill>
                <a:latin typeface="Cambria"/>
                <a:ea typeface="Cambria"/>
                <a:cs typeface="Cambria"/>
                <a:sym typeface="Cambria"/>
              </a:rPr>
              <a:t>Pin ground truth</a:t>
            </a:r>
            <a:endParaRPr b="0" i="0" sz="1300" u="none" cap="none" strike="noStrike">
              <a:solidFill>
                <a:schemeClr val="dk1"/>
              </a:solidFill>
              <a:latin typeface="Calibri"/>
              <a:ea typeface="Calibri"/>
              <a:cs typeface="Calibri"/>
              <a:sym typeface="Calibri"/>
            </a:endParaRPr>
          </a:p>
        </p:txBody>
      </p:sp>
      <p:sp>
        <p:nvSpPr>
          <p:cNvPr id="381" name="Google Shape;381;p36"/>
          <p:cNvSpPr/>
          <p:nvPr/>
        </p:nvSpPr>
        <p:spPr>
          <a:xfrm>
            <a:off x="685800" y="2366010"/>
            <a:ext cx="2228850" cy="58293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7A"/>
              </a:buClr>
              <a:buSzPts val="1000"/>
              <a:buFont typeface="Calibri"/>
              <a:buNone/>
            </a:pPr>
            <a:r>
              <a:rPr b="0" i="0" lang="en" sz="1000" u="none" cap="none" strike="noStrike">
                <a:solidFill>
                  <a:srgbClr val="5A6B7A"/>
                </a:solidFill>
                <a:latin typeface="Calibri"/>
                <a:ea typeface="Calibri"/>
                <a:cs typeface="Calibri"/>
                <a:sym typeface="Calibri"/>
              </a:rPr>
              <a:t>Generated from the database, never hand-typed</a:t>
            </a:r>
            <a:endParaRPr b="0" i="0" sz="1000" u="none" cap="none" strike="noStrike">
              <a:solidFill>
                <a:schemeClr val="dk1"/>
              </a:solidFill>
              <a:latin typeface="Calibri"/>
              <a:ea typeface="Calibri"/>
              <a:cs typeface="Calibri"/>
              <a:sym typeface="Calibri"/>
            </a:endParaRPr>
          </a:p>
        </p:txBody>
      </p:sp>
      <p:sp>
        <p:nvSpPr>
          <p:cNvPr id="382" name="Google Shape;382;p36"/>
          <p:cNvSpPr/>
          <p:nvPr/>
        </p:nvSpPr>
        <p:spPr>
          <a:xfrm>
            <a:off x="3408426" y="1508760"/>
            <a:ext cx="2640330" cy="1577340"/>
          </a:xfrm>
          <a:prstGeom prst="roundRect">
            <a:avLst>
              <a:gd fmla="val 3478" name="adj"/>
            </a:avLst>
          </a:prstGeom>
          <a:solidFill>
            <a:srgbClr val="F2F4F6"/>
          </a:solidFill>
          <a:ln cap="flat" cmpd="sng" w="12700">
            <a:solidFill>
              <a:srgbClr val="F2F4F6"/>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83" name="Google Shape;383;p36"/>
          <p:cNvSpPr/>
          <p:nvPr/>
        </p:nvSpPr>
        <p:spPr>
          <a:xfrm>
            <a:off x="3614166" y="1645920"/>
            <a:ext cx="411480" cy="37719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663C"/>
              </a:buClr>
              <a:buSzPts val="2300"/>
              <a:buFont typeface="Cambria"/>
              <a:buNone/>
            </a:pPr>
            <a:r>
              <a:rPr b="1" i="0" lang="en" sz="2300" u="none" cap="none" strike="noStrike">
                <a:solidFill>
                  <a:srgbClr val="E8663C"/>
                </a:solidFill>
                <a:latin typeface="Cambria"/>
                <a:ea typeface="Cambria"/>
                <a:cs typeface="Cambria"/>
                <a:sym typeface="Cambria"/>
              </a:rPr>
              <a:t>2</a:t>
            </a:r>
            <a:endParaRPr b="0" i="0" sz="2300" u="none" cap="none" strike="noStrike">
              <a:solidFill>
                <a:schemeClr val="dk1"/>
              </a:solidFill>
              <a:latin typeface="Calibri"/>
              <a:ea typeface="Calibri"/>
              <a:cs typeface="Calibri"/>
              <a:sym typeface="Calibri"/>
            </a:endParaRPr>
          </a:p>
        </p:txBody>
      </p:sp>
      <p:sp>
        <p:nvSpPr>
          <p:cNvPr id="384" name="Google Shape;384;p36"/>
          <p:cNvSpPr/>
          <p:nvPr/>
        </p:nvSpPr>
        <p:spPr>
          <a:xfrm>
            <a:off x="3614166" y="2057400"/>
            <a:ext cx="222885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303C"/>
              </a:buClr>
              <a:buSzPts val="1300"/>
              <a:buFont typeface="Cambria"/>
              <a:buNone/>
            </a:pPr>
            <a:r>
              <a:rPr b="1" i="0" lang="en" sz="1300" u="none" cap="none" strike="noStrike">
                <a:solidFill>
                  <a:srgbClr val="22303C"/>
                </a:solidFill>
                <a:latin typeface="Cambria"/>
                <a:ea typeface="Cambria"/>
                <a:cs typeface="Cambria"/>
                <a:sym typeface="Cambria"/>
              </a:rPr>
              <a:t>Write negative tests</a:t>
            </a:r>
            <a:endParaRPr b="0" i="0" sz="1300" u="none" cap="none" strike="noStrike">
              <a:solidFill>
                <a:schemeClr val="dk1"/>
              </a:solidFill>
              <a:latin typeface="Calibri"/>
              <a:ea typeface="Calibri"/>
              <a:cs typeface="Calibri"/>
              <a:sym typeface="Calibri"/>
            </a:endParaRPr>
          </a:p>
        </p:txBody>
      </p:sp>
      <p:sp>
        <p:nvSpPr>
          <p:cNvPr id="385" name="Google Shape;385;p36"/>
          <p:cNvSpPr/>
          <p:nvPr/>
        </p:nvSpPr>
        <p:spPr>
          <a:xfrm>
            <a:off x="3614166" y="2366010"/>
            <a:ext cx="2228850" cy="58293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7A"/>
              </a:buClr>
              <a:buSzPts val="1000"/>
              <a:buFont typeface="Calibri"/>
              <a:buNone/>
            </a:pPr>
            <a:r>
              <a:rPr b="0" i="0" lang="en" sz="1000" u="none" cap="none" strike="noStrike">
                <a:solidFill>
                  <a:srgbClr val="5A6B7A"/>
                </a:solidFill>
                <a:latin typeface="Calibri"/>
                <a:ea typeface="Calibri"/>
                <a:cs typeface="Calibri"/>
                <a:sym typeface="Calibri"/>
              </a:rPr>
              <a:t>Evals the skill should NOT change</a:t>
            </a:r>
            <a:endParaRPr b="0" i="0" sz="1000" u="none" cap="none" strike="noStrike">
              <a:solidFill>
                <a:schemeClr val="dk1"/>
              </a:solidFill>
              <a:latin typeface="Calibri"/>
              <a:ea typeface="Calibri"/>
              <a:cs typeface="Calibri"/>
              <a:sym typeface="Calibri"/>
            </a:endParaRPr>
          </a:p>
        </p:txBody>
      </p:sp>
      <p:sp>
        <p:nvSpPr>
          <p:cNvPr id="386" name="Google Shape;386;p36"/>
          <p:cNvSpPr/>
          <p:nvPr/>
        </p:nvSpPr>
        <p:spPr>
          <a:xfrm>
            <a:off x="6336792" y="1508760"/>
            <a:ext cx="2640330" cy="1577340"/>
          </a:xfrm>
          <a:prstGeom prst="roundRect">
            <a:avLst>
              <a:gd fmla="val 3478" name="adj"/>
            </a:avLst>
          </a:prstGeom>
          <a:solidFill>
            <a:srgbClr val="F2F4F6"/>
          </a:solidFill>
          <a:ln cap="flat" cmpd="sng" w="12700">
            <a:solidFill>
              <a:srgbClr val="F2F4F6"/>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87" name="Google Shape;387;p36"/>
          <p:cNvSpPr/>
          <p:nvPr/>
        </p:nvSpPr>
        <p:spPr>
          <a:xfrm>
            <a:off x="6542532" y="1645920"/>
            <a:ext cx="411480" cy="37719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663C"/>
              </a:buClr>
              <a:buSzPts val="2300"/>
              <a:buFont typeface="Cambria"/>
              <a:buNone/>
            </a:pPr>
            <a:r>
              <a:rPr b="1" i="0" lang="en" sz="2300" u="none" cap="none" strike="noStrike">
                <a:solidFill>
                  <a:srgbClr val="E8663C"/>
                </a:solidFill>
                <a:latin typeface="Cambria"/>
                <a:ea typeface="Cambria"/>
                <a:cs typeface="Cambria"/>
                <a:sym typeface="Cambria"/>
              </a:rPr>
              <a:t>3</a:t>
            </a:r>
            <a:endParaRPr b="0" i="0" sz="2300" u="none" cap="none" strike="noStrike">
              <a:solidFill>
                <a:schemeClr val="dk1"/>
              </a:solidFill>
              <a:latin typeface="Calibri"/>
              <a:ea typeface="Calibri"/>
              <a:cs typeface="Calibri"/>
              <a:sym typeface="Calibri"/>
            </a:endParaRPr>
          </a:p>
        </p:txBody>
      </p:sp>
      <p:sp>
        <p:nvSpPr>
          <p:cNvPr id="388" name="Google Shape;388;p36"/>
          <p:cNvSpPr/>
          <p:nvPr/>
        </p:nvSpPr>
        <p:spPr>
          <a:xfrm>
            <a:off x="6542532" y="2057400"/>
            <a:ext cx="222885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303C"/>
              </a:buClr>
              <a:buSzPts val="1300"/>
              <a:buFont typeface="Cambria"/>
              <a:buNone/>
            </a:pPr>
            <a:r>
              <a:rPr b="1" i="0" lang="en" sz="1300" u="none" cap="none" strike="noStrike">
                <a:solidFill>
                  <a:srgbClr val="22303C"/>
                </a:solidFill>
                <a:latin typeface="Cambria"/>
                <a:ea typeface="Cambria"/>
                <a:cs typeface="Cambria"/>
                <a:sym typeface="Cambria"/>
              </a:rPr>
              <a:t>Run the ablation</a:t>
            </a:r>
            <a:endParaRPr b="0" i="0" sz="1300" u="none" cap="none" strike="noStrike">
              <a:solidFill>
                <a:schemeClr val="dk1"/>
              </a:solidFill>
              <a:latin typeface="Calibri"/>
              <a:ea typeface="Calibri"/>
              <a:cs typeface="Calibri"/>
              <a:sym typeface="Calibri"/>
            </a:endParaRPr>
          </a:p>
        </p:txBody>
      </p:sp>
      <p:sp>
        <p:nvSpPr>
          <p:cNvPr id="389" name="Google Shape;389;p36"/>
          <p:cNvSpPr/>
          <p:nvPr/>
        </p:nvSpPr>
        <p:spPr>
          <a:xfrm>
            <a:off x="6542532" y="2366010"/>
            <a:ext cx="2228850" cy="58293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7A"/>
              </a:buClr>
              <a:buSzPts val="1000"/>
              <a:buFont typeface="Calibri"/>
              <a:buNone/>
            </a:pPr>
            <a:r>
              <a:rPr b="0" i="0" lang="en" sz="1000" u="none" cap="none" strike="noStrike">
                <a:solidFill>
                  <a:srgbClr val="5A6B7A"/>
                </a:solidFill>
                <a:latin typeface="Calibri"/>
                <a:ea typeface="Calibri"/>
                <a:cs typeface="Calibri"/>
                <a:sym typeface="Calibri"/>
              </a:rPr>
              <a:t>Baseline, then skills, then compare</a:t>
            </a:r>
            <a:endParaRPr b="0" i="0" sz="1000" u="none" cap="none" strike="noStrike">
              <a:solidFill>
                <a:schemeClr val="dk1"/>
              </a:solidFill>
              <a:latin typeface="Calibri"/>
              <a:ea typeface="Calibri"/>
              <a:cs typeface="Calibri"/>
              <a:sym typeface="Calibri"/>
            </a:endParaRPr>
          </a:p>
        </p:txBody>
      </p:sp>
      <p:sp>
        <p:nvSpPr>
          <p:cNvPr id="390" name="Google Shape;390;p36"/>
          <p:cNvSpPr/>
          <p:nvPr/>
        </p:nvSpPr>
        <p:spPr>
          <a:xfrm>
            <a:off x="480060" y="3291840"/>
            <a:ext cx="8181594" cy="925830"/>
          </a:xfrm>
          <a:prstGeom prst="roundRect">
            <a:avLst>
              <a:gd fmla="val 5926" name="adj"/>
            </a:avLst>
          </a:prstGeom>
          <a:solidFill>
            <a:srgbClr val="E6F2EE"/>
          </a:solidFill>
          <a:ln cap="flat" cmpd="sng" w="12700">
            <a:solidFill>
              <a:srgbClr val="E6F2EE"/>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91" name="Google Shape;391;p36"/>
          <p:cNvSpPr/>
          <p:nvPr/>
        </p:nvSpPr>
        <p:spPr>
          <a:xfrm>
            <a:off x="754380" y="3531870"/>
            <a:ext cx="7632954" cy="4800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5F4C"/>
              </a:buClr>
              <a:buSzPts val="1100"/>
              <a:buFont typeface="Calibri"/>
              <a:buNone/>
            </a:pPr>
            <a:r>
              <a:rPr b="0" i="0" lang="en" sz="1100" u="none" cap="none" strike="noStrike">
                <a:solidFill>
                  <a:srgbClr val="1F5F4C"/>
                </a:solidFill>
                <a:latin typeface="Calibri"/>
                <a:ea typeface="Calibri"/>
                <a:cs typeface="Calibri"/>
                <a:sym typeface="Calibri"/>
              </a:rPr>
              <a:t>A skill that fires on everything is indistinguishable from a skill that works. 21% of our evals test that the skill stays quiet.</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2303C"/>
        </a:solidFill>
      </p:bgPr>
    </p:bg>
    <p:spTree>
      <p:nvGrpSpPr>
        <p:cNvPr id="396" name="Shape 396"/>
        <p:cNvGrpSpPr/>
        <p:nvPr/>
      </p:nvGrpSpPr>
      <p:grpSpPr>
        <a:xfrm>
          <a:off x="0" y="0"/>
          <a:ext cx="0" cy="0"/>
          <a:chOff x="0" y="0"/>
          <a:chExt cx="0" cy="0"/>
        </a:xfrm>
      </p:grpSpPr>
      <p:sp>
        <p:nvSpPr>
          <p:cNvPr id="397" name="Google Shape;397;p37"/>
          <p:cNvSpPr/>
          <p:nvPr/>
        </p:nvSpPr>
        <p:spPr>
          <a:xfrm>
            <a:off x="480060" y="1371600"/>
            <a:ext cx="96000" cy="1714500"/>
          </a:xfrm>
          <a:prstGeom prst="roundRect">
            <a:avLst>
              <a:gd fmla="val 50000" name="adj"/>
            </a:avLst>
          </a:prstGeom>
          <a:solidFill>
            <a:srgbClr val="E8663C"/>
          </a:solidFill>
          <a:ln cap="flat" cmpd="sng" w="12700">
            <a:solidFill>
              <a:srgbClr val="E8663C"/>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98" name="Google Shape;398;p37"/>
          <p:cNvSpPr/>
          <p:nvPr/>
        </p:nvSpPr>
        <p:spPr>
          <a:xfrm>
            <a:off x="788670" y="1371600"/>
            <a:ext cx="6515100" cy="89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4400"/>
              <a:buFont typeface="Cambria"/>
              <a:buNone/>
            </a:pPr>
            <a:r>
              <a:rPr b="1" lang="en" sz="4400">
                <a:solidFill>
                  <a:srgbClr val="FFFFFF"/>
                </a:solidFill>
                <a:latin typeface="Cambria"/>
                <a:ea typeface="Cambria"/>
                <a:cs typeface="Cambria"/>
                <a:sym typeface="Cambria"/>
              </a:rPr>
              <a:t>Block 5: Build</a:t>
            </a:r>
            <a:endParaRPr b="0" i="0" sz="4400" u="none" cap="none" strike="noStrike">
              <a:solidFill>
                <a:schemeClr val="dk1"/>
              </a:solidFill>
              <a:latin typeface="Calibri"/>
              <a:ea typeface="Calibri"/>
              <a:cs typeface="Calibri"/>
              <a:sym typeface="Calibri"/>
            </a:endParaRPr>
          </a:p>
        </p:txBody>
      </p:sp>
      <p:sp>
        <p:nvSpPr>
          <p:cNvPr id="399" name="Google Shape;399;p37"/>
          <p:cNvSpPr/>
          <p:nvPr/>
        </p:nvSpPr>
        <p:spPr>
          <a:xfrm>
            <a:off x="788670" y="4320540"/>
            <a:ext cx="54864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9A8"/>
              </a:buClr>
              <a:buSzPts val="1000"/>
              <a:buFont typeface="Calibri"/>
              <a:buNone/>
            </a:pPr>
            <a:r>
              <a:rPr b="0" i="0" lang="en" sz="1000" u="none" cap="none" strike="noStrike">
                <a:solidFill>
                  <a:srgbClr val="8A99A8"/>
                </a:solidFill>
                <a:latin typeface="Calibri"/>
                <a:ea typeface="Calibri"/>
                <a:cs typeface="Calibri"/>
                <a:sym typeface="Calibri"/>
              </a:rPr>
              <a:t>3-hour hands-on workshop</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04" name="Shape 404"/>
        <p:cNvGrpSpPr/>
        <p:nvPr/>
      </p:nvGrpSpPr>
      <p:grpSpPr>
        <a:xfrm>
          <a:off x="0" y="0"/>
          <a:ext cx="0" cy="0"/>
          <a:chOff x="0" y="0"/>
          <a:chExt cx="0" cy="0"/>
        </a:xfrm>
      </p:grpSpPr>
      <p:sp>
        <p:nvSpPr>
          <p:cNvPr id="405" name="Google Shape;405;p38"/>
          <p:cNvSpPr/>
          <p:nvPr/>
        </p:nvSpPr>
        <p:spPr>
          <a:xfrm>
            <a:off x="480060" y="192024"/>
            <a:ext cx="81816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663C"/>
              </a:buClr>
              <a:buSzPts val="800"/>
              <a:buFont typeface="Calibri"/>
              <a:buNone/>
            </a:pPr>
            <a:r>
              <a:rPr b="1" lang="en" sz="800">
                <a:solidFill>
                  <a:srgbClr val="E8663C"/>
                </a:solidFill>
                <a:latin typeface="Calibri"/>
                <a:ea typeface="Calibri"/>
                <a:cs typeface="Calibri"/>
                <a:sym typeface="Calibri"/>
              </a:rPr>
              <a:t>BLOCK OVERVIEW</a:t>
            </a:r>
            <a:endParaRPr b="0" i="0" sz="800" u="none" cap="none" strike="noStrike">
              <a:solidFill>
                <a:schemeClr val="dk1"/>
              </a:solidFill>
              <a:latin typeface="Calibri"/>
              <a:ea typeface="Calibri"/>
              <a:cs typeface="Calibri"/>
              <a:sym typeface="Calibri"/>
            </a:endParaRPr>
          </a:p>
        </p:txBody>
      </p:sp>
      <p:sp>
        <p:nvSpPr>
          <p:cNvPr id="406" name="Google Shape;406;p38"/>
          <p:cNvSpPr/>
          <p:nvPr/>
        </p:nvSpPr>
        <p:spPr>
          <a:xfrm>
            <a:off x="480060" y="342900"/>
            <a:ext cx="8181600" cy="617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303C"/>
              </a:buClr>
              <a:buSzPts val="2600"/>
              <a:buFont typeface="Cambria"/>
              <a:buNone/>
            </a:pPr>
            <a:r>
              <a:rPr b="1" lang="en" sz="2600">
                <a:solidFill>
                  <a:srgbClr val="22303C"/>
                </a:solidFill>
                <a:latin typeface="Cambria"/>
                <a:ea typeface="Cambria"/>
                <a:cs typeface="Cambria"/>
                <a:sym typeface="Cambria"/>
              </a:rPr>
              <a:t>Block 5: Build (2:30 - 3:15 - 45 min)</a:t>
            </a:r>
            <a:endParaRPr b="0" i="0" sz="2600" u="none" cap="none" strike="noStrike">
              <a:solidFill>
                <a:schemeClr val="dk1"/>
              </a:solidFill>
              <a:latin typeface="Calibri"/>
              <a:ea typeface="Calibri"/>
              <a:cs typeface="Calibri"/>
              <a:sym typeface="Calibri"/>
            </a:endParaRPr>
          </a:p>
        </p:txBody>
      </p:sp>
      <p:sp>
        <p:nvSpPr>
          <p:cNvPr id="407" name="Google Shape;407;p38"/>
          <p:cNvSpPr txBox="1"/>
          <p:nvPr/>
        </p:nvSpPr>
        <p:spPr>
          <a:xfrm>
            <a:off x="528725" y="1073425"/>
            <a:ext cx="8181600" cy="3990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00"/>
              <a:t>For this block we're going to </a:t>
            </a:r>
            <a:r>
              <a:rPr b="1" lang="en" sz="900"/>
              <a:t>query the warehouse and discover what it gets wrong</a:t>
            </a:r>
            <a:r>
              <a:rPr lang="en" sz="900"/>
              <a:t> and create a </a:t>
            </a:r>
            <a:r>
              <a:rPr b="1" lang="en" sz="900"/>
              <a:t>reference doc</a:t>
            </a:r>
            <a:r>
              <a:rPr lang="en" sz="900"/>
              <a:t> (references/.md) in order to </a:t>
            </a:r>
            <a:r>
              <a:rPr b="1" lang="en" sz="900"/>
              <a:t>teach the agent what an experienced analyst would already know about this data.</a:t>
            </a:r>
            <a:r>
              <a:rPr lang="en" sz="900"/>
              <a:t> </a:t>
            </a:r>
            <a:endParaRPr b="1" sz="900"/>
          </a:p>
          <a:p>
            <a:pPr indent="0" lvl="0" marL="0" rtl="0" algn="l">
              <a:lnSpc>
                <a:spcPct val="115000"/>
              </a:lnSpc>
              <a:spcBef>
                <a:spcPts val="0"/>
              </a:spcBef>
              <a:spcAft>
                <a:spcPts val="0"/>
              </a:spcAft>
              <a:buNone/>
            </a:pPr>
            <a:r>
              <a:t/>
            </a:r>
            <a:endParaRPr sz="900">
              <a:solidFill>
                <a:srgbClr val="ED7D31"/>
              </a:solidFill>
            </a:endParaRPr>
          </a:p>
          <a:p>
            <a:pPr indent="0" lvl="0" marL="0" rtl="0" algn="l">
              <a:lnSpc>
                <a:spcPct val="115000"/>
              </a:lnSpc>
              <a:spcBef>
                <a:spcPts val="800"/>
              </a:spcBef>
              <a:spcAft>
                <a:spcPts val="0"/>
              </a:spcAft>
              <a:buNone/>
            </a:pPr>
            <a:r>
              <a:rPr b="1" lang="en" sz="900">
                <a:solidFill>
                  <a:srgbClr val="ED7D31"/>
                </a:solidFill>
              </a:rPr>
              <a:t>What's happening</a:t>
            </a:r>
            <a:endParaRPr b="1" sz="900">
              <a:solidFill>
                <a:srgbClr val="ED7D31"/>
              </a:solidFill>
            </a:endParaRPr>
          </a:p>
          <a:p>
            <a:pPr indent="0" lvl="0" marL="0" rtl="0" algn="l">
              <a:lnSpc>
                <a:spcPct val="115000"/>
              </a:lnSpc>
              <a:spcBef>
                <a:spcPts val="800"/>
              </a:spcBef>
              <a:spcAft>
                <a:spcPts val="0"/>
              </a:spcAft>
              <a:buNone/>
            </a:pPr>
            <a:r>
              <a:rPr lang="en" sz="900">
                <a:solidFill>
                  <a:schemeClr val="dk1"/>
                </a:solidFill>
              </a:rPr>
              <a:t>Now you open the database. You run queries, find discrepancies, and write them up. The Gotchas section — where you document two plausible answers that disagree — is the core exercise and gets the most time (15 minutes). </a:t>
            </a:r>
            <a:endParaRPr sz="900">
              <a:solidFill>
                <a:schemeClr val="dk1"/>
              </a:solidFill>
            </a:endParaRPr>
          </a:p>
          <a:p>
            <a:pPr indent="0" lvl="0" marL="0" rtl="0" algn="l">
              <a:lnSpc>
                <a:spcPct val="115000"/>
              </a:lnSpc>
              <a:spcBef>
                <a:spcPts val="800"/>
              </a:spcBef>
              <a:spcAft>
                <a:spcPts val="0"/>
              </a:spcAft>
              <a:buNone/>
            </a:pPr>
            <a:r>
              <a:rPr b="1" lang="en" sz="900">
                <a:solidFill>
                  <a:srgbClr val="ED7D31"/>
                </a:solidFill>
              </a:rPr>
              <a:t>What you're creating</a:t>
            </a:r>
            <a:endParaRPr b="1" sz="900">
              <a:solidFill>
                <a:srgbClr val="ED7D31"/>
              </a:solidFill>
            </a:endParaRPr>
          </a:p>
          <a:p>
            <a:pPr indent="-285750" lvl="0" marL="457200" rtl="0" algn="l">
              <a:lnSpc>
                <a:spcPct val="115000"/>
              </a:lnSpc>
              <a:spcBef>
                <a:spcPts val="800"/>
              </a:spcBef>
              <a:spcAft>
                <a:spcPts val="0"/>
              </a:spcAft>
              <a:buClr>
                <a:schemeClr val="dk1"/>
              </a:buClr>
              <a:buSzPts val="900"/>
              <a:buChar char="●"/>
            </a:pPr>
            <a:r>
              <a:rPr b="1" lang="en" sz="900">
                <a:solidFill>
                  <a:schemeClr val="dk1"/>
                </a:solidFill>
                <a:highlight>
                  <a:srgbClr val="D9EAD3"/>
                </a:highlight>
              </a:rPr>
              <a:t>A reference doc saved as attrition.md, compensation.md, or engagement.md</a:t>
            </a:r>
            <a:r>
              <a:rPr lang="en" sz="900">
                <a:solidFill>
                  <a:schemeClr val="dk1"/>
                </a:solidFill>
                <a:highlight>
                  <a:srgbClr val="D9EAD3"/>
                </a:highlight>
              </a:rPr>
              <a:t> inside the references/ folder. This is the document the ablation script will load alongside the agent to see if your Gotchas, filters, and query patterns actually improve its answers.  </a:t>
            </a:r>
            <a:endParaRPr sz="900">
              <a:solidFill>
                <a:schemeClr val="dk1"/>
              </a:solidFill>
              <a:highlight>
                <a:srgbClr val="D9EAD3"/>
              </a:highlight>
            </a:endParaRPr>
          </a:p>
          <a:p>
            <a:pPr indent="0" lvl="0" marL="0" rtl="0" algn="l">
              <a:lnSpc>
                <a:spcPct val="115000"/>
              </a:lnSpc>
              <a:spcBef>
                <a:spcPts val="800"/>
              </a:spcBef>
              <a:spcAft>
                <a:spcPts val="0"/>
              </a:spcAft>
              <a:buNone/>
            </a:pPr>
            <a:r>
              <a:rPr b="1" lang="en" sz="900">
                <a:solidFill>
                  <a:srgbClr val="ED7D31"/>
                </a:solidFill>
              </a:rPr>
              <a:t>What to pay attention to</a:t>
            </a:r>
            <a:endParaRPr b="1" sz="900">
              <a:solidFill>
                <a:srgbClr val="ED7D31"/>
              </a:solidFill>
            </a:endParaRPr>
          </a:p>
          <a:p>
            <a:pPr indent="-285750" lvl="0" marL="457200" rtl="0" algn="l">
              <a:lnSpc>
                <a:spcPct val="115000"/>
              </a:lnSpc>
              <a:spcBef>
                <a:spcPts val="800"/>
              </a:spcBef>
              <a:spcAft>
                <a:spcPts val="0"/>
              </a:spcAft>
              <a:buClr>
                <a:schemeClr val="dk1"/>
              </a:buClr>
              <a:buSzPts val="900"/>
              <a:buChar char="●"/>
            </a:pPr>
            <a:r>
              <a:rPr lang="en" sz="900">
                <a:solidFill>
                  <a:schemeClr val="dk1"/>
                </a:solidFill>
              </a:rPr>
              <a:t>The </a:t>
            </a:r>
            <a:r>
              <a:rPr b="1" lang="en" sz="900">
                <a:solidFill>
                  <a:schemeClr val="dk1"/>
                </a:solidFill>
              </a:rPr>
              <a:t>Build Worksheet</a:t>
            </a:r>
            <a:endParaRPr b="1" sz="900">
              <a:solidFill>
                <a:schemeClr val="dk1"/>
              </a:solidFill>
            </a:endParaRPr>
          </a:p>
          <a:p>
            <a:pPr indent="-285750" lvl="0" marL="457200" rtl="0" algn="l">
              <a:lnSpc>
                <a:spcPct val="115000"/>
              </a:lnSpc>
              <a:spcBef>
                <a:spcPts val="0"/>
              </a:spcBef>
              <a:spcAft>
                <a:spcPts val="0"/>
              </a:spcAft>
              <a:buClr>
                <a:schemeClr val="dk1"/>
              </a:buClr>
              <a:buSzPts val="900"/>
              <a:buChar char="●"/>
            </a:pPr>
            <a:r>
              <a:rPr lang="en" sz="900">
                <a:solidFill>
                  <a:schemeClr val="dk1"/>
                </a:solidFill>
              </a:rPr>
              <a:t>The </a:t>
            </a:r>
            <a:r>
              <a:rPr b="1" lang="en" sz="900">
                <a:solidFill>
                  <a:schemeClr val="dk1"/>
                </a:solidFill>
              </a:rPr>
              <a:t>Data Dictionary</a:t>
            </a:r>
            <a:r>
              <a:rPr lang="en" sz="900">
                <a:solidFill>
                  <a:schemeClr val="dk1"/>
                </a:solidFill>
              </a:rPr>
              <a:t> — your column and table reference</a:t>
            </a:r>
            <a:endParaRPr sz="900">
              <a:solidFill>
                <a:schemeClr val="dk1"/>
              </a:solidFill>
            </a:endParaRPr>
          </a:p>
          <a:p>
            <a:pPr indent="-285750" lvl="0" marL="457200" rtl="0" algn="l">
              <a:lnSpc>
                <a:spcPct val="115000"/>
              </a:lnSpc>
              <a:spcBef>
                <a:spcPts val="0"/>
              </a:spcBef>
              <a:spcAft>
                <a:spcPts val="0"/>
              </a:spcAft>
              <a:buClr>
                <a:schemeClr val="dk1"/>
              </a:buClr>
              <a:buSzPts val="900"/>
              <a:buChar char="●"/>
            </a:pPr>
            <a:r>
              <a:rPr lang="en" sz="900">
                <a:solidFill>
                  <a:schemeClr val="dk1"/>
                </a:solidFill>
              </a:rPr>
              <a:t>Your explore.py file set up and running from the terminal</a:t>
            </a:r>
            <a:endParaRPr sz="900">
              <a:solidFill>
                <a:schemeClr val="dk1"/>
              </a:solidFill>
            </a:endParaRPr>
          </a:p>
          <a:p>
            <a:pPr indent="-285750" lvl="0" marL="457200" rtl="0" algn="l">
              <a:lnSpc>
                <a:spcPct val="115000"/>
              </a:lnSpc>
              <a:spcBef>
                <a:spcPts val="0"/>
              </a:spcBef>
              <a:spcAft>
                <a:spcPts val="0"/>
              </a:spcAft>
              <a:buClr>
                <a:schemeClr val="dk1"/>
              </a:buClr>
              <a:buSzPts val="900"/>
              <a:buChar char="●"/>
            </a:pPr>
            <a:r>
              <a:rPr lang="en" sz="900">
                <a:solidFill>
                  <a:schemeClr val="dk1"/>
                </a:solidFill>
              </a:rPr>
              <a:t>If stuck on SQL: ask Rob for the </a:t>
            </a:r>
            <a:r>
              <a:rPr b="1" lang="en" sz="900">
                <a:solidFill>
                  <a:schemeClr val="dk1"/>
                </a:solidFill>
              </a:rPr>
              <a:t>Starter Queries</a:t>
            </a:r>
            <a:r>
              <a:rPr lang="en" sz="900">
                <a:solidFill>
                  <a:schemeClr val="dk1"/>
                </a:solidFill>
              </a:rPr>
              <a:t> handout </a:t>
            </a:r>
            <a:endParaRPr sz="900">
              <a:solidFill>
                <a:schemeClr val="dk1"/>
              </a:solidFill>
            </a:endParaRPr>
          </a:p>
          <a:p>
            <a:pPr indent="0" lvl="0" marL="0" rtl="0" algn="l">
              <a:lnSpc>
                <a:spcPct val="115000"/>
              </a:lnSpc>
              <a:spcBef>
                <a:spcPts val="800"/>
              </a:spcBef>
              <a:spcAft>
                <a:spcPts val="0"/>
              </a:spcAft>
              <a:buNone/>
            </a:pPr>
            <a:r>
              <a:rPr b="1" lang="en" sz="900">
                <a:solidFill>
                  <a:schemeClr val="dk1"/>
                </a:solidFill>
                <a:highlight>
                  <a:srgbClr val="F9CB9C"/>
                </a:highlight>
              </a:rPr>
              <a:t>If you have a question, try framing it as multiple choice:</a:t>
            </a:r>
            <a:endParaRPr b="1" sz="900">
              <a:solidFill>
                <a:schemeClr val="dk1"/>
              </a:solidFill>
              <a:highlight>
                <a:srgbClr val="F9CB9C"/>
              </a:highlight>
            </a:endParaRPr>
          </a:p>
          <a:p>
            <a:pPr indent="0" lvl="0" marL="0" rtl="0" algn="l">
              <a:lnSpc>
                <a:spcPct val="115000"/>
              </a:lnSpc>
              <a:spcBef>
                <a:spcPts val="800"/>
              </a:spcBef>
              <a:spcAft>
                <a:spcPts val="0"/>
              </a:spcAft>
              <a:buNone/>
            </a:pPr>
            <a:r>
              <a:rPr lang="en" sz="900">
                <a:solidFill>
                  <a:schemeClr val="dk1"/>
                </a:solidFill>
                <a:highlight>
                  <a:srgbClr val="F9CB9C"/>
                </a:highlight>
              </a:rPr>
              <a:t>"Am I getting the wrong number because I'm using the wrong table, missing a filter, or double counting from a join?" narrows the problem to one fix. "My number looks wrong" doesn't. </a:t>
            </a:r>
            <a:endParaRPr sz="900">
              <a:solidFill>
                <a:schemeClr val="dk1"/>
              </a:solidFill>
              <a:highlight>
                <a:srgbClr val="F9CB9C"/>
              </a:highlight>
            </a:endParaRPr>
          </a:p>
          <a:p>
            <a:pPr indent="0" lvl="0" marL="0" rtl="0" algn="l">
              <a:spcBef>
                <a:spcPts val="800"/>
              </a:spcBef>
              <a:spcAft>
                <a:spcPts val="0"/>
              </a:spcAft>
              <a:buNone/>
            </a:pPr>
            <a:r>
              <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2303C"/>
        </a:solidFill>
      </p:bgPr>
    </p:bg>
    <p:spTree>
      <p:nvGrpSpPr>
        <p:cNvPr id="412" name="Shape 412"/>
        <p:cNvGrpSpPr/>
        <p:nvPr/>
      </p:nvGrpSpPr>
      <p:grpSpPr>
        <a:xfrm>
          <a:off x="0" y="0"/>
          <a:ext cx="0" cy="0"/>
          <a:chOff x="0" y="0"/>
          <a:chExt cx="0" cy="0"/>
        </a:xfrm>
      </p:grpSpPr>
      <p:sp>
        <p:nvSpPr>
          <p:cNvPr id="413" name="Google Shape;413;p39"/>
          <p:cNvSpPr/>
          <p:nvPr/>
        </p:nvSpPr>
        <p:spPr>
          <a:xfrm>
            <a:off x="480060" y="1371600"/>
            <a:ext cx="96000" cy="1714500"/>
          </a:xfrm>
          <a:prstGeom prst="roundRect">
            <a:avLst>
              <a:gd fmla="val 50000" name="adj"/>
            </a:avLst>
          </a:prstGeom>
          <a:solidFill>
            <a:srgbClr val="E8663C"/>
          </a:solidFill>
          <a:ln cap="flat" cmpd="sng" w="12700">
            <a:solidFill>
              <a:srgbClr val="E8663C"/>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14" name="Google Shape;414;p39"/>
          <p:cNvSpPr/>
          <p:nvPr/>
        </p:nvSpPr>
        <p:spPr>
          <a:xfrm>
            <a:off x="788670" y="1371600"/>
            <a:ext cx="6515100" cy="89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4400"/>
              <a:buFont typeface="Cambria"/>
              <a:buNone/>
            </a:pPr>
            <a:r>
              <a:rPr b="1" lang="en" sz="4400">
                <a:solidFill>
                  <a:srgbClr val="FFFFFF"/>
                </a:solidFill>
                <a:latin typeface="Cambria"/>
                <a:ea typeface="Cambria"/>
                <a:cs typeface="Cambria"/>
                <a:sym typeface="Cambria"/>
              </a:rPr>
              <a:t>Block 6: Ablation</a:t>
            </a:r>
            <a:endParaRPr b="0" i="0" sz="4400" u="none" cap="none" strike="noStrike">
              <a:solidFill>
                <a:schemeClr val="dk1"/>
              </a:solidFill>
              <a:latin typeface="Calibri"/>
              <a:ea typeface="Calibri"/>
              <a:cs typeface="Calibri"/>
              <a:sym typeface="Calibri"/>
            </a:endParaRPr>
          </a:p>
        </p:txBody>
      </p:sp>
      <p:sp>
        <p:nvSpPr>
          <p:cNvPr id="415" name="Google Shape;415;p39"/>
          <p:cNvSpPr/>
          <p:nvPr/>
        </p:nvSpPr>
        <p:spPr>
          <a:xfrm>
            <a:off x="788670" y="4320540"/>
            <a:ext cx="54864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9A8"/>
              </a:buClr>
              <a:buSzPts val="1000"/>
              <a:buFont typeface="Calibri"/>
              <a:buNone/>
            </a:pPr>
            <a:r>
              <a:rPr b="0" i="0" lang="en" sz="1000" u="none" cap="none" strike="noStrike">
                <a:solidFill>
                  <a:srgbClr val="8A99A8"/>
                </a:solidFill>
                <a:latin typeface="Calibri"/>
                <a:ea typeface="Calibri"/>
                <a:cs typeface="Calibri"/>
                <a:sym typeface="Calibri"/>
              </a:rPr>
              <a:t>3-hour hands-on workshop</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20" name="Shape 420"/>
        <p:cNvGrpSpPr/>
        <p:nvPr/>
      </p:nvGrpSpPr>
      <p:grpSpPr>
        <a:xfrm>
          <a:off x="0" y="0"/>
          <a:ext cx="0" cy="0"/>
          <a:chOff x="0" y="0"/>
          <a:chExt cx="0" cy="0"/>
        </a:xfrm>
      </p:grpSpPr>
      <p:sp>
        <p:nvSpPr>
          <p:cNvPr id="421" name="Google Shape;421;p40"/>
          <p:cNvSpPr/>
          <p:nvPr/>
        </p:nvSpPr>
        <p:spPr>
          <a:xfrm>
            <a:off x="480060" y="192024"/>
            <a:ext cx="81816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663C"/>
              </a:buClr>
              <a:buSzPts val="800"/>
              <a:buFont typeface="Calibri"/>
              <a:buNone/>
            </a:pPr>
            <a:r>
              <a:rPr b="1" lang="en" sz="800">
                <a:solidFill>
                  <a:srgbClr val="E8663C"/>
                </a:solidFill>
                <a:latin typeface="Calibri"/>
                <a:ea typeface="Calibri"/>
                <a:cs typeface="Calibri"/>
                <a:sym typeface="Calibri"/>
              </a:rPr>
              <a:t>BLOCK OVERVIEW</a:t>
            </a:r>
            <a:endParaRPr b="0" i="0" sz="800" u="none" cap="none" strike="noStrike">
              <a:solidFill>
                <a:schemeClr val="dk1"/>
              </a:solidFill>
              <a:latin typeface="Calibri"/>
              <a:ea typeface="Calibri"/>
              <a:cs typeface="Calibri"/>
              <a:sym typeface="Calibri"/>
            </a:endParaRPr>
          </a:p>
        </p:txBody>
      </p:sp>
      <p:sp>
        <p:nvSpPr>
          <p:cNvPr id="422" name="Google Shape;422;p40"/>
          <p:cNvSpPr/>
          <p:nvPr/>
        </p:nvSpPr>
        <p:spPr>
          <a:xfrm>
            <a:off x="480060" y="342900"/>
            <a:ext cx="8181600" cy="617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303C"/>
              </a:buClr>
              <a:buSzPts val="2600"/>
              <a:buFont typeface="Cambria"/>
              <a:buNone/>
            </a:pPr>
            <a:r>
              <a:rPr b="1" lang="en" sz="2600">
                <a:solidFill>
                  <a:srgbClr val="22303C"/>
                </a:solidFill>
                <a:latin typeface="Cambria"/>
                <a:ea typeface="Cambria"/>
                <a:cs typeface="Cambria"/>
                <a:sym typeface="Cambria"/>
              </a:rPr>
              <a:t>Block 6: Ablation (3:15 - 3:35 - 20 min)</a:t>
            </a:r>
            <a:endParaRPr b="0" i="0" sz="2600" u="none" cap="none" strike="noStrike">
              <a:solidFill>
                <a:schemeClr val="dk1"/>
              </a:solidFill>
              <a:latin typeface="Calibri"/>
              <a:ea typeface="Calibri"/>
              <a:cs typeface="Calibri"/>
              <a:sym typeface="Calibri"/>
            </a:endParaRPr>
          </a:p>
        </p:txBody>
      </p:sp>
      <p:sp>
        <p:nvSpPr>
          <p:cNvPr id="423" name="Google Shape;423;p40"/>
          <p:cNvSpPr txBox="1"/>
          <p:nvPr/>
        </p:nvSpPr>
        <p:spPr>
          <a:xfrm>
            <a:off x="528725" y="1073425"/>
            <a:ext cx="8181600" cy="450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00"/>
              <a:t>For this block we're going to </a:t>
            </a:r>
            <a:r>
              <a:rPr b="1" lang="en" sz="900"/>
              <a:t>run the same question with and without our reference doc</a:t>
            </a:r>
            <a:r>
              <a:rPr lang="en" sz="900"/>
              <a:t> and create a </a:t>
            </a:r>
            <a:r>
              <a:rPr b="1" lang="en" sz="900"/>
              <a:t>measured comparison</a:t>
            </a:r>
            <a:r>
              <a:rPr lang="en" sz="900"/>
              <a:t> in order to </a:t>
            </a:r>
            <a:r>
              <a:rPr b="1" lang="en" sz="900"/>
              <a:t>find out if what we built actually helped — and check our Validate predictions. </a:t>
            </a:r>
            <a:endParaRPr b="1" sz="900"/>
          </a:p>
          <a:p>
            <a:pPr indent="0" lvl="0" marL="0" rtl="0" algn="l">
              <a:lnSpc>
                <a:spcPct val="115000"/>
              </a:lnSpc>
              <a:spcBef>
                <a:spcPts val="0"/>
              </a:spcBef>
              <a:spcAft>
                <a:spcPts val="0"/>
              </a:spcAft>
              <a:buNone/>
            </a:pPr>
            <a:r>
              <a:t/>
            </a:r>
            <a:endParaRPr sz="900">
              <a:solidFill>
                <a:srgbClr val="ED7D31"/>
              </a:solidFill>
            </a:endParaRPr>
          </a:p>
          <a:p>
            <a:pPr indent="0" lvl="0" marL="0" rtl="0" algn="l">
              <a:lnSpc>
                <a:spcPct val="115000"/>
              </a:lnSpc>
              <a:spcBef>
                <a:spcPts val="800"/>
              </a:spcBef>
              <a:spcAft>
                <a:spcPts val="0"/>
              </a:spcAft>
              <a:buNone/>
            </a:pPr>
            <a:r>
              <a:rPr b="1" lang="en" sz="900">
                <a:solidFill>
                  <a:srgbClr val="ED7D31"/>
                </a:solidFill>
              </a:rPr>
              <a:t>What's happening</a:t>
            </a:r>
            <a:endParaRPr b="1" sz="900">
              <a:solidFill>
                <a:srgbClr val="ED7D31"/>
              </a:solidFill>
            </a:endParaRPr>
          </a:p>
          <a:p>
            <a:pPr indent="0" lvl="0" marL="0" rtl="0" algn="l">
              <a:lnSpc>
                <a:spcPct val="115000"/>
              </a:lnSpc>
              <a:spcBef>
                <a:spcPts val="800"/>
              </a:spcBef>
              <a:spcAft>
                <a:spcPts val="0"/>
              </a:spcAft>
              <a:buNone/>
            </a:pPr>
            <a:r>
              <a:rPr lang="en" sz="900">
                <a:solidFill>
                  <a:schemeClr val="dk1"/>
                </a:solidFill>
              </a:rPr>
              <a:t>You run one command. The script asks your question twice — once with no reference doc (baseline), once with yours loaded — and scores both against the assertions you wrote in Validate. Then you compare the result to your prediction. </a:t>
            </a:r>
            <a:endParaRPr sz="900">
              <a:solidFill>
                <a:schemeClr val="dk1"/>
              </a:solidFill>
            </a:endParaRPr>
          </a:p>
          <a:p>
            <a:pPr indent="0" lvl="0" marL="0" rtl="0" algn="l">
              <a:lnSpc>
                <a:spcPct val="115000"/>
              </a:lnSpc>
              <a:spcBef>
                <a:spcPts val="800"/>
              </a:spcBef>
              <a:spcAft>
                <a:spcPts val="0"/>
              </a:spcAft>
              <a:buNone/>
            </a:pPr>
            <a:r>
              <a:rPr b="1" lang="en" sz="900">
                <a:solidFill>
                  <a:srgbClr val="ED7D31"/>
                </a:solidFill>
              </a:rPr>
              <a:t>What you're creating</a:t>
            </a:r>
            <a:endParaRPr b="1" sz="900">
              <a:solidFill>
                <a:srgbClr val="ED7D31"/>
              </a:solidFill>
            </a:endParaRPr>
          </a:p>
          <a:p>
            <a:pPr indent="-285750" lvl="0" marL="457200" rtl="0" algn="l">
              <a:lnSpc>
                <a:spcPct val="115000"/>
              </a:lnSpc>
              <a:spcBef>
                <a:spcPts val="800"/>
              </a:spcBef>
              <a:spcAft>
                <a:spcPts val="0"/>
              </a:spcAft>
              <a:buClr>
                <a:schemeClr val="dk1"/>
              </a:buClr>
              <a:buSzPts val="900"/>
              <a:buChar char="●"/>
            </a:pPr>
            <a:r>
              <a:rPr b="1" lang="en" sz="900">
                <a:solidFill>
                  <a:schemeClr val="dk1"/>
                </a:solidFill>
                <a:highlight>
                  <a:srgbClr val="D9EAD3"/>
                </a:highlight>
              </a:rPr>
              <a:t>A side-by-side result:</a:t>
            </a:r>
            <a:r>
              <a:rPr lang="en" sz="900">
                <a:solidFill>
                  <a:schemeClr val="dk1"/>
                </a:solidFill>
                <a:highlight>
                  <a:srgbClr val="D9EAD3"/>
                </a:highlight>
              </a:rPr>
              <a:t> baseline score vs. with-doc score, plus a comparison against the prediction you wrote 45 minutes ago. Were you right about which assertions would fail? </a:t>
            </a:r>
            <a:endParaRPr sz="900">
              <a:solidFill>
                <a:schemeClr val="dk1"/>
              </a:solidFill>
              <a:highlight>
                <a:srgbClr val="D9EAD3"/>
              </a:highlight>
            </a:endParaRPr>
          </a:p>
          <a:p>
            <a:pPr indent="0" lvl="0" marL="0" rtl="0" algn="l">
              <a:lnSpc>
                <a:spcPct val="115000"/>
              </a:lnSpc>
              <a:spcBef>
                <a:spcPts val="800"/>
              </a:spcBef>
              <a:spcAft>
                <a:spcPts val="0"/>
              </a:spcAft>
              <a:buNone/>
            </a:pPr>
            <a:r>
              <a:rPr b="1" lang="en" sz="900">
                <a:solidFill>
                  <a:srgbClr val="ED7D31"/>
                </a:solidFill>
              </a:rPr>
              <a:t>What you need</a:t>
            </a:r>
            <a:endParaRPr b="1" sz="900">
              <a:solidFill>
                <a:srgbClr val="ED7D31"/>
              </a:solidFill>
            </a:endParaRPr>
          </a:p>
          <a:p>
            <a:pPr indent="-285750" lvl="0" marL="457200" rtl="0" algn="l">
              <a:lnSpc>
                <a:spcPct val="115000"/>
              </a:lnSpc>
              <a:spcBef>
                <a:spcPts val="800"/>
              </a:spcBef>
              <a:spcAft>
                <a:spcPts val="0"/>
              </a:spcAft>
              <a:buClr>
                <a:schemeClr val="dk1"/>
              </a:buClr>
              <a:buSzPts val="900"/>
              <a:buChar char="●"/>
            </a:pPr>
            <a:r>
              <a:rPr lang="en" sz="900">
                <a:solidFill>
                  <a:schemeClr val="dk1"/>
                </a:solidFill>
              </a:rPr>
              <a:t>Your </a:t>
            </a:r>
            <a:r>
              <a:rPr lang="en" sz="900">
                <a:solidFill>
                  <a:srgbClr val="188038"/>
                </a:solidFill>
                <a:latin typeface="Roboto Mono"/>
                <a:ea typeface="Roboto Mono"/>
                <a:cs typeface="Roboto Mono"/>
                <a:sym typeface="Roboto Mono"/>
              </a:rPr>
              <a:t>evals/my-eval.json</a:t>
            </a:r>
            <a:r>
              <a:rPr lang="en" sz="900">
                <a:solidFill>
                  <a:schemeClr val="dk1"/>
                </a:solidFill>
              </a:rPr>
              <a:t> (from Validate)</a:t>
            </a:r>
            <a:endParaRPr sz="900">
              <a:solidFill>
                <a:schemeClr val="dk1"/>
              </a:solidFill>
            </a:endParaRPr>
          </a:p>
          <a:p>
            <a:pPr indent="-285750" lvl="0" marL="457200" rtl="0" algn="l">
              <a:lnSpc>
                <a:spcPct val="115000"/>
              </a:lnSpc>
              <a:spcBef>
                <a:spcPts val="0"/>
              </a:spcBef>
              <a:spcAft>
                <a:spcPts val="0"/>
              </a:spcAft>
              <a:buClr>
                <a:schemeClr val="dk1"/>
              </a:buClr>
              <a:buSzPts val="900"/>
              <a:buChar char="●"/>
            </a:pPr>
            <a:r>
              <a:rPr lang="en" sz="900">
                <a:solidFill>
                  <a:schemeClr val="dk1"/>
                </a:solidFill>
              </a:rPr>
              <a:t>Your </a:t>
            </a:r>
            <a:r>
              <a:rPr lang="en" sz="900">
                <a:solidFill>
                  <a:srgbClr val="188038"/>
                </a:solidFill>
                <a:latin typeface="Roboto Mono"/>
                <a:ea typeface="Roboto Mono"/>
                <a:cs typeface="Roboto Mono"/>
                <a:sym typeface="Roboto Mono"/>
              </a:rPr>
              <a:t>references/&lt;domain&gt;.md</a:t>
            </a:r>
            <a:r>
              <a:rPr lang="en" sz="900">
                <a:solidFill>
                  <a:schemeClr val="dk1"/>
                </a:solidFill>
              </a:rPr>
              <a:t> (from Build)</a:t>
            </a:r>
            <a:endParaRPr sz="900">
              <a:solidFill>
                <a:schemeClr val="dk1"/>
              </a:solidFill>
            </a:endParaRPr>
          </a:p>
          <a:p>
            <a:pPr indent="-285750" lvl="0" marL="457200" rtl="0" algn="l">
              <a:lnSpc>
                <a:spcPct val="115000"/>
              </a:lnSpc>
              <a:spcBef>
                <a:spcPts val="0"/>
              </a:spcBef>
              <a:spcAft>
                <a:spcPts val="0"/>
              </a:spcAft>
              <a:buClr>
                <a:schemeClr val="dk1"/>
              </a:buClr>
              <a:buSzPts val="900"/>
              <a:buChar char="●"/>
            </a:pPr>
            <a:r>
              <a:rPr lang="en" sz="900">
                <a:solidFill>
                  <a:schemeClr val="dk1"/>
                </a:solidFill>
              </a:rPr>
              <a:t>Your </a:t>
            </a:r>
            <a:r>
              <a:rPr b="1" lang="en" sz="900">
                <a:solidFill>
                  <a:schemeClr val="dk1"/>
                </a:solidFill>
              </a:rPr>
              <a:t>Validate Worksheet</a:t>
            </a:r>
            <a:r>
              <a:rPr lang="en" sz="900">
                <a:solidFill>
                  <a:schemeClr val="dk1"/>
                </a:solidFill>
              </a:rPr>
              <a:t> with your predictions written on it</a:t>
            </a:r>
            <a:endParaRPr sz="900">
              <a:solidFill>
                <a:schemeClr val="dk1"/>
              </a:solidFill>
            </a:endParaRPr>
          </a:p>
          <a:p>
            <a:pPr indent="-285750" lvl="0" marL="457200" rtl="0" algn="l">
              <a:lnSpc>
                <a:spcPct val="115000"/>
              </a:lnSpc>
              <a:spcBef>
                <a:spcPts val="0"/>
              </a:spcBef>
              <a:spcAft>
                <a:spcPts val="0"/>
              </a:spcAft>
              <a:buClr>
                <a:schemeClr val="dk1"/>
              </a:buClr>
              <a:buSzPts val="900"/>
              <a:buChar char="●"/>
            </a:pPr>
            <a:r>
              <a:rPr lang="en" sz="900">
                <a:solidFill>
                  <a:schemeClr val="dk1"/>
                </a:solidFill>
              </a:rPr>
              <a:t>A terminal open in the repo folder </a:t>
            </a:r>
            <a:endParaRPr sz="900">
              <a:solidFill>
                <a:schemeClr val="dk1"/>
              </a:solidFill>
            </a:endParaRPr>
          </a:p>
          <a:p>
            <a:pPr indent="0" lvl="0" marL="0" rtl="0" algn="l">
              <a:lnSpc>
                <a:spcPct val="100000"/>
              </a:lnSpc>
              <a:spcBef>
                <a:spcPts val="800"/>
              </a:spcBef>
              <a:spcAft>
                <a:spcPts val="0"/>
              </a:spcAft>
              <a:buNone/>
            </a:pPr>
            <a:r>
              <a:rPr b="1" lang="en" sz="900">
                <a:solidFill>
                  <a:srgbClr val="ED7D31"/>
                </a:solidFill>
              </a:rPr>
              <a:t>The command</a:t>
            </a:r>
            <a:endParaRPr b="1" sz="900">
              <a:solidFill>
                <a:srgbClr val="ED7D31"/>
              </a:solidFill>
            </a:endParaRPr>
          </a:p>
          <a:p>
            <a:pPr indent="0" lvl="0" marL="0" rtl="0" algn="l">
              <a:lnSpc>
                <a:spcPct val="100000"/>
              </a:lnSpc>
              <a:spcBef>
                <a:spcPts val="400"/>
              </a:spcBef>
              <a:spcAft>
                <a:spcPts val="0"/>
              </a:spcAft>
              <a:buNone/>
            </a:pPr>
            <a:r>
              <a:rPr lang="en" sz="900">
                <a:solidFill>
                  <a:srgbClr val="188038"/>
                </a:solidFill>
                <a:latin typeface="Roboto Mono"/>
                <a:ea typeface="Roboto Mono"/>
                <a:cs typeface="Roboto Mono"/>
                <a:sym typeface="Roboto Mono"/>
              </a:rPr>
              <a:t>cd workshop</a:t>
            </a:r>
            <a:endParaRPr sz="900">
              <a:solidFill>
                <a:srgbClr val="188038"/>
              </a:solidFill>
              <a:latin typeface="Roboto Mono"/>
              <a:ea typeface="Roboto Mono"/>
              <a:cs typeface="Roboto Mono"/>
              <a:sym typeface="Roboto Mono"/>
            </a:endParaRPr>
          </a:p>
          <a:p>
            <a:pPr indent="0" lvl="0" marL="0" rtl="0" algn="l">
              <a:lnSpc>
                <a:spcPct val="100000"/>
              </a:lnSpc>
              <a:spcBef>
                <a:spcPts val="0"/>
              </a:spcBef>
              <a:spcAft>
                <a:spcPts val="0"/>
              </a:spcAft>
              <a:buNone/>
            </a:pPr>
            <a:r>
              <a:rPr lang="en" sz="900">
                <a:solidFill>
                  <a:srgbClr val="188038"/>
                </a:solidFill>
                <a:latin typeface="Roboto Mono"/>
                <a:ea typeface="Roboto Mono"/>
                <a:cs typeface="Roboto Mono"/>
                <a:sym typeface="Roboto Mono"/>
              </a:rPr>
              <a:t>python run_my_ablation.py</a:t>
            </a:r>
            <a:endParaRPr sz="900">
              <a:solidFill>
                <a:srgbClr val="188038"/>
              </a:solidFill>
              <a:latin typeface="Roboto Mono"/>
              <a:ea typeface="Roboto Mono"/>
              <a:cs typeface="Roboto Mono"/>
              <a:sym typeface="Roboto Mono"/>
            </a:endParaRPr>
          </a:p>
          <a:p>
            <a:pPr indent="0" lvl="0" marL="0" rtl="0" algn="l">
              <a:lnSpc>
                <a:spcPct val="115000"/>
              </a:lnSpc>
              <a:spcBef>
                <a:spcPts val="400"/>
              </a:spcBef>
              <a:spcAft>
                <a:spcPts val="0"/>
              </a:spcAft>
              <a:buNone/>
            </a:pPr>
            <a:r>
              <a:rPr b="1" lang="en" sz="900">
                <a:solidFill>
                  <a:schemeClr val="dk1"/>
                </a:solidFill>
                <a:highlight>
                  <a:srgbClr val="F9CB9C"/>
                </a:highlight>
              </a:rPr>
              <a:t>If you have a question, try framing it as multiple choice:</a:t>
            </a:r>
            <a:endParaRPr b="1" sz="900">
              <a:solidFill>
                <a:schemeClr val="dk1"/>
              </a:solidFill>
              <a:highlight>
                <a:srgbClr val="F9CB9C"/>
              </a:highlight>
            </a:endParaRPr>
          </a:p>
          <a:p>
            <a:pPr indent="0" lvl="0" marL="0" rtl="0" algn="l">
              <a:lnSpc>
                <a:spcPct val="115000"/>
              </a:lnSpc>
              <a:spcBef>
                <a:spcPts val="800"/>
              </a:spcBef>
              <a:spcAft>
                <a:spcPts val="0"/>
              </a:spcAft>
              <a:buNone/>
            </a:pPr>
            <a:r>
              <a:rPr lang="en" sz="900">
                <a:solidFill>
                  <a:schemeClr val="dk1"/>
                </a:solidFill>
                <a:highlight>
                  <a:srgbClr val="F9CB9C"/>
                </a:highlight>
              </a:rPr>
              <a:t>"Did my baseline fail because my assertion is too strict, because the agent genuinely missed it, or because my JSON has a typo?" tells Rob exactly where to look. </a:t>
            </a:r>
            <a:endParaRPr sz="900">
              <a:solidFill>
                <a:schemeClr val="dk1"/>
              </a:solidFill>
              <a:highlight>
                <a:srgbClr val="F9CB9C"/>
              </a:highlight>
            </a:endParaRPr>
          </a:p>
          <a:p>
            <a:pPr indent="0" lvl="0" marL="0" rtl="0" algn="l">
              <a:spcBef>
                <a:spcPts val="800"/>
              </a:spcBef>
              <a:spcAft>
                <a:spcPts val="0"/>
              </a:spcAft>
              <a:buNone/>
            </a:pPr>
            <a:r>
              <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2303C"/>
        </a:solidFill>
      </p:bgPr>
    </p:bg>
    <p:spTree>
      <p:nvGrpSpPr>
        <p:cNvPr id="428" name="Shape 428"/>
        <p:cNvGrpSpPr/>
        <p:nvPr/>
      </p:nvGrpSpPr>
      <p:grpSpPr>
        <a:xfrm>
          <a:off x="0" y="0"/>
          <a:ext cx="0" cy="0"/>
          <a:chOff x="0" y="0"/>
          <a:chExt cx="0" cy="0"/>
        </a:xfrm>
      </p:grpSpPr>
      <p:sp>
        <p:nvSpPr>
          <p:cNvPr id="429" name="Google Shape;429;p41"/>
          <p:cNvSpPr/>
          <p:nvPr/>
        </p:nvSpPr>
        <p:spPr>
          <a:xfrm>
            <a:off x="480060" y="192024"/>
            <a:ext cx="8181594"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663C"/>
              </a:buClr>
              <a:buSzPts val="800"/>
              <a:buFont typeface="Calibri"/>
              <a:buNone/>
            </a:pPr>
            <a:r>
              <a:rPr b="1" i="0" lang="en" sz="800" u="none" cap="none" strike="noStrike">
                <a:solidFill>
                  <a:srgbClr val="E8663C"/>
                </a:solidFill>
                <a:latin typeface="Calibri"/>
                <a:ea typeface="Calibri"/>
                <a:cs typeface="Calibri"/>
                <a:sym typeface="Calibri"/>
              </a:rPr>
              <a:t>WHAT WE MEASURED</a:t>
            </a:r>
            <a:endParaRPr b="0" i="0" sz="800" u="none" cap="none" strike="noStrike">
              <a:solidFill>
                <a:schemeClr val="dk1"/>
              </a:solidFill>
              <a:latin typeface="Calibri"/>
              <a:ea typeface="Calibri"/>
              <a:cs typeface="Calibri"/>
              <a:sym typeface="Calibri"/>
            </a:endParaRPr>
          </a:p>
        </p:txBody>
      </p:sp>
      <p:sp>
        <p:nvSpPr>
          <p:cNvPr id="430" name="Google Shape;430;p41"/>
          <p:cNvSpPr/>
          <p:nvPr/>
        </p:nvSpPr>
        <p:spPr>
          <a:xfrm>
            <a:off x="480060" y="342900"/>
            <a:ext cx="8181594" cy="6172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600"/>
              <a:buFont typeface="Cambria"/>
              <a:buNone/>
            </a:pPr>
            <a:r>
              <a:rPr b="1" i="0" lang="en" sz="2600" u="none" cap="none" strike="noStrike">
                <a:solidFill>
                  <a:srgbClr val="FFFFFF"/>
                </a:solidFill>
                <a:latin typeface="Cambria"/>
                <a:ea typeface="Cambria"/>
                <a:cs typeface="Cambria"/>
                <a:sym typeface="Cambria"/>
              </a:rPr>
              <a:t>56% to 84%, across every slice</a:t>
            </a:r>
            <a:endParaRPr b="0" i="0" sz="2600" u="none" cap="none" strike="noStrike">
              <a:solidFill>
                <a:schemeClr val="dk1"/>
              </a:solidFill>
              <a:latin typeface="Calibri"/>
              <a:ea typeface="Calibri"/>
              <a:cs typeface="Calibri"/>
              <a:sym typeface="Calibri"/>
            </a:endParaRPr>
          </a:p>
        </p:txBody>
      </p:sp>
      <p:sp>
        <p:nvSpPr>
          <p:cNvPr id="431" name="Google Shape;431;p41"/>
          <p:cNvSpPr/>
          <p:nvPr/>
        </p:nvSpPr>
        <p:spPr>
          <a:xfrm>
            <a:off x="480060" y="1200150"/>
            <a:ext cx="8181594" cy="411480"/>
          </a:xfrm>
          <a:prstGeom prst="roundRect">
            <a:avLst>
              <a:gd fmla="val 13333" name="adj"/>
            </a:avLst>
          </a:prstGeom>
          <a:solidFill>
            <a:srgbClr val="2E3E4C"/>
          </a:solidFill>
          <a:ln cap="flat" cmpd="sng" w="12700">
            <a:solidFill>
              <a:srgbClr val="2E3E4C"/>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32" name="Google Shape;432;p41"/>
          <p:cNvSpPr/>
          <p:nvPr/>
        </p:nvSpPr>
        <p:spPr>
          <a:xfrm>
            <a:off x="720090" y="1289304"/>
            <a:ext cx="3566160" cy="24003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BD5DD"/>
              </a:buClr>
              <a:buSzPts val="1100"/>
              <a:buFont typeface="Consolas"/>
              <a:buNone/>
            </a:pPr>
            <a:r>
              <a:rPr b="0" i="0" lang="en" sz="1100" u="none" cap="none" strike="noStrike">
                <a:solidFill>
                  <a:srgbClr val="CBD5DD"/>
                </a:solidFill>
                <a:latin typeface="Consolas"/>
                <a:ea typeface="Consolas"/>
                <a:cs typeface="Consolas"/>
                <a:sym typeface="Consolas"/>
              </a:rPr>
              <a:t>uncertainty-reporting</a:t>
            </a:r>
            <a:endParaRPr b="0" i="0" sz="1100" u="none" cap="none" strike="noStrike">
              <a:solidFill>
                <a:schemeClr val="dk1"/>
              </a:solidFill>
              <a:latin typeface="Calibri"/>
              <a:ea typeface="Calibri"/>
              <a:cs typeface="Calibri"/>
              <a:sym typeface="Calibri"/>
            </a:endParaRPr>
          </a:p>
        </p:txBody>
      </p:sp>
      <p:sp>
        <p:nvSpPr>
          <p:cNvPr id="433" name="Google Shape;433;p41"/>
          <p:cNvSpPr/>
          <p:nvPr/>
        </p:nvSpPr>
        <p:spPr>
          <a:xfrm>
            <a:off x="4594860" y="1289304"/>
            <a:ext cx="960120" cy="24003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9A8"/>
              </a:buClr>
              <a:buSzPts val="1100"/>
              <a:buFont typeface="Calibri"/>
              <a:buNone/>
            </a:pPr>
            <a:r>
              <a:rPr b="0" i="0" lang="en" sz="1100" u="none" cap="none" strike="noStrike">
                <a:solidFill>
                  <a:srgbClr val="8A99A8"/>
                </a:solidFill>
                <a:latin typeface="Calibri"/>
                <a:ea typeface="Calibri"/>
                <a:cs typeface="Calibri"/>
                <a:sym typeface="Calibri"/>
              </a:rPr>
              <a:t>43%</a:t>
            </a:r>
            <a:endParaRPr b="0" i="0" sz="1100" u="none" cap="none" strike="noStrike">
              <a:solidFill>
                <a:schemeClr val="dk1"/>
              </a:solidFill>
              <a:latin typeface="Calibri"/>
              <a:ea typeface="Calibri"/>
              <a:cs typeface="Calibri"/>
              <a:sym typeface="Calibri"/>
            </a:endParaRPr>
          </a:p>
        </p:txBody>
      </p:sp>
      <p:sp>
        <p:nvSpPr>
          <p:cNvPr id="434" name="Google Shape;434;p41"/>
          <p:cNvSpPr/>
          <p:nvPr/>
        </p:nvSpPr>
        <p:spPr>
          <a:xfrm>
            <a:off x="5760720" y="1289304"/>
            <a:ext cx="960120" cy="24003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FFFF"/>
              </a:buClr>
              <a:buSzPts val="1100"/>
              <a:buFont typeface="Calibri"/>
              <a:buNone/>
            </a:pPr>
            <a:r>
              <a:rPr b="0" i="0" lang="en" sz="1100" u="none" cap="none" strike="noStrike">
                <a:solidFill>
                  <a:srgbClr val="FFFFFF"/>
                </a:solidFill>
                <a:latin typeface="Calibri"/>
                <a:ea typeface="Calibri"/>
                <a:cs typeface="Calibri"/>
                <a:sym typeface="Calibri"/>
              </a:rPr>
              <a:t>93%</a:t>
            </a:r>
            <a:endParaRPr b="0" i="0" sz="1100" u="none" cap="none" strike="noStrike">
              <a:solidFill>
                <a:schemeClr val="dk1"/>
              </a:solidFill>
              <a:latin typeface="Calibri"/>
              <a:ea typeface="Calibri"/>
              <a:cs typeface="Calibri"/>
              <a:sym typeface="Calibri"/>
            </a:endParaRPr>
          </a:p>
        </p:txBody>
      </p:sp>
      <p:sp>
        <p:nvSpPr>
          <p:cNvPr id="435" name="Google Shape;435;p41"/>
          <p:cNvSpPr/>
          <p:nvPr/>
        </p:nvSpPr>
        <p:spPr>
          <a:xfrm>
            <a:off x="7063740" y="1282446"/>
            <a:ext cx="1508760" cy="260604"/>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2D8A72"/>
              </a:buClr>
              <a:buSzPts val="1200"/>
              <a:buFont typeface="Cambria"/>
              <a:buNone/>
            </a:pPr>
            <a:r>
              <a:rPr b="1" i="0" lang="en" sz="1200" u="none" cap="none" strike="noStrike">
                <a:solidFill>
                  <a:srgbClr val="2D8A72"/>
                </a:solidFill>
                <a:latin typeface="Cambria"/>
                <a:ea typeface="Cambria"/>
                <a:cs typeface="Cambria"/>
                <a:sym typeface="Cambria"/>
              </a:rPr>
              <a:t>+50</a:t>
            </a:r>
            <a:endParaRPr b="0" i="0" sz="1200" u="none" cap="none" strike="noStrike">
              <a:solidFill>
                <a:schemeClr val="dk1"/>
              </a:solidFill>
              <a:latin typeface="Calibri"/>
              <a:ea typeface="Calibri"/>
              <a:cs typeface="Calibri"/>
              <a:sym typeface="Calibri"/>
            </a:endParaRPr>
          </a:p>
        </p:txBody>
      </p:sp>
      <p:sp>
        <p:nvSpPr>
          <p:cNvPr id="436" name="Google Shape;436;p41"/>
          <p:cNvSpPr/>
          <p:nvPr/>
        </p:nvSpPr>
        <p:spPr>
          <a:xfrm>
            <a:off x="480060" y="1652778"/>
            <a:ext cx="8181594" cy="411480"/>
          </a:xfrm>
          <a:prstGeom prst="roundRect">
            <a:avLst>
              <a:gd fmla="val 13333" name="adj"/>
            </a:avLst>
          </a:prstGeom>
          <a:solidFill>
            <a:srgbClr val="22303C"/>
          </a:solidFill>
          <a:ln cap="flat" cmpd="sng" w="12700">
            <a:solidFill>
              <a:srgbClr val="22303C"/>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37" name="Google Shape;437;p41"/>
          <p:cNvSpPr/>
          <p:nvPr/>
        </p:nvSpPr>
        <p:spPr>
          <a:xfrm>
            <a:off x="720090" y="1741932"/>
            <a:ext cx="3566160" cy="24003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BD5DD"/>
              </a:buClr>
              <a:buSzPts val="1100"/>
              <a:buFont typeface="Consolas"/>
              <a:buNone/>
            </a:pPr>
            <a:r>
              <a:rPr b="0" i="0" lang="en" sz="1100" u="none" cap="none" strike="noStrike">
                <a:solidFill>
                  <a:srgbClr val="CBD5DD"/>
                </a:solidFill>
                <a:latin typeface="Consolas"/>
                <a:ea typeface="Consolas"/>
                <a:cs typeface="Consolas"/>
                <a:sym typeface="Consolas"/>
              </a:rPr>
              <a:t>provenance-footer</a:t>
            </a:r>
            <a:endParaRPr b="0" i="0" sz="1100" u="none" cap="none" strike="noStrike">
              <a:solidFill>
                <a:schemeClr val="dk1"/>
              </a:solidFill>
              <a:latin typeface="Calibri"/>
              <a:ea typeface="Calibri"/>
              <a:cs typeface="Calibri"/>
              <a:sym typeface="Calibri"/>
            </a:endParaRPr>
          </a:p>
        </p:txBody>
      </p:sp>
      <p:sp>
        <p:nvSpPr>
          <p:cNvPr id="438" name="Google Shape;438;p41"/>
          <p:cNvSpPr/>
          <p:nvPr/>
        </p:nvSpPr>
        <p:spPr>
          <a:xfrm>
            <a:off x="4594860" y="1741932"/>
            <a:ext cx="960120" cy="24003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9A8"/>
              </a:buClr>
              <a:buSzPts val="1100"/>
              <a:buFont typeface="Calibri"/>
              <a:buNone/>
            </a:pPr>
            <a:r>
              <a:rPr b="0" i="0" lang="en" sz="1100" u="none" cap="none" strike="noStrike">
                <a:solidFill>
                  <a:srgbClr val="8A99A8"/>
                </a:solidFill>
                <a:latin typeface="Calibri"/>
                <a:ea typeface="Calibri"/>
                <a:cs typeface="Calibri"/>
                <a:sym typeface="Calibri"/>
              </a:rPr>
              <a:t>39%</a:t>
            </a:r>
            <a:endParaRPr b="0" i="0" sz="1100" u="none" cap="none" strike="noStrike">
              <a:solidFill>
                <a:schemeClr val="dk1"/>
              </a:solidFill>
              <a:latin typeface="Calibri"/>
              <a:ea typeface="Calibri"/>
              <a:cs typeface="Calibri"/>
              <a:sym typeface="Calibri"/>
            </a:endParaRPr>
          </a:p>
        </p:txBody>
      </p:sp>
      <p:sp>
        <p:nvSpPr>
          <p:cNvPr id="439" name="Google Shape;439;p41"/>
          <p:cNvSpPr/>
          <p:nvPr/>
        </p:nvSpPr>
        <p:spPr>
          <a:xfrm>
            <a:off x="5760720" y="1741932"/>
            <a:ext cx="960120" cy="24003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FFFF"/>
              </a:buClr>
              <a:buSzPts val="1100"/>
              <a:buFont typeface="Calibri"/>
              <a:buNone/>
            </a:pPr>
            <a:r>
              <a:rPr b="0" i="0" lang="en" sz="1100" u="none" cap="none" strike="noStrike">
                <a:solidFill>
                  <a:srgbClr val="FFFFFF"/>
                </a:solidFill>
                <a:latin typeface="Calibri"/>
                <a:ea typeface="Calibri"/>
                <a:cs typeface="Calibri"/>
                <a:sym typeface="Calibri"/>
              </a:rPr>
              <a:t>82%</a:t>
            </a:r>
            <a:endParaRPr b="0" i="0" sz="1100" u="none" cap="none" strike="noStrike">
              <a:solidFill>
                <a:schemeClr val="dk1"/>
              </a:solidFill>
              <a:latin typeface="Calibri"/>
              <a:ea typeface="Calibri"/>
              <a:cs typeface="Calibri"/>
              <a:sym typeface="Calibri"/>
            </a:endParaRPr>
          </a:p>
        </p:txBody>
      </p:sp>
      <p:sp>
        <p:nvSpPr>
          <p:cNvPr id="440" name="Google Shape;440;p41"/>
          <p:cNvSpPr/>
          <p:nvPr/>
        </p:nvSpPr>
        <p:spPr>
          <a:xfrm>
            <a:off x="7063740" y="1735074"/>
            <a:ext cx="1508760" cy="260604"/>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2D8A72"/>
              </a:buClr>
              <a:buSzPts val="1200"/>
              <a:buFont typeface="Cambria"/>
              <a:buNone/>
            </a:pPr>
            <a:r>
              <a:rPr b="1" i="0" lang="en" sz="1200" u="none" cap="none" strike="noStrike">
                <a:solidFill>
                  <a:srgbClr val="2D8A72"/>
                </a:solidFill>
                <a:latin typeface="Cambria"/>
                <a:ea typeface="Cambria"/>
                <a:cs typeface="Cambria"/>
                <a:sym typeface="Cambria"/>
              </a:rPr>
              <a:t>+42</a:t>
            </a:r>
            <a:endParaRPr b="0" i="0" sz="1200" u="none" cap="none" strike="noStrike">
              <a:solidFill>
                <a:schemeClr val="dk1"/>
              </a:solidFill>
              <a:latin typeface="Calibri"/>
              <a:ea typeface="Calibri"/>
              <a:cs typeface="Calibri"/>
              <a:sym typeface="Calibri"/>
            </a:endParaRPr>
          </a:p>
        </p:txBody>
      </p:sp>
      <p:sp>
        <p:nvSpPr>
          <p:cNvPr id="441" name="Google Shape;441;p41"/>
          <p:cNvSpPr/>
          <p:nvPr/>
        </p:nvSpPr>
        <p:spPr>
          <a:xfrm>
            <a:off x="480060" y="2105406"/>
            <a:ext cx="8181594" cy="411480"/>
          </a:xfrm>
          <a:prstGeom prst="roundRect">
            <a:avLst>
              <a:gd fmla="val 13333" name="adj"/>
            </a:avLst>
          </a:prstGeom>
          <a:solidFill>
            <a:srgbClr val="2E3E4C"/>
          </a:solidFill>
          <a:ln cap="flat" cmpd="sng" w="12700">
            <a:solidFill>
              <a:srgbClr val="2E3E4C"/>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42" name="Google Shape;442;p41"/>
          <p:cNvSpPr/>
          <p:nvPr/>
        </p:nvSpPr>
        <p:spPr>
          <a:xfrm>
            <a:off x="720090" y="2194560"/>
            <a:ext cx="3566160" cy="24003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BD5DD"/>
              </a:buClr>
              <a:buSzPts val="1100"/>
              <a:buFont typeface="Consolas"/>
              <a:buNone/>
            </a:pPr>
            <a:r>
              <a:rPr b="0" i="0" lang="en" sz="1100" u="none" cap="none" strike="noStrike">
                <a:solidFill>
                  <a:srgbClr val="CBD5DD"/>
                </a:solidFill>
                <a:latin typeface="Consolas"/>
                <a:ea typeface="Consolas"/>
                <a:cs typeface="Consolas"/>
                <a:sym typeface="Consolas"/>
              </a:rPr>
              <a:t>warehouse-navigation</a:t>
            </a:r>
            <a:endParaRPr b="0" i="0" sz="1100" u="none" cap="none" strike="noStrike">
              <a:solidFill>
                <a:schemeClr val="dk1"/>
              </a:solidFill>
              <a:latin typeface="Calibri"/>
              <a:ea typeface="Calibri"/>
              <a:cs typeface="Calibri"/>
              <a:sym typeface="Calibri"/>
            </a:endParaRPr>
          </a:p>
        </p:txBody>
      </p:sp>
      <p:sp>
        <p:nvSpPr>
          <p:cNvPr id="443" name="Google Shape;443;p41"/>
          <p:cNvSpPr/>
          <p:nvPr/>
        </p:nvSpPr>
        <p:spPr>
          <a:xfrm>
            <a:off x="4594860" y="2194560"/>
            <a:ext cx="960120" cy="24003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9A8"/>
              </a:buClr>
              <a:buSzPts val="1100"/>
              <a:buFont typeface="Calibri"/>
              <a:buNone/>
            </a:pPr>
            <a:r>
              <a:rPr b="0" i="0" lang="en" sz="1100" u="none" cap="none" strike="noStrike">
                <a:solidFill>
                  <a:srgbClr val="8A99A8"/>
                </a:solidFill>
                <a:latin typeface="Calibri"/>
                <a:ea typeface="Calibri"/>
                <a:cs typeface="Calibri"/>
                <a:sym typeface="Calibri"/>
              </a:rPr>
              <a:t>61%</a:t>
            </a:r>
            <a:endParaRPr b="0" i="0" sz="1100" u="none" cap="none" strike="noStrike">
              <a:solidFill>
                <a:schemeClr val="dk1"/>
              </a:solidFill>
              <a:latin typeface="Calibri"/>
              <a:ea typeface="Calibri"/>
              <a:cs typeface="Calibri"/>
              <a:sym typeface="Calibri"/>
            </a:endParaRPr>
          </a:p>
        </p:txBody>
      </p:sp>
      <p:sp>
        <p:nvSpPr>
          <p:cNvPr id="444" name="Google Shape;444;p41"/>
          <p:cNvSpPr/>
          <p:nvPr/>
        </p:nvSpPr>
        <p:spPr>
          <a:xfrm>
            <a:off x="5760720" y="2194560"/>
            <a:ext cx="960120" cy="24003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FFFF"/>
              </a:buClr>
              <a:buSzPts val="1100"/>
              <a:buFont typeface="Calibri"/>
              <a:buNone/>
            </a:pPr>
            <a:r>
              <a:rPr b="0" i="0" lang="en" sz="1100" u="none" cap="none" strike="noStrike">
                <a:solidFill>
                  <a:srgbClr val="FFFFFF"/>
                </a:solidFill>
                <a:latin typeface="Calibri"/>
                <a:ea typeface="Calibri"/>
                <a:cs typeface="Calibri"/>
                <a:sym typeface="Calibri"/>
              </a:rPr>
              <a:t>83%</a:t>
            </a:r>
            <a:endParaRPr b="0" i="0" sz="1100" u="none" cap="none" strike="noStrike">
              <a:solidFill>
                <a:schemeClr val="dk1"/>
              </a:solidFill>
              <a:latin typeface="Calibri"/>
              <a:ea typeface="Calibri"/>
              <a:cs typeface="Calibri"/>
              <a:sym typeface="Calibri"/>
            </a:endParaRPr>
          </a:p>
        </p:txBody>
      </p:sp>
      <p:sp>
        <p:nvSpPr>
          <p:cNvPr id="445" name="Google Shape;445;p41"/>
          <p:cNvSpPr/>
          <p:nvPr/>
        </p:nvSpPr>
        <p:spPr>
          <a:xfrm>
            <a:off x="7063740" y="2187702"/>
            <a:ext cx="1508760" cy="260604"/>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2D8A72"/>
              </a:buClr>
              <a:buSzPts val="1200"/>
              <a:buFont typeface="Cambria"/>
              <a:buNone/>
            </a:pPr>
            <a:r>
              <a:rPr b="1" i="0" lang="en" sz="1200" u="none" cap="none" strike="noStrike">
                <a:solidFill>
                  <a:srgbClr val="2D8A72"/>
                </a:solidFill>
                <a:latin typeface="Cambria"/>
                <a:ea typeface="Cambria"/>
                <a:cs typeface="Cambria"/>
                <a:sym typeface="Cambria"/>
              </a:rPr>
              <a:t>+23</a:t>
            </a:r>
            <a:endParaRPr b="0" i="0" sz="1200" u="none" cap="none" strike="noStrike">
              <a:solidFill>
                <a:schemeClr val="dk1"/>
              </a:solidFill>
              <a:latin typeface="Calibri"/>
              <a:ea typeface="Calibri"/>
              <a:cs typeface="Calibri"/>
              <a:sym typeface="Calibri"/>
            </a:endParaRPr>
          </a:p>
        </p:txBody>
      </p:sp>
      <p:sp>
        <p:nvSpPr>
          <p:cNvPr id="446" name="Google Shape;446;p41"/>
          <p:cNvSpPr/>
          <p:nvPr/>
        </p:nvSpPr>
        <p:spPr>
          <a:xfrm>
            <a:off x="480060" y="2558034"/>
            <a:ext cx="8181594" cy="411480"/>
          </a:xfrm>
          <a:prstGeom prst="roundRect">
            <a:avLst>
              <a:gd fmla="val 13333" name="adj"/>
            </a:avLst>
          </a:prstGeom>
          <a:solidFill>
            <a:srgbClr val="22303C"/>
          </a:solidFill>
          <a:ln cap="flat" cmpd="sng" w="12700">
            <a:solidFill>
              <a:srgbClr val="22303C"/>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47" name="Google Shape;447;p41"/>
          <p:cNvSpPr/>
          <p:nvPr/>
        </p:nvSpPr>
        <p:spPr>
          <a:xfrm>
            <a:off x="720090" y="2647188"/>
            <a:ext cx="3566160" cy="24003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BD5DD"/>
              </a:buClr>
              <a:buSzPts val="1100"/>
              <a:buFont typeface="Consolas"/>
              <a:buNone/>
            </a:pPr>
            <a:r>
              <a:rPr b="0" i="0" lang="en" sz="1100" u="none" cap="none" strike="noStrike">
                <a:solidFill>
                  <a:srgbClr val="CBD5DD"/>
                </a:solidFill>
                <a:latin typeface="Consolas"/>
                <a:ea typeface="Consolas"/>
                <a:cs typeface="Consolas"/>
                <a:sym typeface="Consolas"/>
              </a:rPr>
              <a:t>question-intake</a:t>
            </a:r>
            <a:endParaRPr b="0" i="0" sz="1100" u="none" cap="none" strike="noStrike">
              <a:solidFill>
                <a:schemeClr val="dk1"/>
              </a:solidFill>
              <a:latin typeface="Calibri"/>
              <a:ea typeface="Calibri"/>
              <a:cs typeface="Calibri"/>
              <a:sym typeface="Calibri"/>
            </a:endParaRPr>
          </a:p>
        </p:txBody>
      </p:sp>
      <p:sp>
        <p:nvSpPr>
          <p:cNvPr id="448" name="Google Shape;448;p41"/>
          <p:cNvSpPr/>
          <p:nvPr/>
        </p:nvSpPr>
        <p:spPr>
          <a:xfrm>
            <a:off x="4594860" y="2647188"/>
            <a:ext cx="960120" cy="24003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9A8"/>
              </a:buClr>
              <a:buSzPts val="1100"/>
              <a:buFont typeface="Calibri"/>
              <a:buNone/>
            </a:pPr>
            <a:r>
              <a:rPr b="0" i="0" lang="en" sz="1100" u="none" cap="none" strike="noStrike">
                <a:solidFill>
                  <a:srgbClr val="8A99A8"/>
                </a:solidFill>
                <a:latin typeface="Calibri"/>
                <a:ea typeface="Calibri"/>
                <a:cs typeface="Calibri"/>
                <a:sym typeface="Calibri"/>
              </a:rPr>
              <a:t>61%</a:t>
            </a:r>
            <a:endParaRPr b="0" i="0" sz="1100" u="none" cap="none" strike="noStrike">
              <a:solidFill>
                <a:schemeClr val="dk1"/>
              </a:solidFill>
              <a:latin typeface="Calibri"/>
              <a:ea typeface="Calibri"/>
              <a:cs typeface="Calibri"/>
              <a:sym typeface="Calibri"/>
            </a:endParaRPr>
          </a:p>
        </p:txBody>
      </p:sp>
      <p:sp>
        <p:nvSpPr>
          <p:cNvPr id="449" name="Google Shape;449;p41"/>
          <p:cNvSpPr/>
          <p:nvPr/>
        </p:nvSpPr>
        <p:spPr>
          <a:xfrm>
            <a:off x="5760720" y="2647188"/>
            <a:ext cx="960120" cy="24003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FFFF"/>
              </a:buClr>
              <a:buSzPts val="1100"/>
              <a:buFont typeface="Calibri"/>
              <a:buNone/>
            </a:pPr>
            <a:r>
              <a:rPr b="0" i="0" lang="en" sz="1100" u="none" cap="none" strike="noStrike">
                <a:solidFill>
                  <a:srgbClr val="FFFFFF"/>
                </a:solidFill>
                <a:latin typeface="Calibri"/>
                <a:ea typeface="Calibri"/>
                <a:cs typeface="Calibri"/>
                <a:sym typeface="Calibri"/>
              </a:rPr>
              <a:t>82%</a:t>
            </a:r>
            <a:endParaRPr b="0" i="0" sz="1100" u="none" cap="none" strike="noStrike">
              <a:solidFill>
                <a:schemeClr val="dk1"/>
              </a:solidFill>
              <a:latin typeface="Calibri"/>
              <a:ea typeface="Calibri"/>
              <a:cs typeface="Calibri"/>
              <a:sym typeface="Calibri"/>
            </a:endParaRPr>
          </a:p>
        </p:txBody>
      </p:sp>
      <p:sp>
        <p:nvSpPr>
          <p:cNvPr id="450" name="Google Shape;450;p41"/>
          <p:cNvSpPr/>
          <p:nvPr/>
        </p:nvSpPr>
        <p:spPr>
          <a:xfrm>
            <a:off x="7063740" y="2640330"/>
            <a:ext cx="1508760" cy="260604"/>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2D8A72"/>
              </a:buClr>
              <a:buSzPts val="1200"/>
              <a:buFont typeface="Cambria"/>
              <a:buNone/>
            </a:pPr>
            <a:r>
              <a:rPr b="1" i="0" lang="en" sz="1200" u="none" cap="none" strike="noStrike">
                <a:solidFill>
                  <a:srgbClr val="2D8A72"/>
                </a:solidFill>
                <a:latin typeface="Cambria"/>
                <a:ea typeface="Cambria"/>
                <a:cs typeface="Cambria"/>
                <a:sym typeface="Cambria"/>
              </a:rPr>
              <a:t>+21</a:t>
            </a:r>
            <a:endParaRPr b="0" i="0" sz="1200" u="none" cap="none" strike="noStrike">
              <a:solidFill>
                <a:schemeClr val="dk1"/>
              </a:solidFill>
              <a:latin typeface="Calibri"/>
              <a:ea typeface="Calibri"/>
              <a:cs typeface="Calibri"/>
              <a:sym typeface="Calibri"/>
            </a:endParaRPr>
          </a:p>
        </p:txBody>
      </p:sp>
      <p:sp>
        <p:nvSpPr>
          <p:cNvPr id="451" name="Google Shape;451;p41"/>
          <p:cNvSpPr/>
          <p:nvPr/>
        </p:nvSpPr>
        <p:spPr>
          <a:xfrm>
            <a:off x="480060" y="3010662"/>
            <a:ext cx="8181594" cy="411480"/>
          </a:xfrm>
          <a:prstGeom prst="roundRect">
            <a:avLst>
              <a:gd fmla="val 13333" name="adj"/>
            </a:avLst>
          </a:prstGeom>
          <a:solidFill>
            <a:srgbClr val="2E3E4C"/>
          </a:solidFill>
          <a:ln cap="flat" cmpd="sng" w="12700">
            <a:solidFill>
              <a:srgbClr val="2E3E4C"/>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52" name="Google Shape;452;p41"/>
          <p:cNvSpPr/>
          <p:nvPr/>
        </p:nvSpPr>
        <p:spPr>
          <a:xfrm>
            <a:off x="720090" y="3099816"/>
            <a:ext cx="3566160" cy="24003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BD5DD"/>
              </a:buClr>
              <a:buSzPts val="1100"/>
              <a:buFont typeface="Consolas"/>
              <a:buNone/>
            </a:pPr>
            <a:r>
              <a:rPr b="0" i="0" lang="en" sz="1100" u="none" cap="none" strike="noStrike">
                <a:solidFill>
                  <a:srgbClr val="CBD5DD"/>
                </a:solidFill>
                <a:latin typeface="Consolas"/>
                <a:ea typeface="Consolas"/>
                <a:cs typeface="Consolas"/>
                <a:sym typeface="Consolas"/>
              </a:rPr>
              <a:t>adversarial-sql-review</a:t>
            </a:r>
            <a:endParaRPr b="0" i="0" sz="1100" u="none" cap="none" strike="noStrike">
              <a:solidFill>
                <a:schemeClr val="dk1"/>
              </a:solidFill>
              <a:latin typeface="Calibri"/>
              <a:ea typeface="Calibri"/>
              <a:cs typeface="Calibri"/>
              <a:sym typeface="Calibri"/>
            </a:endParaRPr>
          </a:p>
        </p:txBody>
      </p:sp>
      <p:sp>
        <p:nvSpPr>
          <p:cNvPr id="453" name="Google Shape;453;p41"/>
          <p:cNvSpPr/>
          <p:nvPr/>
        </p:nvSpPr>
        <p:spPr>
          <a:xfrm>
            <a:off x="4594860" y="3099816"/>
            <a:ext cx="960120" cy="24003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9A8"/>
              </a:buClr>
              <a:buSzPts val="1100"/>
              <a:buFont typeface="Calibri"/>
              <a:buNone/>
            </a:pPr>
            <a:r>
              <a:rPr b="0" i="0" lang="en" sz="1100" u="none" cap="none" strike="noStrike">
                <a:solidFill>
                  <a:srgbClr val="8A99A8"/>
                </a:solidFill>
                <a:latin typeface="Calibri"/>
                <a:ea typeface="Calibri"/>
                <a:cs typeface="Calibri"/>
                <a:sym typeface="Calibri"/>
              </a:rPr>
              <a:t>54%</a:t>
            </a:r>
            <a:endParaRPr b="0" i="0" sz="1100" u="none" cap="none" strike="noStrike">
              <a:solidFill>
                <a:schemeClr val="dk1"/>
              </a:solidFill>
              <a:latin typeface="Calibri"/>
              <a:ea typeface="Calibri"/>
              <a:cs typeface="Calibri"/>
              <a:sym typeface="Calibri"/>
            </a:endParaRPr>
          </a:p>
        </p:txBody>
      </p:sp>
      <p:sp>
        <p:nvSpPr>
          <p:cNvPr id="454" name="Google Shape;454;p41"/>
          <p:cNvSpPr/>
          <p:nvPr/>
        </p:nvSpPr>
        <p:spPr>
          <a:xfrm>
            <a:off x="5760720" y="3099816"/>
            <a:ext cx="960120" cy="24003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FFFF"/>
              </a:buClr>
              <a:buSzPts val="1100"/>
              <a:buFont typeface="Calibri"/>
              <a:buNone/>
            </a:pPr>
            <a:r>
              <a:rPr b="0" i="0" lang="en" sz="1100" u="none" cap="none" strike="noStrike">
                <a:solidFill>
                  <a:srgbClr val="FFFFFF"/>
                </a:solidFill>
                <a:latin typeface="Calibri"/>
                <a:ea typeface="Calibri"/>
                <a:cs typeface="Calibri"/>
                <a:sym typeface="Calibri"/>
              </a:rPr>
              <a:t>72%</a:t>
            </a:r>
            <a:endParaRPr b="0" i="0" sz="1100" u="none" cap="none" strike="noStrike">
              <a:solidFill>
                <a:schemeClr val="dk1"/>
              </a:solidFill>
              <a:latin typeface="Calibri"/>
              <a:ea typeface="Calibri"/>
              <a:cs typeface="Calibri"/>
              <a:sym typeface="Calibri"/>
            </a:endParaRPr>
          </a:p>
        </p:txBody>
      </p:sp>
      <p:sp>
        <p:nvSpPr>
          <p:cNvPr id="455" name="Google Shape;455;p41"/>
          <p:cNvSpPr/>
          <p:nvPr/>
        </p:nvSpPr>
        <p:spPr>
          <a:xfrm>
            <a:off x="7063740" y="3092958"/>
            <a:ext cx="1508760" cy="260604"/>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2D8A72"/>
              </a:buClr>
              <a:buSzPts val="1200"/>
              <a:buFont typeface="Cambria"/>
              <a:buNone/>
            </a:pPr>
            <a:r>
              <a:rPr b="1" i="0" lang="en" sz="1200" u="none" cap="none" strike="noStrike">
                <a:solidFill>
                  <a:srgbClr val="2D8A72"/>
                </a:solidFill>
                <a:latin typeface="Cambria"/>
                <a:ea typeface="Cambria"/>
                <a:cs typeface="Cambria"/>
                <a:sym typeface="Cambria"/>
              </a:rPr>
              <a:t>+18</a:t>
            </a:r>
            <a:endParaRPr b="0" i="0" sz="1200" u="none" cap="none" strike="noStrike">
              <a:solidFill>
                <a:schemeClr val="dk1"/>
              </a:solidFill>
              <a:latin typeface="Calibri"/>
              <a:ea typeface="Calibri"/>
              <a:cs typeface="Calibri"/>
              <a:sym typeface="Calibri"/>
            </a:endParaRPr>
          </a:p>
        </p:txBody>
      </p:sp>
      <p:sp>
        <p:nvSpPr>
          <p:cNvPr id="456" name="Google Shape;456;p41"/>
          <p:cNvSpPr/>
          <p:nvPr/>
        </p:nvSpPr>
        <p:spPr>
          <a:xfrm>
            <a:off x="480060" y="3463290"/>
            <a:ext cx="8181594" cy="411480"/>
          </a:xfrm>
          <a:prstGeom prst="roundRect">
            <a:avLst>
              <a:gd fmla="val 13333" name="adj"/>
            </a:avLst>
          </a:prstGeom>
          <a:solidFill>
            <a:srgbClr val="22303C"/>
          </a:solidFill>
          <a:ln cap="flat" cmpd="sng" w="12700">
            <a:solidFill>
              <a:srgbClr val="22303C"/>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57" name="Google Shape;457;p41"/>
          <p:cNvSpPr/>
          <p:nvPr/>
        </p:nvSpPr>
        <p:spPr>
          <a:xfrm>
            <a:off x="720090" y="3552444"/>
            <a:ext cx="3566160" cy="24003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BD5DD"/>
              </a:buClr>
              <a:buSzPts val="1100"/>
              <a:buFont typeface="Consolas"/>
              <a:buNone/>
            </a:pPr>
            <a:r>
              <a:rPr b="0" i="0" lang="en" sz="1100" u="none" cap="none" strike="noStrike">
                <a:solidFill>
                  <a:srgbClr val="CBD5DD"/>
                </a:solidFill>
                <a:latin typeface="Consolas"/>
                <a:ea typeface="Consolas"/>
                <a:cs typeface="Consolas"/>
                <a:sym typeface="Consolas"/>
              </a:rPr>
              <a:t>causal-claim-guardrail</a:t>
            </a:r>
            <a:endParaRPr b="0" i="0" sz="1100" u="none" cap="none" strike="noStrike">
              <a:solidFill>
                <a:schemeClr val="dk1"/>
              </a:solidFill>
              <a:latin typeface="Calibri"/>
              <a:ea typeface="Calibri"/>
              <a:cs typeface="Calibri"/>
              <a:sym typeface="Calibri"/>
            </a:endParaRPr>
          </a:p>
        </p:txBody>
      </p:sp>
      <p:sp>
        <p:nvSpPr>
          <p:cNvPr id="458" name="Google Shape;458;p41"/>
          <p:cNvSpPr/>
          <p:nvPr/>
        </p:nvSpPr>
        <p:spPr>
          <a:xfrm>
            <a:off x="4594860" y="3552444"/>
            <a:ext cx="960120" cy="24003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9A8"/>
              </a:buClr>
              <a:buSzPts val="1100"/>
              <a:buFont typeface="Calibri"/>
              <a:buNone/>
            </a:pPr>
            <a:r>
              <a:rPr b="0" i="0" lang="en" sz="1100" u="none" cap="none" strike="noStrike">
                <a:solidFill>
                  <a:srgbClr val="8A99A8"/>
                </a:solidFill>
                <a:latin typeface="Calibri"/>
                <a:ea typeface="Calibri"/>
                <a:cs typeface="Calibri"/>
                <a:sym typeface="Calibri"/>
              </a:rPr>
              <a:t>74%</a:t>
            </a:r>
            <a:endParaRPr b="0" i="0" sz="1100" u="none" cap="none" strike="noStrike">
              <a:solidFill>
                <a:schemeClr val="dk1"/>
              </a:solidFill>
              <a:latin typeface="Calibri"/>
              <a:ea typeface="Calibri"/>
              <a:cs typeface="Calibri"/>
              <a:sym typeface="Calibri"/>
            </a:endParaRPr>
          </a:p>
        </p:txBody>
      </p:sp>
      <p:sp>
        <p:nvSpPr>
          <p:cNvPr id="459" name="Google Shape;459;p41"/>
          <p:cNvSpPr/>
          <p:nvPr/>
        </p:nvSpPr>
        <p:spPr>
          <a:xfrm>
            <a:off x="5760720" y="3552444"/>
            <a:ext cx="960120" cy="24003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FFFF"/>
              </a:buClr>
              <a:buSzPts val="1100"/>
              <a:buFont typeface="Calibri"/>
              <a:buNone/>
            </a:pPr>
            <a:r>
              <a:rPr b="0" i="0" lang="en" sz="1100" u="none" cap="none" strike="noStrike">
                <a:solidFill>
                  <a:srgbClr val="FFFFFF"/>
                </a:solidFill>
                <a:latin typeface="Calibri"/>
                <a:ea typeface="Calibri"/>
                <a:cs typeface="Calibri"/>
                <a:sym typeface="Calibri"/>
              </a:rPr>
              <a:t>87%</a:t>
            </a:r>
            <a:endParaRPr b="0" i="0" sz="1100" u="none" cap="none" strike="noStrike">
              <a:solidFill>
                <a:schemeClr val="dk1"/>
              </a:solidFill>
              <a:latin typeface="Calibri"/>
              <a:ea typeface="Calibri"/>
              <a:cs typeface="Calibri"/>
              <a:sym typeface="Calibri"/>
            </a:endParaRPr>
          </a:p>
        </p:txBody>
      </p:sp>
      <p:sp>
        <p:nvSpPr>
          <p:cNvPr id="460" name="Google Shape;460;p41"/>
          <p:cNvSpPr/>
          <p:nvPr/>
        </p:nvSpPr>
        <p:spPr>
          <a:xfrm>
            <a:off x="7063740" y="3545586"/>
            <a:ext cx="1508760" cy="260604"/>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2D8A72"/>
              </a:buClr>
              <a:buSzPts val="1200"/>
              <a:buFont typeface="Cambria"/>
              <a:buNone/>
            </a:pPr>
            <a:r>
              <a:rPr b="1" i="0" lang="en" sz="1200" u="none" cap="none" strike="noStrike">
                <a:solidFill>
                  <a:srgbClr val="2D8A72"/>
                </a:solidFill>
                <a:latin typeface="Cambria"/>
                <a:ea typeface="Cambria"/>
                <a:cs typeface="Cambria"/>
                <a:sym typeface="Cambria"/>
              </a:rPr>
              <a:t>+13</a:t>
            </a:r>
            <a:endParaRPr b="0" i="0" sz="1200" u="none" cap="none" strike="noStrike">
              <a:solidFill>
                <a:schemeClr val="dk1"/>
              </a:solidFill>
              <a:latin typeface="Calibri"/>
              <a:ea typeface="Calibri"/>
              <a:cs typeface="Calibri"/>
              <a:sym typeface="Calibri"/>
            </a:endParaRPr>
          </a:p>
        </p:txBody>
      </p:sp>
      <p:sp>
        <p:nvSpPr>
          <p:cNvPr id="461" name="Google Shape;461;p41"/>
          <p:cNvSpPr/>
          <p:nvPr/>
        </p:nvSpPr>
        <p:spPr>
          <a:xfrm>
            <a:off x="480060" y="4011930"/>
            <a:ext cx="818159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BD5DD"/>
              </a:buClr>
              <a:buSzPts val="1100"/>
              <a:buFont typeface="Calibri"/>
              <a:buNone/>
            </a:pPr>
            <a:r>
              <a:rPr b="0" i="0" lang="en" sz="1100" u="none" cap="none" strike="noStrike">
                <a:solidFill>
                  <a:srgbClr val="CBD5DD"/>
                </a:solidFill>
                <a:latin typeface="Calibri"/>
                <a:ea typeface="Calibri"/>
                <a:cs typeface="Calibri"/>
                <a:sym typeface="Calibri"/>
              </a:rPr>
              <a:t>29 paired observations · mean +28 pts · 95% CI +12 to +44 · p = 0.009</a:t>
            </a:r>
            <a:endParaRPr b="0" i="0" sz="1100" u="none" cap="none" strike="noStrike">
              <a:solidFill>
                <a:schemeClr val="dk1"/>
              </a:solidFill>
              <a:latin typeface="Calibri"/>
              <a:ea typeface="Calibri"/>
              <a:cs typeface="Calibri"/>
              <a:sym typeface="Calibri"/>
            </a:endParaRPr>
          </a:p>
        </p:txBody>
      </p:sp>
      <p:sp>
        <p:nvSpPr>
          <p:cNvPr id="462" name="Google Shape;462;p41"/>
          <p:cNvSpPr/>
          <p:nvPr/>
        </p:nvSpPr>
        <p:spPr>
          <a:xfrm>
            <a:off x="480060" y="4286250"/>
            <a:ext cx="818159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9A8"/>
              </a:buClr>
              <a:buSzPts val="1000"/>
              <a:buFont typeface="Calibri"/>
              <a:buNone/>
            </a:pPr>
            <a:r>
              <a:rPr b="0" i="1" lang="en" sz="1000" u="none" cap="none" strike="noStrike">
                <a:solidFill>
                  <a:srgbClr val="8A99A8"/>
                </a:solidFill>
                <a:latin typeface="Calibri"/>
                <a:ea typeface="Calibri"/>
                <a:cs typeface="Calibri"/>
                <a:sym typeface="Calibri"/>
              </a:rPr>
              <a:t>Single model, single session, synthetic warehouse, authors' own evals.</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67" name="Shape 467"/>
        <p:cNvGrpSpPr/>
        <p:nvPr/>
      </p:nvGrpSpPr>
      <p:grpSpPr>
        <a:xfrm>
          <a:off x="0" y="0"/>
          <a:ext cx="0" cy="0"/>
          <a:chOff x="0" y="0"/>
          <a:chExt cx="0" cy="0"/>
        </a:xfrm>
      </p:grpSpPr>
      <p:sp>
        <p:nvSpPr>
          <p:cNvPr id="468" name="Google Shape;468;p42"/>
          <p:cNvSpPr/>
          <p:nvPr/>
        </p:nvSpPr>
        <p:spPr>
          <a:xfrm>
            <a:off x="480060" y="192024"/>
            <a:ext cx="8181594"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663C"/>
              </a:buClr>
              <a:buSzPts val="800"/>
              <a:buFont typeface="Calibri"/>
              <a:buNone/>
            </a:pPr>
            <a:r>
              <a:rPr b="1" i="0" lang="en" sz="800" u="none" cap="none" strike="noStrike">
                <a:solidFill>
                  <a:srgbClr val="E8663C"/>
                </a:solidFill>
                <a:latin typeface="Calibri"/>
                <a:ea typeface="Calibri"/>
                <a:cs typeface="Calibri"/>
                <a:sym typeface="Calibri"/>
              </a:rPr>
              <a:t>WHAT THE HEADLINE HIDES</a:t>
            </a:r>
            <a:endParaRPr b="0" i="0" sz="800" u="none" cap="none" strike="noStrike">
              <a:solidFill>
                <a:schemeClr val="dk1"/>
              </a:solidFill>
              <a:latin typeface="Calibri"/>
              <a:ea typeface="Calibri"/>
              <a:cs typeface="Calibri"/>
              <a:sym typeface="Calibri"/>
            </a:endParaRPr>
          </a:p>
        </p:txBody>
      </p:sp>
      <p:sp>
        <p:nvSpPr>
          <p:cNvPr id="469" name="Google Shape;469;p42"/>
          <p:cNvSpPr/>
          <p:nvPr/>
        </p:nvSpPr>
        <p:spPr>
          <a:xfrm>
            <a:off x="480060" y="342900"/>
            <a:ext cx="8181594" cy="6172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303C"/>
              </a:buClr>
              <a:buSzPts val="2600"/>
              <a:buFont typeface="Cambria"/>
              <a:buNone/>
            </a:pPr>
            <a:r>
              <a:rPr b="1" i="0" lang="en" sz="2600" u="none" cap="none" strike="noStrike">
                <a:solidFill>
                  <a:srgbClr val="22303C"/>
                </a:solidFill>
                <a:latin typeface="Cambria"/>
                <a:ea typeface="Cambria"/>
                <a:cs typeface="Cambria"/>
                <a:sym typeface="Cambria"/>
              </a:rPr>
              <a:t>Three things that belong with that number</a:t>
            </a:r>
            <a:endParaRPr b="0" i="0" sz="2600" u="none" cap="none" strike="noStrike">
              <a:solidFill>
                <a:schemeClr val="dk1"/>
              </a:solidFill>
              <a:latin typeface="Calibri"/>
              <a:ea typeface="Calibri"/>
              <a:cs typeface="Calibri"/>
              <a:sym typeface="Calibri"/>
            </a:endParaRPr>
          </a:p>
        </p:txBody>
      </p:sp>
      <p:sp>
        <p:nvSpPr>
          <p:cNvPr id="470" name="Google Shape;470;p42"/>
          <p:cNvSpPr/>
          <p:nvPr/>
        </p:nvSpPr>
        <p:spPr>
          <a:xfrm>
            <a:off x="480060" y="1234440"/>
            <a:ext cx="8181594" cy="925830"/>
          </a:xfrm>
          <a:prstGeom prst="roundRect">
            <a:avLst>
              <a:gd fmla="val 5926" name="adj"/>
            </a:avLst>
          </a:prstGeom>
          <a:solidFill>
            <a:srgbClr val="FBEDE8"/>
          </a:solidFill>
          <a:ln cap="flat" cmpd="sng" w="12700">
            <a:solidFill>
              <a:srgbClr val="FBEDE8"/>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71" name="Google Shape;471;p42"/>
          <p:cNvSpPr/>
          <p:nvPr/>
        </p:nvSpPr>
        <p:spPr>
          <a:xfrm>
            <a:off x="754380" y="1385316"/>
            <a:ext cx="7632954" cy="2880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663C"/>
              </a:buClr>
              <a:buSzPts val="1700"/>
              <a:buFont typeface="Cambria"/>
              <a:buNone/>
            </a:pPr>
            <a:r>
              <a:rPr b="1" i="0" lang="en" sz="1700" u="none" cap="none" strike="noStrike">
                <a:solidFill>
                  <a:srgbClr val="E8663C"/>
                </a:solidFill>
                <a:latin typeface="Cambria"/>
                <a:ea typeface="Cambria"/>
                <a:cs typeface="Cambria"/>
                <a:sym typeface="Cambria"/>
              </a:rPr>
              <a:t>Skills over-fire. Negative tests fell 87% to 70%.</a:t>
            </a:r>
            <a:endParaRPr b="0" i="0" sz="1700" u="none" cap="none" strike="noStrike">
              <a:solidFill>
                <a:schemeClr val="dk1"/>
              </a:solidFill>
              <a:latin typeface="Calibri"/>
              <a:ea typeface="Calibri"/>
              <a:cs typeface="Calibri"/>
              <a:sym typeface="Calibri"/>
            </a:endParaRPr>
          </a:p>
        </p:txBody>
      </p:sp>
      <p:sp>
        <p:nvSpPr>
          <p:cNvPr id="472" name="Google Shape;472;p42"/>
          <p:cNvSpPr/>
          <p:nvPr/>
        </p:nvSpPr>
        <p:spPr>
          <a:xfrm>
            <a:off x="754380" y="1714500"/>
            <a:ext cx="7632954" cy="3086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C4430"/>
              </a:buClr>
              <a:buSzPts val="1100"/>
              <a:buFont typeface="Calibri"/>
              <a:buNone/>
            </a:pPr>
            <a:r>
              <a:rPr b="0" i="0" lang="en" sz="1100" u="none" cap="none" strike="noStrike">
                <a:solidFill>
                  <a:srgbClr val="8C4430"/>
                </a:solidFill>
                <a:latin typeface="Calibri"/>
                <a:ea typeface="Calibri"/>
                <a:cs typeface="Calibri"/>
                <a:sym typeface="Calibri"/>
              </a:rPr>
              <a:t>The worst case attaches a full provenance footer to a schema lookup. A real cost, not noise.</a:t>
            </a:r>
            <a:endParaRPr b="0" i="0" sz="1100" u="none" cap="none" strike="noStrike">
              <a:solidFill>
                <a:schemeClr val="dk1"/>
              </a:solidFill>
              <a:latin typeface="Calibri"/>
              <a:ea typeface="Calibri"/>
              <a:cs typeface="Calibri"/>
              <a:sym typeface="Calibri"/>
            </a:endParaRPr>
          </a:p>
        </p:txBody>
      </p:sp>
      <p:sp>
        <p:nvSpPr>
          <p:cNvPr id="473" name="Google Shape;473;p42"/>
          <p:cNvSpPr/>
          <p:nvPr/>
        </p:nvSpPr>
        <p:spPr>
          <a:xfrm>
            <a:off x="480060" y="2263140"/>
            <a:ext cx="8181594" cy="925830"/>
          </a:xfrm>
          <a:prstGeom prst="roundRect">
            <a:avLst>
              <a:gd fmla="val 5926" name="adj"/>
            </a:avLst>
          </a:prstGeom>
          <a:solidFill>
            <a:srgbClr val="F2F4F6"/>
          </a:solidFill>
          <a:ln cap="flat" cmpd="sng" w="12700">
            <a:solidFill>
              <a:srgbClr val="F2F4F6"/>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74" name="Google Shape;474;p42"/>
          <p:cNvSpPr/>
          <p:nvPr/>
        </p:nvSpPr>
        <p:spPr>
          <a:xfrm>
            <a:off x="754380" y="2414016"/>
            <a:ext cx="7632954" cy="2880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303C"/>
              </a:buClr>
              <a:buSzPts val="1700"/>
              <a:buFont typeface="Cambria"/>
              <a:buNone/>
            </a:pPr>
            <a:r>
              <a:rPr b="1" i="0" lang="en" sz="1700" u="none" cap="none" strike="noStrike">
                <a:solidFill>
                  <a:srgbClr val="22303C"/>
                </a:solidFill>
                <a:latin typeface="Cambria"/>
                <a:ea typeface="Cambria"/>
                <a:cs typeface="Cambria"/>
                <a:sym typeface="Cambria"/>
              </a:rPr>
              <a:t>Five runs died on the turn budget — and not at random.</a:t>
            </a:r>
            <a:endParaRPr b="0" i="0" sz="1700" u="none" cap="none" strike="noStrike">
              <a:solidFill>
                <a:schemeClr val="dk1"/>
              </a:solidFill>
              <a:latin typeface="Calibri"/>
              <a:ea typeface="Calibri"/>
              <a:cs typeface="Calibri"/>
              <a:sym typeface="Calibri"/>
            </a:endParaRPr>
          </a:p>
        </p:txBody>
      </p:sp>
      <p:sp>
        <p:nvSpPr>
          <p:cNvPr id="475" name="Google Shape;475;p42"/>
          <p:cNvSpPr/>
          <p:nvPr/>
        </p:nvSpPr>
        <p:spPr>
          <a:xfrm>
            <a:off x="754380" y="2743200"/>
            <a:ext cx="7632954" cy="3086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7A"/>
              </a:buClr>
              <a:buSzPts val="1100"/>
              <a:buFont typeface="Calibri"/>
              <a:buNone/>
            </a:pPr>
            <a:r>
              <a:rPr b="0" i="0" lang="en" sz="1100" u="none" cap="none" strike="noStrike">
                <a:solidFill>
                  <a:srgbClr val="5A6B7A"/>
                </a:solidFill>
                <a:latin typeface="Calibri"/>
                <a:ea typeface="Calibri"/>
                <a:cs typeface="Calibri"/>
                <a:sym typeface="Calibri"/>
              </a:rPr>
              <a:t>Four of the five were in the slice reporting the largest gain. Losing the hardest runs biases the estimate upward.</a:t>
            </a:r>
            <a:endParaRPr b="0" i="0" sz="1100" u="none" cap="none" strike="noStrike">
              <a:solidFill>
                <a:schemeClr val="dk1"/>
              </a:solidFill>
              <a:latin typeface="Calibri"/>
              <a:ea typeface="Calibri"/>
              <a:cs typeface="Calibri"/>
              <a:sym typeface="Calibri"/>
            </a:endParaRPr>
          </a:p>
        </p:txBody>
      </p:sp>
      <p:sp>
        <p:nvSpPr>
          <p:cNvPr id="476" name="Google Shape;476;p42"/>
          <p:cNvSpPr/>
          <p:nvPr/>
        </p:nvSpPr>
        <p:spPr>
          <a:xfrm>
            <a:off x="480060" y="3291840"/>
            <a:ext cx="8181594" cy="1028700"/>
          </a:xfrm>
          <a:prstGeom prst="roundRect">
            <a:avLst>
              <a:gd fmla="val 5333" name="adj"/>
            </a:avLst>
          </a:prstGeom>
          <a:solidFill>
            <a:srgbClr val="E6F2EE"/>
          </a:solidFill>
          <a:ln cap="flat" cmpd="sng" w="12700">
            <a:solidFill>
              <a:srgbClr val="E6F2EE"/>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77" name="Google Shape;477;p42"/>
          <p:cNvSpPr/>
          <p:nvPr/>
        </p:nvSpPr>
        <p:spPr>
          <a:xfrm>
            <a:off x="754380" y="3442716"/>
            <a:ext cx="7632954" cy="2880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8A72"/>
              </a:buClr>
              <a:buSzPts val="1700"/>
              <a:buFont typeface="Cambria"/>
              <a:buNone/>
            </a:pPr>
            <a:r>
              <a:rPr b="1" i="0" lang="en" sz="1700" u="none" cap="none" strike="noStrike">
                <a:solidFill>
                  <a:srgbClr val="2D8A72"/>
                </a:solidFill>
                <a:latin typeface="Cambria"/>
                <a:ea typeface="Cambria"/>
                <a:cs typeface="Cambria"/>
                <a:sym typeface="Cambria"/>
              </a:rPr>
              <a:t>It survives the sensitivity analysis anyway.</a:t>
            </a:r>
            <a:endParaRPr b="0" i="0" sz="1700" u="none" cap="none" strike="noStrike">
              <a:solidFill>
                <a:schemeClr val="dk1"/>
              </a:solidFill>
              <a:latin typeface="Calibri"/>
              <a:ea typeface="Calibri"/>
              <a:cs typeface="Calibri"/>
              <a:sym typeface="Calibri"/>
            </a:endParaRPr>
          </a:p>
        </p:txBody>
      </p:sp>
      <p:sp>
        <p:nvSpPr>
          <p:cNvPr id="478" name="Google Shape;478;p42"/>
          <p:cNvSpPr/>
          <p:nvPr/>
        </p:nvSpPr>
        <p:spPr>
          <a:xfrm>
            <a:off x="754380" y="3771900"/>
            <a:ext cx="7632954" cy="44577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5F4C"/>
              </a:buClr>
              <a:buSzPts val="1100"/>
              <a:buFont typeface="Calibri"/>
              <a:buNone/>
            </a:pPr>
            <a:r>
              <a:rPr b="0" i="0" lang="en" sz="1100" u="none" cap="none" strike="noStrike">
                <a:solidFill>
                  <a:srgbClr val="1F5F4C"/>
                </a:solidFill>
                <a:latin typeface="Calibri"/>
                <a:ea typeface="Calibri"/>
                <a:cs typeface="Calibri"/>
                <a:sym typeface="Calibri"/>
              </a:rPr>
              <a:t>Drop every eval with a failed run: +22. Assume every lost run scored zero: +23. The honest headline is roughly +20 to +28 with a measurable over-firing cost.</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2303C"/>
        </a:solidFill>
      </p:bgPr>
    </p:bg>
    <p:spTree>
      <p:nvGrpSpPr>
        <p:cNvPr id="483" name="Shape 483"/>
        <p:cNvGrpSpPr/>
        <p:nvPr/>
      </p:nvGrpSpPr>
      <p:grpSpPr>
        <a:xfrm>
          <a:off x="0" y="0"/>
          <a:ext cx="0" cy="0"/>
          <a:chOff x="0" y="0"/>
          <a:chExt cx="0" cy="0"/>
        </a:xfrm>
      </p:grpSpPr>
      <p:sp>
        <p:nvSpPr>
          <p:cNvPr id="484" name="Google Shape;484;p43"/>
          <p:cNvSpPr/>
          <p:nvPr/>
        </p:nvSpPr>
        <p:spPr>
          <a:xfrm>
            <a:off x="480060" y="192024"/>
            <a:ext cx="8181594"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663C"/>
              </a:buClr>
              <a:buSzPts val="800"/>
              <a:buFont typeface="Calibri"/>
              <a:buNone/>
            </a:pPr>
            <a:r>
              <a:rPr b="1" i="0" lang="en" sz="800" u="none" cap="none" strike="noStrike">
                <a:solidFill>
                  <a:srgbClr val="E8663C"/>
                </a:solidFill>
                <a:latin typeface="Calibri"/>
                <a:ea typeface="Calibri"/>
                <a:cs typeface="Calibri"/>
                <a:sym typeface="Calibri"/>
              </a:rPr>
              <a:t>ONE VARIABLE, ISOLATED</a:t>
            </a:r>
            <a:endParaRPr b="0" i="0" sz="800" u="none" cap="none" strike="noStrike">
              <a:solidFill>
                <a:schemeClr val="dk1"/>
              </a:solidFill>
              <a:latin typeface="Calibri"/>
              <a:ea typeface="Calibri"/>
              <a:cs typeface="Calibri"/>
              <a:sym typeface="Calibri"/>
            </a:endParaRPr>
          </a:p>
        </p:txBody>
      </p:sp>
      <p:sp>
        <p:nvSpPr>
          <p:cNvPr id="485" name="Google Shape;485;p43"/>
          <p:cNvSpPr/>
          <p:nvPr/>
        </p:nvSpPr>
        <p:spPr>
          <a:xfrm>
            <a:off x="480060" y="342900"/>
            <a:ext cx="8181594" cy="6172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300"/>
              <a:buFont typeface="Cambria"/>
              <a:buNone/>
            </a:pPr>
            <a:r>
              <a:rPr b="1" i="0" lang="en" sz="2300" u="none" cap="none" strike="noStrike">
                <a:solidFill>
                  <a:srgbClr val="FFFFFF"/>
                </a:solidFill>
                <a:latin typeface="Cambria"/>
                <a:ea typeface="Cambria"/>
                <a:cs typeface="Cambria"/>
                <a:sym typeface="Cambria"/>
              </a:rPr>
              <a:t>Loading everything doesn't break accuracy. It breaks discipline.</a:t>
            </a:r>
            <a:endParaRPr b="0" i="0" sz="2300" u="none" cap="none" strike="noStrike">
              <a:solidFill>
                <a:schemeClr val="dk1"/>
              </a:solidFill>
              <a:latin typeface="Calibri"/>
              <a:ea typeface="Calibri"/>
              <a:cs typeface="Calibri"/>
              <a:sym typeface="Calibri"/>
            </a:endParaRPr>
          </a:p>
        </p:txBody>
      </p:sp>
      <p:sp>
        <p:nvSpPr>
          <p:cNvPr id="486" name="Google Shape;486;p43"/>
          <p:cNvSpPr/>
          <p:nvPr/>
        </p:nvSpPr>
        <p:spPr>
          <a:xfrm>
            <a:off x="480060" y="1062990"/>
            <a:ext cx="8181594" cy="37719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BD5DD"/>
              </a:buClr>
              <a:buSzPts val="1100"/>
              <a:buFont typeface="Calibri"/>
              <a:buNone/>
            </a:pPr>
            <a:r>
              <a:rPr b="0" i="0" lang="en" sz="1100" u="none" cap="none" strike="noStrike">
                <a:solidFill>
                  <a:srgbClr val="CBD5DD"/>
                </a:solidFill>
                <a:latin typeface="Calibri"/>
                <a:ea typeface="Calibri"/>
                <a:cs typeface="Calibri"/>
                <a:sym typeface="Calibri"/>
              </a:rPr>
              <a:t>Same skills, same model, same warehouse. Only the loading strategy changed: one relevant skill vs. all six, every question.</a:t>
            </a:r>
            <a:endParaRPr b="0" i="0" sz="1100" u="none" cap="none" strike="noStrike">
              <a:solidFill>
                <a:schemeClr val="dk1"/>
              </a:solidFill>
              <a:latin typeface="Calibri"/>
              <a:ea typeface="Calibri"/>
              <a:cs typeface="Calibri"/>
              <a:sym typeface="Calibri"/>
            </a:endParaRPr>
          </a:p>
        </p:txBody>
      </p:sp>
      <p:sp>
        <p:nvSpPr>
          <p:cNvPr id="487" name="Google Shape;487;p43"/>
          <p:cNvSpPr/>
          <p:nvPr/>
        </p:nvSpPr>
        <p:spPr>
          <a:xfrm>
            <a:off x="480060" y="1611630"/>
            <a:ext cx="2640330" cy="2674620"/>
          </a:xfrm>
          <a:prstGeom prst="roundRect">
            <a:avLst>
              <a:gd fmla="val 2078" name="adj"/>
            </a:avLst>
          </a:prstGeom>
          <a:solidFill>
            <a:srgbClr val="2E3E4C"/>
          </a:solidFill>
          <a:ln cap="flat" cmpd="sng" w="12700">
            <a:solidFill>
              <a:srgbClr val="2E3E4C"/>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88" name="Google Shape;488;p43"/>
          <p:cNvSpPr/>
          <p:nvPr/>
        </p:nvSpPr>
        <p:spPr>
          <a:xfrm>
            <a:off x="685800" y="1769364"/>
            <a:ext cx="2228850" cy="24003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9A8"/>
              </a:buClr>
              <a:buSzPts val="900"/>
              <a:buFont typeface="Calibri"/>
              <a:buNone/>
            </a:pPr>
            <a:r>
              <a:rPr b="1" i="0" lang="en" sz="900" u="none" cap="none" strike="noStrike">
                <a:solidFill>
                  <a:srgbClr val="8A99A8"/>
                </a:solidFill>
                <a:latin typeface="Calibri"/>
                <a:ea typeface="Calibri"/>
                <a:cs typeface="Calibri"/>
                <a:sym typeface="Calibri"/>
              </a:rPr>
              <a:t>ACCURACY</a:t>
            </a:r>
            <a:endParaRPr b="0" i="0" sz="900" u="none" cap="none" strike="noStrike">
              <a:solidFill>
                <a:schemeClr val="dk1"/>
              </a:solidFill>
              <a:latin typeface="Calibri"/>
              <a:ea typeface="Calibri"/>
              <a:cs typeface="Calibri"/>
              <a:sym typeface="Calibri"/>
            </a:endParaRPr>
          </a:p>
        </p:txBody>
      </p:sp>
      <p:sp>
        <p:nvSpPr>
          <p:cNvPr id="489" name="Google Shape;489;p43"/>
          <p:cNvSpPr/>
          <p:nvPr/>
        </p:nvSpPr>
        <p:spPr>
          <a:xfrm>
            <a:off x="685800" y="2023110"/>
            <a:ext cx="2228850" cy="4800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mbria"/>
              <a:buNone/>
            </a:pPr>
            <a:r>
              <a:rPr b="1" i="0" lang="en" sz="1300" u="none" cap="none" strike="noStrike">
                <a:solidFill>
                  <a:srgbClr val="FFFFFF"/>
                </a:solidFill>
                <a:latin typeface="Cambria"/>
                <a:ea typeface="Cambria"/>
                <a:cs typeface="Cambria"/>
                <a:sym typeface="Cambria"/>
              </a:rPr>
              <a:t>No measurable difference</a:t>
            </a:r>
            <a:endParaRPr b="0" i="0" sz="1300" u="none" cap="none" strike="noStrike">
              <a:solidFill>
                <a:schemeClr val="dk1"/>
              </a:solidFill>
              <a:latin typeface="Calibri"/>
              <a:ea typeface="Calibri"/>
              <a:cs typeface="Calibri"/>
              <a:sym typeface="Calibri"/>
            </a:endParaRPr>
          </a:p>
        </p:txBody>
      </p:sp>
      <p:sp>
        <p:nvSpPr>
          <p:cNvPr id="490" name="Google Shape;490;p43"/>
          <p:cNvSpPr/>
          <p:nvPr/>
        </p:nvSpPr>
        <p:spPr>
          <a:xfrm>
            <a:off x="685800" y="2571750"/>
            <a:ext cx="2228850" cy="4800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9A8"/>
              </a:buClr>
              <a:buSzPts val="1800"/>
              <a:buFont typeface="Cambria"/>
              <a:buNone/>
            </a:pPr>
            <a:r>
              <a:rPr b="1" i="0" lang="en" sz="1800" u="none" cap="none" strike="noStrike">
                <a:solidFill>
                  <a:srgbClr val="8A99A8"/>
                </a:solidFill>
                <a:latin typeface="Cambria"/>
                <a:ea typeface="Cambria"/>
                <a:cs typeface="Cambria"/>
                <a:sym typeface="Cambria"/>
              </a:rPr>
              <a:t>-3.1 pts  ·  95% CI -10.3 to +4.2</a:t>
            </a:r>
            <a:endParaRPr b="0" i="0" sz="1800" u="none" cap="none" strike="noStrike">
              <a:solidFill>
                <a:schemeClr val="dk1"/>
              </a:solidFill>
              <a:latin typeface="Calibri"/>
              <a:ea typeface="Calibri"/>
              <a:cs typeface="Calibri"/>
              <a:sym typeface="Calibri"/>
            </a:endParaRPr>
          </a:p>
        </p:txBody>
      </p:sp>
      <p:sp>
        <p:nvSpPr>
          <p:cNvPr id="491" name="Google Shape;491;p43"/>
          <p:cNvSpPr/>
          <p:nvPr/>
        </p:nvSpPr>
        <p:spPr>
          <a:xfrm>
            <a:off x="685800" y="3120390"/>
            <a:ext cx="2228850" cy="1028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BD5DD"/>
              </a:buClr>
              <a:buSzPts val="1000"/>
              <a:buFont typeface="Calibri"/>
              <a:buNone/>
            </a:pPr>
            <a:r>
              <a:rPr b="0" i="0" lang="en" sz="1000" u="none" cap="none" strike="noStrike">
                <a:solidFill>
                  <a:srgbClr val="CBD5DD"/>
                </a:solidFill>
                <a:latin typeface="Calibri"/>
                <a:ea typeface="Calibri"/>
                <a:cs typeface="Calibri"/>
                <a:sym typeface="Calibri"/>
              </a:rPr>
              <a:t>Crosses zero. 8 up, 10 down, 11 flat — indistinguishable from noise.</a:t>
            </a:r>
            <a:endParaRPr b="0" i="0" sz="1000" u="none" cap="none" strike="noStrike">
              <a:solidFill>
                <a:schemeClr val="dk1"/>
              </a:solidFill>
              <a:latin typeface="Calibri"/>
              <a:ea typeface="Calibri"/>
              <a:cs typeface="Calibri"/>
              <a:sym typeface="Calibri"/>
            </a:endParaRPr>
          </a:p>
        </p:txBody>
      </p:sp>
      <p:sp>
        <p:nvSpPr>
          <p:cNvPr id="492" name="Google Shape;492;p43"/>
          <p:cNvSpPr/>
          <p:nvPr/>
        </p:nvSpPr>
        <p:spPr>
          <a:xfrm>
            <a:off x="3408426" y="1611630"/>
            <a:ext cx="2640330" cy="2674620"/>
          </a:xfrm>
          <a:prstGeom prst="roundRect">
            <a:avLst>
              <a:gd fmla="val 2078" name="adj"/>
            </a:avLst>
          </a:prstGeom>
          <a:solidFill>
            <a:srgbClr val="2E3E4C"/>
          </a:solidFill>
          <a:ln cap="flat" cmpd="sng" w="12700">
            <a:solidFill>
              <a:srgbClr val="2E3E4C"/>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93" name="Google Shape;493;p43"/>
          <p:cNvSpPr/>
          <p:nvPr/>
        </p:nvSpPr>
        <p:spPr>
          <a:xfrm>
            <a:off x="3614166" y="1769364"/>
            <a:ext cx="2228850" cy="24003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9A8"/>
              </a:buClr>
              <a:buSzPts val="900"/>
              <a:buFont typeface="Calibri"/>
              <a:buNone/>
            </a:pPr>
            <a:r>
              <a:rPr b="1" i="0" lang="en" sz="900" u="none" cap="none" strike="noStrike">
                <a:solidFill>
                  <a:srgbClr val="8A99A8"/>
                </a:solidFill>
                <a:latin typeface="Calibri"/>
                <a:ea typeface="Calibri"/>
                <a:cs typeface="Calibri"/>
                <a:sym typeface="Calibri"/>
              </a:rPr>
              <a:t>DISCIPLINE</a:t>
            </a:r>
            <a:endParaRPr b="0" i="0" sz="900" u="none" cap="none" strike="noStrike">
              <a:solidFill>
                <a:schemeClr val="dk1"/>
              </a:solidFill>
              <a:latin typeface="Calibri"/>
              <a:ea typeface="Calibri"/>
              <a:cs typeface="Calibri"/>
              <a:sym typeface="Calibri"/>
            </a:endParaRPr>
          </a:p>
        </p:txBody>
      </p:sp>
      <p:sp>
        <p:nvSpPr>
          <p:cNvPr id="494" name="Google Shape;494;p43"/>
          <p:cNvSpPr/>
          <p:nvPr/>
        </p:nvSpPr>
        <p:spPr>
          <a:xfrm>
            <a:off x="3614166" y="2023110"/>
            <a:ext cx="2228850" cy="4800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mbria"/>
              <a:buNone/>
            </a:pPr>
            <a:r>
              <a:rPr b="1" i="0" lang="en" sz="1300" u="none" cap="none" strike="noStrike">
                <a:solidFill>
                  <a:srgbClr val="FFFFFF"/>
                </a:solidFill>
                <a:latin typeface="Cambria"/>
                <a:ea typeface="Cambria"/>
                <a:cs typeface="Cambria"/>
                <a:sym typeface="Cambria"/>
              </a:rPr>
              <a:t>Erodes as loading gets less targeted</a:t>
            </a:r>
            <a:endParaRPr b="0" i="0" sz="1300" u="none" cap="none" strike="noStrike">
              <a:solidFill>
                <a:schemeClr val="dk1"/>
              </a:solidFill>
              <a:latin typeface="Calibri"/>
              <a:ea typeface="Calibri"/>
              <a:cs typeface="Calibri"/>
              <a:sym typeface="Calibri"/>
            </a:endParaRPr>
          </a:p>
        </p:txBody>
      </p:sp>
      <p:sp>
        <p:nvSpPr>
          <p:cNvPr id="495" name="Google Shape;495;p43"/>
          <p:cNvSpPr/>
          <p:nvPr/>
        </p:nvSpPr>
        <p:spPr>
          <a:xfrm>
            <a:off x="3614166" y="2571750"/>
            <a:ext cx="2228850" cy="4800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663C"/>
              </a:buClr>
              <a:buSzPts val="1800"/>
              <a:buFont typeface="Cambria"/>
              <a:buNone/>
            </a:pPr>
            <a:r>
              <a:rPr b="1" i="0" lang="en" sz="1800" u="none" cap="none" strike="noStrike">
                <a:solidFill>
                  <a:srgbClr val="E8663C"/>
                </a:solidFill>
                <a:latin typeface="Cambria"/>
                <a:ea typeface="Cambria"/>
                <a:cs typeface="Cambria"/>
                <a:sym typeface="Cambria"/>
              </a:rPr>
              <a:t>87% → 83% → 74%</a:t>
            </a:r>
            <a:endParaRPr b="0" i="0" sz="1800" u="none" cap="none" strike="noStrike">
              <a:solidFill>
                <a:schemeClr val="dk1"/>
              </a:solidFill>
              <a:latin typeface="Calibri"/>
              <a:ea typeface="Calibri"/>
              <a:cs typeface="Calibri"/>
              <a:sym typeface="Calibri"/>
            </a:endParaRPr>
          </a:p>
        </p:txBody>
      </p:sp>
      <p:sp>
        <p:nvSpPr>
          <p:cNvPr id="496" name="Google Shape;496;p43"/>
          <p:cNvSpPr/>
          <p:nvPr/>
        </p:nvSpPr>
        <p:spPr>
          <a:xfrm>
            <a:off x="3614166" y="3120390"/>
            <a:ext cx="2228850" cy="1028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BD5DD"/>
              </a:buClr>
              <a:buSzPts val="1000"/>
              <a:buFont typeface="Calibri"/>
              <a:buNone/>
            </a:pPr>
            <a:r>
              <a:rPr b="0" i="0" lang="en" sz="1000" u="none" cap="none" strike="noStrike">
                <a:solidFill>
                  <a:srgbClr val="CBD5DD"/>
                </a:solidFill>
                <a:latin typeface="Calibri"/>
                <a:ea typeface="Calibri"/>
                <a:cs typeface="Calibri"/>
                <a:sym typeface="Calibri"/>
              </a:rPr>
              <a:t>Negative-test pass rate, baseline → per-slice → load-all. Monotonic.</a:t>
            </a:r>
            <a:endParaRPr b="0" i="0" sz="1000" u="none" cap="none" strike="noStrike">
              <a:solidFill>
                <a:schemeClr val="dk1"/>
              </a:solidFill>
              <a:latin typeface="Calibri"/>
              <a:ea typeface="Calibri"/>
              <a:cs typeface="Calibri"/>
              <a:sym typeface="Calibri"/>
            </a:endParaRPr>
          </a:p>
        </p:txBody>
      </p:sp>
      <p:sp>
        <p:nvSpPr>
          <p:cNvPr id="497" name="Google Shape;497;p43"/>
          <p:cNvSpPr/>
          <p:nvPr/>
        </p:nvSpPr>
        <p:spPr>
          <a:xfrm>
            <a:off x="6336792" y="1611630"/>
            <a:ext cx="2640330" cy="2674620"/>
          </a:xfrm>
          <a:prstGeom prst="roundRect">
            <a:avLst>
              <a:gd fmla="val 2078" name="adj"/>
            </a:avLst>
          </a:prstGeom>
          <a:solidFill>
            <a:srgbClr val="2E3E4C"/>
          </a:solidFill>
          <a:ln cap="flat" cmpd="sng" w="12700">
            <a:solidFill>
              <a:srgbClr val="2E3E4C"/>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98" name="Google Shape;498;p43"/>
          <p:cNvSpPr/>
          <p:nvPr/>
        </p:nvSpPr>
        <p:spPr>
          <a:xfrm>
            <a:off x="6542532" y="1769364"/>
            <a:ext cx="2228850" cy="24003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9A8"/>
              </a:buClr>
              <a:buSzPts val="900"/>
              <a:buFont typeface="Calibri"/>
              <a:buNone/>
            </a:pPr>
            <a:r>
              <a:rPr b="1" i="0" lang="en" sz="900" u="none" cap="none" strike="noStrike">
                <a:solidFill>
                  <a:srgbClr val="8A99A8"/>
                </a:solidFill>
                <a:latin typeface="Calibri"/>
                <a:ea typeface="Calibri"/>
                <a:cs typeface="Calibri"/>
                <a:sym typeface="Calibri"/>
              </a:rPr>
              <a:t>EFFICIENCY</a:t>
            </a:r>
            <a:endParaRPr b="0" i="0" sz="900" u="none" cap="none" strike="noStrike">
              <a:solidFill>
                <a:schemeClr val="dk1"/>
              </a:solidFill>
              <a:latin typeface="Calibri"/>
              <a:ea typeface="Calibri"/>
              <a:cs typeface="Calibri"/>
              <a:sym typeface="Calibri"/>
            </a:endParaRPr>
          </a:p>
        </p:txBody>
      </p:sp>
      <p:sp>
        <p:nvSpPr>
          <p:cNvPr id="499" name="Google Shape;499;p43"/>
          <p:cNvSpPr/>
          <p:nvPr/>
        </p:nvSpPr>
        <p:spPr>
          <a:xfrm>
            <a:off x="6542532" y="2023110"/>
            <a:ext cx="2228850" cy="4800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mbria"/>
              <a:buNone/>
            </a:pPr>
            <a:r>
              <a:rPr b="1" i="0" lang="en" sz="1300" u="none" cap="none" strike="noStrike">
                <a:solidFill>
                  <a:srgbClr val="FFFFFF"/>
                </a:solidFill>
                <a:latin typeface="Cambria"/>
                <a:ea typeface="Cambria"/>
                <a:cs typeface="Cambria"/>
                <a:sym typeface="Cambria"/>
              </a:rPr>
              <a:t>More context, more wasted turns</a:t>
            </a:r>
            <a:endParaRPr b="0" i="0" sz="1300" u="none" cap="none" strike="noStrike">
              <a:solidFill>
                <a:schemeClr val="dk1"/>
              </a:solidFill>
              <a:latin typeface="Calibri"/>
              <a:ea typeface="Calibri"/>
              <a:cs typeface="Calibri"/>
              <a:sym typeface="Calibri"/>
            </a:endParaRPr>
          </a:p>
        </p:txBody>
      </p:sp>
      <p:sp>
        <p:nvSpPr>
          <p:cNvPr id="500" name="Google Shape;500;p43"/>
          <p:cNvSpPr/>
          <p:nvPr/>
        </p:nvSpPr>
        <p:spPr>
          <a:xfrm>
            <a:off x="6542532" y="2571750"/>
            <a:ext cx="2228850" cy="4800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663C"/>
              </a:buClr>
              <a:buSzPts val="1800"/>
              <a:buFont typeface="Cambria"/>
              <a:buNone/>
            </a:pPr>
            <a:r>
              <a:rPr b="1" i="0" lang="en" sz="1800" u="none" cap="none" strike="noStrike">
                <a:solidFill>
                  <a:srgbClr val="E8663C"/>
                </a:solidFill>
                <a:latin typeface="Cambria"/>
                <a:ea typeface="Cambria"/>
                <a:cs typeface="Cambria"/>
                <a:sym typeface="Cambria"/>
              </a:rPr>
              <a:t>4 runs lost vs. 0</a:t>
            </a:r>
            <a:endParaRPr b="0" i="0" sz="1800" u="none" cap="none" strike="noStrike">
              <a:solidFill>
                <a:schemeClr val="dk1"/>
              </a:solidFill>
              <a:latin typeface="Calibri"/>
              <a:ea typeface="Calibri"/>
              <a:cs typeface="Calibri"/>
              <a:sym typeface="Calibri"/>
            </a:endParaRPr>
          </a:p>
        </p:txBody>
      </p:sp>
      <p:sp>
        <p:nvSpPr>
          <p:cNvPr id="501" name="Google Shape;501;p43"/>
          <p:cNvSpPr/>
          <p:nvPr/>
        </p:nvSpPr>
        <p:spPr>
          <a:xfrm>
            <a:off x="6542532" y="3120390"/>
            <a:ext cx="2228850" cy="1028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BD5DD"/>
              </a:buClr>
              <a:buSzPts val="1000"/>
              <a:buFont typeface="Calibri"/>
              <a:buNone/>
            </a:pPr>
            <a:r>
              <a:rPr b="0" i="0" lang="en" sz="1000" u="none" cap="none" strike="noStrike">
                <a:solidFill>
                  <a:srgbClr val="CBD5DD"/>
                </a:solidFill>
                <a:latin typeface="Calibri"/>
                <a:ea typeface="Calibri"/>
                <a:cs typeface="Calibri"/>
                <a:sym typeface="Calibri"/>
              </a:rPr>
              <a:t>Turn-budget exhaustion under load-all. Same cap, more to wade through.</a:t>
            </a:r>
            <a:endParaRPr b="0" i="0" sz="1000" u="none" cap="none" strike="noStrike">
              <a:solidFill>
                <a:schemeClr val="dk1"/>
              </a:solidFill>
              <a:latin typeface="Calibri"/>
              <a:ea typeface="Calibri"/>
              <a:cs typeface="Calibri"/>
              <a:sym typeface="Calibri"/>
            </a:endParaRPr>
          </a:p>
        </p:txBody>
      </p:sp>
      <p:sp>
        <p:nvSpPr>
          <p:cNvPr id="502" name="Google Shape;502;p43"/>
          <p:cNvSpPr/>
          <p:nvPr/>
        </p:nvSpPr>
        <p:spPr>
          <a:xfrm>
            <a:off x="480060" y="4491990"/>
            <a:ext cx="8181594"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Cambria"/>
              <a:buNone/>
            </a:pPr>
            <a:r>
              <a:rPr b="0" i="1" lang="en" sz="1200" u="none" cap="none" strike="noStrike">
                <a:solidFill>
                  <a:srgbClr val="FFFFFF"/>
                </a:solidFill>
                <a:latin typeface="Cambria"/>
                <a:ea typeface="Cambria"/>
                <a:cs typeface="Cambria"/>
                <a:sym typeface="Cambria"/>
              </a:rPr>
              <a:t>The routing argument isn't “dilution makes the model dumber.” It's “dilution makes the model less careful about when to apply what it knows.”</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07" name="Shape 507"/>
        <p:cNvGrpSpPr/>
        <p:nvPr/>
      </p:nvGrpSpPr>
      <p:grpSpPr>
        <a:xfrm>
          <a:off x="0" y="0"/>
          <a:ext cx="0" cy="0"/>
          <a:chOff x="0" y="0"/>
          <a:chExt cx="0" cy="0"/>
        </a:xfrm>
      </p:grpSpPr>
      <p:sp>
        <p:nvSpPr>
          <p:cNvPr id="508" name="Google Shape;508;p44"/>
          <p:cNvSpPr/>
          <p:nvPr/>
        </p:nvSpPr>
        <p:spPr>
          <a:xfrm>
            <a:off x="480060" y="192024"/>
            <a:ext cx="8181594"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663C"/>
              </a:buClr>
              <a:buSzPts val="800"/>
              <a:buFont typeface="Calibri"/>
              <a:buNone/>
            </a:pPr>
            <a:r>
              <a:rPr b="1" i="0" lang="en" sz="800" u="none" cap="none" strike="noStrike">
                <a:solidFill>
                  <a:srgbClr val="E8663C"/>
                </a:solidFill>
                <a:latin typeface="Calibri"/>
                <a:ea typeface="Calibri"/>
                <a:cs typeface="Calibri"/>
                <a:sym typeface="Calibri"/>
              </a:rPr>
              <a:t>WHAT KEPT HAPPENING</a:t>
            </a:r>
            <a:endParaRPr b="0" i="0" sz="800" u="none" cap="none" strike="noStrike">
              <a:solidFill>
                <a:schemeClr val="dk1"/>
              </a:solidFill>
              <a:latin typeface="Calibri"/>
              <a:ea typeface="Calibri"/>
              <a:cs typeface="Calibri"/>
              <a:sym typeface="Calibri"/>
            </a:endParaRPr>
          </a:p>
        </p:txBody>
      </p:sp>
      <p:sp>
        <p:nvSpPr>
          <p:cNvPr id="509" name="Google Shape;509;p44"/>
          <p:cNvSpPr/>
          <p:nvPr/>
        </p:nvSpPr>
        <p:spPr>
          <a:xfrm>
            <a:off x="480060" y="342900"/>
            <a:ext cx="8181594" cy="6172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303C"/>
              </a:buClr>
              <a:buSzPts val="2600"/>
              <a:buFont typeface="Cambria"/>
              <a:buNone/>
            </a:pPr>
            <a:r>
              <a:rPr b="1" i="0" lang="en" sz="2600" u="none" cap="none" strike="noStrike">
                <a:solidFill>
                  <a:srgbClr val="22303C"/>
                </a:solidFill>
                <a:latin typeface="Cambria"/>
                <a:ea typeface="Cambria"/>
                <a:cs typeface="Cambria"/>
                <a:sym typeface="Cambria"/>
              </a:rPr>
              <a:t>Five fabrications, all caught only by running the query</a:t>
            </a:r>
            <a:endParaRPr b="0" i="0" sz="2600" u="none" cap="none" strike="noStrike">
              <a:solidFill>
                <a:schemeClr val="dk1"/>
              </a:solidFill>
              <a:latin typeface="Calibri"/>
              <a:ea typeface="Calibri"/>
              <a:cs typeface="Calibri"/>
              <a:sym typeface="Calibri"/>
            </a:endParaRPr>
          </a:p>
        </p:txBody>
      </p:sp>
      <p:sp>
        <p:nvSpPr>
          <p:cNvPr id="510" name="Google Shape;510;p44"/>
          <p:cNvSpPr/>
          <p:nvPr/>
        </p:nvSpPr>
        <p:spPr>
          <a:xfrm>
            <a:off x="480060" y="1303020"/>
            <a:ext cx="8181594" cy="493776"/>
          </a:xfrm>
          <a:prstGeom prst="roundRect">
            <a:avLst>
              <a:gd fmla="val 11111" name="adj"/>
            </a:avLst>
          </a:prstGeom>
          <a:solidFill>
            <a:srgbClr val="F2F4F6"/>
          </a:solidFill>
          <a:ln cap="flat" cmpd="sng" w="12700">
            <a:solidFill>
              <a:srgbClr val="F2F4F6"/>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11" name="Google Shape;511;p44"/>
          <p:cNvSpPr/>
          <p:nvPr/>
        </p:nvSpPr>
        <p:spPr>
          <a:xfrm>
            <a:off x="720090" y="1412748"/>
            <a:ext cx="38404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303C"/>
              </a:buClr>
              <a:buSzPts val="1100"/>
              <a:buFont typeface="Calibri"/>
              <a:buNone/>
            </a:pPr>
            <a:r>
              <a:rPr b="1" i="0" lang="en" sz="1100" u="none" cap="none" strike="noStrike">
                <a:solidFill>
                  <a:srgbClr val="22303C"/>
                </a:solidFill>
                <a:latin typeface="Calibri"/>
                <a:ea typeface="Calibri"/>
                <a:cs typeface="Calibri"/>
                <a:sym typeface="Calibri"/>
              </a:rPr>
              <a:t>An invented performance-tier table</a:t>
            </a:r>
            <a:endParaRPr b="0" i="0" sz="1100" u="none" cap="none" strike="noStrike">
              <a:solidFill>
                <a:schemeClr val="dk1"/>
              </a:solidFill>
              <a:latin typeface="Calibri"/>
              <a:ea typeface="Calibri"/>
              <a:cs typeface="Calibri"/>
              <a:sym typeface="Calibri"/>
            </a:endParaRPr>
          </a:p>
        </p:txBody>
      </p:sp>
      <p:sp>
        <p:nvSpPr>
          <p:cNvPr id="512" name="Google Shape;512;p44"/>
          <p:cNvSpPr/>
          <p:nvPr/>
        </p:nvSpPr>
        <p:spPr>
          <a:xfrm>
            <a:off x="4663440" y="1412748"/>
            <a:ext cx="39090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7A"/>
              </a:buClr>
              <a:buSzPts val="1100"/>
              <a:buFont typeface="Calibri"/>
              <a:buNone/>
            </a:pPr>
            <a:r>
              <a:rPr b="0" i="0" lang="en" sz="1100" u="none" cap="none" strike="noStrike">
                <a:solidFill>
                  <a:srgbClr val="5A6B7A"/>
                </a:solidFill>
                <a:latin typeface="Calibri"/>
                <a:ea typeface="Calibri"/>
                <a:cs typeface="Calibri"/>
                <a:sym typeface="Calibri"/>
              </a:rPr>
              <a:t>Looked entirely plausible. Wrong in every cell.</a:t>
            </a:r>
            <a:endParaRPr b="0" i="0" sz="1100" u="none" cap="none" strike="noStrike">
              <a:solidFill>
                <a:schemeClr val="dk1"/>
              </a:solidFill>
              <a:latin typeface="Calibri"/>
              <a:ea typeface="Calibri"/>
              <a:cs typeface="Calibri"/>
              <a:sym typeface="Calibri"/>
            </a:endParaRPr>
          </a:p>
        </p:txBody>
      </p:sp>
      <p:sp>
        <p:nvSpPr>
          <p:cNvPr id="513" name="Google Shape;513;p44"/>
          <p:cNvSpPr/>
          <p:nvPr/>
        </p:nvSpPr>
        <p:spPr>
          <a:xfrm>
            <a:off x="480060" y="1837944"/>
            <a:ext cx="8181594" cy="493776"/>
          </a:xfrm>
          <a:prstGeom prst="roundRect">
            <a:avLst>
              <a:gd fmla="val 11111" name="adj"/>
            </a:avLst>
          </a:prstGeom>
          <a:solidFill>
            <a:srgbClr val="FFFFFF"/>
          </a:solidFill>
          <a:ln cap="flat" cmpd="sng" w="12700">
            <a:solidFill>
              <a:srgbClr val="FFFFFF"/>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14" name="Google Shape;514;p44"/>
          <p:cNvSpPr/>
          <p:nvPr/>
        </p:nvSpPr>
        <p:spPr>
          <a:xfrm>
            <a:off x="720090" y="1947672"/>
            <a:ext cx="38404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303C"/>
              </a:buClr>
              <a:buSzPts val="1100"/>
              <a:buFont typeface="Calibri"/>
              <a:buNone/>
            </a:pPr>
            <a:r>
              <a:rPr b="1" i="0" lang="en" sz="1100" u="none" cap="none" strike="noStrike">
                <a:solidFill>
                  <a:srgbClr val="22303C"/>
                </a:solidFill>
                <a:latin typeface="Calibri"/>
                <a:ea typeface="Calibri"/>
                <a:cs typeface="Calibri"/>
                <a:sym typeface="Calibri"/>
              </a:rPr>
              <a:t>A wrong department-drop figure</a:t>
            </a:r>
            <a:endParaRPr b="0" i="0" sz="1100" u="none" cap="none" strike="noStrike">
              <a:solidFill>
                <a:schemeClr val="dk1"/>
              </a:solidFill>
              <a:latin typeface="Calibri"/>
              <a:ea typeface="Calibri"/>
              <a:cs typeface="Calibri"/>
              <a:sym typeface="Calibri"/>
            </a:endParaRPr>
          </a:p>
        </p:txBody>
      </p:sp>
      <p:sp>
        <p:nvSpPr>
          <p:cNvPr id="515" name="Google Shape;515;p44"/>
          <p:cNvSpPr/>
          <p:nvPr/>
        </p:nvSpPr>
        <p:spPr>
          <a:xfrm>
            <a:off x="4663440" y="1947672"/>
            <a:ext cx="39090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7A"/>
              </a:buClr>
              <a:buSzPts val="1100"/>
              <a:buFont typeface="Calibri"/>
              <a:buNone/>
            </a:pPr>
            <a:r>
              <a:rPr b="0" i="0" lang="en" sz="1100" u="none" cap="none" strike="noStrike">
                <a:solidFill>
                  <a:srgbClr val="5A6B7A"/>
                </a:solidFill>
                <a:latin typeface="Calibri"/>
                <a:ea typeface="Calibri"/>
                <a:cs typeface="Calibri"/>
                <a:sym typeface="Calibri"/>
              </a:rPr>
              <a:t>Right shape, wrong number.</a:t>
            </a:r>
            <a:endParaRPr b="0" i="0" sz="1100" u="none" cap="none" strike="noStrike">
              <a:solidFill>
                <a:schemeClr val="dk1"/>
              </a:solidFill>
              <a:latin typeface="Calibri"/>
              <a:ea typeface="Calibri"/>
              <a:cs typeface="Calibri"/>
              <a:sym typeface="Calibri"/>
            </a:endParaRPr>
          </a:p>
        </p:txBody>
      </p:sp>
      <p:sp>
        <p:nvSpPr>
          <p:cNvPr id="516" name="Google Shape;516;p44"/>
          <p:cNvSpPr/>
          <p:nvPr/>
        </p:nvSpPr>
        <p:spPr>
          <a:xfrm>
            <a:off x="480060" y="2372868"/>
            <a:ext cx="8181594" cy="493776"/>
          </a:xfrm>
          <a:prstGeom prst="roundRect">
            <a:avLst>
              <a:gd fmla="val 11111" name="adj"/>
            </a:avLst>
          </a:prstGeom>
          <a:solidFill>
            <a:srgbClr val="F2F4F6"/>
          </a:solidFill>
          <a:ln cap="flat" cmpd="sng" w="12700">
            <a:solidFill>
              <a:srgbClr val="F2F4F6"/>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17" name="Google Shape;517;p44"/>
          <p:cNvSpPr/>
          <p:nvPr/>
        </p:nvSpPr>
        <p:spPr>
          <a:xfrm>
            <a:off x="720090" y="2482596"/>
            <a:ext cx="38404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303C"/>
              </a:buClr>
              <a:buSzPts val="1100"/>
              <a:buFont typeface="Calibri"/>
              <a:buNone/>
            </a:pPr>
            <a:r>
              <a:rPr b="1" i="0" lang="en" sz="1100" u="none" cap="none" strike="noStrike">
                <a:solidFill>
                  <a:srgbClr val="22303C"/>
                </a:solidFill>
                <a:latin typeface="Calibri"/>
                <a:ea typeface="Calibri"/>
                <a:cs typeface="Calibri"/>
                <a:sym typeface="Calibri"/>
              </a:rPr>
              <a:t>A correct figure in the wrong context</a:t>
            </a:r>
            <a:endParaRPr b="0" i="0" sz="1100" u="none" cap="none" strike="noStrike">
              <a:solidFill>
                <a:schemeClr val="dk1"/>
              </a:solidFill>
              <a:latin typeface="Calibri"/>
              <a:ea typeface="Calibri"/>
              <a:cs typeface="Calibri"/>
              <a:sym typeface="Calibri"/>
            </a:endParaRPr>
          </a:p>
        </p:txBody>
      </p:sp>
      <p:sp>
        <p:nvSpPr>
          <p:cNvPr id="518" name="Google Shape;518;p44"/>
          <p:cNvSpPr/>
          <p:nvPr/>
        </p:nvSpPr>
        <p:spPr>
          <a:xfrm>
            <a:off x="4663440" y="2482596"/>
            <a:ext cx="39090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7A"/>
              </a:buClr>
              <a:buSzPts val="1100"/>
              <a:buFont typeface="Calibri"/>
              <a:buNone/>
            </a:pPr>
            <a:r>
              <a:rPr b="0" i="0" lang="en" sz="1100" u="none" cap="none" strike="noStrike">
                <a:solidFill>
                  <a:srgbClr val="5A6B7A"/>
                </a:solidFill>
                <a:latin typeface="Calibri"/>
                <a:ea typeface="Calibri"/>
                <a:cs typeface="Calibri"/>
                <a:sym typeface="Calibri"/>
              </a:rPr>
              <a:t>2,008 quoted where 1,668 applied.</a:t>
            </a:r>
            <a:endParaRPr b="0" i="0" sz="1100" u="none" cap="none" strike="noStrike">
              <a:solidFill>
                <a:schemeClr val="dk1"/>
              </a:solidFill>
              <a:latin typeface="Calibri"/>
              <a:ea typeface="Calibri"/>
              <a:cs typeface="Calibri"/>
              <a:sym typeface="Calibri"/>
            </a:endParaRPr>
          </a:p>
        </p:txBody>
      </p:sp>
      <p:sp>
        <p:nvSpPr>
          <p:cNvPr id="519" name="Google Shape;519;p44"/>
          <p:cNvSpPr/>
          <p:nvPr/>
        </p:nvSpPr>
        <p:spPr>
          <a:xfrm>
            <a:off x="480060" y="2907792"/>
            <a:ext cx="8181594" cy="493776"/>
          </a:xfrm>
          <a:prstGeom prst="roundRect">
            <a:avLst>
              <a:gd fmla="val 11111" name="adj"/>
            </a:avLst>
          </a:prstGeom>
          <a:solidFill>
            <a:srgbClr val="FFFFFF"/>
          </a:solidFill>
          <a:ln cap="flat" cmpd="sng" w="12700">
            <a:solidFill>
              <a:srgbClr val="FFFFFF"/>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20" name="Google Shape;520;p44"/>
          <p:cNvSpPr/>
          <p:nvPr/>
        </p:nvSpPr>
        <p:spPr>
          <a:xfrm>
            <a:off x="720090" y="3017520"/>
            <a:ext cx="38404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303C"/>
              </a:buClr>
              <a:buSzPts val="1100"/>
              <a:buFont typeface="Calibri"/>
              <a:buNone/>
            </a:pPr>
            <a:r>
              <a:rPr b="1" i="0" lang="en" sz="1100" u="none" cap="none" strike="noStrike">
                <a:solidFill>
                  <a:srgbClr val="22303C"/>
                </a:solidFill>
                <a:latin typeface="Calibri"/>
                <a:ea typeface="Calibri"/>
                <a:cs typeface="Calibri"/>
                <a:sym typeface="Calibri"/>
              </a:rPr>
              <a:t>A skew example with no skew</a:t>
            </a:r>
            <a:endParaRPr b="0" i="0" sz="1100" u="none" cap="none" strike="noStrike">
              <a:solidFill>
                <a:schemeClr val="dk1"/>
              </a:solidFill>
              <a:latin typeface="Calibri"/>
              <a:ea typeface="Calibri"/>
              <a:cs typeface="Calibri"/>
              <a:sym typeface="Calibri"/>
            </a:endParaRPr>
          </a:p>
        </p:txBody>
      </p:sp>
      <p:sp>
        <p:nvSpPr>
          <p:cNvPr id="521" name="Google Shape;521;p44"/>
          <p:cNvSpPr/>
          <p:nvPr/>
        </p:nvSpPr>
        <p:spPr>
          <a:xfrm>
            <a:off x="4663440" y="3017520"/>
            <a:ext cx="39090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7A"/>
              </a:buClr>
              <a:buSzPts val="1100"/>
              <a:buFont typeface="Calibri"/>
              <a:buNone/>
            </a:pPr>
            <a:r>
              <a:rPr b="0" i="0" lang="en" sz="1100" u="none" cap="none" strike="noStrike">
                <a:solidFill>
                  <a:srgbClr val="5A6B7A"/>
                </a:solidFill>
                <a:latin typeface="Calibri"/>
                <a:ea typeface="Calibri"/>
                <a:cs typeface="Calibri"/>
                <a:sym typeface="Calibri"/>
              </a:rPr>
              <a:t>The data was symmetric. The claim implied otherwise.</a:t>
            </a:r>
            <a:endParaRPr b="0" i="0" sz="1100" u="none" cap="none" strike="noStrike">
              <a:solidFill>
                <a:schemeClr val="dk1"/>
              </a:solidFill>
              <a:latin typeface="Calibri"/>
              <a:ea typeface="Calibri"/>
              <a:cs typeface="Calibri"/>
              <a:sym typeface="Calibri"/>
            </a:endParaRPr>
          </a:p>
        </p:txBody>
      </p:sp>
      <p:sp>
        <p:nvSpPr>
          <p:cNvPr id="522" name="Google Shape;522;p44"/>
          <p:cNvSpPr/>
          <p:nvPr/>
        </p:nvSpPr>
        <p:spPr>
          <a:xfrm>
            <a:off x="480060" y="3442716"/>
            <a:ext cx="8181594" cy="493776"/>
          </a:xfrm>
          <a:prstGeom prst="roundRect">
            <a:avLst>
              <a:gd fmla="val 11111" name="adj"/>
            </a:avLst>
          </a:prstGeom>
          <a:solidFill>
            <a:srgbClr val="F2F4F6"/>
          </a:solidFill>
          <a:ln cap="flat" cmpd="sng" w="12700">
            <a:solidFill>
              <a:srgbClr val="F2F4F6"/>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23" name="Google Shape;523;p44"/>
          <p:cNvSpPr/>
          <p:nvPr/>
        </p:nvSpPr>
        <p:spPr>
          <a:xfrm>
            <a:off x="720090" y="3552444"/>
            <a:ext cx="38404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303C"/>
              </a:buClr>
              <a:buSzPts val="1100"/>
              <a:buFont typeface="Calibri"/>
              <a:buNone/>
            </a:pPr>
            <a:r>
              <a:rPr b="1" i="0" lang="en" sz="1100" u="none" cap="none" strike="noStrike">
                <a:solidFill>
                  <a:srgbClr val="22303C"/>
                </a:solidFill>
                <a:latin typeface="Calibri"/>
                <a:ea typeface="Calibri"/>
                <a:cs typeface="Calibri"/>
                <a:sym typeface="Calibri"/>
              </a:rPr>
              <a:t>A 0/0 result written to disk</a:t>
            </a:r>
            <a:endParaRPr b="0" i="0" sz="1100" u="none" cap="none" strike="noStrike">
              <a:solidFill>
                <a:schemeClr val="dk1"/>
              </a:solidFill>
              <a:latin typeface="Calibri"/>
              <a:ea typeface="Calibri"/>
              <a:cs typeface="Calibri"/>
              <a:sym typeface="Calibri"/>
            </a:endParaRPr>
          </a:p>
        </p:txBody>
      </p:sp>
      <p:sp>
        <p:nvSpPr>
          <p:cNvPr id="524" name="Google Shape;524;p44"/>
          <p:cNvSpPr/>
          <p:nvPr/>
        </p:nvSpPr>
        <p:spPr>
          <a:xfrm>
            <a:off x="4663440" y="3552444"/>
            <a:ext cx="39090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7A"/>
              </a:buClr>
              <a:buSzPts val="1100"/>
              <a:buFont typeface="Calibri"/>
              <a:buNone/>
            </a:pPr>
            <a:r>
              <a:rPr b="0" i="0" lang="en" sz="1100" u="none" cap="none" strike="noStrike">
                <a:solidFill>
                  <a:srgbClr val="5A6B7A"/>
                </a:solidFill>
                <a:latin typeface="Calibri"/>
                <a:ea typeface="Calibri"/>
                <a:cs typeface="Calibri"/>
                <a:sym typeface="Calibri"/>
              </a:rPr>
              <a:t>Zero evals ran. It reported as a 0% score.</a:t>
            </a:r>
            <a:endParaRPr b="0" i="0" sz="1100" u="none" cap="none" strike="noStrike">
              <a:solidFill>
                <a:schemeClr val="dk1"/>
              </a:solidFill>
              <a:latin typeface="Calibri"/>
              <a:ea typeface="Calibri"/>
              <a:cs typeface="Calibri"/>
              <a:sym typeface="Calibri"/>
            </a:endParaRPr>
          </a:p>
        </p:txBody>
      </p:sp>
      <p:sp>
        <p:nvSpPr>
          <p:cNvPr id="525" name="Google Shape;525;p44"/>
          <p:cNvSpPr/>
          <p:nvPr/>
        </p:nvSpPr>
        <p:spPr>
          <a:xfrm>
            <a:off x="480060" y="4217670"/>
            <a:ext cx="8181594" cy="34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663C"/>
              </a:buClr>
              <a:buSzPts val="1400"/>
              <a:buFont typeface="Cambria"/>
              <a:buNone/>
            </a:pPr>
            <a:r>
              <a:rPr b="1" i="1" lang="en" sz="1400" u="none" cap="none" strike="noStrike">
                <a:solidFill>
                  <a:srgbClr val="E8663C"/>
                </a:solidFill>
                <a:latin typeface="Cambria"/>
                <a:ea typeface="Cambria"/>
                <a:cs typeface="Cambria"/>
                <a:sym typeface="Cambria"/>
              </a:rPr>
              <a:t>Every one was fluent, plausible, and would have passed review. Run the query.</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2303C"/>
        </a:solidFill>
      </p:bgPr>
    </p:bg>
    <p:spTree>
      <p:nvGrpSpPr>
        <p:cNvPr id="530" name="Shape 530"/>
        <p:cNvGrpSpPr/>
        <p:nvPr/>
      </p:nvGrpSpPr>
      <p:grpSpPr>
        <a:xfrm>
          <a:off x="0" y="0"/>
          <a:ext cx="0" cy="0"/>
          <a:chOff x="0" y="0"/>
          <a:chExt cx="0" cy="0"/>
        </a:xfrm>
      </p:grpSpPr>
      <p:sp>
        <p:nvSpPr>
          <p:cNvPr id="531" name="Google Shape;531;p45"/>
          <p:cNvSpPr/>
          <p:nvPr/>
        </p:nvSpPr>
        <p:spPr>
          <a:xfrm>
            <a:off x="480060" y="1371600"/>
            <a:ext cx="96000" cy="1714500"/>
          </a:xfrm>
          <a:prstGeom prst="roundRect">
            <a:avLst>
              <a:gd fmla="val 50000" name="adj"/>
            </a:avLst>
          </a:prstGeom>
          <a:solidFill>
            <a:srgbClr val="E8663C"/>
          </a:solidFill>
          <a:ln cap="flat" cmpd="sng" w="12700">
            <a:solidFill>
              <a:srgbClr val="E8663C"/>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32" name="Google Shape;532;p45"/>
          <p:cNvSpPr/>
          <p:nvPr/>
        </p:nvSpPr>
        <p:spPr>
          <a:xfrm>
            <a:off x="788670" y="1371600"/>
            <a:ext cx="6515100" cy="89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4400"/>
              <a:buFont typeface="Cambria"/>
              <a:buNone/>
            </a:pPr>
            <a:r>
              <a:rPr b="1" lang="en" sz="4400">
                <a:solidFill>
                  <a:srgbClr val="FFFFFF"/>
                </a:solidFill>
                <a:latin typeface="Cambria"/>
                <a:ea typeface="Cambria"/>
                <a:cs typeface="Cambria"/>
                <a:sym typeface="Cambria"/>
              </a:rPr>
              <a:t>Block 7: Operationalize</a:t>
            </a:r>
            <a:endParaRPr b="0" i="0" sz="4400" u="none" cap="none" strike="noStrike">
              <a:solidFill>
                <a:schemeClr val="dk1"/>
              </a:solidFill>
              <a:latin typeface="Calibri"/>
              <a:ea typeface="Calibri"/>
              <a:cs typeface="Calibri"/>
              <a:sym typeface="Calibri"/>
            </a:endParaRPr>
          </a:p>
        </p:txBody>
      </p:sp>
      <p:sp>
        <p:nvSpPr>
          <p:cNvPr id="533" name="Google Shape;533;p45"/>
          <p:cNvSpPr/>
          <p:nvPr/>
        </p:nvSpPr>
        <p:spPr>
          <a:xfrm>
            <a:off x="788670" y="4320540"/>
            <a:ext cx="54864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9A8"/>
              </a:buClr>
              <a:buSzPts val="1000"/>
              <a:buFont typeface="Calibri"/>
              <a:buNone/>
            </a:pPr>
            <a:r>
              <a:rPr b="0" i="0" lang="en" sz="1000" u="none" cap="none" strike="noStrike">
                <a:solidFill>
                  <a:srgbClr val="8A99A8"/>
                </a:solidFill>
                <a:latin typeface="Calibri"/>
                <a:ea typeface="Calibri"/>
                <a:cs typeface="Calibri"/>
                <a:sym typeface="Calibri"/>
              </a:rPr>
              <a:t>3-hour hands-on workshop</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38" name="Shape 538"/>
        <p:cNvGrpSpPr/>
        <p:nvPr/>
      </p:nvGrpSpPr>
      <p:grpSpPr>
        <a:xfrm>
          <a:off x="0" y="0"/>
          <a:ext cx="0" cy="0"/>
          <a:chOff x="0" y="0"/>
          <a:chExt cx="0" cy="0"/>
        </a:xfrm>
      </p:grpSpPr>
      <p:sp>
        <p:nvSpPr>
          <p:cNvPr id="539" name="Google Shape;539;p46"/>
          <p:cNvSpPr/>
          <p:nvPr/>
        </p:nvSpPr>
        <p:spPr>
          <a:xfrm>
            <a:off x="480060" y="192024"/>
            <a:ext cx="81816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663C"/>
              </a:buClr>
              <a:buSzPts val="800"/>
              <a:buFont typeface="Calibri"/>
              <a:buNone/>
            </a:pPr>
            <a:r>
              <a:rPr b="1" lang="en" sz="800">
                <a:solidFill>
                  <a:srgbClr val="E8663C"/>
                </a:solidFill>
                <a:latin typeface="Calibri"/>
                <a:ea typeface="Calibri"/>
                <a:cs typeface="Calibri"/>
                <a:sym typeface="Calibri"/>
              </a:rPr>
              <a:t>BLOCK OVERVIEW</a:t>
            </a:r>
            <a:endParaRPr b="0" i="0" sz="800" u="none" cap="none" strike="noStrike">
              <a:solidFill>
                <a:schemeClr val="dk1"/>
              </a:solidFill>
              <a:latin typeface="Calibri"/>
              <a:ea typeface="Calibri"/>
              <a:cs typeface="Calibri"/>
              <a:sym typeface="Calibri"/>
            </a:endParaRPr>
          </a:p>
        </p:txBody>
      </p:sp>
      <p:sp>
        <p:nvSpPr>
          <p:cNvPr id="540" name="Google Shape;540;p46"/>
          <p:cNvSpPr/>
          <p:nvPr/>
        </p:nvSpPr>
        <p:spPr>
          <a:xfrm>
            <a:off x="480060" y="342900"/>
            <a:ext cx="8181600" cy="617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303C"/>
              </a:buClr>
              <a:buSzPts val="2600"/>
              <a:buFont typeface="Cambria"/>
              <a:buNone/>
            </a:pPr>
            <a:r>
              <a:rPr b="1" lang="en" sz="2600">
                <a:solidFill>
                  <a:srgbClr val="22303C"/>
                </a:solidFill>
                <a:latin typeface="Cambria"/>
                <a:ea typeface="Cambria"/>
                <a:cs typeface="Cambria"/>
                <a:sym typeface="Cambria"/>
              </a:rPr>
              <a:t>Block 7: Operationalize (3:35 - 3:50 - 15 min)</a:t>
            </a:r>
            <a:endParaRPr b="0" i="0" sz="2600" u="none" cap="none" strike="noStrike">
              <a:solidFill>
                <a:schemeClr val="dk1"/>
              </a:solidFill>
              <a:latin typeface="Calibri"/>
              <a:ea typeface="Calibri"/>
              <a:cs typeface="Calibri"/>
              <a:sym typeface="Calibri"/>
            </a:endParaRPr>
          </a:p>
        </p:txBody>
      </p:sp>
      <p:sp>
        <p:nvSpPr>
          <p:cNvPr id="541" name="Google Shape;541;p46"/>
          <p:cNvSpPr txBox="1"/>
          <p:nvPr/>
        </p:nvSpPr>
        <p:spPr>
          <a:xfrm>
            <a:off x="528725" y="1073425"/>
            <a:ext cx="8181600" cy="367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00"/>
              <a:t>For this block we're going to </a:t>
            </a:r>
            <a:r>
              <a:rPr b="1" lang="en" sz="900"/>
              <a:t>learn how a reference doc stays alive after today</a:t>
            </a:r>
            <a:r>
              <a:rPr lang="en" sz="900"/>
              <a:t> in order to </a:t>
            </a:r>
            <a:r>
              <a:rPr b="1" lang="en" sz="900"/>
              <a:t>understand the difference between a one-time fix and a system that improves over time.</a:t>
            </a:r>
            <a:r>
              <a:rPr lang="en" sz="900"/>
              <a:t> </a:t>
            </a:r>
            <a:endParaRPr b="1" sz="900"/>
          </a:p>
          <a:p>
            <a:pPr indent="0" lvl="0" marL="0" rtl="0" algn="l">
              <a:lnSpc>
                <a:spcPct val="115000"/>
              </a:lnSpc>
              <a:spcBef>
                <a:spcPts val="0"/>
              </a:spcBef>
              <a:spcAft>
                <a:spcPts val="0"/>
              </a:spcAft>
              <a:buNone/>
            </a:pPr>
            <a:r>
              <a:t/>
            </a:r>
            <a:endParaRPr sz="900">
              <a:solidFill>
                <a:srgbClr val="ED7D31"/>
              </a:solidFill>
            </a:endParaRPr>
          </a:p>
          <a:p>
            <a:pPr indent="0" lvl="0" marL="0" rtl="0" algn="l">
              <a:lnSpc>
                <a:spcPct val="115000"/>
              </a:lnSpc>
              <a:spcBef>
                <a:spcPts val="800"/>
              </a:spcBef>
              <a:spcAft>
                <a:spcPts val="0"/>
              </a:spcAft>
              <a:buNone/>
            </a:pPr>
            <a:r>
              <a:rPr b="1" lang="en" sz="900">
                <a:solidFill>
                  <a:srgbClr val="ED7D31"/>
                </a:solidFill>
              </a:rPr>
              <a:t>What's happening</a:t>
            </a:r>
            <a:endParaRPr b="1" sz="900">
              <a:solidFill>
                <a:srgbClr val="ED7D31"/>
              </a:solidFill>
            </a:endParaRPr>
          </a:p>
          <a:p>
            <a:pPr indent="0" lvl="0" marL="0" rtl="0" algn="l">
              <a:lnSpc>
                <a:spcPct val="115000"/>
              </a:lnSpc>
              <a:spcBef>
                <a:spcPts val="800"/>
              </a:spcBef>
              <a:spcAft>
                <a:spcPts val="0"/>
              </a:spcAft>
              <a:buNone/>
            </a:pPr>
            <a:r>
              <a:rPr lang="en" sz="900">
                <a:solidFill>
                  <a:schemeClr val="dk1"/>
                </a:solidFill>
              </a:rPr>
              <a:t>Rob covers three ideas: the provenance footer (how every delivered answer discloses its source and assumptions), correction harvesting (turning stakeholder corrections into new Gotchas and assertions), and freshness checking (how to catch a doc that's gone stale).  </a:t>
            </a:r>
            <a:endParaRPr sz="900">
              <a:solidFill>
                <a:schemeClr val="dk1"/>
              </a:solidFill>
            </a:endParaRPr>
          </a:p>
          <a:p>
            <a:pPr indent="0" lvl="0" marL="0" rtl="0" algn="l">
              <a:lnSpc>
                <a:spcPct val="115000"/>
              </a:lnSpc>
              <a:spcBef>
                <a:spcPts val="800"/>
              </a:spcBef>
              <a:spcAft>
                <a:spcPts val="0"/>
              </a:spcAft>
              <a:buNone/>
            </a:pPr>
            <a:r>
              <a:rPr b="1" lang="en" sz="900">
                <a:solidFill>
                  <a:srgbClr val="ED7D31"/>
                </a:solidFill>
              </a:rPr>
              <a:t>What you're creating</a:t>
            </a:r>
            <a:endParaRPr b="1" sz="900">
              <a:solidFill>
                <a:srgbClr val="ED7D31"/>
              </a:solidFill>
            </a:endParaRPr>
          </a:p>
          <a:p>
            <a:pPr indent="-285750" lvl="0" marL="457200" rtl="0" algn="l">
              <a:lnSpc>
                <a:spcPct val="115000"/>
              </a:lnSpc>
              <a:spcBef>
                <a:spcPts val="800"/>
              </a:spcBef>
              <a:spcAft>
                <a:spcPts val="0"/>
              </a:spcAft>
              <a:buClr>
                <a:schemeClr val="dk1"/>
              </a:buClr>
              <a:buSzPts val="900"/>
              <a:buChar char="●"/>
            </a:pPr>
            <a:r>
              <a:rPr b="1" lang="en" sz="900">
                <a:solidFill>
                  <a:schemeClr val="dk1"/>
                </a:solidFill>
                <a:highlight>
                  <a:srgbClr val="D9EAD3"/>
                </a:highlight>
              </a:rPr>
              <a:t>Nothing — </a:t>
            </a:r>
            <a:r>
              <a:rPr lang="en" sz="900">
                <a:solidFill>
                  <a:schemeClr val="dk1"/>
                </a:solidFill>
                <a:highlight>
                  <a:srgbClr val="D9EAD3"/>
                </a:highlight>
              </a:rPr>
              <a:t>this is a talk-through block. You're connecting what you built today to how it would actually work in a production analytics environment. No worksheet, no file to save.  </a:t>
            </a:r>
            <a:endParaRPr sz="900">
              <a:solidFill>
                <a:schemeClr val="dk1"/>
              </a:solidFill>
              <a:highlight>
                <a:srgbClr val="D9EAD3"/>
              </a:highlight>
            </a:endParaRPr>
          </a:p>
          <a:p>
            <a:pPr indent="0" lvl="0" marL="0" rtl="0" algn="l">
              <a:lnSpc>
                <a:spcPct val="115000"/>
              </a:lnSpc>
              <a:spcBef>
                <a:spcPts val="800"/>
              </a:spcBef>
              <a:spcAft>
                <a:spcPts val="0"/>
              </a:spcAft>
              <a:buNone/>
            </a:pPr>
            <a:r>
              <a:rPr b="1" lang="en" sz="900">
                <a:solidFill>
                  <a:srgbClr val="ED7D31"/>
                </a:solidFill>
              </a:rPr>
              <a:t>The key takeaway</a:t>
            </a:r>
            <a:endParaRPr b="1" sz="900">
              <a:solidFill>
                <a:srgbClr val="ED7D31"/>
              </a:solidFill>
            </a:endParaRPr>
          </a:p>
          <a:p>
            <a:pPr indent="0" lvl="0" marL="0" rtl="0" algn="l">
              <a:lnSpc>
                <a:spcPct val="115000"/>
              </a:lnSpc>
              <a:spcBef>
                <a:spcPts val="800"/>
              </a:spcBef>
              <a:spcAft>
                <a:spcPts val="0"/>
              </a:spcAft>
              <a:buNone/>
            </a:pPr>
            <a:r>
              <a:rPr lang="en" sz="900">
                <a:solidFill>
                  <a:schemeClr val="dk1"/>
                </a:solidFill>
              </a:rPr>
              <a:t>A reference doc written once and never updated is worse than no doc at all — it becomes a confident, authoritative source of wrong answers. The correction loop (stakeholder says you're wrong → you add a Gotcha → you add an assertion → the next run catches it) is what turns a static document into a system that learns. </a:t>
            </a:r>
            <a:endParaRPr sz="900">
              <a:solidFill>
                <a:schemeClr val="dk1"/>
              </a:solidFill>
            </a:endParaRPr>
          </a:p>
          <a:p>
            <a:pPr indent="0" lvl="0" marL="0" rtl="0" algn="l">
              <a:lnSpc>
                <a:spcPct val="115000"/>
              </a:lnSpc>
              <a:spcBef>
                <a:spcPts val="800"/>
              </a:spcBef>
              <a:spcAft>
                <a:spcPts val="0"/>
              </a:spcAft>
              <a:buNone/>
            </a:pPr>
            <a:r>
              <a:rPr b="1" lang="en" sz="900">
                <a:solidFill>
                  <a:schemeClr val="dk1"/>
                </a:solidFill>
                <a:highlight>
                  <a:srgbClr val="F9CB9C"/>
                </a:highlight>
              </a:rPr>
              <a:t>If you have a question, try framing it as multiple choice:</a:t>
            </a:r>
            <a:endParaRPr b="1" sz="900">
              <a:solidFill>
                <a:schemeClr val="dk1"/>
              </a:solidFill>
              <a:highlight>
                <a:srgbClr val="F9CB9C"/>
              </a:highlight>
            </a:endParaRPr>
          </a:p>
          <a:p>
            <a:pPr indent="0" lvl="0" marL="0" rtl="0" algn="l">
              <a:lnSpc>
                <a:spcPct val="115000"/>
              </a:lnSpc>
              <a:spcBef>
                <a:spcPts val="800"/>
              </a:spcBef>
              <a:spcAft>
                <a:spcPts val="0"/>
              </a:spcAft>
              <a:buNone/>
            </a:pPr>
            <a:r>
              <a:rPr lang="en" sz="900">
                <a:solidFill>
                  <a:schemeClr val="dk1"/>
                </a:solidFill>
                <a:highlight>
                  <a:srgbClr val="F9CB9C"/>
                </a:highlight>
              </a:rPr>
              <a:t>"Does correction harvesting happen automatically, does someone have to do it manually, or does the agent do it itself?" gets you a clear answer.  </a:t>
            </a:r>
            <a:endParaRPr sz="900">
              <a:solidFill>
                <a:schemeClr val="dk1"/>
              </a:solidFill>
              <a:highlight>
                <a:srgbClr val="F9CB9C"/>
              </a:highlight>
            </a:endParaRPr>
          </a:p>
          <a:p>
            <a:pPr indent="0" lvl="0" marL="0" rtl="0" algn="l">
              <a:spcBef>
                <a:spcPts val="800"/>
              </a:spcBef>
              <a:spcAft>
                <a:spcPts val="0"/>
              </a:spcAft>
              <a:buNone/>
            </a:pPr>
            <a:r>
              <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2303C"/>
        </a:solidFill>
      </p:bgPr>
    </p:bg>
    <p:spTree>
      <p:nvGrpSpPr>
        <p:cNvPr id="546" name="Shape 546"/>
        <p:cNvGrpSpPr/>
        <p:nvPr/>
      </p:nvGrpSpPr>
      <p:grpSpPr>
        <a:xfrm>
          <a:off x="0" y="0"/>
          <a:ext cx="0" cy="0"/>
          <a:chOff x="0" y="0"/>
          <a:chExt cx="0" cy="0"/>
        </a:xfrm>
      </p:grpSpPr>
      <p:sp>
        <p:nvSpPr>
          <p:cNvPr id="547" name="Google Shape;547;p47"/>
          <p:cNvSpPr/>
          <p:nvPr/>
        </p:nvSpPr>
        <p:spPr>
          <a:xfrm>
            <a:off x="480060" y="1371600"/>
            <a:ext cx="96000" cy="1714500"/>
          </a:xfrm>
          <a:prstGeom prst="roundRect">
            <a:avLst>
              <a:gd fmla="val 50000" name="adj"/>
            </a:avLst>
          </a:prstGeom>
          <a:solidFill>
            <a:srgbClr val="E8663C"/>
          </a:solidFill>
          <a:ln cap="flat" cmpd="sng" w="12700">
            <a:solidFill>
              <a:srgbClr val="E8663C"/>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48" name="Google Shape;548;p47"/>
          <p:cNvSpPr/>
          <p:nvPr/>
        </p:nvSpPr>
        <p:spPr>
          <a:xfrm>
            <a:off x="788670" y="1371600"/>
            <a:ext cx="6515100" cy="89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4400"/>
              <a:buFont typeface="Cambria"/>
              <a:buNone/>
            </a:pPr>
            <a:r>
              <a:rPr b="1" lang="en" sz="4400">
                <a:solidFill>
                  <a:srgbClr val="FFFFFF"/>
                </a:solidFill>
                <a:latin typeface="Cambria"/>
                <a:ea typeface="Cambria"/>
                <a:cs typeface="Cambria"/>
                <a:sym typeface="Cambria"/>
              </a:rPr>
              <a:t>Block 8: </a:t>
            </a:r>
            <a:r>
              <a:rPr b="1" lang="en" sz="4400">
                <a:solidFill>
                  <a:srgbClr val="FFFFFF"/>
                </a:solidFill>
                <a:latin typeface="Cambria"/>
                <a:ea typeface="Cambria"/>
                <a:cs typeface="Cambria"/>
                <a:sym typeface="Cambria"/>
              </a:rPr>
              <a:t>Contribute</a:t>
            </a:r>
            <a:r>
              <a:rPr b="1" lang="en" sz="4400">
                <a:solidFill>
                  <a:srgbClr val="FFFFFF"/>
                </a:solidFill>
                <a:latin typeface="Cambria"/>
                <a:ea typeface="Cambria"/>
                <a:cs typeface="Cambria"/>
                <a:sym typeface="Cambria"/>
              </a:rPr>
              <a:t> and Wrap</a:t>
            </a:r>
            <a:endParaRPr b="0" i="0" sz="4400" u="none" cap="none" strike="noStrike">
              <a:solidFill>
                <a:schemeClr val="dk1"/>
              </a:solidFill>
              <a:latin typeface="Calibri"/>
              <a:ea typeface="Calibri"/>
              <a:cs typeface="Calibri"/>
              <a:sym typeface="Calibri"/>
            </a:endParaRPr>
          </a:p>
        </p:txBody>
      </p:sp>
      <p:sp>
        <p:nvSpPr>
          <p:cNvPr id="549" name="Google Shape;549;p47"/>
          <p:cNvSpPr/>
          <p:nvPr/>
        </p:nvSpPr>
        <p:spPr>
          <a:xfrm>
            <a:off x="788670" y="4320540"/>
            <a:ext cx="54864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9A8"/>
              </a:buClr>
              <a:buSzPts val="1000"/>
              <a:buFont typeface="Calibri"/>
              <a:buNone/>
            </a:pPr>
            <a:r>
              <a:rPr b="0" i="0" lang="en" sz="1000" u="none" cap="none" strike="noStrike">
                <a:solidFill>
                  <a:srgbClr val="8A99A8"/>
                </a:solidFill>
                <a:latin typeface="Calibri"/>
                <a:ea typeface="Calibri"/>
                <a:cs typeface="Calibri"/>
                <a:sym typeface="Calibri"/>
              </a:rPr>
              <a:t>3-hour hands-on workshop</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54" name="Shape 554"/>
        <p:cNvGrpSpPr/>
        <p:nvPr/>
      </p:nvGrpSpPr>
      <p:grpSpPr>
        <a:xfrm>
          <a:off x="0" y="0"/>
          <a:ext cx="0" cy="0"/>
          <a:chOff x="0" y="0"/>
          <a:chExt cx="0" cy="0"/>
        </a:xfrm>
      </p:grpSpPr>
      <p:sp>
        <p:nvSpPr>
          <p:cNvPr id="555" name="Google Shape;555;p48"/>
          <p:cNvSpPr/>
          <p:nvPr/>
        </p:nvSpPr>
        <p:spPr>
          <a:xfrm>
            <a:off x="480060" y="192024"/>
            <a:ext cx="81816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663C"/>
              </a:buClr>
              <a:buSzPts val="800"/>
              <a:buFont typeface="Calibri"/>
              <a:buNone/>
            </a:pPr>
            <a:r>
              <a:rPr b="1" lang="en" sz="800">
                <a:solidFill>
                  <a:srgbClr val="E8663C"/>
                </a:solidFill>
                <a:latin typeface="Calibri"/>
                <a:ea typeface="Calibri"/>
                <a:cs typeface="Calibri"/>
                <a:sym typeface="Calibri"/>
              </a:rPr>
              <a:t>BLOCK OVERVIEW</a:t>
            </a:r>
            <a:endParaRPr b="0" i="0" sz="800" u="none" cap="none" strike="noStrike">
              <a:solidFill>
                <a:schemeClr val="dk1"/>
              </a:solidFill>
              <a:latin typeface="Calibri"/>
              <a:ea typeface="Calibri"/>
              <a:cs typeface="Calibri"/>
              <a:sym typeface="Calibri"/>
            </a:endParaRPr>
          </a:p>
        </p:txBody>
      </p:sp>
      <p:sp>
        <p:nvSpPr>
          <p:cNvPr id="556" name="Google Shape;556;p48"/>
          <p:cNvSpPr/>
          <p:nvPr/>
        </p:nvSpPr>
        <p:spPr>
          <a:xfrm>
            <a:off x="480060" y="342900"/>
            <a:ext cx="8181600" cy="617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303C"/>
              </a:buClr>
              <a:buSzPts val="2600"/>
              <a:buFont typeface="Cambria"/>
              <a:buNone/>
            </a:pPr>
            <a:r>
              <a:rPr b="1" lang="en" sz="2600">
                <a:solidFill>
                  <a:srgbClr val="22303C"/>
                </a:solidFill>
                <a:latin typeface="Cambria"/>
                <a:ea typeface="Cambria"/>
                <a:cs typeface="Cambria"/>
                <a:sym typeface="Cambria"/>
              </a:rPr>
              <a:t>Block 8: Contribute and Wrap (3:50 - 4:00 - 10 min)</a:t>
            </a:r>
            <a:endParaRPr b="0" i="0" sz="2600" u="none" cap="none" strike="noStrike">
              <a:solidFill>
                <a:schemeClr val="dk1"/>
              </a:solidFill>
              <a:latin typeface="Calibri"/>
              <a:ea typeface="Calibri"/>
              <a:cs typeface="Calibri"/>
              <a:sym typeface="Calibri"/>
            </a:endParaRPr>
          </a:p>
        </p:txBody>
      </p:sp>
      <p:sp>
        <p:nvSpPr>
          <p:cNvPr id="557" name="Google Shape;557;p48"/>
          <p:cNvSpPr txBox="1"/>
          <p:nvPr/>
        </p:nvSpPr>
        <p:spPr>
          <a:xfrm>
            <a:off x="528725" y="1073425"/>
            <a:ext cx="8181600" cy="3512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00"/>
              <a:t>For this block we're going to </a:t>
            </a:r>
            <a:r>
              <a:rPr b="1" lang="en" sz="900"/>
              <a:t>contribute our reference doc to the open-source repo</a:t>
            </a:r>
            <a:r>
              <a:rPr lang="en" sz="900"/>
              <a:t> and create a </a:t>
            </a:r>
            <a:r>
              <a:rPr b="1" lang="en" sz="900"/>
              <a:t>pull request</a:t>
            </a:r>
            <a:r>
              <a:rPr lang="en" sz="900"/>
              <a:t> (or send an email) in order to </a:t>
            </a:r>
            <a:r>
              <a:rPr b="1" lang="en" sz="900"/>
              <a:t>make today's work available to everyone who uses this pack after us.</a:t>
            </a:r>
            <a:r>
              <a:rPr lang="en" sz="900"/>
              <a:t> </a:t>
            </a:r>
            <a:endParaRPr b="1" sz="900"/>
          </a:p>
          <a:p>
            <a:pPr indent="0" lvl="0" marL="0" rtl="0" algn="l">
              <a:lnSpc>
                <a:spcPct val="115000"/>
              </a:lnSpc>
              <a:spcBef>
                <a:spcPts val="0"/>
              </a:spcBef>
              <a:spcAft>
                <a:spcPts val="0"/>
              </a:spcAft>
              <a:buNone/>
            </a:pPr>
            <a:r>
              <a:t/>
            </a:r>
            <a:endParaRPr sz="900">
              <a:solidFill>
                <a:srgbClr val="ED7D31"/>
              </a:solidFill>
            </a:endParaRPr>
          </a:p>
          <a:p>
            <a:pPr indent="0" lvl="0" marL="0" rtl="0" algn="l">
              <a:lnSpc>
                <a:spcPct val="115000"/>
              </a:lnSpc>
              <a:spcBef>
                <a:spcPts val="800"/>
              </a:spcBef>
              <a:spcAft>
                <a:spcPts val="0"/>
              </a:spcAft>
              <a:buNone/>
            </a:pPr>
            <a:r>
              <a:rPr b="1" lang="en" sz="900">
                <a:solidFill>
                  <a:srgbClr val="ED7D31"/>
                </a:solidFill>
              </a:rPr>
              <a:t>What's happening</a:t>
            </a:r>
            <a:endParaRPr b="1" sz="900">
              <a:solidFill>
                <a:srgbClr val="ED7D31"/>
              </a:solidFill>
            </a:endParaRPr>
          </a:p>
          <a:p>
            <a:pPr indent="0" lvl="0" marL="0" rtl="0" algn="l">
              <a:lnSpc>
                <a:spcPct val="115000"/>
              </a:lnSpc>
              <a:spcBef>
                <a:spcPts val="800"/>
              </a:spcBef>
              <a:spcAft>
                <a:spcPts val="0"/>
              </a:spcAft>
              <a:buNone/>
            </a:pPr>
            <a:r>
              <a:rPr lang="en" sz="900">
                <a:solidFill>
                  <a:schemeClr val="dk1"/>
                </a:solidFill>
              </a:rPr>
              <a:t>The repo is real, public, and MIT-licensed. Your reference doc is a real contribution. You can open a pull request from your browser in about 8 clicks — no git commands needed. If you're not comfortable making a GitHub account, emailing your file to Rob works just as well. </a:t>
            </a:r>
            <a:endParaRPr sz="900">
              <a:solidFill>
                <a:schemeClr val="dk1"/>
              </a:solidFill>
            </a:endParaRPr>
          </a:p>
          <a:p>
            <a:pPr indent="0" lvl="0" marL="0" rtl="0" algn="l">
              <a:lnSpc>
                <a:spcPct val="115000"/>
              </a:lnSpc>
              <a:spcBef>
                <a:spcPts val="800"/>
              </a:spcBef>
              <a:spcAft>
                <a:spcPts val="0"/>
              </a:spcAft>
              <a:buNone/>
            </a:pPr>
            <a:r>
              <a:rPr b="1" lang="en" sz="900">
                <a:solidFill>
                  <a:srgbClr val="ED7D31"/>
                </a:solidFill>
              </a:rPr>
              <a:t>What you're creating</a:t>
            </a:r>
            <a:endParaRPr b="1" sz="900">
              <a:solidFill>
                <a:srgbClr val="ED7D31"/>
              </a:solidFill>
            </a:endParaRPr>
          </a:p>
          <a:p>
            <a:pPr indent="-285750" lvl="0" marL="457200" rtl="0" algn="l">
              <a:lnSpc>
                <a:spcPct val="115000"/>
              </a:lnSpc>
              <a:spcBef>
                <a:spcPts val="800"/>
              </a:spcBef>
              <a:spcAft>
                <a:spcPts val="0"/>
              </a:spcAft>
              <a:buClr>
                <a:schemeClr val="dk1"/>
              </a:buClr>
              <a:buSzPts val="900"/>
              <a:buChar char="●"/>
            </a:pPr>
            <a:r>
              <a:rPr b="1" lang="en" sz="900">
                <a:solidFill>
                  <a:schemeClr val="dk1"/>
                </a:solidFill>
                <a:highlight>
                  <a:srgbClr val="D9EAD3"/>
                </a:highlight>
              </a:rPr>
              <a:t>A pull request </a:t>
            </a:r>
            <a:r>
              <a:rPr lang="en" sz="900">
                <a:solidFill>
                  <a:schemeClr val="dk1"/>
                </a:solidFill>
                <a:highlight>
                  <a:srgbClr val="D9EAD3"/>
                </a:highlight>
              </a:rPr>
              <a:t>(or an email attachment) containing your references/.md. When it's merged, your name goes in the README's Contributors section. </a:t>
            </a:r>
            <a:endParaRPr sz="900">
              <a:solidFill>
                <a:schemeClr val="dk1"/>
              </a:solidFill>
              <a:highlight>
                <a:srgbClr val="D9EAD3"/>
              </a:highlight>
            </a:endParaRPr>
          </a:p>
          <a:p>
            <a:pPr indent="0" lvl="0" marL="0" rtl="0" algn="l">
              <a:lnSpc>
                <a:spcPct val="115000"/>
              </a:lnSpc>
              <a:spcBef>
                <a:spcPts val="800"/>
              </a:spcBef>
              <a:spcAft>
                <a:spcPts val="0"/>
              </a:spcAft>
              <a:buNone/>
            </a:pPr>
            <a:r>
              <a:rPr b="1" lang="en" sz="900">
                <a:solidFill>
                  <a:srgbClr val="ED7D31"/>
                </a:solidFill>
              </a:rPr>
              <a:t>What to pay attention to</a:t>
            </a:r>
            <a:endParaRPr b="1" sz="900">
              <a:solidFill>
                <a:srgbClr val="ED7D31"/>
              </a:solidFill>
            </a:endParaRPr>
          </a:p>
          <a:p>
            <a:pPr indent="-285750" lvl="0" marL="457200" rtl="0" algn="l">
              <a:lnSpc>
                <a:spcPct val="115000"/>
              </a:lnSpc>
              <a:spcBef>
                <a:spcPts val="800"/>
              </a:spcBef>
              <a:spcAft>
                <a:spcPts val="0"/>
              </a:spcAft>
              <a:buClr>
                <a:schemeClr val="dk1"/>
              </a:buClr>
              <a:buSzPts val="900"/>
              <a:buChar char="●"/>
            </a:pPr>
            <a:r>
              <a:rPr lang="en" sz="900">
                <a:solidFill>
                  <a:schemeClr val="dk1"/>
                </a:solidFill>
              </a:rPr>
              <a:t>A GitHub account (free — sign up at github.com if you don't have one)</a:t>
            </a:r>
            <a:endParaRPr sz="900">
              <a:solidFill>
                <a:schemeClr val="dk1"/>
              </a:solidFill>
            </a:endParaRPr>
          </a:p>
          <a:p>
            <a:pPr indent="-285750" lvl="0" marL="457200" rtl="0" algn="l">
              <a:lnSpc>
                <a:spcPct val="115000"/>
              </a:lnSpc>
              <a:spcBef>
                <a:spcPts val="0"/>
              </a:spcBef>
              <a:spcAft>
                <a:spcPts val="0"/>
              </a:spcAft>
              <a:buClr>
                <a:schemeClr val="dk1"/>
              </a:buClr>
              <a:buSzPts val="900"/>
              <a:buChar char="●"/>
            </a:pPr>
            <a:r>
              <a:rPr lang="en" sz="900">
                <a:solidFill>
                  <a:schemeClr val="dk1"/>
                </a:solidFill>
              </a:rPr>
              <a:t>Your completed reference doc from Build</a:t>
            </a:r>
            <a:endParaRPr sz="900">
              <a:solidFill>
                <a:schemeClr val="dk1"/>
              </a:solidFill>
            </a:endParaRPr>
          </a:p>
          <a:p>
            <a:pPr indent="-285750" lvl="0" marL="457200" rtl="0" algn="l">
              <a:lnSpc>
                <a:spcPct val="115000"/>
              </a:lnSpc>
              <a:spcBef>
                <a:spcPts val="0"/>
              </a:spcBef>
              <a:spcAft>
                <a:spcPts val="0"/>
              </a:spcAft>
              <a:buClr>
                <a:schemeClr val="dk1"/>
              </a:buClr>
              <a:buSzPts val="900"/>
              <a:buChar char="●"/>
            </a:pPr>
            <a:r>
              <a:rPr lang="en" sz="900">
                <a:solidFill>
                  <a:schemeClr val="dk1"/>
                </a:solidFill>
              </a:rPr>
              <a:t>The </a:t>
            </a:r>
            <a:r>
              <a:rPr b="1" lang="en" sz="900">
                <a:solidFill>
                  <a:schemeClr val="dk1"/>
                </a:solidFill>
              </a:rPr>
              <a:t>PR Flow Cheat Sheet</a:t>
            </a:r>
            <a:r>
              <a:rPr lang="en" sz="900">
                <a:solidFill>
                  <a:schemeClr val="dk1"/>
                </a:solidFill>
              </a:rPr>
              <a:t> if you've never opened a pull request before </a:t>
            </a:r>
            <a:endParaRPr sz="900">
              <a:solidFill>
                <a:schemeClr val="dk1"/>
              </a:solidFill>
            </a:endParaRPr>
          </a:p>
          <a:p>
            <a:pPr indent="0" lvl="0" marL="0" rtl="0" algn="l">
              <a:lnSpc>
                <a:spcPct val="115000"/>
              </a:lnSpc>
              <a:spcBef>
                <a:spcPts val="800"/>
              </a:spcBef>
              <a:spcAft>
                <a:spcPts val="0"/>
              </a:spcAft>
              <a:buNone/>
            </a:pPr>
            <a:r>
              <a:rPr b="1" lang="en" sz="900">
                <a:solidFill>
                  <a:schemeClr val="dk1"/>
                </a:solidFill>
                <a:highlight>
                  <a:srgbClr val="F9CB9C"/>
                </a:highlight>
              </a:rPr>
              <a:t>If you have a question, try framing it as multiple choice:</a:t>
            </a:r>
            <a:endParaRPr b="1" sz="900">
              <a:solidFill>
                <a:schemeClr val="dk1"/>
              </a:solidFill>
              <a:highlight>
                <a:srgbClr val="F9CB9C"/>
              </a:highlight>
            </a:endParaRPr>
          </a:p>
          <a:p>
            <a:pPr indent="0" lvl="0" marL="0" rtl="0" algn="l">
              <a:lnSpc>
                <a:spcPct val="115000"/>
              </a:lnSpc>
              <a:spcBef>
                <a:spcPts val="800"/>
              </a:spcBef>
              <a:spcAft>
                <a:spcPts val="0"/>
              </a:spcAft>
              <a:buNone/>
            </a:pPr>
            <a:r>
              <a:rPr lang="en" sz="900">
                <a:solidFill>
                  <a:schemeClr val="dk1"/>
                </a:solidFill>
                <a:highlight>
                  <a:srgbClr val="F9CB9C"/>
                </a:highlight>
              </a:rPr>
              <a:t>"Do I upload to the main page, the references folder, or my own fork?" is answerable in one sentence. "How does GitHub work?" is a workshop unto itself. </a:t>
            </a:r>
            <a:endParaRPr sz="900">
              <a:solidFill>
                <a:schemeClr val="dk1"/>
              </a:solidFill>
              <a:highlight>
                <a:srgbClr val="F9CB9C"/>
              </a:highlight>
            </a:endParaRPr>
          </a:p>
          <a:p>
            <a:pPr indent="0" lvl="0" marL="0" rtl="0" algn="l">
              <a:spcBef>
                <a:spcPts val="800"/>
              </a:spcBef>
              <a:spcAft>
                <a:spcPts val="0"/>
              </a:spcAft>
              <a:buNone/>
            </a:pPr>
            <a:r>
              <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2303C"/>
        </a:solidFill>
      </p:bgPr>
    </p:bg>
    <p:spTree>
      <p:nvGrpSpPr>
        <p:cNvPr id="562" name="Shape 562"/>
        <p:cNvGrpSpPr/>
        <p:nvPr/>
      </p:nvGrpSpPr>
      <p:grpSpPr>
        <a:xfrm>
          <a:off x="0" y="0"/>
          <a:ext cx="0" cy="0"/>
          <a:chOff x="0" y="0"/>
          <a:chExt cx="0" cy="0"/>
        </a:xfrm>
      </p:grpSpPr>
      <p:sp>
        <p:nvSpPr>
          <p:cNvPr id="563" name="Google Shape;563;p49"/>
          <p:cNvSpPr/>
          <p:nvPr/>
        </p:nvSpPr>
        <p:spPr>
          <a:xfrm>
            <a:off x="480060" y="1234440"/>
            <a:ext cx="96012" cy="2331720"/>
          </a:xfrm>
          <a:prstGeom prst="roundRect">
            <a:avLst>
              <a:gd fmla="val 50000" name="adj"/>
            </a:avLst>
          </a:prstGeom>
          <a:solidFill>
            <a:srgbClr val="E8663C"/>
          </a:solidFill>
          <a:ln cap="flat" cmpd="sng" w="12700">
            <a:solidFill>
              <a:srgbClr val="E8663C"/>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64" name="Google Shape;564;p49"/>
          <p:cNvSpPr/>
          <p:nvPr/>
        </p:nvSpPr>
        <p:spPr>
          <a:xfrm>
            <a:off x="788670" y="1200150"/>
            <a:ext cx="6858000" cy="4800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900"/>
              <a:buFont typeface="Cambria"/>
              <a:buNone/>
            </a:pPr>
            <a:r>
              <a:rPr b="1" i="0" lang="en" sz="2900" u="none" cap="none" strike="noStrike">
                <a:solidFill>
                  <a:srgbClr val="FFFFFF"/>
                </a:solidFill>
                <a:latin typeface="Cambria"/>
                <a:ea typeface="Cambria"/>
                <a:cs typeface="Cambria"/>
                <a:sym typeface="Cambria"/>
              </a:rPr>
              <a:t>What you take home</a:t>
            </a:r>
            <a:endParaRPr b="0" i="0" sz="2900" u="none" cap="none" strike="noStrike">
              <a:solidFill>
                <a:schemeClr val="dk1"/>
              </a:solidFill>
              <a:latin typeface="Calibri"/>
              <a:ea typeface="Calibri"/>
              <a:cs typeface="Calibri"/>
              <a:sym typeface="Calibri"/>
            </a:endParaRPr>
          </a:p>
        </p:txBody>
      </p:sp>
      <p:sp>
        <p:nvSpPr>
          <p:cNvPr id="565" name="Google Shape;565;p49"/>
          <p:cNvSpPr/>
          <p:nvPr/>
        </p:nvSpPr>
        <p:spPr>
          <a:xfrm>
            <a:off x="788670" y="1817370"/>
            <a:ext cx="7200900" cy="1783080"/>
          </a:xfrm>
          <a:prstGeom prst="rect">
            <a:avLst/>
          </a:prstGeom>
          <a:noFill/>
          <a:ln>
            <a:noFill/>
          </a:ln>
        </p:spPr>
        <p:txBody>
          <a:bodyPr anchorCtr="0" anchor="ctr" bIns="0" lIns="0" spcFirstLastPara="1" rIns="0" wrap="square" tIns="0">
            <a:noAutofit/>
          </a:bodyPr>
          <a:lstStyle/>
          <a:p>
            <a:pPr indent="-260350" lvl="0" marL="254000" marR="0" rtl="0" algn="l">
              <a:spcBef>
                <a:spcPts val="0"/>
              </a:spcBef>
              <a:spcAft>
                <a:spcPts val="0"/>
              </a:spcAft>
              <a:buClr>
                <a:srgbClr val="CBD5DD"/>
              </a:buClr>
              <a:buSzPts val="1300"/>
              <a:buFont typeface="Calibri"/>
              <a:buChar char="•"/>
            </a:pPr>
            <a:r>
              <a:rPr b="0" i="0" lang="en" sz="1300" u="none" cap="none" strike="noStrike">
                <a:solidFill>
                  <a:srgbClr val="CBD5DD"/>
                </a:solidFill>
                <a:latin typeface="Calibri"/>
                <a:ea typeface="Calibri"/>
                <a:cs typeface="Calibri"/>
                <a:sym typeface="Calibri"/>
              </a:rPr>
              <a:t>A skill you wrote, running in your own environment</a:t>
            </a:r>
            <a:endParaRPr b="0" i="0" sz="1300" u="none" cap="none" strike="noStrike">
              <a:solidFill>
                <a:schemeClr val="dk1"/>
              </a:solidFill>
              <a:latin typeface="Calibri"/>
              <a:ea typeface="Calibri"/>
              <a:cs typeface="Calibri"/>
              <a:sym typeface="Calibri"/>
            </a:endParaRPr>
          </a:p>
          <a:p>
            <a:pPr indent="-260350" lvl="0" marL="254000" marR="0" rtl="0" algn="l">
              <a:spcBef>
                <a:spcPts val="900"/>
              </a:spcBef>
              <a:spcAft>
                <a:spcPts val="0"/>
              </a:spcAft>
              <a:buClr>
                <a:srgbClr val="CBD5DD"/>
              </a:buClr>
              <a:buSzPts val="1300"/>
              <a:buFont typeface="Calibri"/>
              <a:buChar char="•"/>
            </a:pPr>
            <a:r>
              <a:rPr b="0" i="0" lang="en" sz="1300" u="none" cap="none" strike="noStrike">
                <a:solidFill>
                  <a:srgbClr val="CBD5DD"/>
                </a:solidFill>
                <a:latin typeface="Calibri"/>
                <a:ea typeface="Calibri"/>
                <a:cs typeface="Calibri"/>
                <a:sym typeface="Calibri"/>
              </a:rPr>
              <a:t>An eval that proves it does something</a:t>
            </a:r>
            <a:endParaRPr b="0" i="0" sz="1300" u="none" cap="none" strike="noStrike">
              <a:solidFill>
                <a:schemeClr val="dk1"/>
              </a:solidFill>
              <a:latin typeface="Calibri"/>
              <a:ea typeface="Calibri"/>
              <a:cs typeface="Calibri"/>
              <a:sym typeface="Calibri"/>
            </a:endParaRPr>
          </a:p>
          <a:p>
            <a:pPr indent="-260350" lvl="0" marL="254000" marR="0" rtl="0" algn="l">
              <a:spcBef>
                <a:spcPts val="900"/>
              </a:spcBef>
              <a:spcAft>
                <a:spcPts val="0"/>
              </a:spcAft>
              <a:buClr>
                <a:srgbClr val="CBD5DD"/>
              </a:buClr>
              <a:buSzPts val="1300"/>
              <a:buFont typeface="Calibri"/>
              <a:buChar char="•"/>
            </a:pPr>
            <a:r>
              <a:rPr b="0" i="0" lang="en" sz="1300" u="none" cap="none" strike="noStrike">
                <a:solidFill>
                  <a:srgbClr val="CBD5DD"/>
                </a:solidFill>
                <a:latin typeface="Calibri"/>
                <a:ea typeface="Calibri"/>
                <a:cs typeface="Calibri"/>
                <a:sym typeface="Calibri"/>
              </a:rPr>
              <a:t>A reference doc for a domain you actually own</a:t>
            </a:r>
            <a:endParaRPr b="0" i="0" sz="1300" u="none" cap="none" strike="noStrike">
              <a:solidFill>
                <a:schemeClr val="dk1"/>
              </a:solidFill>
              <a:latin typeface="Calibri"/>
              <a:ea typeface="Calibri"/>
              <a:cs typeface="Calibri"/>
              <a:sym typeface="Calibri"/>
            </a:endParaRPr>
          </a:p>
          <a:p>
            <a:pPr indent="-260350" lvl="0" marL="254000" marR="0" rtl="0" algn="l">
              <a:spcBef>
                <a:spcPts val="900"/>
              </a:spcBef>
              <a:spcAft>
                <a:spcPts val="0"/>
              </a:spcAft>
              <a:buClr>
                <a:srgbClr val="CBD5DD"/>
              </a:buClr>
              <a:buSzPts val="1300"/>
              <a:buFont typeface="Calibri"/>
              <a:buChar char="•"/>
            </a:pPr>
            <a:r>
              <a:rPr b="0" i="0" lang="en" sz="1300" u="none" cap="none" strike="noStrike">
                <a:solidFill>
                  <a:srgbClr val="CBD5DD"/>
                </a:solidFill>
                <a:latin typeface="Calibri"/>
                <a:ea typeface="Calibri"/>
                <a:cs typeface="Calibri"/>
                <a:sym typeface="Calibri"/>
              </a:rPr>
              <a:t>A merged PR and your name in the README</a:t>
            </a:r>
            <a:endParaRPr b="0" i="0" sz="1300" u="none" cap="none" strike="noStrike">
              <a:solidFill>
                <a:schemeClr val="dk1"/>
              </a:solidFill>
              <a:latin typeface="Calibri"/>
              <a:ea typeface="Calibri"/>
              <a:cs typeface="Calibri"/>
              <a:sym typeface="Calibri"/>
            </a:endParaRPr>
          </a:p>
          <a:p>
            <a:pPr indent="-260350" lvl="0" marL="254000" marR="0" rtl="0" algn="l">
              <a:spcBef>
                <a:spcPts val="900"/>
              </a:spcBef>
              <a:spcAft>
                <a:spcPts val="0"/>
              </a:spcAft>
              <a:buClr>
                <a:srgbClr val="CBD5DD"/>
              </a:buClr>
              <a:buSzPts val="1300"/>
              <a:buFont typeface="Calibri"/>
              <a:buChar char="•"/>
            </a:pPr>
            <a:r>
              <a:rPr b="0" i="0" lang="en" sz="1300" u="none" cap="none" strike="noStrike">
                <a:solidFill>
                  <a:srgbClr val="CBD5DD"/>
                </a:solidFill>
                <a:latin typeface="Calibri"/>
                <a:ea typeface="Calibri"/>
                <a:cs typeface="Calibri"/>
                <a:sym typeface="Calibri"/>
              </a:rPr>
              <a:t>The habit of running the query instead of trusting the number</a:t>
            </a:r>
            <a:endParaRPr b="0" i="0" sz="1300" u="none" cap="none" strike="noStrike">
              <a:solidFill>
                <a:schemeClr val="dk1"/>
              </a:solidFill>
              <a:latin typeface="Calibri"/>
              <a:ea typeface="Calibri"/>
              <a:cs typeface="Calibri"/>
              <a:sym typeface="Calibri"/>
            </a:endParaRPr>
          </a:p>
        </p:txBody>
      </p:sp>
      <p:sp>
        <p:nvSpPr>
          <p:cNvPr id="566" name="Google Shape;566;p49"/>
          <p:cNvSpPr/>
          <p:nvPr/>
        </p:nvSpPr>
        <p:spPr>
          <a:xfrm>
            <a:off x="788670" y="3909060"/>
            <a:ext cx="68580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663C"/>
              </a:buClr>
              <a:buSzPts val="1200"/>
              <a:buFont typeface="Consolas"/>
              <a:buNone/>
            </a:pPr>
            <a:r>
              <a:rPr b="1" i="0" lang="en" sz="1200" u="none" cap="none" strike="noStrike">
                <a:solidFill>
                  <a:srgbClr val="E8663C"/>
                </a:solidFill>
                <a:latin typeface="Consolas"/>
                <a:ea typeface="Consolas"/>
                <a:cs typeface="Consolas"/>
                <a:sym typeface="Consolas"/>
              </a:rPr>
              <a:t>github.com/RobStilson/analytics-skills</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