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everyone leaves with a working skill in their own repo, and a measured before/after from a real warehouse. Set expectation that we will run one workflow end to end rather than skim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that earns permission for everything else. Ask the room: who has shipped a number that was wrong and nobody noticed for weeks? Most hands go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are tractable with better routing. The fourth is why provenance and review exist. Everything in the pack attacks at least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Every's compound engineering for the loop shape. The fourth step is what separates this from ordinary AI-assisted work. A stakeholder correction is a labeled error diagnosed for free by someone with domain authority — throwing it away after patching the answer wastes the best signal you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the room relaxes. Most arrive expecting to write Python. The hard part is domain knowledge, which they already have and have never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expense-justification line: they leave as a named contributor to an open-source pack, not with a certificate of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DuckDB file, no server, works offline. Reproducible from a fixed seed. Participants get no reference docs — writing one is the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actual response text from results/baseline.json next to results/skills.json. Real output beats any abstract argument. Caveat honestly: one slice, one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I-O contribution. A software engineer would not think to write down immortal time bias or why Wald intervals fail exactly where workforce data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are ordered by how much each reduces wrong answers. If someone runs out of time at minute 30, the parts they finished are the parts that mattered. The Gotchas prompt is the one that unlocks the room — everyone has twenty of these in their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Evals-before-skill is the TDD analogy and it earns credibility with a rigorous audience. Nobody gets to claim their skill 'feels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this. A negative first result, investigated rather than buried, is a better story than a clean win — and it is the discipline we are teaching. Ask the room what they would check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valuable finding in the project. The room will arrive assuming the hard part is writing good instructions. The data says the hard part is routing — getting the right instructions to the right question and keeping the rest out. That is the argument for a thin router plus reference docs that load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happened while building the pack whose entire purpose is preventing them. That is not embarrassing, it is the point — the failure mode is structural, not a matter of care. Tell this story; it lands harder than any abstract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workflow end to end. Everything else ships as reference material they take home. Depth over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habit, not the artifact. The skills will go stale; the discipline of verifying instead of eyeballing is what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03C"/>
        </a:solidFill>
      </p:bgPr>
    </p:bg>
    <p:spTree>
      <p:nvGrpSpPr>
        <p:cNvPr id="1" name=""/>
        <p:cNvGrpSpPr/>
        <p:nvPr/>
      </p:nvGrpSpPr>
      <p:grpSpPr>
        <a:xfrm>
          <a:off x="0" y="0"/>
          <a:ext cx="0" cy="0"/>
          <a:chOff x="0" y="0"/>
          <a:chExt cx="0" cy="0"/>
        </a:xfrm>
      </p:grpSpPr>
      <p:sp>
        <p:nvSpPr>
          <p:cNvPr id="2" name="Shape 0"/>
          <p:cNvSpPr/>
          <p:nvPr/>
        </p:nvSpPr>
        <p:spPr>
          <a:xfrm>
            <a:off x="640080" y="1828800"/>
            <a:ext cx="128016" cy="2286000"/>
          </a:xfrm>
          <a:prstGeom prst="roundRect">
            <a:avLst>
              <a:gd name="adj" fmla="val 50000"/>
            </a:avLst>
          </a:prstGeom>
          <a:solidFill>
            <a:srgbClr val="E8663C"/>
          </a:solidFill>
          <a:ln w="12700">
            <a:solidFill>
              <a:srgbClr val="E8663C"/>
            </a:solidFill>
            <a:prstDash val="solid"/>
          </a:ln>
        </p:spPr>
      </p:sp>
      <p:sp>
        <p:nvSpPr>
          <p:cNvPr id="3" name="Text 1"/>
          <p:cNvSpPr/>
          <p:nvPr/>
        </p:nvSpPr>
        <p:spPr>
          <a:xfrm>
            <a:off x="1051560" y="1828800"/>
            <a:ext cx="8686800" cy="118872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Vibe Analytics</a:t>
            </a:r>
            <a:endParaRPr lang="en-US" sz="5800" dirty="0"/>
          </a:p>
        </p:txBody>
      </p:sp>
      <p:sp>
        <p:nvSpPr>
          <p:cNvPr id="4" name="Text 2"/>
          <p:cNvSpPr/>
          <p:nvPr/>
        </p:nvSpPr>
        <p:spPr>
          <a:xfrm>
            <a:off x="1051560" y="3017520"/>
            <a:ext cx="8686800" cy="548640"/>
          </a:xfrm>
          <a:prstGeom prst="rect">
            <a:avLst/>
          </a:prstGeom>
          <a:noFill/>
          <a:ln/>
        </p:spPr>
        <p:txBody>
          <a:bodyPr wrap="square" lIns="0" tIns="0" rIns="0" bIns="0" rtlCol="0" anchor="ctr"/>
          <a:lstStyle/>
          <a:p>
            <a:pPr indent="0" marL="0">
              <a:buNone/>
            </a:pPr>
            <a:r>
              <a:rPr lang="en-US" sz="2200" dirty="0">
                <a:solidFill>
                  <a:srgbClr val="CBD5DD"/>
                </a:solidFill>
                <a:latin typeface="Calibri" pitchFamily="34" charset="0"/>
                <a:ea typeface="Calibri" pitchFamily="34" charset="-122"/>
                <a:cs typeface="Calibri" pitchFamily="34" charset="-120"/>
              </a:rPr>
              <a:t>Reimagining the analytics lifecycle in an AI era</a:t>
            </a:r>
            <a:endParaRPr lang="en-US" sz="2200" dirty="0"/>
          </a:p>
        </p:txBody>
      </p:sp>
      <p:sp>
        <p:nvSpPr>
          <p:cNvPr id="5" name="Text 3"/>
          <p:cNvSpPr/>
          <p:nvPr/>
        </p:nvSpPr>
        <p:spPr>
          <a:xfrm>
            <a:off x="1051560" y="3703320"/>
            <a:ext cx="10058400" cy="365760"/>
          </a:xfrm>
          <a:prstGeom prst="rect">
            <a:avLst/>
          </a:prstGeom>
          <a:noFill/>
          <a:ln/>
        </p:spPr>
        <p:txBody>
          <a:bodyPr wrap="square" lIns="0" tIns="0" rIns="0" bIns="0" rtlCol="0" anchor="ctr"/>
          <a:lstStyle/>
          <a:p>
            <a:pPr indent="0" marL="0">
              <a:buNone/>
            </a:pPr>
            <a:r>
              <a:rPr lang="en-US" sz="1400" dirty="0">
                <a:solidFill>
                  <a:srgbClr val="8A99A8"/>
                </a:solidFill>
                <a:latin typeface="Calibri" pitchFamily="34" charset="0"/>
                <a:ea typeface="Calibri" pitchFamily="34" charset="-122"/>
                <a:cs typeface="Calibri" pitchFamily="34" charset="-120"/>
              </a:rPr>
              <a:t>Define  →  Build  →  Validate  →  Operationalize  →  Monitor  →  Compound</a:t>
            </a:r>
            <a:endParaRPr lang="en-US" sz="1400" dirty="0"/>
          </a:p>
        </p:txBody>
      </p:sp>
      <p:sp>
        <p:nvSpPr>
          <p:cNvPr id="6" name="Text 4"/>
          <p:cNvSpPr/>
          <p:nvPr/>
        </p:nvSpPr>
        <p:spPr>
          <a:xfrm>
            <a:off x="1051560" y="5760720"/>
            <a:ext cx="7315200" cy="365760"/>
          </a:xfrm>
          <a:prstGeom prst="rect">
            <a:avLst/>
          </a:prstGeom>
          <a:noFill/>
          <a:ln/>
        </p:spPr>
        <p:txBody>
          <a:bodyPr wrap="square" lIns="0" tIns="0" rIns="0" bIns="0" rtlCol="0" anchor="ctr"/>
          <a:lstStyle/>
          <a:p>
            <a:pPr indent="0" marL="0">
              <a:buNone/>
            </a:pPr>
            <a:r>
              <a:rPr lang="en-US" sz="1300" dirty="0">
                <a:solidFill>
                  <a:srgbClr val="8A99A8"/>
                </a:solidFill>
                <a:latin typeface="Calibri" pitchFamily="34" charset="0"/>
                <a:ea typeface="Calibri" pitchFamily="34" charset="-122"/>
                <a:cs typeface="Calibri" pitchFamily="34" charset="-120"/>
              </a:rPr>
              <a:t>3-hour hands-on workshop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THE PREMISE</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Coding agents worked first for a structural reason</a:t>
            </a:r>
            <a:endParaRPr lang="en-US" sz="3400" dirty="0"/>
          </a:p>
        </p:txBody>
      </p:sp>
      <p:sp>
        <p:nvSpPr>
          <p:cNvPr id="4" name="Shape 2"/>
          <p:cNvSpPr/>
          <p:nvPr/>
        </p:nvSpPr>
        <p:spPr>
          <a:xfrm>
            <a:off x="640080" y="1600200"/>
            <a:ext cx="5074920" cy="3566160"/>
          </a:xfrm>
          <a:prstGeom prst="roundRect">
            <a:avLst>
              <a:gd name="adj" fmla="val 2051"/>
            </a:avLst>
          </a:prstGeom>
          <a:solidFill>
            <a:srgbClr val="F2F4F6"/>
          </a:solidFill>
          <a:ln w="12700">
            <a:solidFill>
              <a:srgbClr val="F2F4F6"/>
            </a:solidFill>
            <a:prstDash val="solid"/>
          </a:ln>
        </p:spPr>
      </p:sp>
      <p:sp>
        <p:nvSpPr>
          <p:cNvPr id="5" name="Text 3"/>
          <p:cNvSpPr/>
          <p:nvPr/>
        </p:nvSpPr>
        <p:spPr>
          <a:xfrm>
            <a:off x="1005840" y="1828800"/>
            <a:ext cx="4343400" cy="365760"/>
          </a:xfrm>
          <a:prstGeom prst="rect">
            <a:avLst/>
          </a:prstGeom>
          <a:noFill/>
          <a:ln/>
        </p:spPr>
        <p:txBody>
          <a:bodyPr wrap="square" lIns="0" tIns="0" rIns="0" bIns="0" rtlCol="0" anchor="ctr"/>
          <a:lstStyle/>
          <a:p>
            <a:pPr indent="0" marL="0">
              <a:buNone/>
            </a:pPr>
            <a:r>
              <a:rPr lang="en-US" sz="2200" b="1" dirty="0">
                <a:solidFill>
                  <a:srgbClr val="22303C"/>
                </a:solidFill>
                <a:latin typeface="Cambria" pitchFamily="34" charset="0"/>
                <a:ea typeface="Cambria" pitchFamily="34" charset="-122"/>
                <a:cs typeface="Cambria" pitchFamily="34" charset="-120"/>
              </a:rPr>
              <a:t>Software</a:t>
            </a:r>
            <a:endParaRPr lang="en-US" sz="2200" dirty="0"/>
          </a:p>
        </p:txBody>
      </p:sp>
      <p:sp>
        <p:nvSpPr>
          <p:cNvPr id="6" name="Text 4"/>
          <p:cNvSpPr/>
          <p:nvPr/>
        </p:nvSpPr>
        <p:spPr>
          <a:xfrm>
            <a:off x="1005840" y="2377440"/>
            <a:ext cx="4343400" cy="256032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5A6B7A"/>
                </a:solidFill>
                <a:latin typeface="Calibri" pitchFamily="34" charset="0"/>
                <a:ea typeface="Calibri" pitchFamily="34" charset="-122"/>
                <a:cs typeface="Calibri" pitchFamily="34" charset="-120"/>
              </a:rPr>
              <a:t>Open-ended solution space</a:t>
            </a:r>
            <a:endParaRPr lang="en-US" sz="1500" dirty="0"/>
          </a:p>
          <a:p>
            <a:pPr marL="342900" indent="-342900">
              <a:spcAft>
                <a:spcPts val="1000"/>
              </a:spcAft>
              <a:buSzPct val="100000"/>
              <a:buChar char="•"/>
            </a:pPr>
            <a:r>
              <a:rPr lang="en-US" sz="1500" dirty="0">
                <a:solidFill>
                  <a:srgbClr val="5A6B7A"/>
                </a:solidFill>
                <a:latin typeface="Calibri" pitchFamily="34" charset="0"/>
                <a:ea typeface="Calibri" pitchFamily="34" charset="-122"/>
                <a:cs typeface="Calibri" pitchFamily="34" charset="-120"/>
              </a:rPr>
              <a:t>Many valid answers</a:t>
            </a:r>
            <a:endParaRPr lang="en-US" sz="1500" dirty="0"/>
          </a:p>
          <a:p>
            <a:pPr marL="342900" indent="-342900">
              <a:spcAft>
                <a:spcPts val="1000"/>
              </a:spcAft>
              <a:buSzPct val="100000"/>
              <a:buChar char="•"/>
            </a:pPr>
            <a:r>
              <a:rPr lang="en-US" sz="1500" dirty="0">
                <a:solidFill>
                  <a:srgbClr val="5A6B7A"/>
                </a:solidFill>
                <a:latin typeface="Calibri" pitchFamily="34" charset="0"/>
                <a:ea typeface="Calibri" pitchFamily="34" charset="-122"/>
                <a:cs typeface="Calibri" pitchFamily="34" charset="-120"/>
              </a:rPr>
              <a:t>Tests, types, compilers catch errors</a:t>
            </a:r>
            <a:endParaRPr lang="en-US" sz="1500" dirty="0"/>
          </a:p>
          <a:p>
            <a:pPr marL="342900" indent="-342900">
              <a:spcAft>
                <a:spcPts val="1000"/>
              </a:spcAft>
              <a:buSzPct val="100000"/>
              <a:buChar char="•"/>
            </a:pPr>
            <a:r>
              <a:rPr lang="en-US" sz="1500" dirty="0">
                <a:solidFill>
                  <a:srgbClr val="5A6B7A"/>
                </a:solidFill>
                <a:latin typeface="Calibri" pitchFamily="34" charset="0"/>
                <a:ea typeface="Calibri" pitchFamily="34" charset="-122"/>
                <a:cs typeface="Calibri" pitchFamily="34" charset="-120"/>
              </a:rPr>
              <a:t>Wrong code usually fails loudly</a:t>
            </a:r>
            <a:endParaRPr lang="en-US" sz="1500" dirty="0"/>
          </a:p>
        </p:txBody>
      </p:sp>
      <p:sp>
        <p:nvSpPr>
          <p:cNvPr id="7" name="Shape 5"/>
          <p:cNvSpPr/>
          <p:nvPr/>
        </p:nvSpPr>
        <p:spPr>
          <a:xfrm>
            <a:off x="6172200" y="1600200"/>
            <a:ext cx="5074920" cy="3566160"/>
          </a:xfrm>
          <a:prstGeom prst="roundRect">
            <a:avLst>
              <a:gd name="adj" fmla="val 2051"/>
            </a:avLst>
          </a:prstGeom>
          <a:solidFill>
            <a:srgbClr val="FBEDE8"/>
          </a:solidFill>
          <a:ln w="12700">
            <a:solidFill>
              <a:srgbClr val="FBEDE8"/>
            </a:solidFill>
            <a:prstDash val="solid"/>
          </a:ln>
        </p:spPr>
      </p:sp>
      <p:sp>
        <p:nvSpPr>
          <p:cNvPr id="8" name="Text 6"/>
          <p:cNvSpPr/>
          <p:nvPr/>
        </p:nvSpPr>
        <p:spPr>
          <a:xfrm>
            <a:off x="6537960" y="1828800"/>
            <a:ext cx="4343400" cy="365760"/>
          </a:xfrm>
          <a:prstGeom prst="rect">
            <a:avLst/>
          </a:prstGeom>
          <a:noFill/>
          <a:ln/>
        </p:spPr>
        <p:txBody>
          <a:bodyPr wrap="square" lIns="0" tIns="0" rIns="0" bIns="0" rtlCol="0" anchor="ctr"/>
          <a:lstStyle/>
          <a:p>
            <a:pPr indent="0" marL="0">
              <a:buNone/>
            </a:pPr>
            <a:r>
              <a:rPr lang="en-US" sz="2200" b="1" dirty="0">
                <a:solidFill>
                  <a:srgbClr val="E8663C"/>
                </a:solidFill>
                <a:latin typeface="Cambria" pitchFamily="34" charset="0"/>
                <a:ea typeface="Cambria" pitchFamily="34" charset="-122"/>
                <a:cs typeface="Cambria" pitchFamily="34" charset="-120"/>
              </a:rPr>
              <a:t>Analytics</a:t>
            </a:r>
            <a:endParaRPr lang="en-US" sz="2200" dirty="0"/>
          </a:p>
        </p:txBody>
      </p:sp>
      <p:sp>
        <p:nvSpPr>
          <p:cNvPr id="9" name="Text 7"/>
          <p:cNvSpPr/>
          <p:nvPr/>
        </p:nvSpPr>
        <p:spPr>
          <a:xfrm>
            <a:off x="6537960" y="2377440"/>
            <a:ext cx="4343400" cy="256032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8C4430"/>
                </a:solidFill>
                <a:latin typeface="Calibri" pitchFamily="34" charset="0"/>
                <a:ea typeface="Calibri" pitchFamily="34" charset="-122"/>
                <a:cs typeface="Calibri" pitchFamily="34" charset="-120"/>
              </a:rPr>
              <a:t>Usually one correct answer</a:t>
            </a:r>
            <a:endParaRPr lang="en-US" sz="1500" dirty="0"/>
          </a:p>
          <a:p>
            <a:pPr marL="342900" indent="-342900">
              <a:spcAft>
                <a:spcPts val="1000"/>
              </a:spcAft>
              <a:buSzPct val="100000"/>
              <a:buChar char="•"/>
            </a:pPr>
            <a:r>
              <a:rPr lang="en-US" sz="1500" dirty="0">
                <a:solidFill>
                  <a:srgbClr val="8C4430"/>
                </a:solidFill>
                <a:latin typeface="Calibri" pitchFamily="34" charset="0"/>
                <a:ea typeface="Calibri" pitchFamily="34" charset="-122"/>
                <a:cs typeface="Calibri" pitchFamily="34" charset="-120"/>
              </a:rPr>
              <a:t>From one correct source</a:t>
            </a:r>
            <a:endParaRPr lang="en-US" sz="1500" dirty="0"/>
          </a:p>
          <a:p>
            <a:pPr marL="342900" indent="-342900">
              <a:spcAft>
                <a:spcPts val="1000"/>
              </a:spcAft>
              <a:buSzPct val="100000"/>
              <a:buChar char="•"/>
            </a:pPr>
            <a:r>
              <a:rPr lang="en-US" sz="1500" dirty="0">
                <a:solidFill>
                  <a:srgbClr val="8C4430"/>
                </a:solidFill>
                <a:latin typeface="Calibri" pitchFamily="34" charset="0"/>
                <a:ea typeface="Calibri" pitchFamily="34" charset="-122"/>
                <a:cs typeface="Calibri" pitchFamily="34" charset="-120"/>
              </a:rPr>
              <a:t>No deterministic way to prove it</a:t>
            </a:r>
            <a:endParaRPr lang="en-US" sz="1500" dirty="0"/>
          </a:p>
          <a:p>
            <a:pPr marL="342900" indent="-342900">
              <a:spcAft>
                <a:spcPts val="1000"/>
              </a:spcAft>
              <a:buSzPct val="100000"/>
              <a:buChar char="•"/>
            </a:pPr>
            <a:r>
              <a:rPr lang="en-US" sz="1500" dirty="0">
                <a:solidFill>
                  <a:srgbClr val="8C4430"/>
                </a:solidFill>
                <a:latin typeface="Calibri" pitchFamily="34" charset="0"/>
                <a:ea typeface="Calibri" pitchFamily="34" charset="-122"/>
                <a:cs typeface="Calibri" pitchFamily="34" charset="-120"/>
              </a:rPr>
              <a:t>Wrong queries run cleanly</a:t>
            </a:r>
            <a:endParaRPr lang="en-US" sz="1500" dirty="0"/>
          </a:p>
        </p:txBody>
      </p:sp>
      <p:sp>
        <p:nvSpPr>
          <p:cNvPr id="10" name="Text 8"/>
          <p:cNvSpPr/>
          <p:nvPr/>
        </p:nvSpPr>
        <p:spPr>
          <a:xfrm>
            <a:off x="640080" y="5440680"/>
            <a:ext cx="10908792" cy="457200"/>
          </a:xfrm>
          <a:prstGeom prst="rect">
            <a:avLst/>
          </a:prstGeom>
          <a:noFill/>
          <a:ln/>
        </p:spPr>
        <p:txBody>
          <a:bodyPr wrap="square" lIns="0" tIns="0" rIns="0" bIns="0" rtlCol="0" anchor="ctr"/>
          <a:lstStyle/>
          <a:p>
            <a:pPr indent="0" marL="0">
              <a:buNone/>
            </a:pPr>
            <a:r>
              <a:rPr lang="en-US" sz="1900" b="1" i="1" dirty="0">
                <a:solidFill>
                  <a:srgbClr val="22303C"/>
                </a:solidFill>
                <a:latin typeface="Cambria" pitchFamily="34" charset="0"/>
                <a:ea typeface="Cambria" pitchFamily="34" charset="-122"/>
                <a:cs typeface="Cambria" pitchFamily="34" charset="-120"/>
              </a:rPr>
              <a:t>Data is not software. Skills written for software development do not transfer.</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DIAGNOSIS</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Three failure modes, and one that hides</a:t>
            </a:r>
            <a:endParaRPr lang="en-US" sz="3400" dirty="0"/>
          </a:p>
        </p:txBody>
      </p:sp>
      <p:sp>
        <p:nvSpPr>
          <p:cNvPr id="4" name="Shape 2"/>
          <p:cNvSpPr/>
          <p:nvPr/>
        </p:nvSpPr>
        <p:spPr>
          <a:xfrm>
            <a:off x="640080" y="1645920"/>
            <a:ext cx="3520440" cy="1828800"/>
          </a:xfrm>
          <a:prstGeom prst="roundRect">
            <a:avLst>
              <a:gd name="adj" fmla="val 4000"/>
            </a:avLst>
          </a:prstGeom>
          <a:solidFill>
            <a:srgbClr val="F2F4F6"/>
          </a:solidFill>
          <a:ln w="12700">
            <a:solidFill>
              <a:srgbClr val="F2F4F6"/>
            </a:solidFill>
            <a:prstDash val="solid"/>
          </a:ln>
        </p:spPr>
      </p:sp>
      <p:sp>
        <p:nvSpPr>
          <p:cNvPr id="5" name="Text 3"/>
          <p:cNvSpPr/>
          <p:nvPr/>
        </p:nvSpPr>
        <p:spPr>
          <a:xfrm>
            <a:off x="914400" y="1874520"/>
            <a:ext cx="2971800" cy="36576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Entity ambiguity</a:t>
            </a:r>
            <a:endParaRPr lang="en-US" sz="1800" dirty="0"/>
          </a:p>
        </p:txBody>
      </p:sp>
      <p:sp>
        <p:nvSpPr>
          <p:cNvPr id="6" name="Text 4"/>
          <p:cNvSpPr/>
          <p:nvPr/>
        </p:nvSpPr>
        <p:spPr>
          <a:xfrm>
            <a:off x="914400" y="2286000"/>
            <a:ext cx="2971800" cy="10058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Forty plausible tables could answer 'headcount'. The agent picks one.</a:t>
            </a:r>
            <a:endParaRPr lang="en-US" sz="1300" dirty="0"/>
          </a:p>
        </p:txBody>
      </p:sp>
      <p:sp>
        <p:nvSpPr>
          <p:cNvPr id="7" name="Shape 5"/>
          <p:cNvSpPr/>
          <p:nvPr/>
        </p:nvSpPr>
        <p:spPr>
          <a:xfrm>
            <a:off x="4544568" y="1645920"/>
            <a:ext cx="3520440" cy="1828800"/>
          </a:xfrm>
          <a:prstGeom prst="roundRect">
            <a:avLst>
              <a:gd name="adj" fmla="val 4000"/>
            </a:avLst>
          </a:prstGeom>
          <a:solidFill>
            <a:srgbClr val="F2F4F6"/>
          </a:solidFill>
          <a:ln w="12700">
            <a:solidFill>
              <a:srgbClr val="F2F4F6"/>
            </a:solidFill>
            <a:prstDash val="solid"/>
          </a:ln>
        </p:spPr>
      </p:sp>
      <p:sp>
        <p:nvSpPr>
          <p:cNvPr id="8" name="Text 6"/>
          <p:cNvSpPr/>
          <p:nvPr/>
        </p:nvSpPr>
        <p:spPr>
          <a:xfrm>
            <a:off x="4818888" y="1874520"/>
            <a:ext cx="2971800" cy="36576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Staleness</a:t>
            </a:r>
            <a:endParaRPr lang="en-US" sz="1800" dirty="0"/>
          </a:p>
        </p:txBody>
      </p:sp>
      <p:sp>
        <p:nvSpPr>
          <p:cNvPr id="9" name="Text 7"/>
          <p:cNvSpPr/>
          <p:nvPr/>
        </p:nvSpPr>
        <p:spPr>
          <a:xfrm>
            <a:off x="4818888" y="2286000"/>
            <a:ext cx="2971800" cy="10058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Definitions and schemas change. Docs and agent knowledge rot.</a:t>
            </a:r>
            <a:endParaRPr lang="en-US" sz="1300" dirty="0"/>
          </a:p>
        </p:txBody>
      </p:sp>
      <p:sp>
        <p:nvSpPr>
          <p:cNvPr id="10" name="Shape 8"/>
          <p:cNvSpPr/>
          <p:nvPr/>
        </p:nvSpPr>
        <p:spPr>
          <a:xfrm>
            <a:off x="8449056" y="1645920"/>
            <a:ext cx="3520440" cy="1828800"/>
          </a:xfrm>
          <a:prstGeom prst="roundRect">
            <a:avLst>
              <a:gd name="adj" fmla="val 4000"/>
            </a:avLst>
          </a:prstGeom>
          <a:solidFill>
            <a:srgbClr val="F2F4F6"/>
          </a:solidFill>
          <a:ln w="12700">
            <a:solidFill>
              <a:srgbClr val="F2F4F6"/>
            </a:solidFill>
            <a:prstDash val="solid"/>
          </a:ln>
        </p:spPr>
      </p:sp>
      <p:sp>
        <p:nvSpPr>
          <p:cNvPr id="11" name="Text 9"/>
          <p:cNvSpPr/>
          <p:nvPr/>
        </p:nvSpPr>
        <p:spPr>
          <a:xfrm>
            <a:off x="8723376" y="1874520"/>
            <a:ext cx="2971800" cy="36576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Retrieval failure</a:t>
            </a:r>
            <a:endParaRPr lang="en-US" sz="1800" dirty="0"/>
          </a:p>
        </p:txBody>
      </p:sp>
      <p:sp>
        <p:nvSpPr>
          <p:cNvPr id="12" name="Text 10"/>
          <p:cNvSpPr/>
          <p:nvPr/>
        </p:nvSpPr>
        <p:spPr>
          <a:xfrm>
            <a:off x="8723376" y="2286000"/>
            <a:ext cx="2971800" cy="10058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The right answer is documented. The agent never finds it.</a:t>
            </a:r>
            <a:endParaRPr lang="en-US" sz="1300" dirty="0"/>
          </a:p>
        </p:txBody>
      </p:sp>
      <p:sp>
        <p:nvSpPr>
          <p:cNvPr id="13" name="Shape 11"/>
          <p:cNvSpPr/>
          <p:nvPr/>
        </p:nvSpPr>
        <p:spPr>
          <a:xfrm>
            <a:off x="640080" y="3749040"/>
            <a:ext cx="10908792" cy="1737360"/>
          </a:xfrm>
          <a:prstGeom prst="roundRect">
            <a:avLst>
              <a:gd name="adj" fmla="val 4211"/>
            </a:avLst>
          </a:prstGeom>
          <a:solidFill>
            <a:srgbClr val="FBEDE8"/>
          </a:solidFill>
          <a:ln w="12700">
            <a:solidFill>
              <a:srgbClr val="FBEDE8"/>
            </a:solidFill>
            <a:prstDash val="solid"/>
          </a:ln>
        </p:spPr>
      </p:sp>
      <p:sp>
        <p:nvSpPr>
          <p:cNvPr id="14" name="Text 12"/>
          <p:cNvSpPr/>
          <p:nvPr/>
        </p:nvSpPr>
        <p:spPr>
          <a:xfrm>
            <a:off x="1005840" y="3977640"/>
            <a:ext cx="5486400" cy="365760"/>
          </a:xfrm>
          <a:prstGeom prst="rect">
            <a:avLst/>
          </a:prstGeom>
          <a:noFill/>
          <a:ln/>
        </p:spPr>
        <p:txBody>
          <a:bodyPr wrap="square" lIns="0" tIns="0" rIns="0" bIns="0" rtlCol="0" anchor="ctr"/>
          <a:lstStyle/>
          <a:p>
            <a:pPr indent="0" marL="0">
              <a:buNone/>
            </a:pPr>
            <a:r>
              <a:rPr lang="en-US" sz="2200" b="1" dirty="0">
                <a:solidFill>
                  <a:srgbClr val="E8663C"/>
                </a:solidFill>
                <a:latin typeface="Cambria" pitchFamily="34" charset="0"/>
                <a:ea typeface="Cambria" pitchFamily="34" charset="-122"/>
                <a:cs typeface="Cambria" pitchFamily="34" charset="-120"/>
              </a:rPr>
              <a:t>Silent wrongness</a:t>
            </a:r>
            <a:endParaRPr lang="en-US" sz="2200" dirty="0"/>
          </a:p>
        </p:txBody>
      </p:sp>
      <p:sp>
        <p:nvSpPr>
          <p:cNvPr id="15" name="Text 13"/>
          <p:cNvSpPr/>
          <p:nvPr/>
        </p:nvSpPr>
        <p:spPr>
          <a:xfrm>
            <a:off x="1005840" y="4434840"/>
            <a:ext cx="10177272" cy="822960"/>
          </a:xfrm>
          <a:prstGeom prst="rect">
            <a:avLst/>
          </a:prstGeom>
          <a:noFill/>
          <a:ln/>
        </p:spPr>
        <p:txBody>
          <a:bodyPr wrap="square" lIns="0" tIns="0" rIns="0" bIns="0" rtlCol="0" anchor="ctr"/>
          <a:lstStyle/>
          <a:p>
            <a:pPr indent="0" marL="0">
              <a:buNone/>
            </a:pPr>
            <a:r>
              <a:rPr lang="en-US" sz="1500" dirty="0">
                <a:solidFill>
                  <a:srgbClr val="8C4430"/>
                </a:solidFill>
                <a:latin typeface="Calibri" pitchFamily="34" charset="0"/>
                <a:ea typeface="Calibri" pitchFamily="34" charset="-122"/>
                <a:cs typeface="Calibri" pitchFamily="34" charset="-120"/>
              </a:rPr>
              <a:t>The answer is wrong, looks plausible, and is used without objection. None of the three fixes above fully catch it — and nothing in your stack raises an alarm.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THE WORKFLOW</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Five stages, and the one that compounds</a:t>
            </a:r>
            <a:endParaRPr lang="en-US" sz="3400" dirty="0"/>
          </a:p>
        </p:txBody>
      </p:sp>
      <p:sp>
        <p:nvSpPr>
          <p:cNvPr id="4" name="Shape 2"/>
          <p:cNvSpPr/>
          <p:nvPr/>
        </p:nvSpPr>
        <p:spPr>
          <a:xfrm>
            <a:off x="640080" y="1920240"/>
            <a:ext cx="2084832" cy="1371600"/>
          </a:xfrm>
          <a:prstGeom prst="roundRect">
            <a:avLst>
              <a:gd name="adj" fmla="val 5333"/>
            </a:avLst>
          </a:prstGeom>
          <a:solidFill>
            <a:srgbClr val="F2F4F6"/>
          </a:solidFill>
          <a:ln w="12700">
            <a:solidFill>
              <a:srgbClr val="F2F4F6"/>
            </a:solidFill>
            <a:prstDash val="solid"/>
          </a:ln>
        </p:spPr>
      </p:sp>
      <p:sp>
        <p:nvSpPr>
          <p:cNvPr id="5" name="Text 3"/>
          <p:cNvSpPr/>
          <p:nvPr/>
        </p:nvSpPr>
        <p:spPr>
          <a:xfrm>
            <a:off x="777240" y="2103120"/>
            <a:ext cx="1810512" cy="32004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Define</a:t>
            </a:r>
            <a:endParaRPr lang="en-US" sz="1500" dirty="0"/>
          </a:p>
        </p:txBody>
      </p:sp>
      <p:sp>
        <p:nvSpPr>
          <p:cNvPr id="6" name="Text 4"/>
          <p:cNvSpPr/>
          <p:nvPr/>
        </p:nvSpPr>
        <p:spPr>
          <a:xfrm>
            <a:off x="777240" y="2468880"/>
            <a:ext cx="1810512" cy="640080"/>
          </a:xfrm>
          <a:prstGeom prst="rect">
            <a:avLst/>
          </a:prstGeom>
          <a:noFill/>
          <a:ln/>
        </p:spPr>
        <p:txBody>
          <a:bodyPr wrap="square" lIns="0" tIns="0" rIns="0" bIns="0" rtlCol="0" anchor="ctr"/>
          <a:lstStyle/>
          <a:p>
            <a:pPr algn="ctr" indent="0" marL="0">
              <a:buNone/>
            </a:pPr>
            <a:r>
              <a:rPr lang="en-US" sz="1100" dirty="0">
                <a:solidFill>
                  <a:srgbClr val="5A6B7A"/>
                </a:solidFill>
                <a:latin typeface="Calibri" pitchFamily="34" charset="0"/>
                <a:ea typeface="Calibri" pitchFamily="34" charset="-122"/>
                <a:cs typeface="Calibri" pitchFamily="34" charset="-120"/>
              </a:rPr>
              <a:t>Spec the question</a:t>
            </a:r>
            <a:endParaRPr lang="en-US" sz="1100" dirty="0"/>
          </a:p>
        </p:txBody>
      </p:sp>
      <p:sp>
        <p:nvSpPr>
          <p:cNvPr id="7" name="Text 5"/>
          <p:cNvSpPr/>
          <p:nvPr/>
        </p:nvSpPr>
        <p:spPr>
          <a:xfrm>
            <a:off x="2743200" y="2377440"/>
            <a:ext cx="320040" cy="365760"/>
          </a:xfrm>
          <a:prstGeom prst="rect">
            <a:avLst/>
          </a:prstGeom>
          <a:noFill/>
          <a:ln/>
        </p:spPr>
        <p:txBody>
          <a:bodyPr wrap="square" lIns="0" tIns="0" rIns="0" bIns="0" rtlCol="0" anchor="ctr"/>
          <a:lstStyle/>
          <a:p>
            <a:pPr algn="ctr" indent="0" marL="0">
              <a:buNone/>
            </a:pPr>
            <a:r>
              <a:rPr lang="en-US" sz="1800" dirty="0">
                <a:solidFill>
                  <a:srgbClr val="8A99A8"/>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063240" y="1920240"/>
            <a:ext cx="2084832" cy="1371600"/>
          </a:xfrm>
          <a:prstGeom prst="roundRect">
            <a:avLst>
              <a:gd name="adj" fmla="val 5333"/>
            </a:avLst>
          </a:prstGeom>
          <a:solidFill>
            <a:srgbClr val="F2F4F6"/>
          </a:solidFill>
          <a:ln w="12700">
            <a:solidFill>
              <a:srgbClr val="F2F4F6"/>
            </a:solidFill>
            <a:prstDash val="solid"/>
          </a:ln>
        </p:spPr>
      </p:sp>
      <p:sp>
        <p:nvSpPr>
          <p:cNvPr id="9" name="Text 7"/>
          <p:cNvSpPr/>
          <p:nvPr/>
        </p:nvSpPr>
        <p:spPr>
          <a:xfrm>
            <a:off x="3200400" y="2103120"/>
            <a:ext cx="1810512" cy="32004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Build</a:t>
            </a:r>
            <a:endParaRPr lang="en-US" sz="1500" dirty="0"/>
          </a:p>
        </p:txBody>
      </p:sp>
      <p:sp>
        <p:nvSpPr>
          <p:cNvPr id="10" name="Text 8"/>
          <p:cNvSpPr/>
          <p:nvPr/>
        </p:nvSpPr>
        <p:spPr>
          <a:xfrm>
            <a:off x="3200400" y="2468880"/>
            <a:ext cx="1810512" cy="640080"/>
          </a:xfrm>
          <a:prstGeom prst="rect">
            <a:avLst/>
          </a:prstGeom>
          <a:noFill/>
          <a:ln/>
        </p:spPr>
        <p:txBody>
          <a:bodyPr wrap="square" lIns="0" tIns="0" rIns="0" bIns="0" rtlCol="0" anchor="ctr"/>
          <a:lstStyle/>
          <a:p>
            <a:pPr algn="ctr" indent="0" marL="0">
              <a:buNone/>
            </a:pPr>
            <a:r>
              <a:rPr lang="en-US" sz="1100" dirty="0">
                <a:solidFill>
                  <a:srgbClr val="5A6B7A"/>
                </a:solidFill>
                <a:latin typeface="Calibri" pitchFamily="34" charset="0"/>
                <a:ea typeface="Calibri" pitchFamily="34" charset="-122"/>
                <a:cs typeface="Calibri" pitchFamily="34" charset="-120"/>
              </a:rPr>
              <a:t>Find and query</a:t>
            </a:r>
            <a:endParaRPr lang="en-US" sz="1100" dirty="0"/>
          </a:p>
        </p:txBody>
      </p:sp>
      <p:sp>
        <p:nvSpPr>
          <p:cNvPr id="11" name="Text 9"/>
          <p:cNvSpPr/>
          <p:nvPr/>
        </p:nvSpPr>
        <p:spPr>
          <a:xfrm>
            <a:off x="5166360" y="2377440"/>
            <a:ext cx="320040" cy="365760"/>
          </a:xfrm>
          <a:prstGeom prst="rect">
            <a:avLst/>
          </a:prstGeom>
          <a:noFill/>
          <a:ln/>
        </p:spPr>
        <p:txBody>
          <a:bodyPr wrap="square" lIns="0" tIns="0" rIns="0" bIns="0" rtlCol="0" anchor="ctr"/>
          <a:lstStyle/>
          <a:p>
            <a:pPr algn="ctr" indent="0" marL="0">
              <a:buNone/>
            </a:pPr>
            <a:r>
              <a:rPr lang="en-US" sz="1800" dirty="0">
                <a:solidFill>
                  <a:srgbClr val="8A99A8"/>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486400" y="1920240"/>
            <a:ext cx="2084832" cy="1371600"/>
          </a:xfrm>
          <a:prstGeom prst="roundRect">
            <a:avLst>
              <a:gd name="adj" fmla="val 5333"/>
            </a:avLst>
          </a:prstGeom>
          <a:solidFill>
            <a:srgbClr val="F2F4F6"/>
          </a:solidFill>
          <a:ln w="12700">
            <a:solidFill>
              <a:srgbClr val="F2F4F6"/>
            </a:solidFill>
            <a:prstDash val="solid"/>
          </a:ln>
        </p:spPr>
      </p:sp>
      <p:sp>
        <p:nvSpPr>
          <p:cNvPr id="13" name="Text 11"/>
          <p:cNvSpPr/>
          <p:nvPr/>
        </p:nvSpPr>
        <p:spPr>
          <a:xfrm>
            <a:off x="5623560" y="2103120"/>
            <a:ext cx="1810512" cy="32004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Validate</a:t>
            </a:r>
            <a:endParaRPr lang="en-US" sz="1500" dirty="0"/>
          </a:p>
        </p:txBody>
      </p:sp>
      <p:sp>
        <p:nvSpPr>
          <p:cNvPr id="14" name="Text 12"/>
          <p:cNvSpPr/>
          <p:nvPr/>
        </p:nvSpPr>
        <p:spPr>
          <a:xfrm>
            <a:off x="5623560" y="2468880"/>
            <a:ext cx="1810512" cy="640080"/>
          </a:xfrm>
          <a:prstGeom prst="rect">
            <a:avLst/>
          </a:prstGeom>
          <a:noFill/>
          <a:ln/>
        </p:spPr>
        <p:txBody>
          <a:bodyPr wrap="square" lIns="0" tIns="0" rIns="0" bIns="0" rtlCol="0" anchor="ctr"/>
          <a:lstStyle/>
          <a:p>
            <a:pPr algn="ctr" indent="0" marL="0">
              <a:buNone/>
            </a:pPr>
            <a:r>
              <a:rPr lang="en-US" sz="1100" dirty="0">
                <a:solidFill>
                  <a:srgbClr val="5A6B7A"/>
                </a:solidFill>
                <a:latin typeface="Calibri" pitchFamily="34" charset="0"/>
                <a:ea typeface="Calibri" pitchFamily="34" charset="-122"/>
                <a:cs typeface="Calibri" pitchFamily="34" charset="-120"/>
              </a:rPr>
              <a:t>Check and doubt</a:t>
            </a:r>
            <a:endParaRPr lang="en-US" sz="1100" dirty="0"/>
          </a:p>
        </p:txBody>
      </p:sp>
      <p:sp>
        <p:nvSpPr>
          <p:cNvPr id="15" name="Text 13"/>
          <p:cNvSpPr/>
          <p:nvPr/>
        </p:nvSpPr>
        <p:spPr>
          <a:xfrm>
            <a:off x="7589520" y="2377440"/>
            <a:ext cx="320040" cy="365760"/>
          </a:xfrm>
          <a:prstGeom prst="rect">
            <a:avLst/>
          </a:prstGeom>
          <a:noFill/>
          <a:ln/>
        </p:spPr>
        <p:txBody>
          <a:bodyPr wrap="square" lIns="0" tIns="0" rIns="0" bIns="0" rtlCol="0" anchor="ctr"/>
          <a:lstStyle/>
          <a:p>
            <a:pPr algn="ctr" indent="0" marL="0">
              <a:buNone/>
            </a:pPr>
            <a:r>
              <a:rPr lang="en-US" sz="1800" dirty="0">
                <a:solidFill>
                  <a:srgbClr val="8A99A8"/>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909560" y="1920240"/>
            <a:ext cx="2084832" cy="1371600"/>
          </a:xfrm>
          <a:prstGeom prst="roundRect">
            <a:avLst>
              <a:gd name="adj" fmla="val 5333"/>
            </a:avLst>
          </a:prstGeom>
          <a:solidFill>
            <a:srgbClr val="F2F4F6"/>
          </a:solidFill>
          <a:ln w="12700">
            <a:solidFill>
              <a:srgbClr val="F2F4F6"/>
            </a:solidFill>
            <a:prstDash val="solid"/>
          </a:ln>
        </p:spPr>
      </p:sp>
      <p:sp>
        <p:nvSpPr>
          <p:cNvPr id="17" name="Text 15"/>
          <p:cNvSpPr/>
          <p:nvPr/>
        </p:nvSpPr>
        <p:spPr>
          <a:xfrm>
            <a:off x="8046720" y="2103120"/>
            <a:ext cx="1810512" cy="32004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Operationalize</a:t>
            </a:r>
            <a:endParaRPr lang="en-US" sz="1500" dirty="0"/>
          </a:p>
        </p:txBody>
      </p:sp>
      <p:sp>
        <p:nvSpPr>
          <p:cNvPr id="18" name="Text 16"/>
          <p:cNvSpPr/>
          <p:nvPr/>
        </p:nvSpPr>
        <p:spPr>
          <a:xfrm>
            <a:off x="8046720" y="2468880"/>
            <a:ext cx="1810512" cy="640080"/>
          </a:xfrm>
          <a:prstGeom prst="rect">
            <a:avLst/>
          </a:prstGeom>
          <a:noFill/>
          <a:ln/>
        </p:spPr>
        <p:txBody>
          <a:bodyPr wrap="square" lIns="0" tIns="0" rIns="0" bIns="0" rtlCol="0" anchor="ctr"/>
          <a:lstStyle/>
          <a:p>
            <a:pPr algn="ctr" indent="0" marL="0">
              <a:buNone/>
            </a:pPr>
            <a:r>
              <a:rPr lang="en-US" sz="1100" dirty="0">
                <a:solidFill>
                  <a:srgbClr val="5A6B7A"/>
                </a:solidFill>
                <a:latin typeface="Calibri" pitchFamily="34" charset="0"/>
                <a:ea typeface="Calibri" pitchFamily="34" charset="-122"/>
                <a:cs typeface="Calibri" pitchFamily="34" charset="-120"/>
              </a:rPr>
              <a:t>Ship with provenance</a:t>
            </a:r>
            <a:endParaRPr lang="en-US" sz="1100" dirty="0"/>
          </a:p>
        </p:txBody>
      </p:sp>
      <p:sp>
        <p:nvSpPr>
          <p:cNvPr id="19" name="Text 17"/>
          <p:cNvSpPr/>
          <p:nvPr/>
        </p:nvSpPr>
        <p:spPr>
          <a:xfrm>
            <a:off x="10012680" y="2377440"/>
            <a:ext cx="320040" cy="365760"/>
          </a:xfrm>
          <a:prstGeom prst="rect">
            <a:avLst/>
          </a:prstGeom>
          <a:noFill/>
          <a:ln/>
        </p:spPr>
        <p:txBody>
          <a:bodyPr wrap="square" lIns="0" tIns="0" rIns="0" bIns="0" rtlCol="0" anchor="ctr"/>
          <a:lstStyle/>
          <a:p>
            <a:pPr algn="ctr" indent="0" marL="0">
              <a:buNone/>
            </a:pPr>
            <a:r>
              <a:rPr lang="en-US" sz="1800" dirty="0">
                <a:solidFill>
                  <a:srgbClr val="8A99A8"/>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10332720" y="1920240"/>
            <a:ext cx="2084832" cy="1371600"/>
          </a:xfrm>
          <a:prstGeom prst="roundRect">
            <a:avLst>
              <a:gd name="adj" fmla="val 5333"/>
            </a:avLst>
          </a:prstGeom>
          <a:solidFill>
            <a:srgbClr val="F2F4F6"/>
          </a:solidFill>
          <a:ln w="12700">
            <a:solidFill>
              <a:srgbClr val="F2F4F6"/>
            </a:solidFill>
            <a:prstDash val="solid"/>
          </a:ln>
        </p:spPr>
      </p:sp>
      <p:sp>
        <p:nvSpPr>
          <p:cNvPr id="21" name="Text 19"/>
          <p:cNvSpPr/>
          <p:nvPr/>
        </p:nvSpPr>
        <p:spPr>
          <a:xfrm>
            <a:off x="10469880" y="2103120"/>
            <a:ext cx="1810512" cy="320040"/>
          </a:xfrm>
          <a:prstGeom prst="rect">
            <a:avLst/>
          </a:prstGeom>
          <a:noFill/>
          <a:ln/>
        </p:spPr>
        <p:txBody>
          <a:bodyPr wrap="square" lIns="0" tIns="0" rIns="0" bIns="0" rtlCol="0" anchor="ctr"/>
          <a:lstStyle/>
          <a:p>
            <a:pPr algn="ctr" indent="0" marL="0">
              <a:buNone/>
            </a:pPr>
            <a:r>
              <a:rPr lang="en-US" sz="1500" b="1" dirty="0">
                <a:solidFill>
                  <a:srgbClr val="22303C"/>
                </a:solidFill>
                <a:latin typeface="Cambria" pitchFamily="34" charset="0"/>
                <a:ea typeface="Cambria" pitchFamily="34" charset="-122"/>
                <a:cs typeface="Cambria" pitchFamily="34" charset="-120"/>
              </a:rPr>
              <a:t>Monitor</a:t>
            </a:r>
            <a:endParaRPr lang="en-US" sz="1500" dirty="0"/>
          </a:p>
        </p:txBody>
      </p:sp>
      <p:sp>
        <p:nvSpPr>
          <p:cNvPr id="22" name="Text 20"/>
          <p:cNvSpPr/>
          <p:nvPr/>
        </p:nvSpPr>
        <p:spPr>
          <a:xfrm>
            <a:off x="10469880" y="2468880"/>
            <a:ext cx="1810512" cy="640080"/>
          </a:xfrm>
          <a:prstGeom prst="rect">
            <a:avLst/>
          </a:prstGeom>
          <a:noFill/>
          <a:ln/>
        </p:spPr>
        <p:txBody>
          <a:bodyPr wrap="square" lIns="0" tIns="0" rIns="0" bIns="0" rtlCol="0" anchor="ctr"/>
          <a:lstStyle/>
          <a:p>
            <a:pPr algn="ctr" indent="0" marL="0">
              <a:buNone/>
            </a:pPr>
            <a:r>
              <a:rPr lang="en-US" sz="1100" dirty="0">
                <a:solidFill>
                  <a:srgbClr val="5A6B7A"/>
                </a:solidFill>
                <a:latin typeface="Calibri" pitchFamily="34" charset="0"/>
                <a:ea typeface="Calibri" pitchFamily="34" charset="-122"/>
                <a:cs typeface="Calibri" pitchFamily="34" charset="-120"/>
              </a:rPr>
              <a:t>Watch for drift</a:t>
            </a:r>
            <a:endParaRPr lang="en-US" sz="1100" dirty="0"/>
          </a:p>
        </p:txBody>
      </p:sp>
      <p:sp>
        <p:nvSpPr>
          <p:cNvPr id="23" name="Shape 21"/>
          <p:cNvSpPr/>
          <p:nvPr/>
        </p:nvSpPr>
        <p:spPr>
          <a:xfrm>
            <a:off x="640080" y="3794760"/>
            <a:ext cx="10908792" cy="1691640"/>
          </a:xfrm>
          <a:prstGeom prst="roundRect">
            <a:avLst>
              <a:gd name="adj" fmla="val 4324"/>
            </a:avLst>
          </a:prstGeom>
          <a:solidFill>
            <a:srgbClr val="E6F2EE"/>
          </a:solidFill>
          <a:ln w="12700">
            <a:solidFill>
              <a:srgbClr val="E6F2EE"/>
            </a:solidFill>
            <a:prstDash val="solid"/>
          </a:ln>
        </p:spPr>
      </p:sp>
      <p:sp>
        <p:nvSpPr>
          <p:cNvPr id="24" name="Text 22"/>
          <p:cNvSpPr/>
          <p:nvPr/>
        </p:nvSpPr>
        <p:spPr>
          <a:xfrm>
            <a:off x="1005840" y="4023360"/>
            <a:ext cx="4572000" cy="365760"/>
          </a:xfrm>
          <a:prstGeom prst="rect">
            <a:avLst/>
          </a:prstGeom>
          <a:noFill/>
          <a:ln/>
        </p:spPr>
        <p:txBody>
          <a:bodyPr wrap="square" lIns="0" tIns="0" rIns="0" bIns="0" rtlCol="0" anchor="ctr"/>
          <a:lstStyle/>
          <a:p>
            <a:pPr indent="0" marL="0">
              <a:buNone/>
            </a:pPr>
            <a:r>
              <a:rPr lang="en-US" sz="2200" b="1" dirty="0">
                <a:solidFill>
                  <a:srgbClr val="2D8A72"/>
                </a:solidFill>
                <a:latin typeface="Cambria" pitchFamily="34" charset="0"/>
                <a:ea typeface="Cambria" pitchFamily="34" charset="-122"/>
                <a:cs typeface="Cambria" pitchFamily="34" charset="-120"/>
              </a:rPr>
              <a:t>Compound</a:t>
            </a:r>
            <a:endParaRPr lang="en-US" sz="2200" dirty="0"/>
          </a:p>
        </p:txBody>
      </p:sp>
      <p:sp>
        <p:nvSpPr>
          <p:cNvPr id="25" name="Text 23"/>
          <p:cNvSpPr/>
          <p:nvPr/>
        </p:nvSpPr>
        <p:spPr>
          <a:xfrm>
            <a:off x="1005840" y="4480560"/>
            <a:ext cx="10177272" cy="777240"/>
          </a:xfrm>
          <a:prstGeom prst="rect">
            <a:avLst/>
          </a:prstGeom>
          <a:noFill/>
          <a:ln/>
        </p:spPr>
        <p:txBody>
          <a:bodyPr wrap="square" lIns="0" tIns="0" rIns="0" bIns="0" rtlCol="0" anchor="ctr"/>
          <a:lstStyle/>
          <a:p>
            <a:pPr indent="0" marL="0">
              <a:buNone/>
            </a:pPr>
            <a:r>
              <a:rPr lang="en-US" sz="1500" dirty="0">
                <a:solidFill>
                  <a:srgbClr val="1F5F4C"/>
                </a:solidFill>
                <a:latin typeface="Calibri" pitchFamily="34" charset="0"/>
                <a:ea typeface="Calibri" pitchFamily="34" charset="-122"/>
                <a:cs typeface="Calibri" pitchFamily="34" charset="-120"/>
              </a:rPr>
              <a:t>Every correction becomes a doc edit and an eval. Skip this step and you have done traditional analytics with an AI typing for you.</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2303C"/>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THE REFRAME</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A skill is markdown, not code</a:t>
            </a:r>
            <a:endParaRPr lang="en-US" sz="3400" dirty="0"/>
          </a:p>
        </p:txBody>
      </p:sp>
      <p:sp>
        <p:nvSpPr>
          <p:cNvPr id="4" name="Text 2"/>
          <p:cNvSpPr/>
          <p:nvPr/>
        </p:nvSpPr>
        <p:spPr>
          <a:xfrm>
            <a:off x="640080" y="1920240"/>
            <a:ext cx="10515600" cy="1280160"/>
          </a:xfrm>
          <a:prstGeom prst="rect">
            <a:avLst/>
          </a:prstGeom>
          <a:noFill/>
          <a:ln/>
        </p:spPr>
        <p:txBody>
          <a:bodyPr wrap="square" lIns="0" tIns="0" rIns="0" bIns="0" rtlCol="0" anchor="ctr"/>
          <a:lstStyle/>
          <a:p>
            <a:pPr indent="0" marL="0">
              <a:lnSpc>
                <a:spcPts val="4000"/>
              </a:lnSpc>
              <a:buNone/>
            </a:pPr>
            <a:r>
              <a:rPr lang="en-US" sz="3000" i="1" dirty="0">
                <a:solidFill>
                  <a:srgbClr val="FFFFFF"/>
                </a:solidFill>
                <a:latin typeface="Cambria" pitchFamily="34" charset="0"/>
                <a:ea typeface="Cambria" pitchFamily="34" charset="-122"/>
                <a:cs typeface="Cambria" pitchFamily="34" charset="-120"/>
              </a:rPr>
              <a:t>The agent doesn't need you to write code anymore.</a:t>
            </a:r>
            <a:endParaRPr lang="en-US" sz="3000" dirty="0"/>
          </a:p>
          <a:p>
            <a:pPr indent="0" marL="0">
              <a:lnSpc>
                <a:spcPts val="4000"/>
              </a:lnSpc>
              <a:buNone/>
            </a:pPr>
            <a:r>
              <a:rPr lang="en-US" sz="3000" i="1" dirty="0">
                <a:solidFill>
                  <a:srgbClr val="FFFFFF"/>
                </a:solidFill>
                <a:latin typeface="Cambria" pitchFamily="34" charset="0"/>
                <a:ea typeface="Cambria" pitchFamily="34" charset="-122"/>
                <a:cs typeface="Cambria" pitchFamily="34" charset="-120"/>
              </a:rPr>
              <a:t>It needs you to write down what you know.</a:t>
            </a:r>
            <a:endParaRPr lang="en-US" sz="3000" dirty="0"/>
          </a:p>
        </p:txBody>
      </p:sp>
      <p:sp>
        <p:nvSpPr>
          <p:cNvPr id="5" name="Shape 3"/>
          <p:cNvSpPr/>
          <p:nvPr/>
        </p:nvSpPr>
        <p:spPr>
          <a:xfrm>
            <a:off x="640080" y="3749040"/>
            <a:ext cx="3520440" cy="1737360"/>
          </a:xfrm>
          <a:prstGeom prst="roundRect">
            <a:avLst>
              <a:gd name="adj" fmla="val 4211"/>
            </a:avLst>
          </a:prstGeom>
          <a:solidFill>
            <a:srgbClr val="2E3E4C"/>
          </a:solidFill>
          <a:ln w="12700">
            <a:solidFill>
              <a:srgbClr val="2E3E4C"/>
            </a:solidFill>
            <a:prstDash val="solid"/>
          </a:ln>
        </p:spPr>
      </p:sp>
      <p:sp>
        <p:nvSpPr>
          <p:cNvPr id="6" name="Text 4"/>
          <p:cNvSpPr/>
          <p:nvPr/>
        </p:nvSpPr>
        <p:spPr>
          <a:xfrm>
            <a:off x="914400" y="3977640"/>
            <a:ext cx="2971800" cy="365760"/>
          </a:xfrm>
          <a:prstGeom prst="rect">
            <a:avLst/>
          </a:prstGeom>
          <a:noFill/>
          <a:ln/>
        </p:spPr>
        <p:txBody>
          <a:bodyPr wrap="square" lIns="0" tIns="0" rIns="0" bIns="0" rtlCol="0" anchor="ctr"/>
          <a:lstStyle/>
          <a:p>
            <a:pPr indent="0" marL="0">
              <a:buNone/>
            </a:pPr>
            <a:r>
              <a:rPr lang="en-US" sz="1600" b="1" dirty="0">
                <a:solidFill>
                  <a:srgbClr val="E8663C"/>
                </a:solidFill>
                <a:latin typeface="Cambria" pitchFamily="34" charset="0"/>
                <a:ea typeface="Cambria" pitchFamily="34" charset="-122"/>
                <a:cs typeface="Cambria" pitchFamily="34" charset="-120"/>
              </a:rPr>
              <a:t>Anyone can contribute</a:t>
            </a:r>
            <a:endParaRPr lang="en-US" sz="1600" dirty="0"/>
          </a:p>
        </p:txBody>
      </p:sp>
      <p:sp>
        <p:nvSpPr>
          <p:cNvPr id="7" name="Text 5"/>
          <p:cNvSpPr/>
          <p:nvPr/>
        </p:nvSpPr>
        <p:spPr>
          <a:xfrm>
            <a:off x="914400" y="4370832"/>
            <a:ext cx="2971800" cy="960120"/>
          </a:xfrm>
          <a:prstGeom prst="rect">
            <a:avLst/>
          </a:prstGeom>
          <a:noFill/>
          <a:ln/>
        </p:spPr>
        <p:txBody>
          <a:bodyPr wrap="square" lIns="0" tIns="0" rIns="0" bIns="0" rtlCol="0" anchor="ctr"/>
          <a:lstStyle/>
          <a:p>
            <a:pPr indent="0" marL="0">
              <a:buNone/>
            </a:pPr>
            <a:r>
              <a:rPr lang="en-US" sz="1300" dirty="0">
                <a:solidFill>
                  <a:srgbClr val="CBD5DD"/>
                </a:solidFill>
                <a:latin typeface="Calibri" pitchFamily="34" charset="0"/>
                <a:ea typeface="Calibri" pitchFamily="34" charset="-122"/>
                <a:cs typeface="Calibri" pitchFamily="34" charset="-120"/>
              </a:rPr>
              <a:t>A SQL analyst and a senior DS both ship a real artifact in 90 minutes</a:t>
            </a:r>
            <a:endParaRPr lang="en-US" sz="1300" dirty="0"/>
          </a:p>
        </p:txBody>
      </p:sp>
      <p:sp>
        <p:nvSpPr>
          <p:cNvPr id="8" name="Shape 6"/>
          <p:cNvSpPr/>
          <p:nvPr/>
        </p:nvSpPr>
        <p:spPr>
          <a:xfrm>
            <a:off x="4544568" y="3749040"/>
            <a:ext cx="3520440" cy="1737360"/>
          </a:xfrm>
          <a:prstGeom prst="roundRect">
            <a:avLst>
              <a:gd name="adj" fmla="val 4211"/>
            </a:avLst>
          </a:prstGeom>
          <a:solidFill>
            <a:srgbClr val="2E3E4C"/>
          </a:solidFill>
          <a:ln w="12700">
            <a:solidFill>
              <a:srgbClr val="2E3E4C"/>
            </a:solidFill>
            <a:prstDash val="solid"/>
          </a:ln>
        </p:spPr>
      </p:sp>
      <p:sp>
        <p:nvSpPr>
          <p:cNvPr id="9" name="Text 7"/>
          <p:cNvSpPr/>
          <p:nvPr/>
        </p:nvSpPr>
        <p:spPr>
          <a:xfrm>
            <a:off x="4818888" y="3977640"/>
            <a:ext cx="2971800" cy="365760"/>
          </a:xfrm>
          <a:prstGeom prst="rect">
            <a:avLst/>
          </a:prstGeom>
          <a:noFill/>
          <a:ln/>
        </p:spPr>
        <p:txBody>
          <a:bodyPr wrap="square" lIns="0" tIns="0" rIns="0" bIns="0" rtlCol="0" anchor="ctr"/>
          <a:lstStyle/>
          <a:p>
            <a:pPr indent="0" marL="0">
              <a:buNone/>
            </a:pPr>
            <a:r>
              <a:rPr lang="en-US" sz="1600" b="1" dirty="0">
                <a:solidFill>
                  <a:srgbClr val="E8663C"/>
                </a:solidFill>
                <a:latin typeface="Cambria" pitchFamily="34" charset="0"/>
                <a:ea typeface="Cambria" pitchFamily="34" charset="-122"/>
                <a:cs typeface="Cambria" pitchFamily="34" charset="-120"/>
              </a:rPr>
              <a:t>The bottleneck is judgment</a:t>
            </a:r>
            <a:endParaRPr lang="en-US" sz="1600" dirty="0"/>
          </a:p>
        </p:txBody>
      </p:sp>
      <p:sp>
        <p:nvSpPr>
          <p:cNvPr id="10" name="Text 8"/>
          <p:cNvSpPr/>
          <p:nvPr/>
        </p:nvSpPr>
        <p:spPr>
          <a:xfrm>
            <a:off x="4818888" y="4370832"/>
            <a:ext cx="2971800" cy="960120"/>
          </a:xfrm>
          <a:prstGeom prst="rect">
            <a:avLst/>
          </a:prstGeom>
          <a:noFill/>
          <a:ln/>
        </p:spPr>
        <p:txBody>
          <a:bodyPr wrap="square" lIns="0" tIns="0" rIns="0" bIns="0" rtlCol="0" anchor="ctr"/>
          <a:lstStyle/>
          <a:p>
            <a:pPr indent="0" marL="0">
              <a:buNone/>
            </a:pPr>
            <a:r>
              <a:rPr lang="en-US" sz="1300" dirty="0">
                <a:solidFill>
                  <a:srgbClr val="CBD5DD"/>
                </a:solidFill>
                <a:latin typeface="Calibri" pitchFamily="34" charset="0"/>
                <a:ea typeface="Calibri" pitchFamily="34" charset="-122"/>
                <a:cs typeface="Calibri" pitchFamily="34" charset="-120"/>
              </a:rPr>
              <a:t>Which analysts have, and models don't</a:t>
            </a:r>
            <a:endParaRPr lang="en-US" sz="1300" dirty="0"/>
          </a:p>
        </p:txBody>
      </p:sp>
      <p:sp>
        <p:nvSpPr>
          <p:cNvPr id="11" name="Shape 9"/>
          <p:cNvSpPr/>
          <p:nvPr/>
        </p:nvSpPr>
        <p:spPr>
          <a:xfrm>
            <a:off x="8449056" y="3749040"/>
            <a:ext cx="3520440" cy="1737360"/>
          </a:xfrm>
          <a:prstGeom prst="roundRect">
            <a:avLst>
              <a:gd name="adj" fmla="val 4211"/>
            </a:avLst>
          </a:prstGeom>
          <a:solidFill>
            <a:srgbClr val="2E3E4C"/>
          </a:solidFill>
          <a:ln w="12700">
            <a:solidFill>
              <a:srgbClr val="2E3E4C"/>
            </a:solidFill>
            <a:prstDash val="solid"/>
          </a:ln>
        </p:spPr>
      </p:sp>
      <p:sp>
        <p:nvSpPr>
          <p:cNvPr id="12" name="Text 10"/>
          <p:cNvSpPr/>
          <p:nvPr/>
        </p:nvSpPr>
        <p:spPr>
          <a:xfrm>
            <a:off x="8723376" y="3977640"/>
            <a:ext cx="2971800" cy="365760"/>
          </a:xfrm>
          <a:prstGeom prst="rect">
            <a:avLst/>
          </a:prstGeom>
          <a:noFill/>
          <a:ln/>
        </p:spPr>
        <p:txBody>
          <a:bodyPr wrap="square" lIns="0" tIns="0" rIns="0" bIns="0" rtlCol="0" anchor="ctr"/>
          <a:lstStyle/>
          <a:p>
            <a:pPr indent="0" marL="0">
              <a:buNone/>
            </a:pPr>
            <a:r>
              <a:rPr lang="en-US" sz="1600" b="1" dirty="0">
                <a:solidFill>
                  <a:srgbClr val="E8663C"/>
                </a:solidFill>
                <a:latin typeface="Cambria" pitchFamily="34" charset="0"/>
                <a:ea typeface="Cambria" pitchFamily="34" charset="-122"/>
                <a:cs typeface="Cambria" pitchFamily="34" charset="-120"/>
              </a:rPr>
              <a:t>Deployable Monday</a:t>
            </a:r>
            <a:endParaRPr lang="en-US" sz="1600" dirty="0"/>
          </a:p>
        </p:txBody>
      </p:sp>
      <p:sp>
        <p:nvSpPr>
          <p:cNvPr id="13" name="Text 11"/>
          <p:cNvSpPr/>
          <p:nvPr/>
        </p:nvSpPr>
        <p:spPr>
          <a:xfrm>
            <a:off x="8723376" y="4370832"/>
            <a:ext cx="2971800" cy="960120"/>
          </a:xfrm>
          <a:prstGeom prst="rect">
            <a:avLst/>
          </a:prstGeom>
          <a:noFill/>
          <a:ln/>
        </p:spPr>
        <p:txBody>
          <a:bodyPr wrap="square" lIns="0" tIns="0" rIns="0" bIns="0" rtlCol="0" anchor="ctr"/>
          <a:lstStyle/>
          <a:p>
            <a:pPr indent="0" marL="0">
              <a:buNone/>
            </a:pPr>
            <a:r>
              <a:rPr lang="en-US" sz="1300" dirty="0">
                <a:solidFill>
                  <a:srgbClr val="CBD5DD"/>
                </a:solidFill>
                <a:latin typeface="Calibri" pitchFamily="34" charset="0"/>
                <a:ea typeface="Calibri" pitchFamily="34" charset="-122"/>
                <a:cs typeface="Calibri" pitchFamily="34" charset="-120"/>
              </a:rPr>
              <a:t>A folder of .md files, versioned in your repo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THE PACK</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What you're getting</a:t>
            </a:r>
            <a:endParaRPr lang="en-US" sz="3400" dirty="0"/>
          </a:p>
        </p:txBody>
      </p:sp>
      <p:sp>
        <p:nvSpPr>
          <p:cNvPr id="4" name="Shape 2"/>
          <p:cNvSpPr/>
          <p:nvPr/>
        </p:nvSpPr>
        <p:spPr>
          <a:xfrm>
            <a:off x="640080" y="1737360"/>
            <a:ext cx="3520440" cy="2286000"/>
          </a:xfrm>
          <a:prstGeom prst="roundRect">
            <a:avLst>
              <a:gd name="adj" fmla="val 3200"/>
            </a:avLst>
          </a:prstGeom>
          <a:solidFill>
            <a:srgbClr val="F2F4F6"/>
          </a:solidFill>
          <a:ln w="12700">
            <a:solidFill>
              <a:srgbClr val="F2F4F6"/>
            </a:solidFill>
            <a:prstDash val="solid"/>
          </a:ln>
        </p:spPr>
      </p:sp>
      <p:sp>
        <p:nvSpPr>
          <p:cNvPr id="5" name="Text 3"/>
          <p:cNvSpPr/>
          <p:nvPr/>
        </p:nvSpPr>
        <p:spPr>
          <a:xfrm>
            <a:off x="914400" y="1920240"/>
            <a:ext cx="2971800" cy="914400"/>
          </a:xfrm>
          <a:prstGeom prst="rect">
            <a:avLst/>
          </a:prstGeom>
          <a:noFill/>
          <a:ln/>
        </p:spPr>
        <p:txBody>
          <a:bodyPr wrap="square" lIns="0" tIns="0" rIns="0" bIns="0" rtlCol="0" anchor="ctr"/>
          <a:lstStyle/>
          <a:p>
            <a:pPr indent="0" marL="0">
              <a:buNone/>
            </a:pPr>
            <a:r>
              <a:rPr lang="en-US" sz="6000" b="1" dirty="0">
                <a:solidFill>
                  <a:srgbClr val="E8663C"/>
                </a:solidFill>
                <a:latin typeface="Cambria" pitchFamily="34" charset="0"/>
                <a:ea typeface="Cambria" pitchFamily="34" charset="-122"/>
                <a:cs typeface="Cambria" pitchFamily="34" charset="-120"/>
              </a:rPr>
              <a:t>11</a:t>
            </a:r>
            <a:endParaRPr lang="en-US" sz="6000" dirty="0"/>
          </a:p>
        </p:txBody>
      </p:sp>
      <p:sp>
        <p:nvSpPr>
          <p:cNvPr id="6" name="Text 4"/>
          <p:cNvSpPr/>
          <p:nvPr/>
        </p:nvSpPr>
        <p:spPr>
          <a:xfrm>
            <a:off x="914400" y="2788920"/>
            <a:ext cx="2971800" cy="32004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skills</a:t>
            </a:r>
            <a:endParaRPr lang="en-US" sz="1800" dirty="0"/>
          </a:p>
        </p:txBody>
      </p:sp>
      <p:sp>
        <p:nvSpPr>
          <p:cNvPr id="7" name="Text 5"/>
          <p:cNvSpPr/>
          <p:nvPr/>
        </p:nvSpPr>
        <p:spPr>
          <a:xfrm>
            <a:off x="914400" y="3154680"/>
            <a:ext cx="2971800" cy="731520"/>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Full lifecycle plus two reviewer personas</a:t>
            </a:r>
            <a:endParaRPr lang="en-US" sz="1200" dirty="0"/>
          </a:p>
        </p:txBody>
      </p:sp>
      <p:sp>
        <p:nvSpPr>
          <p:cNvPr id="8" name="Shape 6"/>
          <p:cNvSpPr/>
          <p:nvPr/>
        </p:nvSpPr>
        <p:spPr>
          <a:xfrm>
            <a:off x="4544568" y="1737360"/>
            <a:ext cx="3520440" cy="2286000"/>
          </a:xfrm>
          <a:prstGeom prst="roundRect">
            <a:avLst>
              <a:gd name="adj" fmla="val 3200"/>
            </a:avLst>
          </a:prstGeom>
          <a:solidFill>
            <a:srgbClr val="F2F4F6"/>
          </a:solidFill>
          <a:ln w="12700">
            <a:solidFill>
              <a:srgbClr val="F2F4F6"/>
            </a:solidFill>
            <a:prstDash val="solid"/>
          </a:ln>
        </p:spPr>
      </p:sp>
      <p:sp>
        <p:nvSpPr>
          <p:cNvPr id="9" name="Text 7"/>
          <p:cNvSpPr/>
          <p:nvPr/>
        </p:nvSpPr>
        <p:spPr>
          <a:xfrm>
            <a:off x="4818888" y="1920240"/>
            <a:ext cx="2971800" cy="914400"/>
          </a:xfrm>
          <a:prstGeom prst="rect">
            <a:avLst/>
          </a:prstGeom>
          <a:noFill/>
          <a:ln/>
        </p:spPr>
        <p:txBody>
          <a:bodyPr wrap="square" lIns="0" tIns="0" rIns="0" bIns="0" rtlCol="0" anchor="ctr"/>
          <a:lstStyle/>
          <a:p>
            <a:pPr indent="0" marL="0">
              <a:buNone/>
            </a:pPr>
            <a:r>
              <a:rPr lang="en-US" sz="6000" b="1" dirty="0">
                <a:solidFill>
                  <a:srgbClr val="E8663C"/>
                </a:solidFill>
                <a:latin typeface="Cambria" pitchFamily="34" charset="0"/>
                <a:ea typeface="Cambria" pitchFamily="34" charset="-122"/>
                <a:cs typeface="Cambria" pitchFamily="34" charset="-120"/>
              </a:rPr>
              <a:t>44</a:t>
            </a:r>
            <a:endParaRPr lang="en-US" sz="6000" dirty="0"/>
          </a:p>
        </p:txBody>
      </p:sp>
      <p:sp>
        <p:nvSpPr>
          <p:cNvPr id="10" name="Text 8"/>
          <p:cNvSpPr/>
          <p:nvPr/>
        </p:nvSpPr>
        <p:spPr>
          <a:xfrm>
            <a:off x="4818888" y="2788920"/>
            <a:ext cx="2971800" cy="32004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tables</a:t>
            </a:r>
            <a:endParaRPr lang="en-US" sz="1800" dirty="0"/>
          </a:p>
        </p:txBody>
      </p:sp>
      <p:sp>
        <p:nvSpPr>
          <p:cNvPr id="11" name="Text 9"/>
          <p:cNvSpPr/>
          <p:nvPr/>
        </p:nvSpPr>
        <p:spPr>
          <a:xfrm>
            <a:off x="4818888" y="3154680"/>
            <a:ext cx="2971800" cy="731520"/>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Synthetic warehouse, eleven engineered traps</a:t>
            </a:r>
            <a:endParaRPr lang="en-US" sz="1200" dirty="0"/>
          </a:p>
        </p:txBody>
      </p:sp>
      <p:sp>
        <p:nvSpPr>
          <p:cNvPr id="12" name="Shape 10"/>
          <p:cNvSpPr/>
          <p:nvPr/>
        </p:nvSpPr>
        <p:spPr>
          <a:xfrm>
            <a:off x="8449056" y="1737360"/>
            <a:ext cx="3520440" cy="2286000"/>
          </a:xfrm>
          <a:prstGeom prst="roundRect">
            <a:avLst>
              <a:gd name="adj" fmla="val 3200"/>
            </a:avLst>
          </a:prstGeom>
          <a:solidFill>
            <a:srgbClr val="F2F4F6"/>
          </a:solidFill>
          <a:ln w="12700">
            <a:solidFill>
              <a:srgbClr val="F2F4F6"/>
            </a:solidFill>
            <a:prstDash val="solid"/>
          </a:ln>
        </p:spPr>
      </p:sp>
      <p:sp>
        <p:nvSpPr>
          <p:cNvPr id="13" name="Text 11"/>
          <p:cNvSpPr/>
          <p:nvPr/>
        </p:nvSpPr>
        <p:spPr>
          <a:xfrm>
            <a:off x="8723376" y="1920240"/>
            <a:ext cx="2971800" cy="914400"/>
          </a:xfrm>
          <a:prstGeom prst="rect">
            <a:avLst/>
          </a:prstGeom>
          <a:noFill/>
          <a:ln/>
        </p:spPr>
        <p:txBody>
          <a:bodyPr wrap="square" lIns="0" tIns="0" rIns="0" bIns="0" rtlCol="0" anchor="ctr"/>
          <a:lstStyle/>
          <a:p>
            <a:pPr indent="0" marL="0">
              <a:buNone/>
            </a:pPr>
            <a:r>
              <a:rPr lang="en-US" sz="6000" b="1" dirty="0">
                <a:solidFill>
                  <a:srgbClr val="E8663C"/>
                </a:solidFill>
                <a:latin typeface="Cambria" pitchFamily="34" charset="0"/>
                <a:ea typeface="Cambria" pitchFamily="34" charset="-122"/>
                <a:cs typeface="Cambria" pitchFamily="34" charset="-120"/>
              </a:rPr>
              <a:t>29</a:t>
            </a:r>
            <a:endParaRPr lang="en-US" sz="6000" dirty="0"/>
          </a:p>
        </p:txBody>
      </p:sp>
      <p:sp>
        <p:nvSpPr>
          <p:cNvPr id="14" name="Text 12"/>
          <p:cNvSpPr/>
          <p:nvPr/>
        </p:nvSpPr>
        <p:spPr>
          <a:xfrm>
            <a:off x="8723376" y="2788920"/>
            <a:ext cx="2971800" cy="320040"/>
          </a:xfrm>
          <a:prstGeom prst="rect">
            <a:avLst/>
          </a:prstGeom>
          <a:noFill/>
          <a:ln/>
        </p:spPr>
        <p:txBody>
          <a:bodyPr wrap="square" lIns="0" tIns="0" rIns="0" bIns="0" rtlCol="0" anchor="ctr"/>
          <a:lstStyle/>
          <a:p>
            <a:pPr indent="0" marL="0">
              <a:buNone/>
            </a:pPr>
            <a:r>
              <a:rPr lang="en-US" sz="1800" b="1" dirty="0">
                <a:solidFill>
                  <a:srgbClr val="22303C"/>
                </a:solidFill>
                <a:latin typeface="Cambria" pitchFamily="34" charset="0"/>
                <a:ea typeface="Cambria" pitchFamily="34" charset="-122"/>
                <a:cs typeface="Cambria" pitchFamily="34" charset="-120"/>
              </a:rPr>
              <a:t>evals</a:t>
            </a:r>
            <a:endParaRPr lang="en-US" sz="1800" dirty="0"/>
          </a:p>
        </p:txBody>
      </p:sp>
      <p:sp>
        <p:nvSpPr>
          <p:cNvPr id="15" name="Text 13"/>
          <p:cNvSpPr/>
          <p:nvPr/>
        </p:nvSpPr>
        <p:spPr>
          <a:xfrm>
            <a:off x="8723376" y="3154680"/>
            <a:ext cx="2971800" cy="731520"/>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Pinned ground truth, six negative tests</a:t>
            </a:r>
            <a:endParaRPr lang="en-US" sz="1200" dirty="0"/>
          </a:p>
        </p:txBody>
      </p:sp>
      <p:sp>
        <p:nvSpPr>
          <p:cNvPr id="16" name="Text 14"/>
          <p:cNvSpPr/>
          <p:nvPr/>
        </p:nvSpPr>
        <p:spPr>
          <a:xfrm>
            <a:off x="640080" y="4480560"/>
            <a:ext cx="10908792"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github.com/RobStilson/analytics-skills</a:t>
            </a:r>
            <a:pPr indent="0" marL="0">
              <a:buNone/>
            </a:pPr>
            <a:r>
              <a:rPr lang="en-US" sz="1500" dirty="0">
                <a:solidFill>
                  <a:srgbClr val="5A6B7A"/>
                </a:solidFill>
                <a:latin typeface="Calibri" pitchFamily="34" charset="0"/>
                <a:ea typeface="Calibri" pitchFamily="34" charset="-122"/>
                <a:cs typeface="Calibri" pitchFamily="34" charset="-120"/>
              </a:rPr>
              <a:t>   ·   MIT   ·   contributors credited in the README</a:t>
            </a:r>
            <a:endParaRPr lang="en-US" sz="1500" dirty="0"/>
          </a:p>
        </p:txBody>
      </p:sp>
      <p:sp>
        <p:nvSpPr>
          <p:cNvPr id="17" name="Text 15"/>
          <p:cNvSpPr/>
          <p:nvPr/>
        </p:nvSpPr>
        <p:spPr>
          <a:xfrm>
            <a:off x="640080" y="4937760"/>
            <a:ext cx="10908792" cy="365760"/>
          </a:xfrm>
          <a:prstGeom prst="rect">
            <a:avLst/>
          </a:prstGeom>
          <a:noFill/>
          <a:ln/>
        </p:spPr>
        <p:txBody>
          <a:bodyPr wrap="square" lIns="0" tIns="0" rIns="0" bIns="0" rtlCol="0" anchor="ctr"/>
          <a:lstStyle/>
          <a:p>
            <a:pPr indent="0" marL="0">
              <a:buNone/>
            </a:pPr>
            <a:r>
              <a:rPr lang="en-US" sz="1400" i="1" dirty="0">
                <a:solidFill>
                  <a:srgbClr val="5A6B7A"/>
                </a:solidFill>
                <a:latin typeface="Calibri" pitchFamily="34" charset="0"/>
                <a:ea typeface="Calibri" pitchFamily="34" charset="-122"/>
                <a:cs typeface="Calibri" pitchFamily="34" charset="-120"/>
              </a:rPr>
              <a:t>Everything open. You leave as a contributor, not an attendee.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THE SANDBOX</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A warehouse built to be wrong in specific ways</a:t>
            </a:r>
            <a:endParaRPr lang="en-US" sz="3400" dirty="0"/>
          </a:p>
        </p:txBody>
      </p:sp>
      <p:sp>
        <p:nvSpPr>
          <p:cNvPr id="4" name="Text 2"/>
          <p:cNvSpPr/>
          <p:nvPr/>
        </p:nvSpPr>
        <p:spPr>
          <a:xfrm>
            <a:off x="640080" y="1371600"/>
            <a:ext cx="10908792"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A clean warehouse teaches nothing. Ours has the ambiguities a real HRIS accumulates.</a:t>
            </a:r>
            <a:endParaRPr lang="en-US" sz="1500" dirty="0"/>
          </a:p>
        </p:txBody>
      </p:sp>
      <p:sp>
        <p:nvSpPr>
          <p:cNvPr id="5" name="Shape 3"/>
          <p:cNvSpPr/>
          <p:nvPr/>
        </p:nvSpPr>
        <p:spPr>
          <a:xfrm>
            <a:off x="640080" y="1965960"/>
            <a:ext cx="10908792" cy="658368"/>
          </a:xfrm>
          <a:prstGeom prst="roundRect">
            <a:avLst>
              <a:gd name="adj" fmla="val 11111"/>
            </a:avLst>
          </a:prstGeom>
          <a:solidFill>
            <a:srgbClr val="F2F4F6"/>
          </a:solidFill>
          <a:ln w="12700">
            <a:solidFill>
              <a:srgbClr val="F2F4F6"/>
            </a:solidFill>
            <a:prstDash val="solid"/>
          </a:ln>
        </p:spPr>
      </p:sp>
      <p:sp>
        <p:nvSpPr>
          <p:cNvPr id="6" name="Text 4"/>
          <p:cNvSpPr/>
          <p:nvPr/>
        </p:nvSpPr>
        <p:spPr>
          <a:xfrm>
            <a:off x="960120" y="2112264"/>
            <a:ext cx="60350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Four answers to "how many employees?"</a:t>
            </a:r>
            <a:endParaRPr lang="en-US" sz="1500" dirty="0"/>
          </a:p>
        </p:txBody>
      </p:sp>
      <p:sp>
        <p:nvSpPr>
          <p:cNvPr id="7" name="Text 5"/>
          <p:cNvSpPr/>
          <p:nvPr/>
        </p:nvSpPr>
        <p:spPr>
          <a:xfrm>
            <a:off x="7132320" y="2112264"/>
            <a:ext cx="4297680" cy="365760"/>
          </a:xfrm>
          <a:prstGeom prst="rect">
            <a:avLst/>
          </a:prstGeom>
          <a:noFill/>
          <a:ln/>
        </p:spPr>
        <p:txBody>
          <a:bodyPr wrap="square" lIns="0" tIns="0" rIns="0" bIns="0" rtlCol="0" anchor="ctr"/>
          <a:lstStyle/>
          <a:p>
            <a:pPr algn="r" indent="0" marL="0">
              <a:buNone/>
            </a:pPr>
            <a:r>
              <a:rPr lang="en-US" sz="1300" dirty="0">
                <a:solidFill>
                  <a:srgbClr val="E8663C"/>
                </a:solidFill>
                <a:latin typeface="Consolas" pitchFamily="34" charset="0"/>
                <a:ea typeface="Consolas" pitchFamily="34" charset="-122"/>
                <a:cs typeface="Consolas" pitchFamily="34" charset="-120"/>
              </a:rPr>
              <a:t>12,282  /  4,368  /  4,168  /  3,647</a:t>
            </a:r>
            <a:endParaRPr lang="en-US" sz="1300" dirty="0"/>
          </a:p>
        </p:txBody>
      </p:sp>
      <p:sp>
        <p:nvSpPr>
          <p:cNvPr id="8" name="Shape 6"/>
          <p:cNvSpPr/>
          <p:nvPr/>
        </p:nvSpPr>
        <p:spPr>
          <a:xfrm>
            <a:off x="640080" y="2679192"/>
            <a:ext cx="10908792" cy="658368"/>
          </a:xfrm>
          <a:prstGeom prst="roundRect">
            <a:avLst>
              <a:gd name="adj" fmla="val 11111"/>
            </a:avLst>
          </a:prstGeom>
          <a:solidFill>
            <a:srgbClr val="FFFFFF"/>
          </a:solidFill>
          <a:ln w="12700">
            <a:solidFill>
              <a:srgbClr val="FFFFFF"/>
            </a:solidFill>
            <a:prstDash val="solid"/>
          </a:ln>
        </p:spPr>
      </p:sp>
      <p:sp>
        <p:nvSpPr>
          <p:cNvPr id="9" name="Text 7"/>
          <p:cNvSpPr/>
          <p:nvPr/>
        </p:nvSpPr>
        <p:spPr>
          <a:xfrm>
            <a:off x="960120" y="2825496"/>
            <a:ext cx="60350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 column renamed but never dropped</a:t>
            </a:r>
            <a:endParaRPr lang="en-US" sz="1500" dirty="0"/>
          </a:p>
        </p:txBody>
      </p:sp>
      <p:sp>
        <p:nvSpPr>
          <p:cNvPr id="10" name="Text 8"/>
          <p:cNvSpPr/>
          <p:nvPr/>
        </p:nvSpPr>
        <p:spPr>
          <a:xfrm>
            <a:off x="7132320" y="2825496"/>
            <a:ext cx="4297680" cy="365760"/>
          </a:xfrm>
          <a:prstGeom prst="rect">
            <a:avLst/>
          </a:prstGeom>
          <a:noFill/>
          <a:ln/>
        </p:spPr>
        <p:txBody>
          <a:bodyPr wrap="square" lIns="0" tIns="0" rIns="0" bIns="0" rtlCol="0" anchor="ctr"/>
          <a:lstStyle/>
          <a:p>
            <a:pPr algn="r" indent="0" marL="0">
              <a:buNone/>
            </a:pPr>
            <a:r>
              <a:rPr lang="en-US" sz="1300" dirty="0">
                <a:solidFill>
                  <a:srgbClr val="E8663C"/>
                </a:solidFill>
                <a:latin typeface="Consolas" pitchFamily="34" charset="0"/>
                <a:ea typeface="Consolas" pitchFamily="34" charset="-122"/>
                <a:cs typeface="Consolas" pitchFamily="34" charset="-120"/>
              </a:rPr>
              <a:t>54% populated, silently drops 1,668 people</a:t>
            </a:r>
            <a:endParaRPr lang="en-US" sz="1300" dirty="0"/>
          </a:p>
        </p:txBody>
      </p:sp>
      <p:sp>
        <p:nvSpPr>
          <p:cNvPr id="11" name="Shape 9"/>
          <p:cNvSpPr/>
          <p:nvPr/>
        </p:nvSpPr>
        <p:spPr>
          <a:xfrm>
            <a:off x="640080" y="3392424"/>
            <a:ext cx="10908792" cy="658368"/>
          </a:xfrm>
          <a:prstGeom prst="roundRect">
            <a:avLst>
              <a:gd name="adj" fmla="val 11111"/>
            </a:avLst>
          </a:prstGeom>
          <a:solidFill>
            <a:srgbClr val="F2F4F6"/>
          </a:solidFill>
          <a:ln w="12700">
            <a:solidFill>
              <a:srgbClr val="F2F4F6"/>
            </a:solidFill>
            <a:prstDash val="solid"/>
          </a:ln>
        </p:spPr>
      </p:sp>
      <p:sp>
        <p:nvSpPr>
          <p:cNvPr id="12" name="Text 10"/>
          <p:cNvSpPr/>
          <p:nvPr/>
        </p:nvSpPr>
        <p:spPr>
          <a:xfrm>
            <a:off x="960120" y="3538728"/>
            <a:ext cx="60350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 rollup that stopped refreshing</a:t>
            </a:r>
            <a:endParaRPr lang="en-US" sz="1500" dirty="0"/>
          </a:p>
        </p:txBody>
      </p:sp>
      <p:sp>
        <p:nvSpPr>
          <p:cNvPr id="13" name="Text 11"/>
          <p:cNvSpPr/>
          <p:nvPr/>
        </p:nvSpPr>
        <p:spPr>
          <a:xfrm>
            <a:off x="7132320" y="3538728"/>
            <a:ext cx="4297680" cy="365760"/>
          </a:xfrm>
          <a:prstGeom prst="rect">
            <a:avLst/>
          </a:prstGeom>
          <a:noFill/>
          <a:ln/>
        </p:spPr>
        <p:txBody>
          <a:bodyPr wrap="square" lIns="0" tIns="0" rIns="0" bIns="0" rtlCol="0" anchor="ctr"/>
          <a:lstStyle/>
          <a:p>
            <a:pPr algn="r" indent="0" marL="0">
              <a:buNone/>
            </a:pPr>
            <a:r>
              <a:rPr lang="en-US" sz="1300" dirty="0">
                <a:solidFill>
                  <a:srgbClr val="E8663C"/>
                </a:solidFill>
                <a:latin typeface="Consolas" pitchFamily="34" charset="0"/>
                <a:ea typeface="Consolas" pitchFamily="34" charset="-122"/>
                <a:cs typeface="Consolas" pitchFamily="34" charset="-120"/>
              </a:rPr>
              <a:t>Frozen 2026-02-28, still looks current</a:t>
            </a:r>
            <a:endParaRPr lang="en-US" sz="1300" dirty="0"/>
          </a:p>
        </p:txBody>
      </p:sp>
      <p:sp>
        <p:nvSpPr>
          <p:cNvPr id="14" name="Shape 12"/>
          <p:cNvSpPr/>
          <p:nvPr/>
        </p:nvSpPr>
        <p:spPr>
          <a:xfrm>
            <a:off x="640080" y="4105656"/>
            <a:ext cx="10908792" cy="658368"/>
          </a:xfrm>
          <a:prstGeom prst="roundRect">
            <a:avLst>
              <a:gd name="adj" fmla="val 11111"/>
            </a:avLst>
          </a:prstGeom>
          <a:solidFill>
            <a:srgbClr val="FFFFFF"/>
          </a:solidFill>
          <a:ln w="12700">
            <a:solidFill>
              <a:srgbClr val="FFFFFF"/>
            </a:solidFill>
            <a:prstDash val="solid"/>
          </a:ln>
        </p:spPr>
      </p:sp>
      <p:sp>
        <p:nvSpPr>
          <p:cNvPr id="15" name="Text 13"/>
          <p:cNvSpPr/>
          <p:nvPr/>
        </p:nvSpPr>
        <p:spPr>
          <a:xfrm>
            <a:off x="960120" y="4251960"/>
            <a:ext cx="60350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 join that fans out</a:t>
            </a:r>
            <a:endParaRPr lang="en-US" sz="1500" dirty="0"/>
          </a:p>
        </p:txBody>
      </p:sp>
      <p:sp>
        <p:nvSpPr>
          <p:cNvPr id="16" name="Text 14"/>
          <p:cNvSpPr/>
          <p:nvPr/>
        </p:nvSpPr>
        <p:spPr>
          <a:xfrm>
            <a:off x="7132320" y="4251960"/>
            <a:ext cx="4297680" cy="365760"/>
          </a:xfrm>
          <a:prstGeom prst="rect">
            <a:avLst/>
          </a:prstGeom>
          <a:noFill/>
          <a:ln/>
        </p:spPr>
        <p:txBody>
          <a:bodyPr wrap="square" lIns="0" tIns="0" rIns="0" bIns="0" rtlCol="0" anchor="ctr"/>
          <a:lstStyle/>
          <a:p>
            <a:pPr algn="r" indent="0" marL="0">
              <a:buNone/>
            </a:pPr>
            <a:r>
              <a:rPr lang="en-US" sz="1300" dirty="0">
                <a:solidFill>
                  <a:srgbClr val="E8663C"/>
                </a:solidFill>
                <a:latin typeface="Consolas" pitchFamily="34" charset="0"/>
                <a:ea typeface="Consolas" pitchFamily="34" charset="-122"/>
                <a:cs typeface="Consolas" pitchFamily="34" charset="-120"/>
              </a:rPr>
              <a:t>2.32x inflation, no error raised</a:t>
            </a:r>
            <a:endParaRPr lang="en-US" sz="1300" dirty="0"/>
          </a:p>
        </p:txBody>
      </p:sp>
      <p:sp>
        <p:nvSpPr>
          <p:cNvPr id="17" name="Shape 15"/>
          <p:cNvSpPr/>
          <p:nvPr/>
        </p:nvSpPr>
        <p:spPr>
          <a:xfrm>
            <a:off x="640080" y="4818888"/>
            <a:ext cx="10908792" cy="658368"/>
          </a:xfrm>
          <a:prstGeom prst="roundRect">
            <a:avLst>
              <a:gd name="adj" fmla="val 11111"/>
            </a:avLst>
          </a:prstGeom>
          <a:solidFill>
            <a:srgbClr val="F2F4F6"/>
          </a:solidFill>
          <a:ln w="12700">
            <a:solidFill>
              <a:srgbClr val="F2F4F6"/>
            </a:solidFill>
            <a:prstDash val="solid"/>
          </a:ln>
        </p:spPr>
      </p:sp>
      <p:sp>
        <p:nvSpPr>
          <p:cNvPr id="18" name="Text 16"/>
          <p:cNvSpPr/>
          <p:nvPr/>
        </p:nvSpPr>
        <p:spPr>
          <a:xfrm>
            <a:off x="960120" y="4965192"/>
            <a:ext cx="60350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 program with a true effect of zero</a:t>
            </a:r>
            <a:endParaRPr lang="en-US" sz="1500" dirty="0"/>
          </a:p>
        </p:txBody>
      </p:sp>
      <p:sp>
        <p:nvSpPr>
          <p:cNvPr id="19" name="Text 17"/>
          <p:cNvSpPr/>
          <p:nvPr/>
        </p:nvSpPr>
        <p:spPr>
          <a:xfrm>
            <a:off x="7132320" y="4965192"/>
            <a:ext cx="4297680" cy="365760"/>
          </a:xfrm>
          <a:prstGeom prst="rect">
            <a:avLst/>
          </a:prstGeom>
          <a:noFill/>
          <a:ln/>
        </p:spPr>
        <p:txBody>
          <a:bodyPr wrap="square" lIns="0" tIns="0" rIns="0" bIns="0" rtlCol="0" anchor="ctr"/>
          <a:lstStyle/>
          <a:p>
            <a:pPr algn="r" indent="0" marL="0">
              <a:buNone/>
            </a:pPr>
            <a:r>
              <a:rPr lang="en-US" sz="1300" dirty="0">
                <a:solidFill>
                  <a:srgbClr val="E8663C"/>
                </a:solidFill>
                <a:latin typeface="Consolas" pitchFamily="34" charset="0"/>
                <a:ea typeface="Consolas" pitchFamily="34" charset="-122"/>
                <a:cs typeface="Consolas" pitchFamily="34" charset="-120"/>
              </a:rPr>
              <a:t>Shows a 7-point gap from selection alone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LIVE DEMO</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Same question. Same warehouse. Skill off, then on.</a:t>
            </a:r>
            <a:endParaRPr lang="en-US" sz="3400" dirty="0"/>
          </a:p>
        </p:txBody>
      </p:sp>
      <p:sp>
        <p:nvSpPr>
          <p:cNvPr id="4" name="Text 2"/>
          <p:cNvSpPr/>
          <p:nvPr/>
        </p:nvSpPr>
        <p:spPr>
          <a:xfrm>
            <a:off x="640080" y="1417320"/>
            <a:ext cx="10908792" cy="411480"/>
          </a:xfrm>
          <a:prstGeom prst="rect">
            <a:avLst/>
          </a:prstGeom>
          <a:noFill/>
          <a:ln/>
        </p:spPr>
        <p:txBody>
          <a:bodyPr wrap="square" lIns="0" tIns="0" rIns="0" bIns="0" rtlCol="0" anchor="ctr"/>
          <a:lstStyle/>
          <a:p>
            <a:pPr indent="0" marL="0">
              <a:buNone/>
            </a:pPr>
            <a:r>
              <a:rPr lang="en-US" sz="1800" i="1" dirty="0">
                <a:solidFill>
                  <a:srgbClr val="5A6B7A"/>
                </a:solidFill>
                <a:latin typeface="Cambria" pitchFamily="34" charset="0"/>
                <a:ea typeface="Cambria" pitchFamily="34" charset="-122"/>
                <a:cs typeface="Cambria" pitchFamily="34" charset="-120"/>
              </a:rPr>
              <a:t>"How many employees do we have? Just give me the number, I'm in a hurry."</a:t>
            </a:r>
            <a:endParaRPr lang="en-US" sz="1800" dirty="0"/>
          </a:p>
        </p:txBody>
      </p:sp>
      <p:sp>
        <p:nvSpPr>
          <p:cNvPr id="5" name="Shape 3"/>
          <p:cNvSpPr/>
          <p:nvPr/>
        </p:nvSpPr>
        <p:spPr>
          <a:xfrm>
            <a:off x="640080" y="2057400"/>
            <a:ext cx="5074920" cy="3017520"/>
          </a:xfrm>
          <a:prstGeom prst="roundRect">
            <a:avLst>
              <a:gd name="adj" fmla="val 2424"/>
            </a:avLst>
          </a:prstGeom>
          <a:solidFill>
            <a:srgbClr val="FBEDE8"/>
          </a:solidFill>
          <a:ln w="12700">
            <a:solidFill>
              <a:srgbClr val="FBEDE8"/>
            </a:solidFill>
            <a:prstDash val="solid"/>
          </a:ln>
        </p:spPr>
      </p:sp>
      <p:sp>
        <p:nvSpPr>
          <p:cNvPr id="6" name="Text 4"/>
          <p:cNvSpPr/>
          <p:nvPr/>
        </p:nvSpPr>
        <p:spPr>
          <a:xfrm>
            <a:off x="960120" y="2286000"/>
            <a:ext cx="4434840" cy="365760"/>
          </a:xfrm>
          <a:prstGeom prst="rect">
            <a:avLst/>
          </a:prstGeom>
          <a:noFill/>
          <a:ln/>
        </p:spPr>
        <p:txBody>
          <a:bodyPr wrap="square" lIns="0" tIns="0" rIns="0" bIns="0" rtlCol="0" anchor="ctr"/>
          <a:lstStyle/>
          <a:p>
            <a:pPr indent="0" marL="0">
              <a:buNone/>
            </a:pPr>
            <a:r>
              <a:rPr lang="en-US" sz="1900" b="1" dirty="0">
                <a:solidFill>
                  <a:srgbClr val="E8663C"/>
                </a:solidFill>
                <a:latin typeface="Cambria" pitchFamily="34" charset="0"/>
                <a:ea typeface="Cambria" pitchFamily="34" charset="-122"/>
                <a:cs typeface="Cambria" pitchFamily="34" charset="-120"/>
              </a:rPr>
              <a:t>Without the skill</a:t>
            </a:r>
            <a:endParaRPr lang="en-US" sz="1900" dirty="0"/>
          </a:p>
        </p:txBody>
      </p:sp>
      <p:sp>
        <p:nvSpPr>
          <p:cNvPr id="7" name="Text 5"/>
          <p:cNvSpPr/>
          <p:nvPr/>
        </p:nvSpPr>
        <p:spPr>
          <a:xfrm>
            <a:off x="960120" y="2743200"/>
            <a:ext cx="4434840" cy="777240"/>
          </a:xfrm>
          <a:prstGeom prst="rect">
            <a:avLst/>
          </a:prstGeom>
          <a:noFill/>
          <a:ln/>
        </p:spPr>
        <p:txBody>
          <a:bodyPr wrap="square" lIns="0" tIns="0" rIns="0" bIns="0" rtlCol="0" anchor="ctr"/>
          <a:lstStyle/>
          <a:p>
            <a:pPr indent="0" marL="0">
              <a:buNone/>
            </a:pPr>
            <a:r>
              <a:rPr lang="en-US" sz="4600" b="1" dirty="0">
                <a:solidFill>
                  <a:srgbClr val="E8663C"/>
                </a:solidFill>
                <a:latin typeface="Cambria" pitchFamily="34" charset="0"/>
                <a:ea typeface="Cambria" pitchFamily="34" charset="-122"/>
                <a:cs typeface="Cambria" pitchFamily="34" charset="-120"/>
              </a:rPr>
              <a:t>0 / 4</a:t>
            </a:r>
            <a:endParaRPr lang="en-US" sz="4600" dirty="0"/>
          </a:p>
        </p:txBody>
      </p:sp>
      <p:sp>
        <p:nvSpPr>
          <p:cNvPr id="8" name="Text 6"/>
          <p:cNvSpPr/>
          <p:nvPr/>
        </p:nvSpPr>
        <p:spPr>
          <a:xfrm>
            <a:off x="960120" y="3611880"/>
            <a:ext cx="4434840" cy="1097280"/>
          </a:xfrm>
          <a:prstGeom prst="rect">
            <a:avLst/>
          </a:prstGeom>
          <a:noFill/>
          <a:ln/>
        </p:spPr>
        <p:txBody>
          <a:bodyPr wrap="square" lIns="0" tIns="0" rIns="0" bIns="0" rtlCol="0" anchor="ctr"/>
          <a:lstStyle/>
          <a:p>
            <a:pPr indent="0" marL="0">
              <a:buNone/>
            </a:pPr>
            <a:r>
              <a:rPr lang="en-US" sz="1400" dirty="0">
                <a:solidFill>
                  <a:srgbClr val="8C4430"/>
                </a:solidFill>
                <a:latin typeface="Calibri" pitchFamily="34" charset="0"/>
                <a:ea typeface="Calibri" pitchFamily="34" charset="-122"/>
                <a:cs typeface="Calibri" pitchFamily="34" charset="-120"/>
              </a:rPr>
              <a:t>No source. No confidence. No population stated. A number that will be forwarded.</a:t>
            </a:r>
            <a:endParaRPr lang="en-US" sz="1400" dirty="0"/>
          </a:p>
        </p:txBody>
      </p:sp>
      <p:sp>
        <p:nvSpPr>
          <p:cNvPr id="9" name="Shape 7"/>
          <p:cNvSpPr/>
          <p:nvPr/>
        </p:nvSpPr>
        <p:spPr>
          <a:xfrm>
            <a:off x="6172200" y="2057400"/>
            <a:ext cx="5074920" cy="3017520"/>
          </a:xfrm>
          <a:prstGeom prst="roundRect">
            <a:avLst>
              <a:gd name="adj" fmla="val 2424"/>
            </a:avLst>
          </a:prstGeom>
          <a:solidFill>
            <a:srgbClr val="E6F2EE"/>
          </a:solidFill>
          <a:ln w="12700">
            <a:solidFill>
              <a:srgbClr val="E6F2EE"/>
            </a:solidFill>
            <a:prstDash val="solid"/>
          </a:ln>
        </p:spPr>
      </p:sp>
      <p:sp>
        <p:nvSpPr>
          <p:cNvPr id="10" name="Text 8"/>
          <p:cNvSpPr/>
          <p:nvPr/>
        </p:nvSpPr>
        <p:spPr>
          <a:xfrm>
            <a:off x="6492240" y="2286000"/>
            <a:ext cx="4434840" cy="365760"/>
          </a:xfrm>
          <a:prstGeom prst="rect">
            <a:avLst/>
          </a:prstGeom>
          <a:noFill/>
          <a:ln/>
        </p:spPr>
        <p:txBody>
          <a:bodyPr wrap="square" lIns="0" tIns="0" rIns="0" bIns="0" rtlCol="0" anchor="ctr"/>
          <a:lstStyle/>
          <a:p>
            <a:pPr indent="0" marL="0">
              <a:buNone/>
            </a:pPr>
            <a:r>
              <a:rPr lang="en-US" sz="1900" b="1" dirty="0">
                <a:solidFill>
                  <a:srgbClr val="2D8A72"/>
                </a:solidFill>
                <a:latin typeface="Cambria" pitchFamily="34" charset="0"/>
                <a:ea typeface="Cambria" pitchFamily="34" charset="-122"/>
                <a:cs typeface="Cambria" pitchFamily="34" charset="-120"/>
              </a:rPr>
              <a:t>With the skill</a:t>
            </a:r>
            <a:endParaRPr lang="en-US" sz="1900" dirty="0"/>
          </a:p>
        </p:txBody>
      </p:sp>
      <p:sp>
        <p:nvSpPr>
          <p:cNvPr id="11" name="Text 9"/>
          <p:cNvSpPr/>
          <p:nvPr/>
        </p:nvSpPr>
        <p:spPr>
          <a:xfrm>
            <a:off x="6492240" y="2743200"/>
            <a:ext cx="4434840" cy="777240"/>
          </a:xfrm>
          <a:prstGeom prst="rect">
            <a:avLst/>
          </a:prstGeom>
          <a:noFill/>
          <a:ln/>
        </p:spPr>
        <p:txBody>
          <a:bodyPr wrap="square" lIns="0" tIns="0" rIns="0" bIns="0" rtlCol="0" anchor="ctr"/>
          <a:lstStyle/>
          <a:p>
            <a:pPr indent="0" marL="0">
              <a:buNone/>
            </a:pPr>
            <a:r>
              <a:rPr lang="en-US" sz="4600" b="1" dirty="0">
                <a:solidFill>
                  <a:srgbClr val="2D8A72"/>
                </a:solidFill>
                <a:latin typeface="Cambria" pitchFamily="34" charset="0"/>
                <a:ea typeface="Cambria" pitchFamily="34" charset="-122"/>
                <a:cs typeface="Cambria" pitchFamily="34" charset="-120"/>
              </a:rPr>
              <a:t>4 / 4</a:t>
            </a:r>
            <a:endParaRPr lang="en-US" sz="4600" dirty="0"/>
          </a:p>
        </p:txBody>
      </p:sp>
      <p:sp>
        <p:nvSpPr>
          <p:cNvPr id="12" name="Text 10"/>
          <p:cNvSpPr/>
          <p:nvPr/>
        </p:nvSpPr>
        <p:spPr>
          <a:xfrm>
            <a:off x="6492240" y="3611880"/>
            <a:ext cx="4434840" cy="1097280"/>
          </a:xfrm>
          <a:prstGeom prst="rect">
            <a:avLst/>
          </a:prstGeom>
          <a:noFill/>
          <a:ln/>
        </p:spPr>
        <p:txBody>
          <a:bodyPr wrap="square" lIns="0" tIns="0" rIns="0" bIns="0" rtlCol="0" anchor="ctr"/>
          <a:lstStyle/>
          <a:p>
            <a:pPr indent="0" marL="0">
              <a:buNone/>
            </a:pPr>
            <a:r>
              <a:rPr lang="en-US" sz="1400" dirty="0">
                <a:solidFill>
                  <a:srgbClr val="1F5F4C"/>
                </a:solidFill>
                <a:latin typeface="Calibri" pitchFamily="34" charset="0"/>
                <a:ea typeface="Calibri" pitchFamily="34" charset="-122"/>
                <a:cs typeface="Calibri" pitchFamily="34" charset="-120"/>
              </a:rPr>
              <a:t>Source table, confidence, freshness, population — attached despite the time pressure.</a:t>
            </a:r>
            <a:endParaRPr lang="en-US" sz="1400" dirty="0"/>
          </a:p>
        </p:txBody>
      </p:sp>
      <p:sp>
        <p:nvSpPr>
          <p:cNvPr id="13" name="Text 11"/>
          <p:cNvSpPr/>
          <p:nvPr/>
        </p:nvSpPr>
        <p:spPr>
          <a:xfrm>
            <a:off x="640080" y="5303520"/>
            <a:ext cx="10908792" cy="320040"/>
          </a:xfrm>
          <a:prstGeom prst="rect">
            <a:avLst/>
          </a:prstGeom>
          <a:noFill/>
          <a:ln/>
        </p:spPr>
        <p:txBody>
          <a:bodyPr wrap="square" lIns="0" tIns="0" rIns="0" bIns="0" rtlCol="0" anchor="ctr"/>
          <a:lstStyle/>
          <a:p>
            <a:pPr indent="0" marL="0">
              <a:buNone/>
            </a:pPr>
            <a:r>
              <a:rPr lang="en-US" sz="1200" i="1" dirty="0">
                <a:solidFill>
                  <a:srgbClr val="8A99A8"/>
                </a:solidFill>
                <a:latin typeface="Calibri" pitchFamily="34" charset="0"/>
                <a:ea typeface="Calibri" pitchFamily="34" charset="-122"/>
                <a:cs typeface="Calibri" pitchFamily="34" charset="-120"/>
              </a:rPr>
              <a:t>Measured on claude-sonnet-5 against the workshop warehouse. Single slice, single run.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WHAT ANALYSTS BRING THAT MODELS DON'T</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Two skills with no software-engineering analogue</a:t>
            </a:r>
            <a:endParaRPr lang="en-US" sz="3400" dirty="0"/>
          </a:p>
        </p:txBody>
      </p:sp>
      <p:sp>
        <p:nvSpPr>
          <p:cNvPr id="4" name="Shape 2"/>
          <p:cNvSpPr/>
          <p:nvPr/>
        </p:nvSpPr>
        <p:spPr>
          <a:xfrm>
            <a:off x="640080" y="1691640"/>
            <a:ext cx="5074920" cy="3749040"/>
          </a:xfrm>
          <a:prstGeom prst="roundRect">
            <a:avLst>
              <a:gd name="adj" fmla="val 1951"/>
            </a:avLst>
          </a:prstGeom>
          <a:solidFill>
            <a:srgbClr val="F2F4F6"/>
          </a:solidFill>
          <a:ln w="12700">
            <a:solidFill>
              <a:srgbClr val="F2F4F6"/>
            </a:solidFill>
            <a:prstDash val="solid"/>
          </a:ln>
        </p:spPr>
      </p:sp>
      <p:sp>
        <p:nvSpPr>
          <p:cNvPr id="5" name="Text 3"/>
          <p:cNvSpPr/>
          <p:nvPr/>
        </p:nvSpPr>
        <p:spPr>
          <a:xfrm>
            <a:off x="960120" y="1920240"/>
            <a:ext cx="4480560" cy="365760"/>
          </a:xfrm>
          <a:prstGeom prst="rect">
            <a:avLst/>
          </a:prstGeom>
          <a:noFill/>
          <a:ln/>
        </p:spPr>
        <p:txBody>
          <a:bodyPr wrap="square" lIns="0" tIns="0" rIns="0" bIns="0" rtlCol="0" anchor="ctr"/>
          <a:lstStyle/>
          <a:p>
            <a:pPr indent="0" marL="0">
              <a:buNone/>
            </a:pPr>
            <a:r>
              <a:rPr lang="en-US" sz="1700" b="1" dirty="0">
                <a:solidFill>
                  <a:srgbClr val="22303C"/>
                </a:solidFill>
                <a:latin typeface="Consolas" pitchFamily="34" charset="0"/>
                <a:ea typeface="Consolas" pitchFamily="34" charset="-122"/>
                <a:cs typeface="Consolas" pitchFamily="34" charset="-120"/>
              </a:rPr>
              <a:t>causal-claim-guardrail</a:t>
            </a:r>
            <a:endParaRPr lang="en-US" sz="1700" dirty="0"/>
          </a:p>
        </p:txBody>
      </p:sp>
      <p:sp>
        <p:nvSpPr>
          <p:cNvPr id="6" name="Text 4"/>
          <p:cNvSpPr/>
          <p:nvPr/>
        </p:nvSpPr>
        <p:spPr>
          <a:xfrm>
            <a:off x="960120" y="2331720"/>
            <a:ext cx="4480560" cy="45720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Licenses causal language by design, not by correlation size.</a:t>
            </a:r>
            <a:endParaRPr lang="en-US" sz="1400" dirty="0"/>
          </a:p>
        </p:txBody>
      </p:sp>
      <p:sp>
        <p:nvSpPr>
          <p:cNvPr id="7" name="Text 5"/>
          <p:cNvSpPr/>
          <p:nvPr/>
        </p:nvSpPr>
        <p:spPr>
          <a:xfrm>
            <a:off x="960120" y="2788920"/>
            <a:ext cx="4480560" cy="22860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Selection into treatment</a:t>
            </a:r>
            <a:endParaRPr lang="en-US" sz="1300" dirty="0"/>
          </a:p>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Reverse causality</a:t>
            </a:r>
            <a:endParaRPr lang="en-US" sz="1300" dirty="0"/>
          </a:p>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Immortal time bias</a:t>
            </a:r>
            <a:endParaRPr lang="en-US" sz="1300" dirty="0"/>
          </a:p>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Survivorship, range restriction</a:t>
            </a:r>
            <a:endParaRPr lang="en-US" sz="1300" dirty="0"/>
          </a:p>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Compositional shift</a:t>
            </a:r>
            <a:endParaRPr lang="en-US" sz="1300" dirty="0"/>
          </a:p>
        </p:txBody>
      </p:sp>
      <p:sp>
        <p:nvSpPr>
          <p:cNvPr id="8" name="Shape 6"/>
          <p:cNvSpPr/>
          <p:nvPr/>
        </p:nvSpPr>
        <p:spPr>
          <a:xfrm>
            <a:off x="6172200" y="1691640"/>
            <a:ext cx="5074920" cy="3749040"/>
          </a:xfrm>
          <a:prstGeom prst="roundRect">
            <a:avLst>
              <a:gd name="adj" fmla="val 1951"/>
            </a:avLst>
          </a:prstGeom>
          <a:solidFill>
            <a:srgbClr val="F2F4F6"/>
          </a:solidFill>
          <a:ln w="12700">
            <a:solidFill>
              <a:srgbClr val="F2F4F6"/>
            </a:solidFill>
            <a:prstDash val="solid"/>
          </a:ln>
        </p:spPr>
      </p:sp>
      <p:sp>
        <p:nvSpPr>
          <p:cNvPr id="9" name="Text 7"/>
          <p:cNvSpPr/>
          <p:nvPr/>
        </p:nvSpPr>
        <p:spPr>
          <a:xfrm>
            <a:off x="6492240" y="1920240"/>
            <a:ext cx="4480560" cy="365760"/>
          </a:xfrm>
          <a:prstGeom prst="rect">
            <a:avLst/>
          </a:prstGeom>
          <a:noFill/>
          <a:ln/>
        </p:spPr>
        <p:txBody>
          <a:bodyPr wrap="square" lIns="0" tIns="0" rIns="0" bIns="0" rtlCol="0" anchor="ctr"/>
          <a:lstStyle/>
          <a:p>
            <a:pPr indent="0" marL="0">
              <a:buNone/>
            </a:pPr>
            <a:r>
              <a:rPr lang="en-US" sz="1700" b="1" dirty="0">
                <a:solidFill>
                  <a:srgbClr val="22303C"/>
                </a:solidFill>
                <a:latin typeface="Consolas" pitchFamily="34" charset="0"/>
                <a:ea typeface="Consolas" pitchFamily="34" charset="-122"/>
                <a:cs typeface="Consolas" pitchFamily="34" charset="-120"/>
              </a:rPr>
              <a:t>uncertainty-reporting</a:t>
            </a:r>
            <a:endParaRPr lang="en-US" sz="1700" dirty="0"/>
          </a:p>
        </p:txBody>
      </p:sp>
      <p:sp>
        <p:nvSpPr>
          <p:cNvPr id="10" name="Text 8"/>
          <p:cNvSpPr/>
          <p:nvPr/>
        </p:nvSpPr>
        <p:spPr>
          <a:xfrm>
            <a:off x="6492240" y="2331720"/>
            <a:ext cx="4480560" cy="45720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Denominators, intervals, suppression, multiplicity.</a:t>
            </a:r>
            <a:endParaRPr lang="en-US" sz="1400" dirty="0"/>
          </a:p>
        </p:txBody>
      </p:sp>
      <p:sp>
        <p:nvSpPr>
          <p:cNvPr id="11" name="Text 9"/>
          <p:cNvSpPr/>
          <p:nvPr/>
        </p:nvSpPr>
        <p:spPr>
          <a:xfrm>
            <a:off x="6492240" y="2788920"/>
            <a:ext cx="4480560" cy="22860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Wilson, not Wald, at small n</a:t>
            </a:r>
            <a:endParaRPr lang="en-US" sz="1300" dirty="0"/>
          </a:p>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Small-cell suppression is a legal duty</a:t>
            </a:r>
            <a:endParaRPr lang="en-US" sz="1300" dirty="0"/>
          </a:p>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Complementary disclosure</a:t>
            </a:r>
            <a:endParaRPr lang="en-US" sz="1300" dirty="0"/>
          </a:p>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Ranking 40 managers is 40 comparisons</a:t>
            </a:r>
            <a:endParaRPr lang="en-US" sz="1300" dirty="0"/>
          </a:p>
          <a:p>
            <a:pPr marL="342900" indent="-342900">
              <a:spcAft>
                <a:spcPts val="800"/>
              </a:spcAft>
              <a:buSzPct val="100000"/>
              <a:buChar char="•"/>
            </a:pPr>
            <a:r>
              <a:rPr lang="en-US" sz="1300" dirty="0">
                <a:solidFill>
                  <a:srgbClr val="5A6B7A"/>
                </a:solidFill>
                <a:latin typeface="Calibri" pitchFamily="34" charset="0"/>
                <a:ea typeface="Calibri" pitchFamily="34" charset="-122"/>
                <a:cs typeface="Calibri" pitchFamily="34" charset="-120"/>
              </a:rPr>
              <a:t>"No difference" vs "no evidence"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HANDS ON — 45 MINUTES</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You write the reference doc</a:t>
            </a:r>
            <a:endParaRPr lang="en-US" sz="3400" dirty="0"/>
          </a:p>
        </p:txBody>
      </p:sp>
      <p:sp>
        <p:nvSpPr>
          <p:cNvPr id="4" name="Shape 2"/>
          <p:cNvSpPr/>
          <p:nvPr/>
        </p:nvSpPr>
        <p:spPr>
          <a:xfrm>
            <a:off x="640080" y="1737360"/>
            <a:ext cx="10908792" cy="713232"/>
          </a:xfrm>
          <a:prstGeom prst="roundRect">
            <a:avLst>
              <a:gd name="adj" fmla="val 10256"/>
            </a:avLst>
          </a:prstGeom>
          <a:solidFill>
            <a:srgbClr val="F2F4F6"/>
          </a:solidFill>
          <a:ln w="12700">
            <a:solidFill>
              <a:srgbClr val="F2F4F6"/>
            </a:solidFill>
            <a:prstDash val="solid"/>
          </a:ln>
        </p:spPr>
      </p:sp>
      <p:sp>
        <p:nvSpPr>
          <p:cNvPr id="5" name="Text 3"/>
          <p:cNvSpPr/>
          <p:nvPr/>
        </p:nvSpPr>
        <p:spPr>
          <a:xfrm>
            <a:off x="960120" y="1911096"/>
            <a:ext cx="2743200" cy="365760"/>
          </a:xfrm>
          <a:prstGeom prst="rect">
            <a:avLst/>
          </a:prstGeom>
          <a:noFill/>
          <a:ln/>
        </p:spPr>
        <p:txBody>
          <a:bodyPr wrap="square" lIns="0" tIns="0" rIns="0" bIns="0" rtlCol="0" anchor="ctr"/>
          <a:lstStyle/>
          <a:p>
            <a:pPr indent="0" marL="0">
              <a:buNone/>
            </a:pPr>
            <a:r>
              <a:rPr lang="en-US" sz="1700" b="1" dirty="0">
                <a:solidFill>
                  <a:srgbClr val="22303C"/>
                </a:solidFill>
                <a:latin typeface="Cambria" pitchFamily="34" charset="0"/>
                <a:ea typeface="Cambria" pitchFamily="34" charset="-122"/>
                <a:cs typeface="Cambria" pitchFamily="34" charset="-120"/>
              </a:rPr>
              <a:t>Quick Reference</a:t>
            </a:r>
            <a:endParaRPr lang="en-US" sz="1700" dirty="0"/>
          </a:p>
        </p:txBody>
      </p:sp>
      <p:sp>
        <p:nvSpPr>
          <p:cNvPr id="6" name="Text 4"/>
          <p:cNvSpPr/>
          <p:nvPr/>
        </p:nvSpPr>
        <p:spPr>
          <a:xfrm>
            <a:off x="3749040" y="1938528"/>
            <a:ext cx="914400" cy="320040"/>
          </a:xfrm>
          <a:prstGeom prst="rect">
            <a:avLst/>
          </a:prstGeom>
          <a:noFill/>
          <a:ln/>
        </p:spPr>
        <p:txBody>
          <a:bodyPr wrap="square" lIns="0" tIns="0" rIns="0" bIns="0" rtlCol="0" anchor="ctr"/>
          <a:lstStyle/>
          <a:p>
            <a:pPr indent="0" marL="0">
              <a:buNone/>
            </a:pPr>
            <a:r>
              <a:rPr lang="en-US" sz="1300" dirty="0">
                <a:solidFill>
                  <a:srgbClr val="8A99A8"/>
                </a:solidFill>
                <a:latin typeface="Consolas" pitchFamily="34" charset="0"/>
                <a:ea typeface="Consolas" pitchFamily="34" charset="-122"/>
                <a:cs typeface="Consolas" pitchFamily="34" charset="-120"/>
              </a:rPr>
              <a:t>5 min</a:t>
            </a:r>
            <a:endParaRPr lang="en-US" sz="1300" dirty="0"/>
          </a:p>
        </p:txBody>
      </p:sp>
      <p:sp>
        <p:nvSpPr>
          <p:cNvPr id="7" name="Text 5"/>
          <p:cNvSpPr/>
          <p:nvPr/>
        </p:nvSpPr>
        <p:spPr>
          <a:xfrm>
            <a:off x="4846320" y="1929384"/>
            <a:ext cx="65836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Which table, what grain, person key</a:t>
            </a:r>
            <a:endParaRPr lang="en-US" sz="1400" dirty="0"/>
          </a:p>
        </p:txBody>
      </p:sp>
      <p:sp>
        <p:nvSpPr>
          <p:cNvPr id="8" name="Shape 6"/>
          <p:cNvSpPr/>
          <p:nvPr/>
        </p:nvSpPr>
        <p:spPr>
          <a:xfrm>
            <a:off x="640080" y="2505456"/>
            <a:ext cx="10908792" cy="713232"/>
          </a:xfrm>
          <a:prstGeom prst="roundRect">
            <a:avLst>
              <a:gd name="adj" fmla="val 10256"/>
            </a:avLst>
          </a:prstGeom>
          <a:solidFill>
            <a:srgbClr val="F2F4F6"/>
          </a:solidFill>
          <a:ln w="12700">
            <a:solidFill>
              <a:srgbClr val="F2F4F6"/>
            </a:solidFill>
            <a:prstDash val="solid"/>
          </a:ln>
        </p:spPr>
      </p:sp>
      <p:sp>
        <p:nvSpPr>
          <p:cNvPr id="9" name="Text 7"/>
          <p:cNvSpPr/>
          <p:nvPr/>
        </p:nvSpPr>
        <p:spPr>
          <a:xfrm>
            <a:off x="960120" y="2679192"/>
            <a:ext cx="2743200" cy="365760"/>
          </a:xfrm>
          <a:prstGeom prst="rect">
            <a:avLst/>
          </a:prstGeom>
          <a:noFill/>
          <a:ln/>
        </p:spPr>
        <p:txBody>
          <a:bodyPr wrap="square" lIns="0" tIns="0" rIns="0" bIns="0" rtlCol="0" anchor="ctr"/>
          <a:lstStyle/>
          <a:p>
            <a:pPr indent="0" marL="0">
              <a:buNone/>
            </a:pPr>
            <a:r>
              <a:rPr lang="en-US" sz="1700" b="1" dirty="0">
                <a:solidFill>
                  <a:srgbClr val="22303C"/>
                </a:solidFill>
                <a:latin typeface="Cambria" pitchFamily="34" charset="0"/>
                <a:ea typeface="Cambria" pitchFamily="34" charset="-122"/>
                <a:cs typeface="Cambria" pitchFamily="34" charset="-120"/>
              </a:rPr>
              <a:t>Required Filters</a:t>
            </a:r>
            <a:endParaRPr lang="en-US" sz="1700" dirty="0"/>
          </a:p>
        </p:txBody>
      </p:sp>
      <p:sp>
        <p:nvSpPr>
          <p:cNvPr id="10" name="Text 8"/>
          <p:cNvSpPr/>
          <p:nvPr/>
        </p:nvSpPr>
        <p:spPr>
          <a:xfrm>
            <a:off x="3749040" y="2706624"/>
            <a:ext cx="914400" cy="320040"/>
          </a:xfrm>
          <a:prstGeom prst="rect">
            <a:avLst/>
          </a:prstGeom>
          <a:noFill/>
          <a:ln/>
        </p:spPr>
        <p:txBody>
          <a:bodyPr wrap="square" lIns="0" tIns="0" rIns="0" bIns="0" rtlCol="0" anchor="ctr"/>
          <a:lstStyle/>
          <a:p>
            <a:pPr indent="0" marL="0">
              <a:buNone/>
            </a:pPr>
            <a:r>
              <a:rPr lang="en-US" sz="1300" dirty="0">
                <a:solidFill>
                  <a:srgbClr val="8A99A8"/>
                </a:solidFill>
                <a:latin typeface="Consolas" pitchFamily="34" charset="0"/>
                <a:ea typeface="Consolas" pitchFamily="34" charset="-122"/>
                <a:cs typeface="Consolas" pitchFamily="34" charset="-120"/>
              </a:rPr>
              <a:t>10 min</a:t>
            </a:r>
            <a:endParaRPr lang="en-US" sz="1300" dirty="0"/>
          </a:p>
        </p:txBody>
      </p:sp>
      <p:sp>
        <p:nvSpPr>
          <p:cNvPr id="11" name="Text 9"/>
          <p:cNvSpPr/>
          <p:nvPr/>
        </p:nvSpPr>
        <p:spPr>
          <a:xfrm>
            <a:off x="4846320" y="2697480"/>
            <a:ext cx="65836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Largest source of silently wrong numbers</a:t>
            </a:r>
            <a:endParaRPr lang="en-US" sz="1400" dirty="0"/>
          </a:p>
        </p:txBody>
      </p:sp>
      <p:sp>
        <p:nvSpPr>
          <p:cNvPr id="12" name="Shape 10"/>
          <p:cNvSpPr/>
          <p:nvPr/>
        </p:nvSpPr>
        <p:spPr>
          <a:xfrm>
            <a:off x="640080" y="3273552"/>
            <a:ext cx="10908792" cy="713232"/>
          </a:xfrm>
          <a:prstGeom prst="roundRect">
            <a:avLst>
              <a:gd name="adj" fmla="val 10256"/>
            </a:avLst>
          </a:prstGeom>
          <a:solidFill>
            <a:srgbClr val="FBEDE8"/>
          </a:solidFill>
          <a:ln w="12700">
            <a:solidFill>
              <a:srgbClr val="FBEDE8"/>
            </a:solidFill>
            <a:prstDash val="solid"/>
          </a:ln>
        </p:spPr>
      </p:sp>
      <p:sp>
        <p:nvSpPr>
          <p:cNvPr id="13" name="Text 11"/>
          <p:cNvSpPr/>
          <p:nvPr/>
        </p:nvSpPr>
        <p:spPr>
          <a:xfrm>
            <a:off x="960120" y="3447288"/>
            <a:ext cx="2743200" cy="365760"/>
          </a:xfrm>
          <a:prstGeom prst="rect">
            <a:avLst/>
          </a:prstGeom>
          <a:noFill/>
          <a:ln/>
        </p:spPr>
        <p:txBody>
          <a:bodyPr wrap="square" lIns="0" tIns="0" rIns="0" bIns="0" rtlCol="0" anchor="ctr"/>
          <a:lstStyle/>
          <a:p>
            <a:pPr indent="0" marL="0">
              <a:buNone/>
            </a:pPr>
            <a:r>
              <a:rPr lang="en-US" sz="1700" b="1" dirty="0">
                <a:solidFill>
                  <a:srgbClr val="E8663C"/>
                </a:solidFill>
                <a:latin typeface="Cambria" pitchFamily="34" charset="0"/>
                <a:ea typeface="Cambria" pitchFamily="34" charset="-122"/>
                <a:cs typeface="Cambria" pitchFamily="34" charset="-120"/>
              </a:rPr>
              <a:t>Gotchas</a:t>
            </a:r>
            <a:endParaRPr lang="en-US" sz="1700" dirty="0"/>
          </a:p>
        </p:txBody>
      </p:sp>
      <p:sp>
        <p:nvSpPr>
          <p:cNvPr id="14" name="Text 12"/>
          <p:cNvSpPr/>
          <p:nvPr/>
        </p:nvSpPr>
        <p:spPr>
          <a:xfrm>
            <a:off x="3749040" y="3474720"/>
            <a:ext cx="914400" cy="320040"/>
          </a:xfrm>
          <a:prstGeom prst="rect">
            <a:avLst/>
          </a:prstGeom>
          <a:noFill/>
          <a:ln/>
        </p:spPr>
        <p:txBody>
          <a:bodyPr wrap="square" lIns="0" tIns="0" rIns="0" bIns="0" rtlCol="0" anchor="ctr"/>
          <a:lstStyle/>
          <a:p>
            <a:pPr indent="0" marL="0">
              <a:buNone/>
            </a:pPr>
            <a:r>
              <a:rPr lang="en-US" sz="1300" dirty="0">
                <a:solidFill>
                  <a:srgbClr val="E8663C"/>
                </a:solidFill>
                <a:latin typeface="Consolas" pitchFamily="34" charset="0"/>
                <a:ea typeface="Consolas" pitchFamily="34" charset="-122"/>
                <a:cs typeface="Consolas" pitchFamily="34" charset="-120"/>
              </a:rPr>
              <a:t>15 min</a:t>
            </a:r>
            <a:endParaRPr lang="en-US" sz="1300" dirty="0"/>
          </a:p>
        </p:txBody>
      </p:sp>
      <p:sp>
        <p:nvSpPr>
          <p:cNvPr id="15" name="Text 13"/>
          <p:cNvSpPr/>
          <p:nvPr/>
        </p:nvSpPr>
        <p:spPr>
          <a:xfrm>
            <a:off x="4846320" y="3465576"/>
            <a:ext cx="6583680" cy="365760"/>
          </a:xfrm>
          <a:prstGeom prst="rect">
            <a:avLst/>
          </a:prstGeom>
          <a:noFill/>
          <a:ln/>
        </p:spPr>
        <p:txBody>
          <a:bodyPr wrap="square" lIns="0" tIns="0" rIns="0" bIns="0" rtlCol="0" anchor="ctr"/>
          <a:lstStyle/>
          <a:p>
            <a:pPr indent="0" marL="0">
              <a:buNone/>
            </a:pPr>
            <a:r>
              <a:rPr lang="en-US" sz="1400" dirty="0">
                <a:solidFill>
                  <a:srgbClr val="8C4430"/>
                </a:solidFill>
                <a:latin typeface="Calibri" pitchFamily="34" charset="0"/>
                <a:ea typeface="Calibri" pitchFamily="34" charset="-122"/>
                <a:cs typeface="Calibri" pitchFamily="34" charset="-120"/>
              </a:rPr>
              <a:t>The only section a model cannot generate</a:t>
            </a:r>
            <a:endParaRPr lang="en-US" sz="1400" dirty="0"/>
          </a:p>
        </p:txBody>
      </p:sp>
      <p:sp>
        <p:nvSpPr>
          <p:cNvPr id="16" name="Shape 14"/>
          <p:cNvSpPr/>
          <p:nvPr/>
        </p:nvSpPr>
        <p:spPr>
          <a:xfrm>
            <a:off x="640080" y="4041648"/>
            <a:ext cx="10908792" cy="713232"/>
          </a:xfrm>
          <a:prstGeom prst="roundRect">
            <a:avLst>
              <a:gd name="adj" fmla="val 10256"/>
            </a:avLst>
          </a:prstGeom>
          <a:solidFill>
            <a:srgbClr val="F2F4F6"/>
          </a:solidFill>
          <a:ln w="12700">
            <a:solidFill>
              <a:srgbClr val="F2F4F6"/>
            </a:solidFill>
            <a:prstDash val="solid"/>
          </a:ln>
        </p:spPr>
      </p:sp>
      <p:sp>
        <p:nvSpPr>
          <p:cNvPr id="17" name="Text 15"/>
          <p:cNvSpPr/>
          <p:nvPr/>
        </p:nvSpPr>
        <p:spPr>
          <a:xfrm>
            <a:off x="960120" y="4215384"/>
            <a:ext cx="2743200" cy="365760"/>
          </a:xfrm>
          <a:prstGeom prst="rect">
            <a:avLst/>
          </a:prstGeom>
          <a:noFill/>
          <a:ln/>
        </p:spPr>
        <p:txBody>
          <a:bodyPr wrap="square" lIns="0" tIns="0" rIns="0" bIns="0" rtlCol="0" anchor="ctr"/>
          <a:lstStyle/>
          <a:p>
            <a:pPr indent="0" marL="0">
              <a:buNone/>
            </a:pPr>
            <a:r>
              <a:rPr lang="en-US" sz="1700" b="1" dirty="0">
                <a:solidFill>
                  <a:srgbClr val="22303C"/>
                </a:solidFill>
                <a:latin typeface="Cambria" pitchFamily="34" charset="0"/>
                <a:ea typeface="Cambria" pitchFamily="34" charset="-122"/>
                <a:cs typeface="Cambria" pitchFamily="34" charset="-120"/>
              </a:rPr>
              <a:t>Measures</a:t>
            </a:r>
            <a:endParaRPr lang="en-US" sz="1700" dirty="0"/>
          </a:p>
        </p:txBody>
      </p:sp>
      <p:sp>
        <p:nvSpPr>
          <p:cNvPr id="18" name="Text 16"/>
          <p:cNvSpPr/>
          <p:nvPr/>
        </p:nvSpPr>
        <p:spPr>
          <a:xfrm>
            <a:off x="3749040" y="4242816"/>
            <a:ext cx="914400" cy="320040"/>
          </a:xfrm>
          <a:prstGeom prst="rect">
            <a:avLst/>
          </a:prstGeom>
          <a:noFill/>
          <a:ln/>
        </p:spPr>
        <p:txBody>
          <a:bodyPr wrap="square" lIns="0" tIns="0" rIns="0" bIns="0" rtlCol="0" anchor="ctr"/>
          <a:lstStyle/>
          <a:p>
            <a:pPr indent="0" marL="0">
              <a:buNone/>
            </a:pPr>
            <a:r>
              <a:rPr lang="en-US" sz="1300" dirty="0">
                <a:solidFill>
                  <a:srgbClr val="8A99A8"/>
                </a:solidFill>
                <a:latin typeface="Consolas" pitchFamily="34" charset="0"/>
                <a:ea typeface="Consolas" pitchFamily="34" charset="-122"/>
                <a:cs typeface="Consolas" pitchFamily="34" charset="-120"/>
              </a:rPr>
              <a:t>10 min</a:t>
            </a:r>
            <a:endParaRPr lang="en-US" sz="1300" dirty="0"/>
          </a:p>
        </p:txBody>
      </p:sp>
      <p:sp>
        <p:nvSpPr>
          <p:cNvPr id="19" name="Text 17"/>
          <p:cNvSpPr/>
          <p:nvPr/>
        </p:nvSpPr>
        <p:spPr>
          <a:xfrm>
            <a:off x="4846320" y="4233672"/>
            <a:ext cx="65836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Stops two teams reporting two rates</a:t>
            </a:r>
            <a:endParaRPr lang="en-US" sz="1400" dirty="0"/>
          </a:p>
        </p:txBody>
      </p:sp>
      <p:sp>
        <p:nvSpPr>
          <p:cNvPr id="20" name="Shape 18"/>
          <p:cNvSpPr/>
          <p:nvPr/>
        </p:nvSpPr>
        <p:spPr>
          <a:xfrm>
            <a:off x="640080" y="4809744"/>
            <a:ext cx="10908792" cy="713232"/>
          </a:xfrm>
          <a:prstGeom prst="roundRect">
            <a:avLst>
              <a:gd name="adj" fmla="val 10256"/>
            </a:avLst>
          </a:prstGeom>
          <a:solidFill>
            <a:srgbClr val="F2F4F6"/>
          </a:solidFill>
          <a:ln w="12700">
            <a:solidFill>
              <a:srgbClr val="F2F4F6"/>
            </a:solidFill>
            <a:prstDash val="solid"/>
          </a:ln>
        </p:spPr>
      </p:sp>
      <p:sp>
        <p:nvSpPr>
          <p:cNvPr id="21" name="Text 19"/>
          <p:cNvSpPr/>
          <p:nvPr/>
        </p:nvSpPr>
        <p:spPr>
          <a:xfrm>
            <a:off x="960120" y="4983480"/>
            <a:ext cx="2743200" cy="365760"/>
          </a:xfrm>
          <a:prstGeom prst="rect">
            <a:avLst/>
          </a:prstGeom>
          <a:noFill/>
          <a:ln/>
        </p:spPr>
        <p:txBody>
          <a:bodyPr wrap="square" lIns="0" tIns="0" rIns="0" bIns="0" rtlCol="0" anchor="ctr"/>
          <a:lstStyle/>
          <a:p>
            <a:pPr indent="0" marL="0">
              <a:buNone/>
            </a:pPr>
            <a:r>
              <a:rPr lang="en-US" sz="1700" b="1" dirty="0">
                <a:solidFill>
                  <a:srgbClr val="22303C"/>
                </a:solidFill>
                <a:latin typeface="Cambria" pitchFamily="34" charset="0"/>
                <a:ea typeface="Cambria" pitchFamily="34" charset="-122"/>
                <a:cs typeface="Cambria" pitchFamily="34" charset="-120"/>
              </a:rPr>
              <a:t>Query Patterns</a:t>
            </a:r>
            <a:endParaRPr lang="en-US" sz="1700" dirty="0"/>
          </a:p>
        </p:txBody>
      </p:sp>
      <p:sp>
        <p:nvSpPr>
          <p:cNvPr id="22" name="Text 20"/>
          <p:cNvSpPr/>
          <p:nvPr/>
        </p:nvSpPr>
        <p:spPr>
          <a:xfrm>
            <a:off x="3749040" y="5010912"/>
            <a:ext cx="914400" cy="320040"/>
          </a:xfrm>
          <a:prstGeom prst="rect">
            <a:avLst/>
          </a:prstGeom>
          <a:noFill/>
          <a:ln/>
        </p:spPr>
        <p:txBody>
          <a:bodyPr wrap="square" lIns="0" tIns="0" rIns="0" bIns="0" rtlCol="0" anchor="ctr"/>
          <a:lstStyle/>
          <a:p>
            <a:pPr indent="0" marL="0">
              <a:buNone/>
            </a:pPr>
            <a:r>
              <a:rPr lang="en-US" sz="1300" dirty="0">
                <a:solidFill>
                  <a:srgbClr val="8A99A8"/>
                </a:solidFill>
                <a:latin typeface="Consolas" pitchFamily="34" charset="0"/>
                <a:ea typeface="Consolas" pitchFamily="34" charset="-122"/>
                <a:cs typeface="Consolas" pitchFamily="34" charset="-120"/>
              </a:rPr>
              <a:t>5 min</a:t>
            </a:r>
            <a:endParaRPr lang="en-US" sz="1300" dirty="0"/>
          </a:p>
        </p:txBody>
      </p:sp>
      <p:sp>
        <p:nvSpPr>
          <p:cNvPr id="23" name="Text 21"/>
          <p:cNvSpPr/>
          <p:nvPr/>
        </p:nvSpPr>
        <p:spPr>
          <a:xfrm>
            <a:off x="4846320" y="5001768"/>
            <a:ext cx="65836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Saves the next person the same join</a:t>
            </a:r>
            <a:endParaRPr lang="en-US" sz="1400" dirty="0"/>
          </a:p>
        </p:txBody>
      </p:sp>
      <p:sp>
        <p:nvSpPr>
          <p:cNvPr id="24" name="Text 22"/>
          <p:cNvSpPr/>
          <p:nvPr/>
        </p:nvSpPr>
        <p:spPr>
          <a:xfrm>
            <a:off x="640080" y="5623560"/>
            <a:ext cx="10908792" cy="457200"/>
          </a:xfrm>
          <a:prstGeom prst="rect">
            <a:avLst/>
          </a:prstGeom>
          <a:noFill/>
          <a:ln/>
        </p:spPr>
        <p:txBody>
          <a:bodyPr wrap="square" lIns="0" tIns="0" rIns="0" bIns="0" rtlCol="0" anchor="ctr"/>
          <a:lstStyle/>
          <a:p>
            <a:pPr indent="0" marL="0">
              <a:buNone/>
            </a:pPr>
            <a:r>
              <a:rPr lang="en-US" sz="1900" b="1" i="1" dirty="0">
                <a:solidFill>
                  <a:srgbClr val="22303C"/>
                </a:solidFill>
                <a:latin typeface="Cambria" pitchFamily="34" charset="0"/>
                <a:ea typeface="Cambria" pitchFamily="34" charset="-122"/>
                <a:cs typeface="Cambria" pitchFamily="34" charset="-120"/>
              </a:rPr>
              <a:t>What would you tell a new analyst in week one so they don't embarrass themselves?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THE DISCIPLINE</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Write the evals before you write the skill</a:t>
            </a:r>
            <a:endParaRPr lang="en-US" sz="3400" dirty="0"/>
          </a:p>
        </p:txBody>
      </p:sp>
      <p:sp>
        <p:nvSpPr>
          <p:cNvPr id="4" name="Text 2"/>
          <p:cNvSpPr/>
          <p:nvPr/>
        </p:nvSpPr>
        <p:spPr>
          <a:xfrm>
            <a:off x="640080" y="1371600"/>
            <a:ext cx="10908792" cy="365760"/>
          </a:xfrm>
          <a:prstGeom prst="rect">
            <a:avLst/>
          </a:prstGeom>
          <a:noFill/>
          <a:ln/>
        </p:spPr>
        <p:txBody>
          <a:bodyPr wrap="square" lIns="0" tIns="0" rIns="0" bIns="0" rtlCol="0" anchor="ctr"/>
          <a:lstStyle/>
          <a:p>
            <a:pPr indent="0" marL="0">
              <a:buNone/>
            </a:pPr>
            <a:r>
              <a:rPr lang="en-US" sz="1500" dirty="0">
                <a:solidFill>
                  <a:srgbClr val="5A6B7A"/>
                </a:solidFill>
                <a:latin typeface="Calibri" pitchFamily="34" charset="0"/>
                <a:ea typeface="Calibri" pitchFamily="34" charset="-122"/>
                <a:cs typeface="Calibri" pitchFamily="34" charset="-120"/>
              </a:rPr>
              <a:t>Same 29 questions, run twice. Skills off, then on. The difference is the measurement.</a:t>
            </a:r>
            <a:endParaRPr lang="en-US" sz="1500" dirty="0"/>
          </a:p>
        </p:txBody>
      </p:sp>
      <p:sp>
        <p:nvSpPr>
          <p:cNvPr id="5" name="Shape 3"/>
          <p:cNvSpPr/>
          <p:nvPr/>
        </p:nvSpPr>
        <p:spPr>
          <a:xfrm>
            <a:off x="640080" y="2011680"/>
            <a:ext cx="3520440" cy="2103120"/>
          </a:xfrm>
          <a:prstGeom prst="roundRect">
            <a:avLst>
              <a:gd name="adj" fmla="val 3478"/>
            </a:avLst>
          </a:prstGeom>
          <a:solidFill>
            <a:srgbClr val="F2F4F6"/>
          </a:solidFill>
          <a:ln w="12700">
            <a:solidFill>
              <a:srgbClr val="F2F4F6"/>
            </a:solidFill>
            <a:prstDash val="solid"/>
          </a:ln>
        </p:spPr>
      </p:sp>
      <p:sp>
        <p:nvSpPr>
          <p:cNvPr id="6" name="Text 4"/>
          <p:cNvSpPr/>
          <p:nvPr/>
        </p:nvSpPr>
        <p:spPr>
          <a:xfrm>
            <a:off x="914400" y="2194560"/>
            <a:ext cx="548640" cy="502920"/>
          </a:xfrm>
          <a:prstGeom prst="rect">
            <a:avLst/>
          </a:prstGeom>
          <a:noFill/>
          <a:ln/>
        </p:spPr>
        <p:txBody>
          <a:bodyPr wrap="square" lIns="0" tIns="0" rIns="0" bIns="0" rtlCol="0" anchor="ctr"/>
          <a:lstStyle/>
          <a:p>
            <a:pPr indent="0" marL="0">
              <a:buNone/>
            </a:pPr>
            <a:r>
              <a:rPr lang="en-US" sz="3000" b="1" dirty="0">
                <a:solidFill>
                  <a:srgbClr val="E8663C"/>
                </a:solidFill>
                <a:latin typeface="Cambria" pitchFamily="34" charset="0"/>
                <a:ea typeface="Cambria" pitchFamily="34" charset="-122"/>
                <a:cs typeface="Cambria" pitchFamily="34" charset="-120"/>
              </a:rPr>
              <a:t>1</a:t>
            </a:r>
            <a:endParaRPr lang="en-US" sz="3000" dirty="0"/>
          </a:p>
        </p:txBody>
      </p:sp>
      <p:sp>
        <p:nvSpPr>
          <p:cNvPr id="7" name="Text 5"/>
          <p:cNvSpPr/>
          <p:nvPr/>
        </p:nvSpPr>
        <p:spPr>
          <a:xfrm>
            <a:off x="914400" y="2743200"/>
            <a:ext cx="2971800" cy="365760"/>
          </a:xfrm>
          <a:prstGeom prst="rect">
            <a:avLst/>
          </a:prstGeom>
          <a:noFill/>
          <a:ln/>
        </p:spPr>
        <p:txBody>
          <a:bodyPr wrap="square" lIns="0" tIns="0" rIns="0" bIns="0" rtlCol="0" anchor="ctr"/>
          <a:lstStyle/>
          <a:p>
            <a:pPr indent="0" marL="0">
              <a:buNone/>
            </a:pPr>
            <a:r>
              <a:rPr lang="en-US" sz="1700" b="1" dirty="0">
                <a:solidFill>
                  <a:srgbClr val="22303C"/>
                </a:solidFill>
                <a:latin typeface="Cambria" pitchFamily="34" charset="0"/>
                <a:ea typeface="Cambria" pitchFamily="34" charset="-122"/>
                <a:cs typeface="Cambria" pitchFamily="34" charset="-120"/>
              </a:rPr>
              <a:t>Pin ground truth</a:t>
            </a:r>
            <a:endParaRPr lang="en-US" sz="1700" dirty="0"/>
          </a:p>
        </p:txBody>
      </p:sp>
      <p:sp>
        <p:nvSpPr>
          <p:cNvPr id="8" name="Text 6"/>
          <p:cNvSpPr/>
          <p:nvPr/>
        </p:nvSpPr>
        <p:spPr>
          <a:xfrm>
            <a:off x="914400" y="3154680"/>
            <a:ext cx="2971800" cy="7772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Generated from the database, never hand-typed</a:t>
            </a:r>
            <a:endParaRPr lang="en-US" sz="1300" dirty="0"/>
          </a:p>
        </p:txBody>
      </p:sp>
      <p:sp>
        <p:nvSpPr>
          <p:cNvPr id="9" name="Shape 7"/>
          <p:cNvSpPr/>
          <p:nvPr/>
        </p:nvSpPr>
        <p:spPr>
          <a:xfrm>
            <a:off x="4544568" y="2011680"/>
            <a:ext cx="3520440" cy="2103120"/>
          </a:xfrm>
          <a:prstGeom prst="roundRect">
            <a:avLst>
              <a:gd name="adj" fmla="val 3478"/>
            </a:avLst>
          </a:prstGeom>
          <a:solidFill>
            <a:srgbClr val="F2F4F6"/>
          </a:solidFill>
          <a:ln w="12700">
            <a:solidFill>
              <a:srgbClr val="F2F4F6"/>
            </a:solidFill>
            <a:prstDash val="solid"/>
          </a:ln>
        </p:spPr>
      </p:sp>
      <p:sp>
        <p:nvSpPr>
          <p:cNvPr id="10" name="Text 8"/>
          <p:cNvSpPr/>
          <p:nvPr/>
        </p:nvSpPr>
        <p:spPr>
          <a:xfrm>
            <a:off x="4818888" y="2194560"/>
            <a:ext cx="548640" cy="502920"/>
          </a:xfrm>
          <a:prstGeom prst="rect">
            <a:avLst/>
          </a:prstGeom>
          <a:noFill/>
          <a:ln/>
        </p:spPr>
        <p:txBody>
          <a:bodyPr wrap="square" lIns="0" tIns="0" rIns="0" bIns="0" rtlCol="0" anchor="ctr"/>
          <a:lstStyle/>
          <a:p>
            <a:pPr indent="0" marL="0">
              <a:buNone/>
            </a:pPr>
            <a:r>
              <a:rPr lang="en-US" sz="3000" b="1" dirty="0">
                <a:solidFill>
                  <a:srgbClr val="E8663C"/>
                </a:solidFill>
                <a:latin typeface="Cambria" pitchFamily="34" charset="0"/>
                <a:ea typeface="Cambria" pitchFamily="34" charset="-122"/>
                <a:cs typeface="Cambria" pitchFamily="34" charset="-120"/>
              </a:rPr>
              <a:t>2</a:t>
            </a:r>
            <a:endParaRPr lang="en-US" sz="3000" dirty="0"/>
          </a:p>
        </p:txBody>
      </p:sp>
      <p:sp>
        <p:nvSpPr>
          <p:cNvPr id="11" name="Text 9"/>
          <p:cNvSpPr/>
          <p:nvPr/>
        </p:nvSpPr>
        <p:spPr>
          <a:xfrm>
            <a:off x="4818888" y="2743200"/>
            <a:ext cx="2971800" cy="365760"/>
          </a:xfrm>
          <a:prstGeom prst="rect">
            <a:avLst/>
          </a:prstGeom>
          <a:noFill/>
          <a:ln/>
        </p:spPr>
        <p:txBody>
          <a:bodyPr wrap="square" lIns="0" tIns="0" rIns="0" bIns="0" rtlCol="0" anchor="ctr"/>
          <a:lstStyle/>
          <a:p>
            <a:pPr indent="0" marL="0">
              <a:buNone/>
            </a:pPr>
            <a:r>
              <a:rPr lang="en-US" sz="1700" b="1" dirty="0">
                <a:solidFill>
                  <a:srgbClr val="22303C"/>
                </a:solidFill>
                <a:latin typeface="Cambria" pitchFamily="34" charset="0"/>
                <a:ea typeface="Cambria" pitchFamily="34" charset="-122"/>
                <a:cs typeface="Cambria" pitchFamily="34" charset="-120"/>
              </a:rPr>
              <a:t>Write negative tests</a:t>
            </a:r>
            <a:endParaRPr lang="en-US" sz="1700" dirty="0"/>
          </a:p>
        </p:txBody>
      </p:sp>
      <p:sp>
        <p:nvSpPr>
          <p:cNvPr id="12" name="Text 10"/>
          <p:cNvSpPr/>
          <p:nvPr/>
        </p:nvSpPr>
        <p:spPr>
          <a:xfrm>
            <a:off x="4818888" y="3154680"/>
            <a:ext cx="2971800" cy="7772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Evals the skill should NOT change</a:t>
            </a:r>
            <a:endParaRPr lang="en-US" sz="1300" dirty="0"/>
          </a:p>
        </p:txBody>
      </p:sp>
      <p:sp>
        <p:nvSpPr>
          <p:cNvPr id="13" name="Shape 11"/>
          <p:cNvSpPr/>
          <p:nvPr/>
        </p:nvSpPr>
        <p:spPr>
          <a:xfrm>
            <a:off x="8449056" y="2011680"/>
            <a:ext cx="3520440" cy="2103120"/>
          </a:xfrm>
          <a:prstGeom prst="roundRect">
            <a:avLst>
              <a:gd name="adj" fmla="val 3478"/>
            </a:avLst>
          </a:prstGeom>
          <a:solidFill>
            <a:srgbClr val="F2F4F6"/>
          </a:solidFill>
          <a:ln w="12700">
            <a:solidFill>
              <a:srgbClr val="F2F4F6"/>
            </a:solidFill>
            <a:prstDash val="solid"/>
          </a:ln>
        </p:spPr>
      </p:sp>
      <p:sp>
        <p:nvSpPr>
          <p:cNvPr id="14" name="Text 12"/>
          <p:cNvSpPr/>
          <p:nvPr/>
        </p:nvSpPr>
        <p:spPr>
          <a:xfrm>
            <a:off x="8723376" y="2194560"/>
            <a:ext cx="548640" cy="502920"/>
          </a:xfrm>
          <a:prstGeom prst="rect">
            <a:avLst/>
          </a:prstGeom>
          <a:noFill/>
          <a:ln/>
        </p:spPr>
        <p:txBody>
          <a:bodyPr wrap="square" lIns="0" tIns="0" rIns="0" bIns="0" rtlCol="0" anchor="ctr"/>
          <a:lstStyle/>
          <a:p>
            <a:pPr indent="0" marL="0">
              <a:buNone/>
            </a:pPr>
            <a:r>
              <a:rPr lang="en-US" sz="3000" b="1" dirty="0">
                <a:solidFill>
                  <a:srgbClr val="E8663C"/>
                </a:solidFill>
                <a:latin typeface="Cambria" pitchFamily="34" charset="0"/>
                <a:ea typeface="Cambria" pitchFamily="34" charset="-122"/>
                <a:cs typeface="Cambria" pitchFamily="34" charset="-120"/>
              </a:rPr>
              <a:t>3</a:t>
            </a:r>
            <a:endParaRPr lang="en-US" sz="3000" dirty="0"/>
          </a:p>
        </p:txBody>
      </p:sp>
      <p:sp>
        <p:nvSpPr>
          <p:cNvPr id="15" name="Text 13"/>
          <p:cNvSpPr/>
          <p:nvPr/>
        </p:nvSpPr>
        <p:spPr>
          <a:xfrm>
            <a:off x="8723376" y="2743200"/>
            <a:ext cx="2971800" cy="365760"/>
          </a:xfrm>
          <a:prstGeom prst="rect">
            <a:avLst/>
          </a:prstGeom>
          <a:noFill/>
          <a:ln/>
        </p:spPr>
        <p:txBody>
          <a:bodyPr wrap="square" lIns="0" tIns="0" rIns="0" bIns="0" rtlCol="0" anchor="ctr"/>
          <a:lstStyle/>
          <a:p>
            <a:pPr indent="0" marL="0">
              <a:buNone/>
            </a:pPr>
            <a:r>
              <a:rPr lang="en-US" sz="1700" b="1" dirty="0">
                <a:solidFill>
                  <a:srgbClr val="22303C"/>
                </a:solidFill>
                <a:latin typeface="Cambria" pitchFamily="34" charset="0"/>
                <a:ea typeface="Cambria" pitchFamily="34" charset="-122"/>
                <a:cs typeface="Cambria" pitchFamily="34" charset="-120"/>
              </a:rPr>
              <a:t>Run the ablation</a:t>
            </a:r>
            <a:endParaRPr lang="en-US" sz="1700" dirty="0"/>
          </a:p>
        </p:txBody>
      </p:sp>
      <p:sp>
        <p:nvSpPr>
          <p:cNvPr id="16" name="Text 14"/>
          <p:cNvSpPr/>
          <p:nvPr/>
        </p:nvSpPr>
        <p:spPr>
          <a:xfrm>
            <a:off x="8723376" y="3154680"/>
            <a:ext cx="2971800" cy="7772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Baseline, then skills, then compare</a:t>
            </a:r>
            <a:endParaRPr lang="en-US" sz="1300" dirty="0"/>
          </a:p>
        </p:txBody>
      </p:sp>
      <p:sp>
        <p:nvSpPr>
          <p:cNvPr id="17" name="Shape 15"/>
          <p:cNvSpPr/>
          <p:nvPr/>
        </p:nvSpPr>
        <p:spPr>
          <a:xfrm>
            <a:off x="640080" y="4389120"/>
            <a:ext cx="10908792" cy="1234440"/>
          </a:xfrm>
          <a:prstGeom prst="roundRect">
            <a:avLst>
              <a:gd name="adj" fmla="val 5926"/>
            </a:avLst>
          </a:prstGeom>
          <a:solidFill>
            <a:srgbClr val="E6F2EE"/>
          </a:solidFill>
          <a:ln w="12700">
            <a:solidFill>
              <a:srgbClr val="E6F2EE"/>
            </a:solidFill>
            <a:prstDash val="solid"/>
          </a:ln>
        </p:spPr>
      </p:sp>
      <p:sp>
        <p:nvSpPr>
          <p:cNvPr id="18" name="Text 16"/>
          <p:cNvSpPr/>
          <p:nvPr/>
        </p:nvSpPr>
        <p:spPr>
          <a:xfrm>
            <a:off x="1005840" y="4709160"/>
            <a:ext cx="10177272" cy="640080"/>
          </a:xfrm>
          <a:prstGeom prst="rect">
            <a:avLst/>
          </a:prstGeom>
          <a:noFill/>
          <a:ln/>
        </p:spPr>
        <p:txBody>
          <a:bodyPr wrap="square" lIns="0" tIns="0" rIns="0" bIns="0" rtlCol="0" anchor="ctr"/>
          <a:lstStyle/>
          <a:p>
            <a:pPr indent="0" marL="0">
              <a:buNone/>
            </a:pPr>
            <a:r>
              <a:rPr lang="en-US" sz="1500" dirty="0">
                <a:solidFill>
                  <a:srgbClr val="1F5F4C"/>
                </a:solidFill>
                <a:latin typeface="Calibri" pitchFamily="34" charset="0"/>
                <a:ea typeface="Calibri" pitchFamily="34" charset="-122"/>
                <a:cs typeface="Calibri" pitchFamily="34" charset="-120"/>
              </a:rPr>
              <a:t>A skill that fires on everything is indistinguishable from a skill that works. 21% of our evals test that the skill stays quiet.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2303C"/>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WHAT WE MEASURED</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The first full run came back negative</a:t>
            </a:r>
            <a:endParaRPr lang="en-US" sz="3400" dirty="0"/>
          </a:p>
        </p:txBody>
      </p:sp>
      <p:sp>
        <p:nvSpPr>
          <p:cNvPr id="4" name="Shape 2"/>
          <p:cNvSpPr/>
          <p:nvPr/>
        </p:nvSpPr>
        <p:spPr>
          <a:xfrm>
            <a:off x="640080" y="1828800"/>
            <a:ext cx="5074920" cy="1920240"/>
          </a:xfrm>
          <a:prstGeom prst="roundRect">
            <a:avLst>
              <a:gd name="adj" fmla="val 3810"/>
            </a:avLst>
          </a:prstGeom>
          <a:solidFill>
            <a:srgbClr val="2E3E4C"/>
          </a:solidFill>
          <a:ln w="12700">
            <a:solidFill>
              <a:srgbClr val="2E3E4C"/>
            </a:solidFill>
            <a:prstDash val="solid"/>
          </a:ln>
        </p:spPr>
      </p:sp>
      <p:sp>
        <p:nvSpPr>
          <p:cNvPr id="5" name="Text 3"/>
          <p:cNvSpPr/>
          <p:nvPr/>
        </p:nvSpPr>
        <p:spPr>
          <a:xfrm>
            <a:off x="960120" y="2057400"/>
            <a:ext cx="4434840" cy="365760"/>
          </a:xfrm>
          <a:prstGeom prst="rect">
            <a:avLst/>
          </a:prstGeom>
          <a:noFill/>
          <a:ln/>
        </p:spPr>
        <p:txBody>
          <a:bodyPr wrap="square" lIns="0" tIns="0" rIns="0" bIns="0" rtlCol="0" anchor="ctr"/>
          <a:lstStyle/>
          <a:p>
            <a:pPr indent="0" marL="0">
              <a:buNone/>
            </a:pPr>
            <a:r>
              <a:rPr lang="en-US" sz="1700" b="1" dirty="0">
                <a:solidFill>
                  <a:srgbClr val="CBD5DD"/>
                </a:solidFill>
                <a:latin typeface="Cambria" pitchFamily="34" charset="0"/>
                <a:ea typeface="Cambria" pitchFamily="34" charset="-122"/>
                <a:cs typeface="Cambria" pitchFamily="34" charset="-120"/>
              </a:rPr>
              <a:t>One skill loaded</a:t>
            </a:r>
            <a:endParaRPr lang="en-US" sz="1700" dirty="0"/>
          </a:p>
        </p:txBody>
      </p:sp>
      <p:sp>
        <p:nvSpPr>
          <p:cNvPr id="6" name="Text 4"/>
          <p:cNvSpPr/>
          <p:nvPr/>
        </p:nvSpPr>
        <p:spPr>
          <a:xfrm>
            <a:off x="960120" y="2514600"/>
            <a:ext cx="4434840" cy="822960"/>
          </a:xfrm>
          <a:prstGeom prst="rect">
            <a:avLst/>
          </a:prstGeom>
          <a:noFill/>
          <a:ln/>
        </p:spPr>
        <p:txBody>
          <a:bodyPr wrap="square" lIns="0" tIns="0" rIns="0" bIns="0" rtlCol="0" anchor="ctr"/>
          <a:lstStyle/>
          <a:p>
            <a:pPr indent="0" marL="0">
              <a:buNone/>
            </a:pPr>
            <a:r>
              <a:rPr lang="en-US" sz="4400" b="1" dirty="0">
                <a:solidFill>
                  <a:srgbClr val="2D8A72"/>
                </a:solidFill>
                <a:latin typeface="Cambria" pitchFamily="34" charset="0"/>
                <a:ea typeface="Cambria" pitchFamily="34" charset="-122"/>
                <a:cs typeface="Cambria" pitchFamily="34" charset="-120"/>
              </a:rPr>
              <a:t>+50 pts</a:t>
            </a:r>
            <a:endParaRPr lang="en-US" sz="4400" dirty="0"/>
          </a:p>
        </p:txBody>
      </p:sp>
      <p:sp>
        <p:nvSpPr>
          <p:cNvPr id="7" name="Shape 5"/>
          <p:cNvSpPr/>
          <p:nvPr/>
        </p:nvSpPr>
        <p:spPr>
          <a:xfrm>
            <a:off x="6172200" y="1828800"/>
            <a:ext cx="5074920" cy="1920240"/>
          </a:xfrm>
          <a:prstGeom prst="roundRect">
            <a:avLst>
              <a:gd name="adj" fmla="val 3810"/>
            </a:avLst>
          </a:prstGeom>
          <a:solidFill>
            <a:srgbClr val="2E3E4C"/>
          </a:solidFill>
          <a:ln w="12700">
            <a:solidFill>
              <a:srgbClr val="2E3E4C"/>
            </a:solidFill>
            <a:prstDash val="solid"/>
          </a:ln>
        </p:spPr>
      </p:sp>
      <p:sp>
        <p:nvSpPr>
          <p:cNvPr id="8" name="Text 6"/>
          <p:cNvSpPr/>
          <p:nvPr/>
        </p:nvSpPr>
        <p:spPr>
          <a:xfrm>
            <a:off x="6492240" y="2057400"/>
            <a:ext cx="4434840" cy="365760"/>
          </a:xfrm>
          <a:prstGeom prst="rect">
            <a:avLst/>
          </a:prstGeom>
          <a:noFill/>
          <a:ln/>
        </p:spPr>
        <p:txBody>
          <a:bodyPr wrap="square" lIns="0" tIns="0" rIns="0" bIns="0" rtlCol="0" anchor="ctr"/>
          <a:lstStyle/>
          <a:p>
            <a:pPr indent="0" marL="0">
              <a:buNone/>
            </a:pPr>
            <a:r>
              <a:rPr lang="en-US" sz="1700" b="1" dirty="0">
                <a:solidFill>
                  <a:srgbClr val="CBD5DD"/>
                </a:solidFill>
                <a:latin typeface="Cambria" pitchFamily="34" charset="0"/>
                <a:ea typeface="Cambria" pitchFamily="34" charset="-122"/>
                <a:cs typeface="Cambria" pitchFamily="34" charset="-120"/>
              </a:rPr>
              <a:t>Six skills loaded</a:t>
            </a:r>
            <a:endParaRPr lang="en-US" sz="1700" dirty="0"/>
          </a:p>
        </p:txBody>
      </p:sp>
      <p:sp>
        <p:nvSpPr>
          <p:cNvPr id="9" name="Text 7"/>
          <p:cNvSpPr/>
          <p:nvPr/>
        </p:nvSpPr>
        <p:spPr>
          <a:xfrm>
            <a:off x="6492240" y="2514600"/>
            <a:ext cx="4434840" cy="822960"/>
          </a:xfrm>
          <a:prstGeom prst="rect">
            <a:avLst/>
          </a:prstGeom>
          <a:noFill/>
          <a:ln/>
        </p:spPr>
        <p:txBody>
          <a:bodyPr wrap="square" lIns="0" tIns="0" rIns="0" bIns="0" rtlCol="0" anchor="ctr"/>
          <a:lstStyle/>
          <a:p>
            <a:pPr indent="0" marL="0">
              <a:buNone/>
            </a:pPr>
            <a:r>
              <a:rPr lang="en-US" sz="4400" b="1" dirty="0">
                <a:solidFill>
                  <a:srgbClr val="E8663C"/>
                </a:solidFill>
                <a:latin typeface="Cambria" pitchFamily="34" charset="0"/>
                <a:ea typeface="Cambria" pitchFamily="34" charset="-122"/>
                <a:cs typeface="Cambria" pitchFamily="34" charset="-120"/>
              </a:rPr>
              <a:t>−9 pts</a:t>
            </a:r>
            <a:endParaRPr lang="en-US" sz="4400" dirty="0"/>
          </a:p>
        </p:txBody>
      </p:sp>
      <p:sp>
        <p:nvSpPr>
          <p:cNvPr id="10" name="Text 8"/>
          <p:cNvSpPr/>
          <p:nvPr/>
        </p:nvSpPr>
        <p:spPr>
          <a:xfrm>
            <a:off x="640080" y="3977640"/>
            <a:ext cx="10908792" cy="411480"/>
          </a:xfrm>
          <a:prstGeom prst="rect">
            <a:avLst/>
          </a:prstGeom>
          <a:noFill/>
          <a:ln/>
        </p:spPr>
        <p:txBody>
          <a:bodyPr wrap="square" lIns="0" tIns="0" rIns="0" bIns="0" rtlCol="0" anchor="ctr"/>
          <a:lstStyle/>
          <a:p>
            <a:pPr indent="0" marL="0">
              <a:buNone/>
            </a:pPr>
            <a:r>
              <a:rPr lang="en-US" sz="2200" i="1" dirty="0">
                <a:solidFill>
                  <a:srgbClr val="FFFFFF"/>
                </a:solidFill>
                <a:latin typeface="Cambria" pitchFamily="34" charset="0"/>
                <a:ea typeface="Cambria" pitchFamily="34" charset="-122"/>
                <a:cs typeface="Cambria" pitchFamily="34" charset="-120"/>
              </a:rPr>
              <a:t>Same skills. Same model. Same warehouse. Opposite conclusions.</a:t>
            </a:r>
            <a:endParaRPr lang="en-US" sz="2200" dirty="0"/>
          </a:p>
        </p:txBody>
      </p:sp>
      <p:sp>
        <p:nvSpPr>
          <p:cNvPr id="11" name="Text 9"/>
          <p:cNvSpPr/>
          <p:nvPr/>
        </p:nvSpPr>
        <p:spPr>
          <a:xfrm>
            <a:off x="640080" y="4617720"/>
            <a:ext cx="10908792" cy="822960"/>
          </a:xfrm>
          <a:prstGeom prst="rect">
            <a:avLst/>
          </a:prstGeom>
          <a:noFill/>
          <a:ln/>
        </p:spPr>
        <p:txBody>
          <a:bodyPr wrap="square" lIns="0" tIns="0" rIns="0" bIns="0" rtlCol="0" anchor="ctr"/>
          <a:lstStyle/>
          <a:p>
            <a:pPr indent="0" marL="0">
              <a:lnSpc>
                <a:spcPts val="2400"/>
              </a:lnSpc>
              <a:buNone/>
            </a:pPr>
            <a:r>
              <a:rPr lang="en-US" sz="1500" b="1" dirty="0">
                <a:solidFill>
                  <a:srgbClr val="FFFFFF"/>
                </a:solidFill>
                <a:latin typeface="Calibri" pitchFamily="34" charset="0"/>
                <a:ea typeface="Calibri" pitchFamily="34" charset="-122"/>
                <a:cs typeface="Calibri" pitchFamily="34" charset="-120"/>
              </a:rPr>
              <a:t>Negative tests degraded 93% → 73%.</a:t>
            </a:r>
            <a:endParaRPr lang="en-US" sz="1500" dirty="0"/>
          </a:p>
          <a:p>
            <a:pPr indent="0" marL="0">
              <a:lnSpc>
                <a:spcPts val="2400"/>
              </a:lnSpc>
              <a:buNone/>
            </a:pPr>
            <a:r>
              <a:rPr lang="en-US" sz="1500" dirty="0">
                <a:solidFill>
                  <a:srgbClr val="CBD5DD"/>
                </a:solidFill>
                <a:latin typeface="Calibri" pitchFamily="34" charset="0"/>
                <a:ea typeface="Calibri" pitchFamily="34" charset="-122"/>
                <a:cs typeface="Calibri" pitchFamily="34" charset="-120"/>
              </a:rPr>
              <a:t>12 of 28 evals flipped by 60+ points, in both directions. Only 11 held steady.</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THE DIAGNOSIS</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How you load skills matters more than what's in them</a:t>
            </a:r>
            <a:endParaRPr lang="en-US" sz="3400" dirty="0"/>
          </a:p>
        </p:txBody>
      </p:sp>
      <p:sp>
        <p:nvSpPr>
          <p:cNvPr id="4" name="Shape 2"/>
          <p:cNvSpPr/>
          <p:nvPr/>
        </p:nvSpPr>
        <p:spPr>
          <a:xfrm>
            <a:off x="640080" y="1691640"/>
            <a:ext cx="10908792" cy="1371600"/>
          </a:xfrm>
          <a:prstGeom prst="roundRect">
            <a:avLst>
              <a:gd name="adj" fmla="val 5333"/>
            </a:avLst>
          </a:prstGeom>
          <a:solidFill>
            <a:srgbClr val="FBEDE8"/>
          </a:solidFill>
          <a:ln w="12700">
            <a:solidFill>
              <a:srgbClr val="FBEDE8"/>
            </a:solidFill>
            <a:prstDash val="solid"/>
          </a:ln>
        </p:spPr>
      </p:sp>
      <p:sp>
        <p:nvSpPr>
          <p:cNvPr id="5" name="Text 3"/>
          <p:cNvSpPr/>
          <p:nvPr/>
        </p:nvSpPr>
        <p:spPr>
          <a:xfrm>
            <a:off x="1005840" y="1920240"/>
            <a:ext cx="10177272" cy="411480"/>
          </a:xfrm>
          <a:prstGeom prst="rect">
            <a:avLst/>
          </a:prstGeom>
          <a:noFill/>
          <a:ln/>
        </p:spPr>
        <p:txBody>
          <a:bodyPr wrap="square" lIns="0" tIns="0" rIns="0" bIns="0" rtlCol="0" anchor="ctr"/>
          <a:lstStyle/>
          <a:p>
            <a:pPr indent="0" marL="0">
              <a:buNone/>
            </a:pPr>
            <a:r>
              <a:rPr lang="en-US" sz="2400" b="1" dirty="0">
                <a:solidFill>
                  <a:srgbClr val="E8663C"/>
                </a:solidFill>
                <a:latin typeface="Cambria" pitchFamily="34" charset="0"/>
                <a:ea typeface="Cambria" pitchFamily="34" charset="-122"/>
                <a:cs typeface="Cambria" pitchFamily="34" charset="-120"/>
              </a:rPr>
              <a:t>11,253 tokens of instructions attached to a 17-token question.</a:t>
            </a:r>
            <a:endParaRPr lang="en-US" sz="2400" dirty="0"/>
          </a:p>
        </p:txBody>
      </p:sp>
      <p:sp>
        <p:nvSpPr>
          <p:cNvPr id="6" name="Text 4"/>
          <p:cNvSpPr/>
          <p:nvPr/>
        </p:nvSpPr>
        <p:spPr>
          <a:xfrm>
            <a:off x="1005840" y="2377440"/>
            <a:ext cx="10177272" cy="457200"/>
          </a:xfrm>
          <a:prstGeom prst="rect">
            <a:avLst/>
          </a:prstGeom>
          <a:noFill/>
          <a:ln/>
        </p:spPr>
        <p:txBody>
          <a:bodyPr wrap="square" lIns="0" tIns="0" rIns="0" bIns="0" rtlCol="0" anchor="ctr"/>
          <a:lstStyle/>
          <a:p>
            <a:pPr indent="0" marL="0">
              <a:buNone/>
            </a:pPr>
            <a:r>
              <a:rPr lang="en-US" sz="1500" dirty="0">
                <a:solidFill>
                  <a:srgbClr val="8C4430"/>
                </a:solidFill>
                <a:latin typeface="Calibri" pitchFamily="34" charset="0"/>
                <a:ea typeface="Calibri" pitchFamily="34" charset="-122"/>
                <a:cs typeface="Calibri" pitchFamily="34" charset="-120"/>
              </a:rPr>
              <a:t>Every skill file injected into every question — roughly 600x the size of the ask.</a:t>
            </a:r>
            <a:endParaRPr lang="en-US" sz="1500" dirty="0"/>
          </a:p>
        </p:txBody>
      </p:sp>
      <p:sp>
        <p:nvSpPr>
          <p:cNvPr id="7" name="Shape 5"/>
          <p:cNvSpPr/>
          <p:nvPr/>
        </p:nvSpPr>
        <p:spPr>
          <a:xfrm>
            <a:off x="640080" y="3291840"/>
            <a:ext cx="3520440" cy="2148840"/>
          </a:xfrm>
          <a:prstGeom prst="roundRect">
            <a:avLst>
              <a:gd name="adj" fmla="val 3404"/>
            </a:avLst>
          </a:prstGeom>
          <a:solidFill>
            <a:srgbClr val="F2F4F6"/>
          </a:solidFill>
          <a:ln w="12700">
            <a:solidFill>
              <a:srgbClr val="F2F4F6"/>
            </a:solidFill>
            <a:prstDash val="solid"/>
          </a:ln>
        </p:spPr>
      </p:sp>
      <p:sp>
        <p:nvSpPr>
          <p:cNvPr id="8" name="Text 6"/>
          <p:cNvSpPr/>
          <p:nvPr/>
        </p:nvSpPr>
        <p:spPr>
          <a:xfrm>
            <a:off x="914400" y="3520440"/>
            <a:ext cx="2971800" cy="365760"/>
          </a:xfrm>
          <a:prstGeom prst="rect">
            <a:avLst/>
          </a:prstGeom>
          <a:noFill/>
          <a:ln/>
        </p:spPr>
        <p:txBody>
          <a:bodyPr wrap="square" lIns="0" tIns="0" rIns="0" bIns="0" rtlCol="0" anchor="ctr"/>
          <a:lstStyle/>
          <a:p>
            <a:pPr indent="0" marL="0">
              <a:buNone/>
            </a:pPr>
            <a:r>
              <a:rPr lang="en-US" sz="1600" b="1" dirty="0">
                <a:solidFill>
                  <a:srgbClr val="22303C"/>
                </a:solidFill>
                <a:latin typeface="Cambria" pitchFamily="34" charset="0"/>
                <a:ea typeface="Cambria" pitchFamily="34" charset="-122"/>
                <a:cs typeface="Cambria" pitchFamily="34" charset="-120"/>
              </a:rPr>
              <a:t>What we measured</a:t>
            </a:r>
            <a:endParaRPr lang="en-US" sz="1600" dirty="0"/>
          </a:p>
        </p:txBody>
      </p:sp>
      <p:sp>
        <p:nvSpPr>
          <p:cNvPr id="9" name="Text 7"/>
          <p:cNvSpPr/>
          <p:nvPr/>
        </p:nvSpPr>
        <p:spPr>
          <a:xfrm>
            <a:off x="914400" y="3931920"/>
            <a:ext cx="2971800" cy="137160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Context dilution. The agent trying to satisfy six sets of instructions at once — hedging clean queries, interrogating specified questions.</a:t>
            </a:r>
            <a:endParaRPr lang="en-US" sz="1300" dirty="0"/>
          </a:p>
        </p:txBody>
      </p:sp>
      <p:sp>
        <p:nvSpPr>
          <p:cNvPr id="10" name="Shape 8"/>
          <p:cNvSpPr/>
          <p:nvPr/>
        </p:nvSpPr>
        <p:spPr>
          <a:xfrm>
            <a:off x="4544568" y="3291840"/>
            <a:ext cx="3520440" cy="2148840"/>
          </a:xfrm>
          <a:prstGeom prst="roundRect">
            <a:avLst>
              <a:gd name="adj" fmla="val 3404"/>
            </a:avLst>
          </a:prstGeom>
          <a:solidFill>
            <a:srgbClr val="F2F4F6"/>
          </a:solidFill>
          <a:ln w="12700">
            <a:solidFill>
              <a:srgbClr val="F2F4F6"/>
            </a:solidFill>
            <a:prstDash val="solid"/>
          </a:ln>
        </p:spPr>
      </p:sp>
      <p:sp>
        <p:nvSpPr>
          <p:cNvPr id="11" name="Text 9"/>
          <p:cNvSpPr/>
          <p:nvPr/>
        </p:nvSpPr>
        <p:spPr>
          <a:xfrm>
            <a:off x="4818888" y="3520440"/>
            <a:ext cx="2971800" cy="365760"/>
          </a:xfrm>
          <a:prstGeom prst="rect">
            <a:avLst/>
          </a:prstGeom>
          <a:noFill/>
          <a:ln/>
        </p:spPr>
        <p:txBody>
          <a:bodyPr wrap="square" lIns="0" tIns="0" rIns="0" bIns="0" rtlCol="0" anchor="ctr"/>
          <a:lstStyle/>
          <a:p>
            <a:pPr indent="0" marL="0">
              <a:buNone/>
            </a:pPr>
            <a:r>
              <a:rPr lang="en-US" sz="1600" b="1" dirty="0">
                <a:solidFill>
                  <a:srgbClr val="22303C"/>
                </a:solidFill>
                <a:latin typeface="Cambria" pitchFamily="34" charset="0"/>
                <a:ea typeface="Cambria" pitchFamily="34" charset="-122"/>
                <a:cs typeface="Cambria" pitchFamily="34" charset="-120"/>
              </a:rPr>
              <a:t>What we meant to measure</a:t>
            </a:r>
            <a:endParaRPr lang="en-US" sz="1600" dirty="0"/>
          </a:p>
        </p:txBody>
      </p:sp>
      <p:sp>
        <p:nvSpPr>
          <p:cNvPr id="12" name="Text 10"/>
          <p:cNvSpPr/>
          <p:nvPr/>
        </p:nvSpPr>
        <p:spPr>
          <a:xfrm>
            <a:off x="4818888" y="3931920"/>
            <a:ext cx="2971800" cy="137160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Skill quality. Whether the right instructions, delivered to the right question, improve the answer.</a:t>
            </a:r>
            <a:endParaRPr lang="en-US" sz="1300" dirty="0"/>
          </a:p>
        </p:txBody>
      </p:sp>
      <p:sp>
        <p:nvSpPr>
          <p:cNvPr id="13" name="Shape 11"/>
          <p:cNvSpPr/>
          <p:nvPr/>
        </p:nvSpPr>
        <p:spPr>
          <a:xfrm>
            <a:off x="8449056" y="3291840"/>
            <a:ext cx="3520440" cy="2148840"/>
          </a:xfrm>
          <a:prstGeom prst="roundRect">
            <a:avLst>
              <a:gd name="adj" fmla="val 3404"/>
            </a:avLst>
          </a:prstGeom>
          <a:solidFill>
            <a:srgbClr val="F2F4F6"/>
          </a:solidFill>
          <a:ln w="12700">
            <a:solidFill>
              <a:srgbClr val="F2F4F6"/>
            </a:solidFill>
            <a:prstDash val="solid"/>
          </a:ln>
        </p:spPr>
      </p:sp>
      <p:sp>
        <p:nvSpPr>
          <p:cNvPr id="14" name="Text 12"/>
          <p:cNvSpPr/>
          <p:nvPr/>
        </p:nvSpPr>
        <p:spPr>
          <a:xfrm>
            <a:off x="8723376" y="3520440"/>
            <a:ext cx="2971800" cy="365760"/>
          </a:xfrm>
          <a:prstGeom prst="rect">
            <a:avLst/>
          </a:prstGeom>
          <a:noFill/>
          <a:ln/>
        </p:spPr>
        <p:txBody>
          <a:bodyPr wrap="square" lIns="0" tIns="0" rIns="0" bIns="0" rtlCol="0" anchor="ctr"/>
          <a:lstStyle/>
          <a:p>
            <a:pPr indent="0" marL="0">
              <a:buNone/>
            </a:pPr>
            <a:r>
              <a:rPr lang="en-US" sz="1600" b="1" dirty="0">
                <a:solidFill>
                  <a:srgbClr val="22303C"/>
                </a:solidFill>
                <a:latin typeface="Cambria" pitchFamily="34" charset="0"/>
                <a:ea typeface="Cambria" pitchFamily="34" charset="-122"/>
                <a:cs typeface="Cambria" pitchFamily="34" charset="-120"/>
              </a:rPr>
              <a:t>The fix</a:t>
            </a:r>
            <a:endParaRPr lang="en-US" sz="1600" dirty="0"/>
          </a:p>
        </p:txBody>
      </p:sp>
      <p:sp>
        <p:nvSpPr>
          <p:cNvPr id="15" name="Text 13"/>
          <p:cNvSpPr/>
          <p:nvPr/>
        </p:nvSpPr>
        <p:spPr>
          <a:xfrm>
            <a:off x="8723376" y="3931920"/>
            <a:ext cx="2971800" cy="137160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Progressive disclosure. The short description stays in context; the body loads only when it matches the task.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WHAT KEPT HAPPENING</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Five fabrications, all caught only by running the query</a:t>
            </a:r>
            <a:endParaRPr lang="en-US" sz="3400" dirty="0"/>
          </a:p>
        </p:txBody>
      </p:sp>
      <p:sp>
        <p:nvSpPr>
          <p:cNvPr id="4" name="Shape 2"/>
          <p:cNvSpPr/>
          <p:nvPr/>
        </p:nvSpPr>
        <p:spPr>
          <a:xfrm>
            <a:off x="640080" y="1737360"/>
            <a:ext cx="10908792" cy="658368"/>
          </a:xfrm>
          <a:prstGeom prst="roundRect">
            <a:avLst>
              <a:gd name="adj" fmla="val 11111"/>
            </a:avLst>
          </a:prstGeom>
          <a:solidFill>
            <a:srgbClr val="F2F4F6"/>
          </a:solidFill>
          <a:ln w="12700">
            <a:solidFill>
              <a:srgbClr val="F2F4F6"/>
            </a:solidFill>
            <a:prstDash val="solid"/>
          </a:ln>
        </p:spPr>
      </p:sp>
      <p:sp>
        <p:nvSpPr>
          <p:cNvPr id="5" name="Text 3"/>
          <p:cNvSpPr/>
          <p:nvPr/>
        </p:nvSpPr>
        <p:spPr>
          <a:xfrm>
            <a:off x="960120" y="1883664"/>
            <a:ext cx="51206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An invented performance-tier table</a:t>
            </a:r>
            <a:endParaRPr lang="en-US" sz="1500" dirty="0"/>
          </a:p>
        </p:txBody>
      </p:sp>
      <p:sp>
        <p:nvSpPr>
          <p:cNvPr id="6" name="Text 4"/>
          <p:cNvSpPr/>
          <p:nvPr/>
        </p:nvSpPr>
        <p:spPr>
          <a:xfrm>
            <a:off x="6217920" y="1883664"/>
            <a:ext cx="52120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Looked entirely plausible. Wrong in every cell.</a:t>
            </a:r>
            <a:endParaRPr lang="en-US" sz="1400" dirty="0"/>
          </a:p>
        </p:txBody>
      </p:sp>
      <p:sp>
        <p:nvSpPr>
          <p:cNvPr id="7" name="Shape 5"/>
          <p:cNvSpPr/>
          <p:nvPr/>
        </p:nvSpPr>
        <p:spPr>
          <a:xfrm>
            <a:off x="640080" y="2450592"/>
            <a:ext cx="10908792" cy="658368"/>
          </a:xfrm>
          <a:prstGeom prst="roundRect">
            <a:avLst>
              <a:gd name="adj" fmla="val 11111"/>
            </a:avLst>
          </a:prstGeom>
          <a:solidFill>
            <a:srgbClr val="FFFFFF"/>
          </a:solidFill>
          <a:ln w="12700">
            <a:solidFill>
              <a:srgbClr val="FFFFFF"/>
            </a:solidFill>
            <a:prstDash val="solid"/>
          </a:ln>
        </p:spPr>
      </p:sp>
      <p:sp>
        <p:nvSpPr>
          <p:cNvPr id="8" name="Text 6"/>
          <p:cNvSpPr/>
          <p:nvPr/>
        </p:nvSpPr>
        <p:spPr>
          <a:xfrm>
            <a:off x="960120" y="2596896"/>
            <a:ext cx="51206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 wrong department-drop figure</a:t>
            </a:r>
            <a:endParaRPr lang="en-US" sz="1500" dirty="0"/>
          </a:p>
        </p:txBody>
      </p:sp>
      <p:sp>
        <p:nvSpPr>
          <p:cNvPr id="9" name="Text 7"/>
          <p:cNvSpPr/>
          <p:nvPr/>
        </p:nvSpPr>
        <p:spPr>
          <a:xfrm>
            <a:off x="6217920" y="2596896"/>
            <a:ext cx="52120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Right shape, wrong number.</a:t>
            </a:r>
            <a:endParaRPr lang="en-US" sz="1400" dirty="0"/>
          </a:p>
        </p:txBody>
      </p:sp>
      <p:sp>
        <p:nvSpPr>
          <p:cNvPr id="10" name="Shape 8"/>
          <p:cNvSpPr/>
          <p:nvPr/>
        </p:nvSpPr>
        <p:spPr>
          <a:xfrm>
            <a:off x="640080" y="3163824"/>
            <a:ext cx="10908792" cy="658368"/>
          </a:xfrm>
          <a:prstGeom prst="roundRect">
            <a:avLst>
              <a:gd name="adj" fmla="val 11111"/>
            </a:avLst>
          </a:prstGeom>
          <a:solidFill>
            <a:srgbClr val="F2F4F6"/>
          </a:solidFill>
          <a:ln w="12700">
            <a:solidFill>
              <a:srgbClr val="F2F4F6"/>
            </a:solidFill>
            <a:prstDash val="solid"/>
          </a:ln>
        </p:spPr>
      </p:sp>
      <p:sp>
        <p:nvSpPr>
          <p:cNvPr id="11" name="Text 9"/>
          <p:cNvSpPr/>
          <p:nvPr/>
        </p:nvSpPr>
        <p:spPr>
          <a:xfrm>
            <a:off x="960120" y="3310128"/>
            <a:ext cx="51206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 correct figure in the wrong context</a:t>
            </a:r>
            <a:endParaRPr lang="en-US" sz="1500" dirty="0"/>
          </a:p>
        </p:txBody>
      </p:sp>
      <p:sp>
        <p:nvSpPr>
          <p:cNvPr id="12" name="Text 10"/>
          <p:cNvSpPr/>
          <p:nvPr/>
        </p:nvSpPr>
        <p:spPr>
          <a:xfrm>
            <a:off x="6217920" y="3310128"/>
            <a:ext cx="52120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2,008 quoted where 1,668 applied.</a:t>
            </a:r>
            <a:endParaRPr lang="en-US" sz="1400" dirty="0"/>
          </a:p>
        </p:txBody>
      </p:sp>
      <p:sp>
        <p:nvSpPr>
          <p:cNvPr id="13" name="Shape 11"/>
          <p:cNvSpPr/>
          <p:nvPr/>
        </p:nvSpPr>
        <p:spPr>
          <a:xfrm>
            <a:off x="640080" y="3877056"/>
            <a:ext cx="10908792" cy="658368"/>
          </a:xfrm>
          <a:prstGeom prst="roundRect">
            <a:avLst>
              <a:gd name="adj" fmla="val 11111"/>
            </a:avLst>
          </a:prstGeom>
          <a:solidFill>
            <a:srgbClr val="FFFFFF"/>
          </a:solidFill>
          <a:ln w="12700">
            <a:solidFill>
              <a:srgbClr val="FFFFFF"/>
            </a:solidFill>
            <a:prstDash val="solid"/>
          </a:ln>
        </p:spPr>
      </p:sp>
      <p:sp>
        <p:nvSpPr>
          <p:cNvPr id="14" name="Text 12"/>
          <p:cNvSpPr/>
          <p:nvPr/>
        </p:nvSpPr>
        <p:spPr>
          <a:xfrm>
            <a:off x="960120" y="4023360"/>
            <a:ext cx="51206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 skew example with no skew</a:t>
            </a:r>
            <a:endParaRPr lang="en-US" sz="1500" dirty="0"/>
          </a:p>
        </p:txBody>
      </p:sp>
      <p:sp>
        <p:nvSpPr>
          <p:cNvPr id="15" name="Text 13"/>
          <p:cNvSpPr/>
          <p:nvPr/>
        </p:nvSpPr>
        <p:spPr>
          <a:xfrm>
            <a:off x="6217920" y="4023360"/>
            <a:ext cx="52120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The data was symmetric. The claim implied otherwise.</a:t>
            </a:r>
            <a:endParaRPr lang="en-US" sz="1400" dirty="0"/>
          </a:p>
        </p:txBody>
      </p:sp>
      <p:sp>
        <p:nvSpPr>
          <p:cNvPr id="16" name="Shape 14"/>
          <p:cNvSpPr/>
          <p:nvPr/>
        </p:nvSpPr>
        <p:spPr>
          <a:xfrm>
            <a:off x="640080" y="4590288"/>
            <a:ext cx="10908792" cy="658368"/>
          </a:xfrm>
          <a:prstGeom prst="roundRect">
            <a:avLst>
              <a:gd name="adj" fmla="val 11111"/>
            </a:avLst>
          </a:prstGeom>
          <a:solidFill>
            <a:srgbClr val="F2F4F6"/>
          </a:solidFill>
          <a:ln w="12700">
            <a:solidFill>
              <a:srgbClr val="F2F4F6"/>
            </a:solidFill>
            <a:prstDash val="solid"/>
          </a:ln>
        </p:spPr>
      </p:sp>
      <p:sp>
        <p:nvSpPr>
          <p:cNvPr id="17" name="Text 15"/>
          <p:cNvSpPr/>
          <p:nvPr/>
        </p:nvSpPr>
        <p:spPr>
          <a:xfrm>
            <a:off x="960120" y="4736592"/>
            <a:ext cx="5120640" cy="365760"/>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A 0/0 result written to disk</a:t>
            </a:r>
            <a:endParaRPr lang="en-US" sz="1500" dirty="0"/>
          </a:p>
        </p:txBody>
      </p:sp>
      <p:sp>
        <p:nvSpPr>
          <p:cNvPr id="18" name="Text 16"/>
          <p:cNvSpPr/>
          <p:nvPr/>
        </p:nvSpPr>
        <p:spPr>
          <a:xfrm>
            <a:off x="6217920" y="4736592"/>
            <a:ext cx="5212080" cy="365760"/>
          </a:xfrm>
          <a:prstGeom prst="rect">
            <a:avLst/>
          </a:prstGeom>
          <a:noFill/>
          <a:ln/>
        </p:spPr>
        <p:txBody>
          <a:bodyPr wrap="square" lIns="0" tIns="0" rIns="0" bIns="0" rtlCol="0" anchor="ctr"/>
          <a:lstStyle/>
          <a:p>
            <a:pPr indent="0" marL="0">
              <a:buNone/>
            </a:pPr>
            <a:r>
              <a:rPr lang="en-US" sz="1400" dirty="0">
                <a:solidFill>
                  <a:srgbClr val="5A6B7A"/>
                </a:solidFill>
                <a:latin typeface="Calibri" pitchFamily="34" charset="0"/>
                <a:ea typeface="Calibri" pitchFamily="34" charset="-122"/>
                <a:cs typeface="Calibri" pitchFamily="34" charset="-120"/>
              </a:rPr>
              <a:t>Zero evals ran. It reported as a 0% score.</a:t>
            </a:r>
            <a:endParaRPr lang="en-US" sz="1400" dirty="0"/>
          </a:p>
        </p:txBody>
      </p:sp>
      <p:sp>
        <p:nvSpPr>
          <p:cNvPr id="19" name="Text 17"/>
          <p:cNvSpPr/>
          <p:nvPr/>
        </p:nvSpPr>
        <p:spPr>
          <a:xfrm>
            <a:off x="640080" y="5623560"/>
            <a:ext cx="10908792" cy="457200"/>
          </a:xfrm>
          <a:prstGeom prst="rect">
            <a:avLst/>
          </a:prstGeom>
          <a:noFill/>
          <a:ln/>
        </p:spPr>
        <p:txBody>
          <a:bodyPr wrap="square" lIns="0" tIns="0" rIns="0" bIns="0" rtlCol="0" anchor="ctr"/>
          <a:lstStyle/>
          <a:p>
            <a:pPr indent="0" marL="0">
              <a:buNone/>
            </a:pPr>
            <a:r>
              <a:rPr lang="en-US" sz="1900" b="1" i="1" dirty="0">
                <a:solidFill>
                  <a:srgbClr val="E8663C"/>
                </a:solidFill>
                <a:latin typeface="Cambria" pitchFamily="34" charset="0"/>
                <a:ea typeface="Cambria" pitchFamily="34" charset="-122"/>
                <a:cs typeface="Cambria" pitchFamily="34" charset="-120"/>
              </a:rPr>
              <a:t>Every one was fluent, plausible, and would have passed review. Run the query.</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56032"/>
            <a:ext cx="10908792" cy="274320"/>
          </a:xfrm>
          <a:prstGeom prst="rect">
            <a:avLst/>
          </a:prstGeom>
          <a:noFill/>
          <a:ln/>
        </p:spPr>
        <p:txBody>
          <a:bodyPr wrap="square" lIns="0" tIns="0" rIns="0" bIns="0" rtlCol="0" anchor="ctr"/>
          <a:lstStyle/>
          <a:p>
            <a:pPr indent="0" marL="0">
              <a:buNone/>
            </a:pPr>
            <a:r>
              <a:rPr lang="en-US" sz="1100" b="1" spc="200" kern="0" dirty="0">
                <a:solidFill>
                  <a:srgbClr val="E8663C"/>
                </a:solidFill>
                <a:latin typeface="Calibri" pitchFamily="34" charset="0"/>
                <a:ea typeface="Calibri" pitchFamily="34" charset="-122"/>
                <a:cs typeface="Calibri" pitchFamily="34" charset="-120"/>
              </a:rPr>
              <a:t>TODAY</a:t>
            </a:r>
            <a:endParaRPr lang="en-US" sz="1100" dirty="0"/>
          </a:p>
        </p:txBody>
      </p:sp>
      <p:sp>
        <p:nvSpPr>
          <p:cNvPr id="3" name="Text 1"/>
          <p:cNvSpPr/>
          <p:nvPr/>
        </p:nvSpPr>
        <p:spPr>
          <a:xfrm>
            <a:off x="640080" y="457200"/>
            <a:ext cx="10908792" cy="822960"/>
          </a:xfrm>
          <a:prstGeom prst="rect">
            <a:avLst/>
          </a:prstGeom>
          <a:noFill/>
          <a:ln/>
        </p:spPr>
        <p:txBody>
          <a:bodyPr wrap="square" lIns="0" tIns="0" rIns="0" bIns="0" rtlCol="0" anchor="ctr"/>
          <a:lstStyle/>
          <a:p>
            <a:pPr algn="l" indent="0" marL="0">
              <a:buNone/>
            </a:pPr>
            <a:r>
              <a:rPr lang="en-US" sz="3400" b="1" dirty="0">
                <a:solidFill>
                  <a:srgbClr val="22303C"/>
                </a:solidFill>
                <a:latin typeface="Cambria" pitchFamily="34" charset="0"/>
                <a:ea typeface="Cambria" pitchFamily="34" charset="-122"/>
                <a:cs typeface="Cambria" pitchFamily="34" charset="-120"/>
              </a:rPr>
              <a:t>Three hours</a:t>
            </a:r>
            <a:endParaRPr lang="en-US" sz="3400" dirty="0"/>
          </a:p>
        </p:txBody>
      </p:sp>
      <p:sp>
        <p:nvSpPr>
          <p:cNvPr id="4" name="Shape 2"/>
          <p:cNvSpPr/>
          <p:nvPr/>
        </p:nvSpPr>
        <p:spPr>
          <a:xfrm>
            <a:off x="640080" y="1508760"/>
            <a:ext cx="10908792" cy="548640"/>
          </a:xfrm>
          <a:prstGeom prst="roundRect">
            <a:avLst>
              <a:gd name="adj" fmla="val 13333"/>
            </a:avLst>
          </a:prstGeom>
          <a:solidFill>
            <a:srgbClr val="F2F4F6"/>
          </a:solidFill>
          <a:ln w="12700">
            <a:solidFill>
              <a:srgbClr val="F2F4F6"/>
            </a:solidFill>
            <a:prstDash val="solid"/>
          </a:ln>
        </p:spPr>
      </p:sp>
      <p:sp>
        <p:nvSpPr>
          <p:cNvPr id="5" name="Text 3"/>
          <p:cNvSpPr/>
          <p:nvPr/>
        </p:nvSpPr>
        <p:spPr>
          <a:xfrm>
            <a:off x="960120" y="1627632"/>
            <a:ext cx="822960" cy="320040"/>
          </a:xfrm>
          <a:prstGeom prst="rect">
            <a:avLst/>
          </a:prstGeom>
          <a:noFill/>
          <a:ln/>
        </p:spPr>
        <p:txBody>
          <a:bodyPr wrap="square" lIns="0" tIns="0" rIns="0" bIns="0" rtlCol="0" anchor="ctr"/>
          <a:lstStyle/>
          <a:p>
            <a:pPr indent="0" marL="0">
              <a:buNone/>
            </a:pPr>
            <a:r>
              <a:rPr lang="en-US" sz="1400" b="1" dirty="0">
                <a:solidFill>
                  <a:srgbClr val="8A99A8"/>
                </a:solidFill>
                <a:latin typeface="Consolas" pitchFamily="34" charset="0"/>
                <a:ea typeface="Consolas" pitchFamily="34" charset="-122"/>
                <a:cs typeface="Consolas" pitchFamily="34" charset="-120"/>
              </a:rPr>
              <a:t>0:00</a:t>
            </a:r>
            <a:endParaRPr lang="en-US" sz="1400" dirty="0"/>
          </a:p>
        </p:txBody>
      </p:sp>
      <p:sp>
        <p:nvSpPr>
          <p:cNvPr id="6" name="Text 4"/>
          <p:cNvSpPr/>
          <p:nvPr/>
        </p:nvSpPr>
        <p:spPr>
          <a:xfrm>
            <a:off x="1965960" y="1618488"/>
            <a:ext cx="5943600" cy="347472"/>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Why coding agents worked first</a:t>
            </a:r>
            <a:endParaRPr lang="en-US" sz="1500" dirty="0"/>
          </a:p>
        </p:txBody>
      </p:sp>
      <p:sp>
        <p:nvSpPr>
          <p:cNvPr id="7" name="Text 5"/>
          <p:cNvSpPr/>
          <p:nvPr/>
        </p:nvSpPr>
        <p:spPr>
          <a:xfrm>
            <a:off x="8046720" y="1627632"/>
            <a:ext cx="3383280" cy="3200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Framing</a:t>
            </a:r>
            <a:endParaRPr lang="en-US" sz="1300" dirty="0"/>
          </a:p>
        </p:txBody>
      </p:sp>
      <p:sp>
        <p:nvSpPr>
          <p:cNvPr id="8" name="Shape 6"/>
          <p:cNvSpPr/>
          <p:nvPr/>
        </p:nvSpPr>
        <p:spPr>
          <a:xfrm>
            <a:off x="640080" y="2112264"/>
            <a:ext cx="10908792" cy="548640"/>
          </a:xfrm>
          <a:prstGeom prst="roundRect">
            <a:avLst>
              <a:gd name="adj" fmla="val 13333"/>
            </a:avLst>
          </a:prstGeom>
          <a:solidFill>
            <a:srgbClr val="FFFFFF"/>
          </a:solidFill>
          <a:ln w="12700">
            <a:solidFill>
              <a:srgbClr val="FFFFFF"/>
            </a:solidFill>
            <a:prstDash val="solid"/>
          </a:ln>
        </p:spPr>
      </p:sp>
      <p:sp>
        <p:nvSpPr>
          <p:cNvPr id="9" name="Text 7"/>
          <p:cNvSpPr/>
          <p:nvPr/>
        </p:nvSpPr>
        <p:spPr>
          <a:xfrm>
            <a:off x="960120" y="2231136"/>
            <a:ext cx="822960" cy="320040"/>
          </a:xfrm>
          <a:prstGeom prst="rect">
            <a:avLst/>
          </a:prstGeom>
          <a:noFill/>
          <a:ln/>
        </p:spPr>
        <p:txBody>
          <a:bodyPr wrap="square" lIns="0" tIns="0" rIns="0" bIns="0" rtlCol="0" anchor="ctr"/>
          <a:lstStyle/>
          <a:p>
            <a:pPr indent="0" marL="0">
              <a:buNone/>
            </a:pPr>
            <a:r>
              <a:rPr lang="en-US" sz="1400" b="1" dirty="0">
                <a:solidFill>
                  <a:srgbClr val="8A99A8"/>
                </a:solidFill>
                <a:latin typeface="Consolas" pitchFamily="34" charset="0"/>
                <a:ea typeface="Consolas" pitchFamily="34" charset="-122"/>
                <a:cs typeface="Consolas" pitchFamily="34" charset="-120"/>
              </a:rPr>
              <a:t>0:20</a:t>
            </a:r>
            <a:endParaRPr lang="en-US" sz="1400" dirty="0"/>
          </a:p>
        </p:txBody>
      </p:sp>
      <p:sp>
        <p:nvSpPr>
          <p:cNvPr id="10" name="Text 8"/>
          <p:cNvSpPr/>
          <p:nvPr/>
        </p:nvSpPr>
        <p:spPr>
          <a:xfrm>
            <a:off x="1965960" y="2221992"/>
            <a:ext cx="5943600" cy="347472"/>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The failure demo</a:t>
            </a:r>
            <a:endParaRPr lang="en-US" sz="1500" dirty="0"/>
          </a:p>
        </p:txBody>
      </p:sp>
      <p:sp>
        <p:nvSpPr>
          <p:cNvPr id="11" name="Text 9"/>
          <p:cNvSpPr/>
          <p:nvPr/>
        </p:nvSpPr>
        <p:spPr>
          <a:xfrm>
            <a:off x="8046720" y="2231136"/>
            <a:ext cx="3383280" cy="3200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Watch an agent answer confidently and wrong</a:t>
            </a:r>
            <a:endParaRPr lang="en-US" sz="1300" dirty="0"/>
          </a:p>
        </p:txBody>
      </p:sp>
      <p:sp>
        <p:nvSpPr>
          <p:cNvPr id="12" name="Shape 10"/>
          <p:cNvSpPr/>
          <p:nvPr/>
        </p:nvSpPr>
        <p:spPr>
          <a:xfrm>
            <a:off x="640080" y="2715768"/>
            <a:ext cx="10908792" cy="548640"/>
          </a:xfrm>
          <a:prstGeom prst="roundRect">
            <a:avLst>
              <a:gd name="adj" fmla="val 13333"/>
            </a:avLst>
          </a:prstGeom>
          <a:solidFill>
            <a:srgbClr val="F2F4F6"/>
          </a:solidFill>
          <a:ln w="12700">
            <a:solidFill>
              <a:srgbClr val="F2F4F6"/>
            </a:solidFill>
            <a:prstDash val="solid"/>
          </a:ln>
        </p:spPr>
      </p:sp>
      <p:sp>
        <p:nvSpPr>
          <p:cNvPr id="13" name="Text 11"/>
          <p:cNvSpPr/>
          <p:nvPr/>
        </p:nvSpPr>
        <p:spPr>
          <a:xfrm>
            <a:off x="960120" y="2834640"/>
            <a:ext cx="822960" cy="320040"/>
          </a:xfrm>
          <a:prstGeom prst="rect">
            <a:avLst/>
          </a:prstGeom>
          <a:noFill/>
          <a:ln/>
        </p:spPr>
        <p:txBody>
          <a:bodyPr wrap="square" lIns="0" tIns="0" rIns="0" bIns="0" rtlCol="0" anchor="ctr"/>
          <a:lstStyle/>
          <a:p>
            <a:pPr indent="0" marL="0">
              <a:buNone/>
            </a:pPr>
            <a:r>
              <a:rPr lang="en-US" sz="1400" b="1" dirty="0">
                <a:solidFill>
                  <a:srgbClr val="8A99A8"/>
                </a:solidFill>
                <a:latin typeface="Consolas" pitchFamily="34" charset="0"/>
                <a:ea typeface="Consolas" pitchFamily="34" charset="-122"/>
                <a:cs typeface="Consolas" pitchFamily="34" charset="-120"/>
              </a:rPr>
              <a:t>0:40</a:t>
            </a:r>
            <a:endParaRPr lang="en-US" sz="1400" dirty="0"/>
          </a:p>
        </p:txBody>
      </p:sp>
      <p:sp>
        <p:nvSpPr>
          <p:cNvPr id="14" name="Text 12"/>
          <p:cNvSpPr/>
          <p:nvPr/>
        </p:nvSpPr>
        <p:spPr>
          <a:xfrm>
            <a:off x="1965960" y="2825496"/>
            <a:ext cx="5943600" cy="347472"/>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Define — your own recurring question</a:t>
            </a:r>
            <a:endParaRPr lang="en-US" sz="1500" dirty="0"/>
          </a:p>
        </p:txBody>
      </p:sp>
      <p:sp>
        <p:nvSpPr>
          <p:cNvPr id="15" name="Text 13"/>
          <p:cNvSpPr/>
          <p:nvPr/>
        </p:nvSpPr>
        <p:spPr>
          <a:xfrm>
            <a:off x="8046720" y="2834640"/>
            <a:ext cx="3383280" cy="3200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Hands on</a:t>
            </a:r>
            <a:endParaRPr lang="en-US" sz="1300" dirty="0"/>
          </a:p>
        </p:txBody>
      </p:sp>
      <p:sp>
        <p:nvSpPr>
          <p:cNvPr id="16" name="Shape 14"/>
          <p:cNvSpPr/>
          <p:nvPr/>
        </p:nvSpPr>
        <p:spPr>
          <a:xfrm>
            <a:off x="640080" y="3319272"/>
            <a:ext cx="10908792" cy="548640"/>
          </a:xfrm>
          <a:prstGeom prst="roundRect">
            <a:avLst>
              <a:gd name="adj" fmla="val 13333"/>
            </a:avLst>
          </a:prstGeom>
          <a:solidFill>
            <a:srgbClr val="FFFFFF"/>
          </a:solidFill>
          <a:ln w="12700">
            <a:solidFill>
              <a:srgbClr val="FFFFFF"/>
            </a:solidFill>
            <a:prstDash val="solid"/>
          </a:ln>
        </p:spPr>
      </p:sp>
      <p:sp>
        <p:nvSpPr>
          <p:cNvPr id="17" name="Text 15"/>
          <p:cNvSpPr/>
          <p:nvPr/>
        </p:nvSpPr>
        <p:spPr>
          <a:xfrm>
            <a:off x="960120" y="3438144"/>
            <a:ext cx="822960" cy="320040"/>
          </a:xfrm>
          <a:prstGeom prst="rect">
            <a:avLst/>
          </a:prstGeom>
          <a:noFill/>
          <a:ln/>
        </p:spPr>
        <p:txBody>
          <a:bodyPr wrap="square" lIns="0" tIns="0" rIns="0" bIns="0" rtlCol="0" anchor="ctr"/>
          <a:lstStyle/>
          <a:p>
            <a:pPr indent="0" marL="0">
              <a:buNone/>
            </a:pPr>
            <a:r>
              <a:rPr lang="en-US" sz="1400" b="1" dirty="0">
                <a:solidFill>
                  <a:srgbClr val="8A99A8"/>
                </a:solidFill>
                <a:latin typeface="Consolas" pitchFamily="34" charset="0"/>
                <a:ea typeface="Consolas" pitchFamily="34" charset="-122"/>
                <a:cs typeface="Consolas" pitchFamily="34" charset="-120"/>
              </a:rPr>
              <a:t>1:00</a:t>
            </a:r>
            <a:endParaRPr lang="en-US" sz="1400" dirty="0"/>
          </a:p>
        </p:txBody>
      </p:sp>
      <p:sp>
        <p:nvSpPr>
          <p:cNvPr id="18" name="Text 16"/>
          <p:cNvSpPr/>
          <p:nvPr/>
        </p:nvSpPr>
        <p:spPr>
          <a:xfrm>
            <a:off x="1965960" y="3429000"/>
            <a:ext cx="5943600" cy="347472"/>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Validate — write the evals first</a:t>
            </a:r>
            <a:endParaRPr lang="en-US" sz="1500" dirty="0"/>
          </a:p>
        </p:txBody>
      </p:sp>
      <p:sp>
        <p:nvSpPr>
          <p:cNvPr id="19" name="Text 17"/>
          <p:cNvSpPr/>
          <p:nvPr/>
        </p:nvSpPr>
        <p:spPr>
          <a:xfrm>
            <a:off x="8046720" y="3438144"/>
            <a:ext cx="3383280" cy="3200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Hands on</a:t>
            </a:r>
            <a:endParaRPr lang="en-US" sz="1300" dirty="0"/>
          </a:p>
        </p:txBody>
      </p:sp>
      <p:sp>
        <p:nvSpPr>
          <p:cNvPr id="20" name="Shape 18"/>
          <p:cNvSpPr/>
          <p:nvPr/>
        </p:nvSpPr>
        <p:spPr>
          <a:xfrm>
            <a:off x="640080" y="3922776"/>
            <a:ext cx="10908792" cy="548640"/>
          </a:xfrm>
          <a:prstGeom prst="roundRect">
            <a:avLst>
              <a:gd name="adj" fmla="val 13333"/>
            </a:avLst>
          </a:prstGeom>
          <a:solidFill>
            <a:srgbClr val="FBEDE8"/>
          </a:solidFill>
          <a:ln w="12700">
            <a:solidFill>
              <a:srgbClr val="FBEDE8"/>
            </a:solidFill>
            <a:prstDash val="solid"/>
          </a:ln>
        </p:spPr>
      </p:sp>
      <p:sp>
        <p:nvSpPr>
          <p:cNvPr id="21" name="Text 19"/>
          <p:cNvSpPr/>
          <p:nvPr/>
        </p:nvSpPr>
        <p:spPr>
          <a:xfrm>
            <a:off x="960120" y="4041648"/>
            <a:ext cx="822960" cy="320040"/>
          </a:xfrm>
          <a:prstGeom prst="rect">
            <a:avLst/>
          </a:prstGeom>
          <a:noFill/>
          <a:ln/>
        </p:spPr>
        <p:txBody>
          <a:bodyPr wrap="square" lIns="0" tIns="0" rIns="0" bIns="0" rtlCol="0" anchor="ctr"/>
          <a:lstStyle/>
          <a:p>
            <a:pPr indent="0" marL="0">
              <a:buNone/>
            </a:pPr>
            <a:r>
              <a:rPr lang="en-US" sz="1400" b="1" dirty="0">
                <a:solidFill>
                  <a:srgbClr val="E8663C"/>
                </a:solidFill>
                <a:latin typeface="Consolas" pitchFamily="34" charset="0"/>
                <a:ea typeface="Consolas" pitchFamily="34" charset="-122"/>
                <a:cs typeface="Consolas" pitchFamily="34" charset="-120"/>
              </a:rPr>
              <a:t>1:30</a:t>
            </a:r>
            <a:endParaRPr lang="en-US" sz="1400" dirty="0"/>
          </a:p>
        </p:txBody>
      </p:sp>
      <p:sp>
        <p:nvSpPr>
          <p:cNvPr id="22" name="Text 20"/>
          <p:cNvSpPr/>
          <p:nvPr/>
        </p:nvSpPr>
        <p:spPr>
          <a:xfrm>
            <a:off x="1965960" y="4032504"/>
            <a:ext cx="5943600" cy="347472"/>
          </a:xfrm>
          <a:prstGeom prst="rect">
            <a:avLst/>
          </a:prstGeom>
          <a:noFill/>
          <a:ln/>
        </p:spPr>
        <p:txBody>
          <a:bodyPr wrap="square" lIns="0" tIns="0" rIns="0" bIns="0" rtlCol="0" anchor="ctr"/>
          <a:lstStyle/>
          <a:p>
            <a:pPr indent="0" marL="0">
              <a:buNone/>
            </a:pPr>
            <a:r>
              <a:rPr lang="en-US" sz="1500" b="1" dirty="0">
                <a:solidFill>
                  <a:srgbClr val="E8663C"/>
                </a:solidFill>
                <a:latin typeface="Calibri" pitchFamily="34" charset="0"/>
                <a:ea typeface="Calibri" pitchFamily="34" charset="-122"/>
                <a:cs typeface="Calibri" pitchFamily="34" charset="-120"/>
              </a:rPr>
              <a:t>Build — author the skill</a:t>
            </a:r>
            <a:endParaRPr lang="en-US" sz="1500" dirty="0"/>
          </a:p>
        </p:txBody>
      </p:sp>
      <p:sp>
        <p:nvSpPr>
          <p:cNvPr id="23" name="Text 21"/>
          <p:cNvSpPr/>
          <p:nvPr/>
        </p:nvSpPr>
        <p:spPr>
          <a:xfrm>
            <a:off x="8046720" y="4041648"/>
            <a:ext cx="3383280" cy="320040"/>
          </a:xfrm>
          <a:prstGeom prst="rect">
            <a:avLst/>
          </a:prstGeom>
          <a:noFill/>
          <a:ln/>
        </p:spPr>
        <p:txBody>
          <a:bodyPr wrap="square" lIns="0" tIns="0" rIns="0" bIns="0" rtlCol="0" anchor="ctr"/>
          <a:lstStyle/>
          <a:p>
            <a:pPr indent="0" marL="0">
              <a:buNone/>
            </a:pPr>
            <a:r>
              <a:rPr lang="en-US" sz="1300" dirty="0">
                <a:solidFill>
                  <a:srgbClr val="8C4430"/>
                </a:solidFill>
                <a:latin typeface="Calibri" pitchFamily="34" charset="0"/>
                <a:ea typeface="Calibri" pitchFamily="34" charset="-122"/>
                <a:cs typeface="Calibri" pitchFamily="34" charset="-120"/>
              </a:rPr>
              <a:t>Hands on, the main block</a:t>
            </a:r>
            <a:endParaRPr lang="en-US" sz="1300" dirty="0"/>
          </a:p>
        </p:txBody>
      </p:sp>
      <p:sp>
        <p:nvSpPr>
          <p:cNvPr id="24" name="Shape 22"/>
          <p:cNvSpPr/>
          <p:nvPr/>
        </p:nvSpPr>
        <p:spPr>
          <a:xfrm>
            <a:off x="640080" y="4526280"/>
            <a:ext cx="10908792" cy="548640"/>
          </a:xfrm>
          <a:prstGeom prst="roundRect">
            <a:avLst>
              <a:gd name="adj" fmla="val 13333"/>
            </a:avLst>
          </a:prstGeom>
          <a:solidFill>
            <a:srgbClr val="FFFFFF"/>
          </a:solidFill>
          <a:ln w="12700">
            <a:solidFill>
              <a:srgbClr val="FFFFFF"/>
            </a:solidFill>
            <a:prstDash val="solid"/>
          </a:ln>
        </p:spPr>
      </p:sp>
      <p:sp>
        <p:nvSpPr>
          <p:cNvPr id="25" name="Text 23"/>
          <p:cNvSpPr/>
          <p:nvPr/>
        </p:nvSpPr>
        <p:spPr>
          <a:xfrm>
            <a:off x="960120" y="4645152"/>
            <a:ext cx="822960" cy="320040"/>
          </a:xfrm>
          <a:prstGeom prst="rect">
            <a:avLst/>
          </a:prstGeom>
          <a:noFill/>
          <a:ln/>
        </p:spPr>
        <p:txBody>
          <a:bodyPr wrap="square" lIns="0" tIns="0" rIns="0" bIns="0" rtlCol="0" anchor="ctr"/>
          <a:lstStyle/>
          <a:p>
            <a:pPr indent="0" marL="0">
              <a:buNone/>
            </a:pPr>
            <a:r>
              <a:rPr lang="en-US" sz="1400" b="1" dirty="0">
                <a:solidFill>
                  <a:srgbClr val="8A99A8"/>
                </a:solidFill>
                <a:latin typeface="Consolas" pitchFamily="34" charset="0"/>
                <a:ea typeface="Consolas" pitchFamily="34" charset="-122"/>
                <a:cs typeface="Consolas" pitchFamily="34" charset="-120"/>
              </a:rPr>
              <a:t>2:15</a:t>
            </a:r>
            <a:endParaRPr lang="en-US" sz="1400" dirty="0"/>
          </a:p>
        </p:txBody>
      </p:sp>
      <p:sp>
        <p:nvSpPr>
          <p:cNvPr id="26" name="Text 24"/>
          <p:cNvSpPr/>
          <p:nvPr/>
        </p:nvSpPr>
        <p:spPr>
          <a:xfrm>
            <a:off x="1965960" y="4636008"/>
            <a:ext cx="5943600" cy="347472"/>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Run the ablation</a:t>
            </a:r>
            <a:endParaRPr lang="en-US" sz="1500" dirty="0"/>
          </a:p>
        </p:txBody>
      </p:sp>
      <p:sp>
        <p:nvSpPr>
          <p:cNvPr id="27" name="Text 25"/>
          <p:cNvSpPr/>
          <p:nvPr/>
        </p:nvSpPr>
        <p:spPr>
          <a:xfrm>
            <a:off x="8046720" y="4645152"/>
            <a:ext cx="3383280" cy="3200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Measure it</a:t>
            </a:r>
            <a:endParaRPr lang="en-US" sz="1300" dirty="0"/>
          </a:p>
        </p:txBody>
      </p:sp>
      <p:sp>
        <p:nvSpPr>
          <p:cNvPr id="28" name="Shape 26"/>
          <p:cNvSpPr/>
          <p:nvPr/>
        </p:nvSpPr>
        <p:spPr>
          <a:xfrm>
            <a:off x="640080" y="5129784"/>
            <a:ext cx="10908792" cy="548640"/>
          </a:xfrm>
          <a:prstGeom prst="roundRect">
            <a:avLst>
              <a:gd name="adj" fmla="val 13333"/>
            </a:avLst>
          </a:prstGeom>
          <a:solidFill>
            <a:srgbClr val="F2F4F6"/>
          </a:solidFill>
          <a:ln w="12700">
            <a:solidFill>
              <a:srgbClr val="F2F4F6"/>
            </a:solidFill>
            <a:prstDash val="solid"/>
          </a:ln>
        </p:spPr>
      </p:sp>
      <p:sp>
        <p:nvSpPr>
          <p:cNvPr id="29" name="Text 27"/>
          <p:cNvSpPr/>
          <p:nvPr/>
        </p:nvSpPr>
        <p:spPr>
          <a:xfrm>
            <a:off x="960120" y="5248656"/>
            <a:ext cx="822960" cy="320040"/>
          </a:xfrm>
          <a:prstGeom prst="rect">
            <a:avLst/>
          </a:prstGeom>
          <a:noFill/>
          <a:ln/>
        </p:spPr>
        <p:txBody>
          <a:bodyPr wrap="square" lIns="0" tIns="0" rIns="0" bIns="0" rtlCol="0" anchor="ctr"/>
          <a:lstStyle/>
          <a:p>
            <a:pPr indent="0" marL="0">
              <a:buNone/>
            </a:pPr>
            <a:r>
              <a:rPr lang="en-US" sz="1400" b="1" dirty="0">
                <a:solidFill>
                  <a:srgbClr val="8A99A8"/>
                </a:solidFill>
                <a:latin typeface="Consolas" pitchFamily="34" charset="0"/>
                <a:ea typeface="Consolas" pitchFamily="34" charset="-122"/>
                <a:cs typeface="Consolas" pitchFamily="34" charset="-120"/>
              </a:rPr>
              <a:t>2:35</a:t>
            </a:r>
            <a:endParaRPr lang="en-US" sz="1400" dirty="0"/>
          </a:p>
        </p:txBody>
      </p:sp>
      <p:sp>
        <p:nvSpPr>
          <p:cNvPr id="30" name="Text 28"/>
          <p:cNvSpPr/>
          <p:nvPr/>
        </p:nvSpPr>
        <p:spPr>
          <a:xfrm>
            <a:off x="1965960" y="5239512"/>
            <a:ext cx="5943600" cy="347472"/>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Operationalize and compound</a:t>
            </a:r>
            <a:endParaRPr lang="en-US" sz="1500" dirty="0"/>
          </a:p>
        </p:txBody>
      </p:sp>
      <p:sp>
        <p:nvSpPr>
          <p:cNvPr id="31" name="Text 29"/>
          <p:cNvSpPr/>
          <p:nvPr/>
        </p:nvSpPr>
        <p:spPr>
          <a:xfrm>
            <a:off x="8046720" y="5248656"/>
            <a:ext cx="3383280" cy="3200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How skills stay alive</a:t>
            </a:r>
            <a:endParaRPr lang="en-US" sz="1300" dirty="0"/>
          </a:p>
        </p:txBody>
      </p:sp>
      <p:sp>
        <p:nvSpPr>
          <p:cNvPr id="32" name="Shape 30"/>
          <p:cNvSpPr/>
          <p:nvPr/>
        </p:nvSpPr>
        <p:spPr>
          <a:xfrm>
            <a:off x="640080" y="5733288"/>
            <a:ext cx="10908792" cy="548640"/>
          </a:xfrm>
          <a:prstGeom prst="roundRect">
            <a:avLst>
              <a:gd name="adj" fmla="val 13333"/>
            </a:avLst>
          </a:prstGeom>
          <a:solidFill>
            <a:srgbClr val="FFFFFF"/>
          </a:solidFill>
          <a:ln w="12700">
            <a:solidFill>
              <a:srgbClr val="FFFFFF"/>
            </a:solidFill>
            <a:prstDash val="solid"/>
          </a:ln>
        </p:spPr>
      </p:sp>
      <p:sp>
        <p:nvSpPr>
          <p:cNvPr id="33" name="Text 31"/>
          <p:cNvSpPr/>
          <p:nvPr/>
        </p:nvSpPr>
        <p:spPr>
          <a:xfrm>
            <a:off x="960120" y="5852160"/>
            <a:ext cx="822960" cy="320040"/>
          </a:xfrm>
          <a:prstGeom prst="rect">
            <a:avLst/>
          </a:prstGeom>
          <a:noFill/>
          <a:ln/>
        </p:spPr>
        <p:txBody>
          <a:bodyPr wrap="square" lIns="0" tIns="0" rIns="0" bIns="0" rtlCol="0" anchor="ctr"/>
          <a:lstStyle/>
          <a:p>
            <a:pPr indent="0" marL="0">
              <a:buNone/>
            </a:pPr>
            <a:r>
              <a:rPr lang="en-US" sz="1400" b="1" dirty="0">
                <a:solidFill>
                  <a:srgbClr val="8A99A8"/>
                </a:solidFill>
                <a:latin typeface="Consolas" pitchFamily="34" charset="0"/>
                <a:ea typeface="Consolas" pitchFamily="34" charset="-122"/>
                <a:cs typeface="Consolas" pitchFamily="34" charset="-120"/>
              </a:rPr>
              <a:t>2:50</a:t>
            </a:r>
            <a:endParaRPr lang="en-US" sz="1400" dirty="0"/>
          </a:p>
        </p:txBody>
      </p:sp>
      <p:sp>
        <p:nvSpPr>
          <p:cNvPr id="34" name="Text 32"/>
          <p:cNvSpPr/>
          <p:nvPr/>
        </p:nvSpPr>
        <p:spPr>
          <a:xfrm>
            <a:off x="1965960" y="5843016"/>
            <a:ext cx="5943600" cy="347472"/>
          </a:xfrm>
          <a:prstGeom prst="rect">
            <a:avLst/>
          </a:prstGeom>
          <a:noFill/>
          <a:ln/>
        </p:spPr>
        <p:txBody>
          <a:bodyPr wrap="square" lIns="0" tIns="0" rIns="0" bIns="0" rtlCol="0" anchor="ctr"/>
          <a:lstStyle/>
          <a:p>
            <a:pPr indent="0" marL="0">
              <a:buNone/>
            </a:pPr>
            <a:r>
              <a:rPr lang="en-US" sz="1500" b="1" dirty="0">
                <a:solidFill>
                  <a:srgbClr val="22303C"/>
                </a:solidFill>
                <a:latin typeface="Calibri" pitchFamily="34" charset="0"/>
                <a:ea typeface="Calibri" pitchFamily="34" charset="-122"/>
                <a:cs typeface="Calibri" pitchFamily="34" charset="-120"/>
              </a:rPr>
              <a:t>Contribute and wrap</a:t>
            </a:r>
            <a:endParaRPr lang="en-US" sz="1500" dirty="0"/>
          </a:p>
        </p:txBody>
      </p:sp>
      <p:sp>
        <p:nvSpPr>
          <p:cNvPr id="35" name="Text 33"/>
          <p:cNvSpPr/>
          <p:nvPr/>
        </p:nvSpPr>
        <p:spPr>
          <a:xfrm>
            <a:off x="8046720" y="5852160"/>
            <a:ext cx="3383280" cy="320040"/>
          </a:xfrm>
          <a:prstGeom prst="rect">
            <a:avLst/>
          </a:prstGeom>
          <a:noFill/>
          <a:ln/>
        </p:spPr>
        <p:txBody>
          <a:bodyPr wrap="square" lIns="0" tIns="0" rIns="0" bIns="0" rtlCol="0" anchor="ctr"/>
          <a:lstStyle/>
          <a:p>
            <a:pPr indent="0" marL="0">
              <a:buNone/>
            </a:pPr>
            <a:r>
              <a:rPr lang="en-US" sz="1300" dirty="0">
                <a:solidFill>
                  <a:srgbClr val="5A6B7A"/>
                </a:solidFill>
                <a:latin typeface="Calibri" pitchFamily="34" charset="0"/>
                <a:ea typeface="Calibri" pitchFamily="34" charset="-122"/>
                <a:cs typeface="Calibri" pitchFamily="34" charset="-120"/>
              </a:rPr>
              <a:t>PR to the repo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2303C"/>
        </a:solidFill>
      </p:bgPr>
    </p:bg>
    <p:spTree>
      <p:nvGrpSpPr>
        <p:cNvPr id="1" name=""/>
        <p:cNvGrpSpPr/>
        <p:nvPr/>
      </p:nvGrpSpPr>
      <p:grpSpPr>
        <a:xfrm>
          <a:off x="0" y="0"/>
          <a:ext cx="0" cy="0"/>
          <a:chOff x="0" y="0"/>
          <a:chExt cx="0" cy="0"/>
        </a:xfrm>
      </p:grpSpPr>
      <p:sp>
        <p:nvSpPr>
          <p:cNvPr id="2" name="Shape 0"/>
          <p:cNvSpPr/>
          <p:nvPr/>
        </p:nvSpPr>
        <p:spPr>
          <a:xfrm>
            <a:off x="640080" y="1645920"/>
            <a:ext cx="128016" cy="3108960"/>
          </a:xfrm>
          <a:prstGeom prst="roundRect">
            <a:avLst>
              <a:gd name="adj" fmla="val 50000"/>
            </a:avLst>
          </a:prstGeom>
          <a:solidFill>
            <a:srgbClr val="E8663C"/>
          </a:solidFill>
          <a:ln w="12700">
            <a:solidFill>
              <a:srgbClr val="E8663C"/>
            </a:solidFill>
            <a:prstDash val="solid"/>
          </a:ln>
        </p:spPr>
      </p:sp>
      <p:sp>
        <p:nvSpPr>
          <p:cNvPr id="3" name="Text 1"/>
          <p:cNvSpPr/>
          <p:nvPr/>
        </p:nvSpPr>
        <p:spPr>
          <a:xfrm>
            <a:off x="1051560" y="1600200"/>
            <a:ext cx="91440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What you take home</a:t>
            </a:r>
            <a:endParaRPr lang="en-US" sz="3800" dirty="0"/>
          </a:p>
        </p:txBody>
      </p:sp>
      <p:sp>
        <p:nvSpPr>
          <p:cNvPr id="4" name="Text 2"/>
          <p:cNvSpPr/>
          <p:nvPr/>
        </p:nvSpPr>
        <p:spPr>
          <a:xfrm>
            <a:off x="1051560" y="2423160"/>
            <a:ext cx="9601200" cy="237744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CBD5DD"/>
                </a:solidFill>
                <a:latin typeface="Calibri" pitchFamily="34" charset="0"/>
                <a:ea typeface="Calibri" pitchFamily="34" charset="-122"/>
                <a:cs typeface="Calibri" pitchFamily="34" charset="-120"/>
              </a:rPr>
              <a:t>A skill you wrote, running in your own environment</a:t>
            </a:r>
            <a:endParaRPr lang="en-US" sz="1700" dirty="0"/>
          </a:p>
          <a:p>
            <a:pPr marL="342900" indent="-342900">
              <a:spcAft>
                <a:spcPts val="1200"/>
              </a:spcAft>
              <a:buSzPct val="100000"/>
              <a:buChar char="•"/>
            </a:pPr>
            <a:r>
              <a:rPr lang="en-US" sz="1700" dirty="0">
                <a:solidFill>
                  <a:srgbClr val="CBD5DD"/>
                </a:solidFill>
                <a:latin typeface="Calibri" pitchFamily="34" charset="0"/>
                <a:ea typeface="Calibri" pitchFamily="34" charset="-122"/>
                <a:cs typeface="Calibri" pitchFamily="34" charset="-120"/>
              </a:rPr>
              <a:t>An eval that proves it does something</a:t>
            </a:r>
            <a:endParaRPr lang="en-US" sz="1700" dirty="0"/>
          </a:p>
          <a:p>
            <a:pPr marL="342900" indent="-342900">
              <a:spcAft>
                <a:spcPts val="1200"/>
              </a:spcAft>
              <a:buSzPct val="100000"/>
              <a:buChar char="•"/>
            </a:pPr>
            <a:r>
              <a:rPr lang="en-US" sz="1700" dirty="0">
                <a:solidFill>
                  <a:srgbClr val="CBD5DD"/>
                </a:solidFill>
                <a:latin typeface="Calibri" pitchFamily="34" charset="0"/>
                <a:ea typeface="Calibri" pitchFamily="34" charset="-122"/>
                <a:cs typeface="Calibri" pitchFamily="34" charset="-120"/>
              </a:rPr>
              <a:t>A reference doc for a domain you actually own</a:t>
            </a:r>
            <a:endParaRPr lang="en-US" sz="1700" dirty="0"/>
          </a:p>
          <a:p>
            <a:pPr marL="342900" indent="-342900">
              <a:spcAft>
                <a:spcPts val="1200"/>
              </a:spcAft>
              <a:buSzPct val="100000"/>
              <a:buChar char="•"/>
            </a:pPr>
            <a:r>
              <a:rPr lang="en-US" sz="1700" dirty="0">
                <a:solidFill>
                  <a:srgbClr val="CBD5DD"/>
                </a:solidFill>
                <a:latin typeface="Calibri" pitchFamily="34" charset="0"/>
                <a:ea typeface="Calibri" pitchFamily="34" charset="-122"/>
                <a:cs typeface="Calibri" pitchFamily="34" charset="-120"/>
              </a:rPr>
              <a:t>A merged PR and your name in the README</a:t>
            </a:r>
            <a:endParaRPr lang="en-US" sz="1700" dirty="0"/>
          </a:p>
          <a:p>
            <a:pPr marL="342900" indent="-342900">
              <a:spcAft>
                <a:spcPts val="1200"/>
              </a:spcAft>
              <a:buSzPct val="100000"/>
              <a:buChar char="•"/>
            </a:pPr>
            <a:r>
              <a:rPr lang="en-US" sz="1700" dirty="0">
                <a:solidFill>
                  <a:srgbClr val="CBD5DD"/>
                </a:solidFill>
                <a:latin typeface="Calibri" pitchFamily="34" charset="0"/>
                <a:ea typeface="Calibri" pitchFamily="34" charset="-122"/>
                <a:cs typeface="Calibri" pitchFamily="34" charset="-120"/>
              </a:rPr>
              <a:t>The habit of running the query instead of trusting the number</a:t>
            </a:r>
            <a:endParaRPr lang="en-US" sz="1700" dirty="0"/>
          </a:p>
        </p:txBody>
      </p:sp>
      <p:sp>
        <p:nvSpPr>
          <p:cNvPr id="5" name="Text 3"/>
          <p:cNvSpPr/>
          <p:nvPr/>
        </p:nvSpPr>
        <p:spPr>
          <a:xfrm>
            <a:off x="1051560" y="5212080"/>
            <a:ext cx="9144000" cy="365760"/>
          </a:xfrm>
          <a:prstGeom prst="rect">
            <a:avLst/>
          </a:prstGeom>
          <a:noFill/>
          <a:ln/>
        </p:spPr>
        <p:txBody>
          <a:bodyPr wrap="square" lIns="0" tIns="0" rIns="0" bIns="0" rtlCol="0" anchor="ctr"/>
          <a:lstStyle/>
          <a:p>
            <a:pPr indent="0" marL="0">
              <a:buNone/>
            </a:pPr>
            <a:r>
              <a:rPr lang="en-US" sz="1600" b="1" dirty="0">
                <a:solidFill>
                  <a:srgbClr val="E8663C"/>
                </a:solidFill>
                <a:latin typeface="Consolas" pitchFamily="34" charset="0"/>
                <a:ea typeface="Consolas" pitchFamily="34" charset="-122"/>
                <a:cs typeface="Consolas" pitchFamily="34" charset="-120"/>
              </a:rPr>
              <a:t>github.com/RobStilson/analytics-skills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Vibe Analytics</dc:title>
  <dc:subject>PptxGenJS Presentation</dc:subject>
  <dc:creator>Rob Stilson</dc:creator>
  <cp:lastModifiedBy>Rob Stilson</cp:lastModifiedBy>
  <cp:revision>1</cp:revision>
  <dcterms:created xsi:type="dcterms:W3CDTF">2026-08-04T16:57:07Z</dcterms:created>
  <dcterms:modified xsi:type="dcterms:W3CDTF">2026-08-04T16:57:07Z</dcterms:modified>
</cp:coreProperties>
</file>